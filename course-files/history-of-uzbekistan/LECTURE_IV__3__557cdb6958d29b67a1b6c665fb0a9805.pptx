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sldIdLst>
    <p:sldId id="256" r:id="rId2"/>
    <p:sldId id="257" r:id="rId3"/>
    <p:sldId id="287" r:id="rId4"/>
    <p:sldId id="282" r:id="rId5"/>
    <p:sldId id="283" r:id="rId6"/>
    <p:sldId id="289" r:id="rId7"/>
    <p:sldId id="284" r:id="rId8"/>
    <p:sldId id="285" r:id="rId9"/>
    <p:sldId id="278" r:id="rId10"/>
    <p:sldId id="291" r:id="rId11"/>
    <p:sldId id="292" r:id="rId12"/>
    <p:sldId id="279" r:id="rId13"/>
    <p:sldId id="290" r:id="rId14"/>
    <p:sldId id="280" r:id="rId15"/>
    <p:sldId id="270" r:id="rId16"/>
    <p:sldId id="272" r:id="rId17"/>
    <p:sldId id="275" r:id="rId18"/>
    <p:sldId id="286" r:id="rId19"/>
    <p:sldId id="259" r:id="rId20"/>
    <p:sldId id="260" r:id="rId21"/>
    <p:sldId id="261" r:id="rId22"/>
    <p:sldId id="28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1385462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2875524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264788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C0BAE4-99A4-48E7-AB52-8E14F08D5D13}" type="datetimeFigureOut">
              <a:rPr lang="en-US" smtClean="0"/>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1589477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C0BAE4-99A4-48E7-AB52-8E14F08D5D13}" type="datetimeFigureOut">
              <a:rPr lang="en-US" smtClean="0"/>
              <a:t>10/18/2023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2611007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C0BAE4-99A4-48E7-AB52-8E14F08D5D13}" type="datetimeFigureOut">
              <a:rPr lang="en-US" smtClean="0"/>
              <a:t>10/18/2023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804380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C0BAE4-99A4-48E7-AB52-8E14F08D5D13}" type="datetimeFigureOut">
              <a:rPr lang="en-US" smtClean="0"/>
              <a:t>10/18/2023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1304418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C0BAE4-99A4-48E7-AB52-8E14F08D5D13}" type="datetimeFigureOut">
              <a:rPr lang="en-US" smtClean="0"/>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2136563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C0BAE4-99A4-48E7-AB52-8E14F08D5D13}" type="datetimeFigureOut">
              <a:rPr lang="en-US" smtClean="0"/>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1243999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1153362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38997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449115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643175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1324572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2510611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C0BAE4-99A4-48E7-AB52-8E14F08D5D13}" type="datetimeFigureOut">
              <a:rPr lang="en-US" smtClean="0"/>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138941-A05D-4524-ABC0-32D3E072A2A3}" type="slidenum">
              <a:rPr lang="en-US" smtClean="0"/>
              <a:t>‹#›</a:t>
            </a:fld>
            <a:endParaRPr lang="en-US"/>
          </a:p>
        </p:txBody>
      </p:sp>
    </p:spTree>
    <p:extLst>
      <p:ext uri="{BB962C8B-B14F-4D97-AF65-F5344CB8AC3E}">
        <p14:creationId xmlns:p14="http://schemas.microsoft.com/office/powerpoint/2010/main" val="2175666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ivi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2292310"/>
            <a:ext cx="7450138" cy="923330"/>
          </a:xfrm>
        </p:spPr>
        <p:txBody>
          <a:bodyPr wrap="square">
            <a:spAutoFit/>
          </a:bodyPr>
          <a:lstStyle>
            <a:lvl1pPr>
              <a:defRPr sz="6000">
                <a:latin typeface="+mj-lt"/>
                <a:cs typeface="Calibri Light" panose="020F0302020204030204" pitchFamily="34" charset="0"/>
              </a:defRPr>
            </a:lvl1pPr>
          </a:lstStyle>
          <a:p>
            <a:r>
              <a:rPr lang="en-US" dirty="0"/>
              <a:t>Section Header</a:t>
            </a:r>
          </a:p>
        </p:txBody>
      </p:sp>
      <p:sp>
        <p:nvSpPr>
          <p:cNvPr id="4" name="Text Placeholder 3">
            <a:extLst>
              <a:ext uri="{FF2B5EF4-FFF2-40B4-BE49-F238E27FC236}">
                <a16:creationId xmlns:a16="http://schemas.microsoft.com/office/drawing/2014/main" id="{1F897BD5-071C-4070-AB48-99AEFB09E739}"/>
              </a:ext>
            </a:extLst>
          </p:cNvPr>
          <p:cNvSpPr>
            <a:spLocks noGrp="1"/>
          </p:cNvSpPr>
          <p:nvPr>
            <p:ph type="body" sz="quarter" idx="10"/>
          </p:nvPr>
        </p:nvSpPr>
        <p:spPr>
          <a:xfrm>
            <a:off x="457200" y="3429000"/>
            <a:ext cx="8632825" cy="2057400"/>
          </a:xfrm>
          <a:prstGeom prst="rect">
            <a:avLst/>
          </a:prstGeom>
        </p:spPr>
        <p:txBody>
          <a:bodyPr/>
          <a:lstStyle>
            <a:lvl1pPr>
              <a:defRPr sz="1800">
                <a:latin typeface="+mn-lt"/>
              </a:defRPr>
            </a:lvl1pPr>
            <a:lvl2pPr>
              <a:buNone/>
              <a:defRPr/>
            </a:lvl2pPr>
          </a:lstStyle>
          <a:p>
            <a:pPr lvl="0"/>
            <a:r>
              <a:rPr lang="ru-RU"/>
              <a:t>Образец текста</a:t>
            </a:r>
          </a:p>
        </p:txBody>
      </p:sp>
    </p:spTree>
    <p:extLst>
      <p:ext uri="{BB962C8B-B14F-4D97-AF65-F5344CB8AC3E}">
        <p14:creationId xmlns:p14="http://schemas.microsoft.com/office/powerpoint/2010/main" val="64381870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C0BAE4-99A4-48E7-AB52-8E14F08D5D13}" type="datetimeFigureOut">
              <a:rPr lang="en-US" smtClean="0"/>
              <a:t>10/18/2023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5138941-A05D-4524-ABC0-32D3E072A2A3}" type="slidenum">
              <a:rPr lang="en-US" smtClean="0"/>
              <a:t>‹#›</a:t>
            </a:fld>
            <a:endParaRPr lang="en-US"/>
          </a:p>
        </p:txBody>
      </p:sp>
    </p:spTree>
    <p:extLst>
      <p:ext uri="{BB962C8B-B14F-4D97-AF65-F5344CB8AC3E}">
        <p14:creationId xmlns:p14="http://schemas.microsoft.com/office/powerpoint/2010/main" val="156317758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files.ethz.ch/isn/92527/05_Apr.pdf" TargetMode="External"/><Relationship Id="rId2" Type="http://schemas.openxmlformats.org/officeDocument/2006/relationships/hyperlink" Target="https://www.soas.ac.uk/sites/default/files/2022-06/01%20An%20introductory%20history%20of%20Soviet%20Uzbek%20academics%201924%201960%20file75707.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04436-7DDE-D607-0E79-4BD614D2F6FE}"/>
              </a:ext>
            </a:extLst>
          </p:cNvPr>
          <p:cNvSpPr>
            <a:spLocks noGrp="1"/>
          </p:cNvSpPr>
          <p:nvPr>
            <p:ph type="ctrTitle"/>
          </p:nvPr>
        </p:nvSpPr>
        <p:spPr/>
        <p:txBody>
          <a:bodyPr>
            <a:normAutofit fontScale="90000"/>
          </a:bodyPr>
          <a:lstStyle/>
          <a:p>
            <a:r>
              <a:rPr lang="en-US" sz="4400" kern="100" dirty="0">
                <a:solidFill>
                  <a:srgbClr val="000000"/>
                </a:solidFill>
                <a:effectLst/>
                <a:latin typeface="Times New Roman" panose="02020603050405020304" pitchFamily="18" charset="0"/>
                <a:ea typeface="Times New Roman" panose="02020603050405020304" pitchFamily="18" charset="0"/>
              </a:rPr>
              <a:t>Gaining the independence of Uzbekistan and further challenges in its state formation</a:t>
            </a:r>
            <a:r>
              <a:rPr lang="en-US" sz="4400" dirty="0"/>
              <a:t> </a:t>
            </a:r>
          </a:p>
        </p:txBody>
      </p:sp>
      <p:sp>
        <p:nvSpPr>
          <p:cNvPr id="3" name="Subtitle 2">
            <a:extLst>
              <a:ext uri="{FF2B5EF4-FFF2-40B4-BE49-F238E27FC236}">
                <a16:creationId xmlns:a16="http://schemas.microsoft.com/office/drawing/2014/main" id="{1D11CE48-89B3-C354-5950-382E99C9FCC7}"/>
              </a:ext>
            </a:extLst>
          </p:cNvPr>
          <p:cNvSpPr>
            <a:spLocks noGrp="1"/>
          </p:cNvSpPr>
          <p:nvPr>
            <p:ph type="subTitle" idx="1"/>
          </p:nvPr>
        </p:nvSpPr>
        <p:spPr/>
        <p:txBody>
          <a:bodyPr/>
          <a:lstStyle/>
          <a:p>
            <a:r>
              <a:rPr lang="en-US" dirty="0"/>
              <a:t>Vohid </a:t>
            </a:r>
            <a:r>
              <a:rPr lang="en-US" dirty="0" err="1"/>
              <a:t>Yusupovich</a:t>
            </a:r>
            <a:r>
              <a:rPr lang="en-US" dirty="0"/>
              <a:t> Kholov</a:t>
            </a:r>
          </a:p>
        </p:txBody>
      </p:sp>
    </p:spTree>
    <p:extLst>
      <p:ext uri="{BB962C8B-B14F-4D97-AF65-F5344CB8AC3E}">
        <p14:creationId xmlns:p14="http://schemas.microsoft.com/office/powerpoint/2010/main" val="462369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B5909-B6F3-07A7-3163-D1DB641D55BE}"/>
              </a:ext>
            </a:extLst>
          </p:cNvPr>
          <p:cNvSpPr>
            <a:spLocks noGrp="1"/>
          </p:cNvSpPr>
          <p:nvPr>
            <p:ph type="title"/>
          </p:nvPr>
        </p:nvSpPr>
        <p:spPr/>
        <p:txBody>
          <a:bodyPr/>
          <a:lstStyle/>
          <a:p>
            <a:r>
              <a:rPr lang="en-US" dirty="0"/>
              <a:t>Plan</a:t>
            </a:r>
          </a:p>
        </p:txBody>
      </p:sp>
      <p:sp>
        <p:nvSpPr>
          <p:cNvPr id="3" name="Content Placeholder 2">
            <a:extLst>
              <a:ext uri="{FF2B5EF4-FFF2-40B4-BE49-F238E27FC236}">
                <a16:creationId xmlns:a16="http://schemas.microsoft.com/office/drawing/2014/main" id="{3236241B-C0F3-A043-757A-0AD39B4CA598}"/>
              </a:ext>
            </a:extLst>
          </p:cNvPr>
          <p:cNvSpPr>
            <a:spLocks noGrp="1"/>
          </p:cNvSpPr>
          <p:nvPr>
            <p:ph idx="1"/>
          </p:nvPr>
        </p:nvSpPr>
        <p:spPr/>
        <p:txBody>
          <a:bodyPr/>
          <a:lstStyle/>
          <a:p>
            <a:r>
              <a:rPr lang="en-US" dirty="0"/>
              <a:t>Uzbekistan under Soviet regime</a:t>
            </a:r>
          </a:p>
          <a:p>
            <a:r>
              <a:rPr lang="en-US" dirty="0"/>
              <a:t>Perestroika</a:t>
            </a:r>
          </a:p>
          <a:p>
            <a:pPr eaLnBrk="1" hangingPunct="1"/>
            <a:r>
              <a:rPr lang="en-US" altLang="ru-RU" dirty="0"/>
              <a:t>Adoption of the Declaration of Independence of Uzbekistan</a:t>
            </a:r>
          </a:p>
          <a:p>
            <a:pPr eaLnBrk="1" hangingPunct="1"/>
            <a:r>
              <a:rPr lang="en-US" altLang="ru-RU" dirty="0"/>
              <a:t>Extraordinary situation in August 1991</a:t>
            </a:r>
          </a:p>
          <a:p>
            <a:pPr eaLnBrk="1" hangingPunct="1"/>
            <a:r>
              <a:rPr lang="en-US" altLang="ru-RU" dirty="0"/>
              <a:t>Declaring the Independence of Uzbekistan</a:t>
            </a:r>
          </a:p>
          <a:p>
            <a:pPr eaLnBrk="1" hangingPunct="1"/>
            <a:r>
              <a:rPr lang="en-US" altLang="ru-RU" dirty="0"/>
              <a:t>Referendum on Independence</a:t>
            </a:r>
            <a:endParaRPr lang="ru-RU" altLang="ru-RU" dirty="0"/>
          </a:p>
          <a:p>
            <a:endParaRPr lang="en-US" dirty="0"/>
          </a:p>
          <a:p>
            <a:endParaRPr lang="en-US" dirty="0"/>
          </a:p>
          <a:p>
            <a:endParaRPr lang="en-US" dirty="0"/>
          </a:p>
        </p:txBody>
      </p:sp>
    </p:spTree>
    <p:extLst>
      <p:ext uri="{BB962C8B-B14F-4D97-AF65-F5344CB8AC3E}">
        <p14:creationId xmlns:p14="http://schemas.microsoft.com/office/powerpoint/2010/main" val="1152696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1008" y="443131"/>
            <a:ext cx="10930597" cy="780757"/>
          </a:xfrm>
        </p:spPr>
        <p:txBody>
          <a:bodyPr>
            <a:normAutofit fontScale="90000"/>
          </a:bodyPr>
          <a:lstStyle/>
          <a:p>
            <a:r>
              <a:rPr lang="en-US" sz="4800" b="1" dirty="0">
                <a:effectLst/>
                <a:latin typeface="Calibri" panose="020F0502020204030204" pitchFamily="34" charset="0"/>
                <a:ea typeface="Calibri" panose="020F0502020204030204" pitchFamily="34" charset="0"/>
              </a:rPr>
              <a:t>Summary and </a:t>
            </a:r>
            <a:r>
              <a:rPr lang="en-US" sz="4800" kern="100" dirty="0">
                <a:effectLst/>
                <a:latin typeface="Calibri" panose="020F0502020204030204" pitchFamily="34" charset="0"/>
                <a:ea typeface="Calibri" panose="020F0502020204030204" pitchFamily="34" charset="0"/>
                <a:cs typeface="Calibri" panose="020F0502020204030204" pitchFamily="34" charset="0"/>
              </a:rPr>
              <a:t>Questions</a:t>
            </a:r>
            <a:br>
              <a:rPr lang="en-US" sz="4800" kern="100" dirty="0">
                <a:effectLst/>
                <a:latin typeface="Calibri" panose="020F0502020204030204" pitchFamily="34" charset="0"/>
                <a:ea typeface="Calibri" panose="020F0502020204030204" pitchFamily="34" charset="0"/>
                <a:cs typeface="Times New Roman" panose="02020603050405020304" pitchFamily="18" charset="0"/>
              </a:rPr>
            </a:br>
            <a:endParaRPr lang="ru-RU" sz="4800" dirty="0"/>
          </a:p>
        </p:txBody>
      </p:sp>
      <p:sp>
        <p:nvSpPr>
          <p:cNvPr id="3" name="Содержимое 2"/>
          <p:cNvSpPr>
            <a:spLocks noGrp="1"/>
          </p:cNvSpPr>
          <p:nvPr>
            <p:ph idx="1"/>
          </p:nvPr>
        </p:nvSpPr>
        <p:spPr>
          <a:xfrm>
            <a:off x="1041009" y="1223888"/>
            <a:ext cx="10687047" cy="4948312"/>
          </a:xfrm>
        </p:spPr>
        <p:txBody>
          <a:bodyPr/>
          <a:lstStyle/>
          <a:p>
            <a:pPr>
              <a:spcBef>
                <a:spcPts val="0"/>
              </a:spcBef>
            </a:pPr>
            <a:r>
              <a:rPr lang="en-US" sz="2000" dirty="0">
                <a:effectLst/>
                <a:latin typeface="Calibri" panose="020F0502020204030204" pitchFamily="34" charset="0"/>
              </a:rPr>
              <a:t>To build homo-</a:t>
            </a:r>
            <a:r>
              <a:rPr lang="en-US" sz="2000" dirty="0" err="1">
                <a:effectLst/>
                <a:latin typeface="Calibri" panose="020F0502020204030204" pitchFamily="34" charset="0"/>
              </a:rPr>
              <a:t>sovieticus</a:t>
            </a:r>
            <a:r>
              <a:rPr lang="en-US" sz="2000" dirty="0">
                <a:latin typeface="Calibri" panose="020F0502020204030204" pitchFamily="34" charset="0"/>
              </a:rPr>
              <a:t>;</a:t>
            </a:r>
            <a:endParaRPr lang="en-US" sz="2000" dirty="0">
              <a:effectLst/>
              <a:latin typeface="Calibri" panose="020F0502020204030204" pitchFamily="34" charset="0"/>
            </a:endParaRPr>
          </a:p>
          <a:p>
            <a:pPr>
              <a:spcBef>
                <a:spcPts val="0"/>
              </a:spcBef>
            </a:pPr>
            <a:r>
              <a:rPr lang="en-US" sz="2000" dirty="0">
                <a:effectLst/>
                <a:latin typeface="Calibri" panose="020F0502020204030204" pitchFamily="34" charset="0"/>
              </a:rPr>
              <a:t>The formation of new states on the basis of nation-building state ideology</a:t>
            </a:r>
            <a:r>
              <a:rPr lang="en-US" sz="2000" dirty="0">
                <a:latin typeface="Calibri" panose="020F0502020204030204" pitchFamily="34" charset="0"/>
              </a:rPr>
              <a:t>;</a:t>
            </a:r>
          </a:p>
          <a:p>
            <a:pPr>
              <a:spcBef>
                <a:spcPts val="0"/>
              </a:spcBef>
            </a:pPr>
            <a:r>
              <a:rPr lang="en-US" sz="2000" dirty="0">
                <a:effectLst/>
                <a:latin typeface="Calibri" panose="020F0502020204030204" pitchFamily="34" charset="0"/>
              </a:rPr>
              <a:t>Extracting raw materials or producing agricultural technologies only</a:t>
            </a:r>
            <a:r>
              <a:rPr lang="en-US" sz="2000" dirty="0">
                <a:latin typeface="Calibri" panose="020F0502020204030204" pitchFamily="34" charset="0"/>
              </a:rPr>
              <a:t>;</a:t>
            </a:r>
            <a:endParaRPr lang="en-US" sz="2000" dirty="0">
              <a:effectLst/>
              <a:latin typeface="Calibri" panose="020F0502020204030204" pitchFamily="34" charset="0"/>
            </a:endParaRPr>
          </a:p>
          <a:p>
            <a:pPr>
              <a:spcBef>
                <a:spcPts val="0"/>
              </a:spcBef>
            </a:pPr>
            <a:r>
              <a:rPr lang="en-US" sz="2000" dirty="0">
                <a:latin typeface="Calibri" panose="020F0502020204030204" pitchFamily="34" charset="0"/>
              </a:rPr>
              <a:t>Severe repression policy;</a:t>
            </a:r>
          </a:p>
          <a:p>
            <a:pPr>
              <a:spcBef>
                <a:spcPts val="0"/>
              </a:spcBef>
            </a:pPr>
            <a:r>
              <a:rPr lang="en-US" sz="2000" dirty="0">
                <a:effectLst/>
                <a:latin typeface="Calibri" panose="020F0502020204030204" pitchFamily="34" charset="0"/>
              </a:rPr>
              <a:t>Contributions to the </a:t>
            </a:r>
            <a:r>
              <a:rPr lang="en-US" sz="2000" dirty="0">
                <a:latin typeface="Calibri" panose="020F0502020204030204" pitchFamily="34" charset="0"/>
              </a:rPr>
              <a:t>victory over fascism;</a:t>
            </a:r>
            <a:endParaRPr lang="en-US" sz="2000" dirty="0">
              <a:effectLst/>
              <a:latin typeface="Calibri" panose="020F0502020204030204" pitchFamily="34" charset="0"/>
            </a:endParaRPr>
          </a:p>
          <a:p>
            <a:pPr>
              <a:spcBef>
                <a:spcPts val="0"/>
              </a:spcBef>
            </a:pPr>
            <a:r>
              <a:rPr lang="en-US" sz="2000" dirty="0">
                <a:effectLst/>
                <a:latin typeface="Calibri" panose="020F0502020204030204" pitchFamily="34" charset="0"/>
              </a:rPr>
              <a:t>No having rights to use income from natural resources.</a:t>
            </a:r>
          </a:p>
          <a:p>
            <a:pPr>
              <a:spcBef>
                <a:spcPts val="0"/>
              </a:spcBef>
            </a:pPr>
            <a:endParaRPr lang="en-US" sz="2000" dirty="0">
              <a:effectLst/>
              <a:latin typeface="Calibri" panose="020F0502020204030204" pitchFamily="34" charset="0"/>
            </a:endParaRPr>
          </a:p>
          <a:p>
            <a:pPr>
              <a:spcBef>
                <a:spcPts val="0"/>
              </a:spcBef>
            </a:pPr>
            <a:r>
              <a:rPr lang="en-US" sz="2000" kern="100" dirty="0">
                <a:effectLst/>
                <a:latin typeface="Calibri" panose="020F0502020204030204" pitchFamily="34" charset="0"/>
              </a:rPr>
              <a:t>Questions:</a:t>
            </a:r>
          </a:p>
          <a:p>
            <a:pPr marL="342900" lvl="0" indent="-342900" algn="just">
              <a:lnSpc>
                <a:spcPct val="107000"/>
              </a:lnSpc>
              <a:spcBef>
                <a:spcPts val="0"/>
              </a:spcBef>
              <a:buFont typeface="+mj-lt"/>
              <a:buAutoNum type="arabicPeriod"/>
            </a:pPr>
            <a:r>
              <a:rPr lang="en-US" sz="2000" kern="100" dirty="0">
                <a:effectLst/>
                <a:latin typeface="Calibri" panose="020F0502020204030204" pitchFamily="34" charset="0"/>
              </a:rPr>
              <a:t>What was main idea of building new countries in Soviet Union?</a:t>
            </a:r>
          </a:p>
          <a:p>
            <a:pPr marL="342900" lvl="0" indent="-342900" algn="just">
              <a:lnSpc>
                <a:spcPct val="107000"/>
              </a:lnSpc>
              <a:spcBef>
                <a:spcPts val="0"/>
              </a:spcBef>
              <a:buFont typeface="+mj-lt"/>
              <a:buAutoNum type="arabicPeriod"/>
            </a:pPr>
            <a:r>
              <a:rPr lang="en-US" sz="2000" kern="100" dirty="0">
                <a:effectLst/>
                <a:latin typeface="Calibri" panose="020F0502020204030204" pitchFamily="34" charset="0"/>
              </a:rPr>
              <a:t>Why did Soviet Union hold harsh repression policy?</a:t>
            </a:r>
          </a:p>
          <a:p>
            <a:pPr marL="342900" lvl="0" indent="-342900" algn="just">
              <a:lnSpc>
                <a:spcPct val="107000"/>
              </a:lnSpc>
              <a:spcBef>
                <a:spcPts val="0"/>
              </a:spcBef>
              <a:buFont typeface="+mj-lt"/>
              <a:buAutoNum type="arabicPeriod"/>
            </a:pPr>
            <a:r>
              <a:rPr lang="en-US" sz="2000" kern="100" dirty="0">
                <a:effectLst/>
                <a:latin typeface="Calibri" panose="020F0502020204030204" pitchFamily="34" charset="0"/>
              </a:rPr>
              <a:t>What are main contributions of the people of Uzbekistan during WWII?</a:t>
            </a:r>
          </a:p>
          <a:p>
            <a:pPr marL="342900" lvl="0" indent="-342900" algn="just">
              <a:lnSpc>
                <a:spcPct val="107000"/>
              </a:lnSpc>
              <a:spcBef>
                <a:spcPts val="0"/>
              </a:spcBef>
              <a:buFont typeface="+mj-lt"/>
              <a:buAutoNum type="arabicPeriod"/>
            </a:pPr>
            <a:r>
              <a:rPr lang="en-US" sz="2000" kern="100" dirty="0">
                <a:effectLst/>
                <a:latin typeface="Calibri" panose="020F0502020204030204" pitchFamily="34" charset="0"/>
              </a:rPr>
              <a:t>How was intellectual and scientific development during Soviet times?</a:t>
            </a:r>
          </a:p>
          <a:p>
            <a:pPr marL="342900" lvl="0" indent="-342900" algn="just">
              <a:lnSpc>
                <a:spcPct val="107000"/>
              </a:lnSpc>
              <a:spcBef>
                <a:spcPts val="0"/>
              </a:spcBef>
              <a:buFont typeface="+mj-lt"/>
              <a:buAutoNum type="arabicPeriod"/>
            </a:pPr>
            <a:r>
              <a:rPr lang="en-US" sz="2000" kern="100" dirty="0">
                <a:effectLst/>
                <a:latin typeface="Calibri" panose="020F0502020204030204" pitchFamily="34" charset="0"/>
              </a:rPr>
              <a:t>How was the distribution of natural resources of Uzbekistan for Uzbekistanis?</a:t>
            </a:r>
          </a:p>
          <a:p>
            <a:pPr marL="342900" lvl="0" indent="-342900" algn="just">
              <a:lnSpc>
                <a:spcPct val="107000"/>
              </a:lnSpc>
              <a:spcBef>
                <a:spcPts val="0"/>
              </a:spcBef>
              <a:spcAft>
                <a:spcPts val="800"/>
              </a:spcAft>
              <a:buFont typeface="+mj-lt"/>
              <a:buAutoNum type="arabicPeriod"/>
            </a:pPr>
            <a:r>
              <a:rPr lang="en-US" sz="2000" kern="100" dirty="0">
                <a:effectLst/>
                <a:latin typeface="Calibri" panose="020F0502020204030204" pitchFamily="34" charset="0"/>
              </a:rPr>
              <a:t>What changes were done during Perestroika?</a:t>
            </a:r>
          </a:p>
          <a:p>
            <a:pPr>
              <a:spcBef>
                <a:spcPts val="0"/>
              </a:spcBef>
            </a:pPr>
            <a:endParaRPr lang="en-US" sz="2000" dirty="0">
              <a:effectLst/>
              <a:latin typeface="Calibri" panose="020F0502020204030204" pitchFamily="34" charset="0"/>
            </a:endParaRPr>
          </a:p>
          <a:p>
            <a:pPr>
              <a:spcBef>
                <a:spcPts val="0"/>
              </a:spcBef>
            </a:pPr>
            <a:endParaRPr lang="en-US" sz="2000" dirty="0">
              <a:latin typeface="Calibri" panose="020F0502020204030204" pitchFamily="34" charset="0"/>
            </a:endParaRPr>
          </a:p>
        </p:txBody>
      </p:sp>
    </p:spTree>
    <p:extLst>
      <p:ext uri="{BB962C8B-B14F-4D97-AF65-F5344CB8AC3E}">
        <p14:creationId xmlns:p14="http://schemas.microsoft.com/office/powerpoint/2010/main" val="1436246458"/>
      </p:ext>
    </p:extLst>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81684-0FDE-BAFF-2203-BFCEAB7578D2}"/>
              </a:ext>
            </a:extLst>
          </p:cNvPr>
          <p:cNvSpPr>
            <a:spLocks noGrp="1"/>
          </p:cNvSpPr>
          <p:nvPr>
            <p:ph type="title"/>
          </p:nvPr>
        </p:nvSpPr>
        <p:spPr>
          <a:xfrm>
            <a:off x="457200" y="450167"/>
            <a:ext cx="10346788" cy="738664"/>
          </a:xfrm>
        </p:spPr>
        <p:txBody>
          <a:bodyPr/>
          <a:lstStyle/>
          <a:p>
            <a:pPr>
              <a:lnSpc>
                <a:spcPct val="100000"/>
              </a:lnSpc>
            </a:pPr>
            <a:r>
              <a:rPr lang="en-US" sz="4800" dirty="0">
                <a:effectLst/>
                <a:latin typeface="Calibri" panose="020F0502020204030204" pitchFamily="34" charset="0"/>
                <a:cs typeface="Calibri" panose="020F0502020204030204" pitchFamily="34" charset="0"/>
              </a:rPr>
              <a:t>Soviet Uzbekistan</a:t>
            </a:r>
          </a:p>
        </p:txBody>
      </p:sp>
      <p:sp>
        <p:nvSpPr>
          <p:cNvPr id="3" name="Text Placeholder 2">
            <a:extLst>
              <a:ext uri="{FF2B5EF4-FFF2-40B4-BE49-F238E27FC236}">
                <a16:creationId xmlns:a16="http://schemas.microsoft.com/office/drawing/2014/main" id="{ECED359D-1C36-53F6-25CC-5F02F6AD6C53}"/>
              </a:ext>
            </a:extLst>
          </p:cNvPr>
          <p:cNvSpPr>
            <a:spLocks noGrp="1"/>
          </p:cNvSpPr>
          <p:nvPr>
            <p:ph type="body" sz="quarter" idx="10"/>
          </p:nvPr>
        </p:nvSpPr>
        <p:spPr>
          <a:xfrm>
            <a:off x="457200" y="1188831"/>
            <a:ext cx="10754751" cy="4888411"/>
          </a:xfrm>
        </p:spPr>
        <p:txBody>
          <a:bodyPr>
            <a:normAutofit lnSpcReduction="10000"/>
          </a:bodyPr>
          <a:lstStyle/>
          <a:p>
            <a:pPr>
              <a:lnSpc>
                <a:spcPct val="100000"/>
              </a:lnSpc>
            </a:pPr>
            <a:r>
              <a:rPr lang="en-US" sz="2000" dirty="0">
                <a:effectLst/>
                <a:latin typeface="Calibri" panose="020F0502020204030204" pitchFamily="34" charset="0"/>
              </a:rPr>
              <a:t>The USSR Government sought to create a legal basis for the sovereign rights of national republics which was only in concept. The 1924 constitution proclaimed the voluntary principle of the USSR’s federal structure. This principle was also reflected in the constitution of the Uzbek SSR, adopted in March 1927, which declared the republic to be an equal and sovereign component of the USSR.</a:t>
            </a:r>
          </a:p>
          <a:p>
            <a:pPr>
              <a:lnSpc>
                <a:spcPct val="100000"/>
              </a:lnSpc>
            </a:pPr>
            <a:r>
              <a:rPr lang="en-US" sz="2000" dirty="0">
                <a:effectLst/>
                <a:latin typeface="Calibri" panose="020F0502020204030204" pitchFamily="34" charset="0"/>
              </a:rPr>
              <a:t>The government was first headed by </a:t>
            </a:r>
            <a:r>
              <a:rPr lang="en-US" sz="2000" dirty="0" err="1">
                <a:effectLst/>
                <a:latin typeface="Calibri" panose="020F0502020204030204" pitchFamily="34" charset="0"/>
              </a:rPr>
              <a:t>Faizullah</a:t>
            </a:r>
            <a:r>
              <a:rPr lang="en-US" sz="2000" dirty="0">
                <a:effectLst/>
                <a:latin typeface="Calibri" panose="020F0502020204030204" pitchFamily="34" charset="0"/>
              </a:rPr>
              <a:t> </a:t>
            </a:r>
            <a:r>
              <a:rPr lang="en-US" sz="2000" dirty="0" err="1">
                <a:effectLst/>
                <a:latin typeface="Calibri" panose="020F0502020204030204" pitchFamily="34" charset="0"/>
              </a:rPr>
              <a:t>Khojaev</a:t>
            </a:r>
            <a:r>
              <a:rPr lang="en-US" sz="2000" dirty="0">
                <a:effectLst/>
                <a:latin typeface="Calibri" panose="020F0502020204030204" pitchFamily="34" charset="0"/>
              </a:rPr>
              <a:t>, strove as far as its authority permitted to promote the interests of the local people.</a:t>
            </a:r>
          </a:p>
          <a:p>
            <a:pPr>
              <a:lnSpc>
                <a:spcPct val="100000"/>
              </a:lnSpc>
            </a:pPr>
            <a:r>
              <a:rPr lang="en-US" sz="2000" dirty="0">
                <a:effectLst/>
                <a:latin typeface="Calibri" panose="020F0502020204030204" pitchFamily="34" charset="0"/>
              </a:rPr>
              <a:t>This was reflected principally in the growth of the proportion of Uzbeks in state and economic bodies. This proportion rose in the republic’s central bodies from 23 to 32.3 per cent between 1924 and 1928, and in the lower levels of the state apparatus reached 75 per cent by the end of 1930. At the same time greater use was made of the Uzbek language in administrative work. </a:t>
            </a:r>
            <a:endParaRPr lang="en-US" sz="2000" dirty="0">
              <a:latin typeface="Calibri" panose="020F0502020204030204" pitchFamily="34" charset="0"/>
            </a:endParaRPr>
          </a:p>
          <a:p>
            <a:pPr>
              <a:lnSpc>
                <a:spcPct val="100000"/>
              </a:lnSpc>
            </a:pPr>
            <a:r>
              <a:rPr lang="en-US" sz="2000" dirty="0">
                <a:effectLst/>
                <a:latin typeface="Calibri" panose="020F0502020204030204" pitchFamily="34" charset="0"/>
              </a:rPr>
              <a:t>However, the USSR methodically pursued a line of reinforcing super centralization. The growing hold of Stalinist radicalism put an end to even the limited area of ‘national independence’. From the end of the 1920s to the mid-1930s, Uzbekistan saw the establishment of the totalitarian administrative model of the Soviet social and state structure based on ideologization of the economy and strict centralization of the system of management. </a:t>
            </a:r>
            <a:endParaRPr lang="en-US" sz="2000" dirty="0">
              <a:latin typeface="Calibri" panose="020F0502020204030204" pitchFamily="34" charset="0"/>
            </a:endParaRPr>
          </a:p>
        </p:txBody>
      </p:sp>
    </p:spTree>
    <p:extLst>
      <p:ext uri="{BB962C8B-B14F-4D97-AF65-F5344CB8AC3E}">
        <p14:creationId xmlns:p14="http://schemas.microsoft.com/office/powerpoint/2010/main" val="595725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81684-0FDE-BAFF-2203-BFCEAB7578D2}"/>
              </a:ext>
            </a:extLst>
          </p:cNvPr>
          <p:cNvSpPr>
            <a:spLocks noGrp="1"/>
          </p:cNvSpPr>
          <p:nvPr>
            <p:ph type="title"/>
          </p:nvPr>
        </p:nvSpPr>
        <p:spPr>
          <a:xfrm>
            <a:off x="457200" y="464235"/>
            <a:ext cx="10346788" cy="738664"/>
          </a:xfrm>
        </p:spPr>
        <p:txBody>
          <a:bodyPr/>
          <a:lstStyle/>
          <a:p>
            <a:r>
              <a:rPr lang="en-US" sz="4800" dirty="0">
                <a:effectLst/>
                <a:latin typeface="Calibri" panose="020F0502020204030204" pitchFamily="34" charset="0"/>
                <a:cs typeface="Calibri" panose="020F0502020204030204" pitchFamily="34" charset="0"/>
              </a:rPr>
              <a:t>Collectivization and Industrialization</a:t>
            </a:r>
            <a:endParaRPr lang="en-US" sz="4800"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ECED359D-1C36-53F6-25CC-5F02F6AD6C53}"/>
              </a:ext>
            </a:extLst>
          </p:cNvPr>
          <p:cNvSpPr>
            <a:spLocks noGrp="1"/>
          </p:cNvSpPr>
          <p:nvPr>
            <p:ph type="body" sz="quarter" idx="10"/>
          </p:nvPr>
        </p:nvSpPr>
        <p:spPr>
          <a:xfrm>
            <a:off x="457200" y="1350387"/>
            <a:ext cx="10754751" cy="4290646"/>
          </a:xfrm>
        </p:spPr>
        <p:txBody>
          <a:bodyPr>
            <a:normAutofit/>
          </a:bodyPr>
          <a:lstStyle/>
          <a:p>
            <a:pPr>
              <a:lnSpc>
                <a:spcPct val="100000"/>
              </a:lnSpc>
            </a:pPr>
            <a:r>
              <a:rPr lang="en-US" sz="2000" dirty="0">
                <a:effectLst/>
                <a:latin typeface="Times New Roman" panose="02020603050405020304" pitchFamily="18" charset="0"/>
                <a:ea typeface="Calibri" panose="020F0502020204030204" pitchFamily="34" charset="0"/>
              </a:rPr>
              <a:t>This period was the beginning of the liq</a:t>
            </a:r>
            <a:r>
              <a:rPr lang="en-US" sz="2000" dirty="0">
                <a:latin typeface="Times New Roman" panose="02020603050405020304" pitchFamily="18" charset="0"/>
              </a:rPr>
              <a:t>uidation of private entrepreneurship, centralized and aimed cotton monoculture.</a:t>
            </a:r>
          </a:p>
          <a:p>
            <a:pPr>
              <a:lnSpc>
                <a:spcPct val="100000"/>
              </a:lnSpc>
            </a:pPr>
            <a:r>
              <a:rPr lang="en-US" sz="2000" dirty="0">
                <a:effectLst/>
                <a:latin typeface="Times New Roman" panose="02020603050405020304" pitchFamily="18" charset="0"/>
                <a:ea typeface="Calibri" panose="020F0502020204030204" pitchFamily="34" charset="0"/>
              </a:rPr>
              <a:t>Curtailment of the New Economic Policy (NEP) and a return to the leadership methods of the ‘war communism’ period created the bureaucratic command system of managing society. </a:t>
            </a:r>
          </a:p>
          <a:p>
            <a:pPr>
              <a:lnSpc>
                <a:spcPct val="100000"/>
              </a:lnSpc>
            </a:pPr>
            <a:r>
              <a:rPr lang="en-US" sz="2000" dirty="0">
                <a:effectLst/>
                <a:latin typeface="Times New Roman" panose="02020603050405020304" pitchFamily="18" charset="0"/>
                <a:ea typeface="Calibri" panose="020F0502020204030204" pitchFamily="34" charset="0"/>
              </a:rPr>
              <a:t>The second half of the 1930s saw the establishment of the dictatorship of Stalin and his entourage. </a:t>
            </a:r>
          </a:p>
          <a:p>
            <a:pPr>
              <a:lnSpc>
                <a:spcPct val="100000"/>
              </a:lnSpc>
            </a:pPr>
            <a:r>
              <a:rPr lang="en-US" sz="2000" dirty="0">
                <a:effectLst/>
                <a:latin typeface="Times New Roman" panose="02020603050405020304" pitchFamily="18" charset="0"/>
                <a:ea typeface="Calibri" panose="020F0502020204030204" pitchFamily="34" charset="0"/>
              </a:rPr>
              <a:t>From that time the soviets (local government bodies) became mere window-dressing for the monopolization of power in the hands of the Communist Party and its leader.</a:t>
            </a:r>
          </a:p>
          <a:p>
            <a:pPr>
              <a:lnSpc>
                <a:spcPct val="100000"/>
              </a:lnSpc>
            </a:pPr>
            <a:r>
              <a:rPr lang="en-US" sz="2000" dirty="0">
                <a:effectLst/>
                <a:latin typeface="Times New Roman" panose="02020603050405020304" pitchFamily="18" charset="0"/>
                <a:ea typeface="Calibri" panose="020F0502020204030204" pitchFamily="34" charset="0"/>
              </a:rPr>
              <a:t>The party and the state were interlocked in a single apparatus and the institutions of civil society were destroyed. They were displaced by pseudo-social organizations whose activities were regulated by the party and the state. The ‘advance of socialism along the whole front’ was accompanied by global coercion whose ideological justification was Stalin’s formula that class struggle would intensify on the road to socialism.</a:t>
            </a:r>
            <a:endParaRPr lang="en-US" sz="2000" dirty="0"/>
          </a:p>
        </p:txBody>
      </p:sp>
    </p:spTree>
    <p:extLst>
      <p:ext uri="{BB962C8B-B14F-4D97-AF65-F5344CB8AC3E}">
        <p14:creationId xmlns:p14="http://schemas.microsoft.com/office/powerpoint/2010/main" val="2619992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BF42D-4B2D-A24E-7234-E1FA3E6CCA8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F80F9C4-0E49-0F25-9D77-B6856EC9EA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8909" y="167640"/>
            <a:ext cx="7751482" cy="6176963"/>
          </a:xfrm>
        </p:spPr>
      </p:pic>
    </p:spTree>
    <p:extLst>
      <p:ext uri="{BB962C8B-B14F-4D97-AF65-F5344CB8AC3E}">
        <p14:creationId xmlns:p14="http://schemas.microsoft.com/office/powerpoint/2010/main" val="1327492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81684-0FDE-BAFF-2203-BFCEAB7578D2}"/>
              </a:ext>
            </a:extLst>
          </p:cNvPr>
          <p:cNvSpPr>
            <a:spLocks noGrp="1"/>
          </p:cNvSpPr>
          <p:nvPr>
            <p:ph type="title"/>
          </p:nvPr>
        </p:nvSpPr>
        <p:spPr>
          <a:xfrm>
            <a:off x="457200" y="464235"/>
            <a:ext cx="10346788" cy="738664"/>
          </a:xfrm>
        </p:spPr>
        <p:txBody>
          <a:bodyPr/>
          <a:lstStyle/>
          <a:p>
            <a:pPr>
              <a:lnSpc>
                <a:spcPct val="100000"/>
              </a:lnSpc>
            </a:pPr>
            <a:r>
              <a:rPr lang="en-US" sz="4800" dirty="0">
                <a:effectLst/>
                <a:latin typeface="Calibri" panose="020F0502020204030204" pitchFamily="34" charset="0"/>
                <a:ea typeface="Calibri" panose="020F0502020204030204" pitchFamily="34" charset="0"/>
              </a:rPr>
              <a:t>Repressions</a:t>
            </a:r>
          </a:p>
        </p:txBody>
      </p:sp>
      <p:sp>
        <p:nvSpPr>
          <p:cNvPr id="3" name="Text Placeholder 2">
            <a:extLst>
              <a:ext uri="{FF2B5EF4-FFF2-40B4-BE49-F238E27FC236}">
                <a16:creationId xmlns:a16="http://schemas.microsoft.com/office/drawing/2014/main" id="{ECED359D-1C36-53F6-25CC-5F02F6AD6C53}"/>
              </a:ext>
            </a:extLst>
          </p:cNvPr>
          <p:cNvSpPr>
            <a:spLocks noGrp="1"/>
          </p:cNvSpPr>
          <p:nvPr>
            <p:ph type="body" sz="quarter" idx="10"/>
          </p:nvPr>
        </p:nvSpPr>
        <p:spPr>
          <a:xfrm>
            <a:off x="457200" y="1477108"/>
            <a:ext cx="10754751" cy="4656406"/>
          </a:xfrm>
        </p:spPr>
        <p:txBody>
          <a:bodyPr>
            <a:normAutofit/>
          </a:bodyPr>
          <a:lstStyle/>
          <a:p>
            <a:pPr>
              <a:lnSpc>
                <a:spcPct val="100000"/>
              </a:lnSpc>
            </a:pPr>
            <a:r>
              <a:rPr lang="en-US" sz="2000" dirty="0">
                <a:latin typeface="Calibri" panose="020F0502020204030204" pitchFamily="34" charset="0"/>
              </a:rPr>
              <a:t>There were four phases of Soviet repressions in Uzbekistan.</a:t>
            </a:r>
          </a:p>
          <a:p>
            <a:pPr marL="457200" indent="-457200">
              <a:lnSpc>
                <a:spcPct val="100000"/>
              </a:lnSpc>
              <a:buAutoNum type="arabicPeriod"/>
            </a:pPr>
            <a:r>
              <a:rPr lang="en-US" sz="2000" dirty="0">
                <a:latin typeface="Calibri" panose="020F0502020204030204" pitchFamily="34" charset="0"/>
              </a:rPr>
              <a:t>1920s-beginning of 1930s</a:t>
            </a:r>
          </a:p>
          <a:p>
            <a:pPr marL="457200" indent="-457200">
              <a:lnSpc>
                <a:spcPct val="100000"/>
              </a:lnSpc>
              <a:buAutoNum type="arabicPeriod"/>
            </a:pPr>
            <a:r>
              <a:rPr lang="en-US" sz="2000" dirty="0">
                <a:latin typeface="Calibri" panose="020F0502020204030204" pitchFamily="34" charset="0"/>
              </a:rPr>
              <a:t>1936-1939 (great terror)</a:t>
            </a:r>
          </a:p>
          <a:p>
            <a:pPr marL="457200" indent="-457200">
              <a:lnSpc>
                <a:spcPct val="100000"/>
              </a:lnSpc>
              <a:buAutoNum type="arabicPeriod"/>
            </a:pPr>
            <a:r>
              <a:rPr lang="en-US" sz="2000" dirty="0">
                <a:latin typeface="Calibri" panose="020F0502020204030204" pitchFamily="34" charset="0"/>
              </a:rPr>
              <a:t>1946-1953</a:t>
            </a:r>
          </a:p>
          <a:p>
            <a:pPr marL="457200" indent="-457200">
              <a:lnSpc>
                <a:spcPct val="100000"/>
              </a:lnSpc>
              <a:buAutoNum type="arabicPeriod"/>
            </a:pPr>
            <a:r>
              <a:rPr lang="en-US" sz="2000" dirty="0">
                <a:latin typeface="Calibri" panose="020F0502020204030204" pitchFamily="34" charset="0"/>
              </a:rPr>
              <a:t>1983-1985</a:t>
            </a:r>
          </a:p>
          <a:p>
            <a:pPr>
              <a:lnSpc>
                <a:spcPct val="100000"/>
              </a:lnSpc>
            </a:pPr>
            <a:r>
              <a:rPr lang="en-US" sz="1800" dirty="0">
                <a:effectLst/>
                <a:latin typeface="Times New Roman" panose="02020603050405020304" pitchFamily="18" charset="0"/>
                <a:ea typeface="Calibri" panose="020F0502020204030204" pitchFamily="34" charset="0"/>
              </a:rPr>
              <a:t>The first wave of repression swept through Uzbekistan in the course of the retreat from the NEP. Its victims were the members of the resistance movement, representatives of the national intelligentsia, public figures and politicians who had tried to focus attention on alternative forms of transformation, the rebirth of national culture and the improvement of the people’s life. </a:t>
            </a:r>
          </a:p>
          <a:p>
            <a:pPr>
              <a:lnSpc>
                <a:spcPct val="100000"/>
              </a:lnSpc>
            </a:pPr>
            <a:r>
              <a:rPr lang="en-US" sz="1800" dirty="0">
                <a:effectLst/>
                <a:latin typeface="Times New Roman" panose="02020603050405020304" pitchFamily="18" charset="0"/>
                <a:ea typeface="Calibri" panose="020F0502020204030204" pitchFamily="34" charset="0"/>
              </a:rPr>
              <a:t>In the first half of the 1920s, for instance, statesmen like K. </a:t>
            </a:r>
            <a:r>
              <a:rPr lang="en-US" sz="1800" dirty="0" err="1">
                <a:effectLst/>
                <a:latin typeface="Times New Roman" panose="02020603050405020304" pitchFamily="18" charset="0"/>
                <a:ea typeface="Calibri" panose="020F0502020204030204" pitchFamily="34" charset="0"/>
              </a:rPr>
              <a:t>Atabayev</a:t>
            </a:r>
            <a:r>
              <a:rPr lang="en-US" sz="1800" dirty="0">
                <a:effectLst/>
                <a:latin typeface="Times New Roman" panose="02020603050405020304" pitchFamily="18" charset="0"/>
                <a:ea typeface="Calibri" panose="020F0502020204030204" pitchFamily="34" charset="0"/>
              </a:rPr>
              <a:t>, T. </a:t>
            </a:r>
            <a:r>
              <a:rPr lang="en-US" sz="1800" dirty="0" err="1">
                <a:effectLst/>
                <a:latin typeface="Times New Roman" panose="02020603050405020304" pitchFamily="18" charset="0"/>
                <a:ea typeface="Calibri" panose="020F0502020204030204" pitchFamily="34" charset="0"/>
              </a:rPr>
              <a:t>Ryskulov</a:t>
            </a:r>
            <a:r>
              <a:rPr lang="en-US" sz="1800" dirty="0">
                <a:effectLst/>
                <a:latin typeface="Times New Roman" panose="02020603050405020304" pitchFamily="18" charset="0"/>
                <a:ea typeface="Calibri" panose="020F0502020204030204" pitchFamily="34" charset="0"/>
              </a:rPr>
              <a:t>, A. </a:t>
            </a:r>
            <a:r>
              <a:rPr lang="en-US" sz="1800" dirty="0" err="1">
                <a:effectLst/>
                <a:latin typeface="Times New Roman" panose="02020603050405020304" pitchFamily="18" charset="0"/>
                <a:ea typeface="Calibri" panose="020F0502020204030204" pitchFamily="34" charset="0"/>
              </a:rPr>
              <a:t>Rakhimbayev</a:t>
            </a:r>
            <a:r>
              <a:rPr lang="en-US" sz="1800" dirty="0">
                <a:effectLst/>
                <a:latin typeface="Times New Roman" panose="02020603050405020304" pitchFamily="18" charset="0"/>
                <a:ea typeface="Calibri" panose="020F0502020204030204" pitchFamily="34" charset="0"/>
              </a:rPr>
              <a:t>, N. </a:t>
            </a:r>
            <a:r>
              <a:rPr lang="en-US" sz="1800" dirty="0" err="1">
                <a:effectLst/>
                <a:latin typeface="Times New Roman" panose="02020603050405020304" pitchFamily="18" charset="0"/>
                <a:ea typeface="Calibri" panose="020F0502020204030204" pitchFamily="34" charset="0"/>
              </a:rPr>
              <a:t>Tyurakulov</a:t>
            </a:r>
            <a:r>
              <a:rPr lang="en-US" sz="1800" dirty="0">
                <a:effectLst/>
                <a:latin typeface="Times New Roman" panose="02020603050405020304" pitchFamily="18" charset="0"/>
                <a:ea typeface="Calibri" panose="020F0502020204030204" pitchFamily="34" charset="0"/>
              </a:rPr>
              <a:t>, I. </a:t>
            </a:r>
            <a:r>
              <a:rPr lang="en-US" sz="1800" dirty="0" err="1">
                <a:effectLst/>
                <a:latin typeface="Times New Roman" panose="02020603050405020304" pitchFamily="18" charset="0"/>
                <a:ea typeface="Calibri" panose="020F0502020204030204" pitchFamily="34" charset="0"/>
              </a:rPr>
              <a:t>Khidiraliyev</a:t>
            </a:r>
            <a:r>
              <a:rPr lang="en-US" sz="1800" dirty="0">
                <a:effectLst/>
                <a:latin typeface="Times New Roman" panose="02020603050405020304" pitchFamily="18" charset="0"/>
                <a:ea typeface="Calibri" panose="020F0502020204030204" pitchFamily="34" charset="0"/>
              </a:rPr>
              <a:t> and S. </a:t>
            </a:r>
            <a:r>
              <a:rPr lang="en-US" sz="1800" dirty="0" err="1">
                <a:effectLst/>
                <a:latin typeface="Times New Roman" panose="02020603050405020304" pitchFamily="18" charset="0"/>
                <a:ea typeface="Calibri" panose="020F0502020204030204" pitchFamily="34" charset="0"/>
              </a:rPr>
              <a:t>Khojanov</a:t>
            </a:r>
            <a:r>
              <a:rPr lang="en-US" sz="1800" dirty="0">
                <a:effectLst/>
                <a:latin typeface="Times New Roman" panose="02020603050405020304" pitchFamily="18" charset="0"/>
                <a:ea typeface="Calibri" panose="020F0502020204030204" pitchFamily="34" charset="0"/>
              </a:rPr>
              <a:t> were accused of nationalism. Next came the fabricated cases against </a:t>
            </a:r>
            <a:r>
              <a:rPr lang="en-US" sz="1800" dirty="0" err="1">
                <a:effectLst/>
                <a:latin typeface="Times New Roman" panose="02020603050405020304" pitchFamily="18" charset="0"/>
                <a:ea typeface="Calibri" panose="020F0502020204030204" pitchFamily="34" charset="0"/>
              </a:rPr>
              <a:t>Inogamov</a:t>
            </a:r>
            <a:r>
              <a:rPr lang="en-US" sz="1800" dirty="0">
                <a:effectLst/>
                <a:latin typeface="Times New Roman" panose="02020603050405020304" pitchFamily="18" charset="0"/>
                <a:ea typeface="Calibri" panose="020F0502020204030204" pitchFamily="34" charset="0"/>
              </a:rPr>
              <a:t>, the ‘Group of 18’ and </a:t>
            </a:r>
            <a:r>
              <a:rPr lang="en-US" sz="1800" dirty="0" err="1">
                <a:effectLst/>
                <a:latin typeface="Times New Roman" panose="02020603050405020304" pitchFamily="18" charset="0"/>
                <a:ea typeface="Calibri" panose="020F0502020204030204" pitchFamily="34" charset="0"/>
              </a:rPr>
              <a:t>Kasymov</a:t>
            </a:r>
            <a:r>
              <a:rPr lang="en-US" sz="1800" dirty="0">
                <a:effectLst/>
                <a:latin typeface="Times New Roman" panose="02020603050405020304" pitchFamily="18" charset="0"/>
                <a:ea typeface="Calibri" panose="020F0502020204030204" pitchFamily="34" charset="0"/>
              </a:rPr>
              <a:t>. The end of 1929 saw the arrest of members of the </a:t>
            </a:r>
            <a:r>
              <a:rPr lang="en-US" sz="1800" dirty="0" err="1">
                <a:effectLst/>
                <a:latin typeface="Times New Roman" panose="02020603050405020304" pitchFamily="18" charset="0"/>
                <a:ea typeface="Calibri" panose="020F0502020204030204" pitchFamily="34" charset="0"/>
              </a:rPr>
              <a:t>Milliy</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Istiqlol</a:t>
            </a:r>
            <a:r>
              <a:rPr lang="en-US" sz="1800" dirty="0">
                <a:effectLst/>
                <a:latin typeface="Times New Roman" panose="02020603050405020304" pitchFamily="18" charset="0"/>
                <a:ea typeface="Calibri" panose="020F0502020204030204" pitchFamily="34" charset="0"/>
              </a:rPr>
              <a:t> (National Independence)</a:t>
            </a:r>
            <a:endParaRPr lang="en-US" sz="2000" dirty="0">
              <a:latin typeface="Calibri" panose="020F0502020204030204" pitchFamily="34" charset="0"/>
            </a:endParaRPr>
          </a:p>
        </p:txBody>
      </p:sp>
    </p:spTree>
    <p:extLst>
      <p:ext uri="{BB962C8B-B14F-4D97-AF65-F5344CB8AC3E}">
        <p14:creationId xmlns:p14="http://schemas.microsoft.com/office/powerpoint/2010/main" val="898338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81684-0FDE-BAFF-2203-BFCEAB7578D2}"/>
              </a:ext>
            </a:extLst>
          </p:cNvPr>
          <p:cNvSpPr>
            <a:spLocks noGrp="1"/>
          </p:cNvSpPr>
          <p:nvPr>
            <p:ph type="title"/>
          </p:nvPr>
        </p:nvSpPr>
        <p:spPr>
          <a:xfrm>
            <a:off x="718624" y="464235"/>
            <a:ext cx="10085364" cy="738664"/>
          </a:xfrm>
        </p:spPr>
        <p:txBody>
          <a:bodyPr/>
          <a:lstStyle/>
          <a:p>
            <a:r>
              <a:rPr lang="en-US" sz="4800" dirty="0">
                <a:latin typeface="Calibri" panose="020F0502020204030204" pitchFamily="34" charset="0"/>
                <a:cs typeface="Calibri" panose="020F0502020204030204" pitchFamily="34" charset="0"/>
              </a:rPr>
              <a:t>Great terror</a:t>
            </a:r>
          </a:p>
        </p:txBody>
      </p:sp>
      <p:sp>
        <p:nvSpPr>
          <p:cNvPr id="3" name="Text Placeholder 2">
            <a:extLst>
              <a:ext uri="{FF2B5EF4-FFF2-40B4-BE49-F238E27FC236}">
                <a16:creationId xmlns:a16="http://schemas.microsoft.com/office/drawing/2014/main" id="{ECED359D-1C36-53F6-25CC-5F02F6AD6C53}"/>
              </a:ext>
            </a:extLst>
          </p:cNvPr>
          <p:cNvSpPr>
            <a:spLocks noGrp="1"/>
          </p:cNvSpPr>
          <p:nvPr>
            <p:ph type="body" sz="quarter" idx="10"/>
          </p:nvPr>
        </p:nvSpPr>
        <p:spPr>
          <a:xfrm>
            <a:off x="534572" y="1371715"/>
            <a:ext cx="11211951" cy="4628271"/>
          </a:xfrm>
        </p:spPr>
        <p:txBody>
          <a:bodyPr>
            <a:normAutofit fontScale="92500"/>
          </a:bodyPr>
          <a:lstStyle/>
          <a:p>
            <a:pPr>
              <a:lnSpc>
                <a:spcPct val="100000"/>
              </a:lnSpc>
            </a:pPr>
            <a:r>
              <a:rPr lang="en-US" sz="2000" dirty="0">
                <a:effectLst/>
                <a:latin typeface="Calibri" panose="020F0502020204030204" pitchFamily="34" charset="0"/>
              </a:rPr>
              <a:t>Repression had swamped the </a:t>
            </a:r>
            <a:r>
              <a:rPr lang="en-US" sz="2000" dirty="0">
                <a:latin typeface="Calibri" panose="020F0502020204030204" pitchFamily="34" charset="0"/>
              </a:rPr>
              <a:t>republican authorities by the mid-1930s. </a:t>
            </a:r>
            <a:r>
              <a:rPr lang="en-US" sz="2000" dirty="0">
                <a:effectLst/>
                <a:latin typeface="Calibri" panose="020F0502020204030204" pitchFamily="34" charset="0"/>
              </a:rPr>
              <a:t>In particular, falsified cases were brought against </a:t>
            </a:r>
            <a:r>
              <a:rPr lang="en-US" sz="2000" dirty="0" err="1">
                <a:effectLst/>
                <a:latin typeface="Calibri" panose="020F0502020204030204" pitchFamily="34" charset="0"/>
              </a:rPr>
              <a:t>Faizullah</a:t>
            </a:r>
            <a:r>
              <a:rPr lang="en-US" sz="2000" dirty="0">
                <a:effectLst/>
                <a:latin typeface="Calibri" panose="020F0502020204030204" pitchFamily="34" charset="0"/>
              </a:rPr>
              <a:t> </a:t>
            </a:r>
            <a:r>
              <a:rPr lang="en-US" sz="2000" dirty="0" err="1">
                <a:effectLst/>
                <a:latin typeface="Calibri" panose="020F0502020204030204" pitchFamily="34" charset="0"/>
              </a:rPr>
              <a:t>Khojaev</a:t>
            </a:r>
            <a:r>
              <a:rPr lang="en-US" sz="2000" dirty="0">
                <a:effectLst/>
                <a:latin typeface="Calibri" panose="020F0502020204030204" pitchFamily="34" charset="0"/>
              </a:rPr>
              <a:t>, chairman of the republic’s Council of People’s Commissars; A. </a:t>
            </a:r>
            <a:r>
              <a:rPr lang="en-US" sz="2000" dirty="0" err="1">
                <a:effectLst/>
                <a:latin typeface="Calibri" panose="020F0502020204030204" pitchFamily="34" charset="0"/>
              </a:rPr>
              <a:t>Ikramov</a:t>
            </a:r>
            <a:r>
              <a:rPr lang="en-US" sz="2000" dirty="0">
                <a:effectLst/>
                <a:latin typeface="Calibri" panose="020F0502020204030204" pitchFamily="34" charset="0"/>
              </a:rPr>
              <a:t>, first secretary of the Central Committee of the Communist Party (Bolsheviks) of Uzbekistan; and other officials including S. </a:t>
            </a:r>
            <a:r>
              <a:rPr lang="en-US" sz="2000" dirty="0" err="1">
                <a:effectLst/>
                <a:latin typeface="Calibri" panose="020F0502020204030204" pitchFamily="34" charset="0"/>
              </a:rPr>
              <a:t>Segizbayev</a:t>
            </a:r>
            <a:r>
              <a:rPr lang="en-US" sz="2000" dirty="0">
                <a:effectLst/>
                <a:latin typeface="Calibri" panose="020F0502020204030204" pitchFamily="34" charset="0"/>
              </a:rPr>
              <a:t>, A. Karimov, A. Islamov and M. </a:t>
            </a:r>
            <a:r>
              <a:rPr lang="en-US" sz="2000" dirty="0" err="1">
                <a:effectLst/>
                <a:latin typeface="Calibri" panose="020F0502020204030204" pitchFamily="34" charset="0"/>
              </a:rPr>
              <a:t>Tursunkhojayev</a:t>
            </a:r>
            <a:r>
              <a:rPr lang="en-US" sz="2000" dirty="0">
                <a:effectLst/>
                <a:latin typeface="Calibri" panose="020F0502020204030204" pitchFamily="34" charset="0"/>
              </a:rPr>
              <a:t>. They were all executed. </a:t>
            </a:r>
          </a:p>
          <a:p>
            <a:pPr>
              <a:lnSpc>
                <a:spcPct val="100000"/>
              </a:lnSpc>
            </a:pPr>
            <a:r>
              <a:rPr lang="en-US" sz="2000" dirty="0">
                <a:effectLst/>
                <a:latin typeface="Calibri" panose="020F0502020204030204" pitchFamily="34" charset="0"/>
              </a:rPr>
              <a:t>By the spring of 1938, over 70 per cent of the republic’s leaders had been subjected to repression. Uzbekistan was swept by a wave of mass arrests embracing all sections of the population. From 1937 to 1939 alone the People’s Commissariat for Internal Affairs (NKVD) troikas (three-person tribunals for dealing with ‘counter-revolutionaries’) imprisoned more than 41,000 people, of whom 6,920 were executed. </a:t>
            </a:r>
          </a:p>
          <a:p>
            <a:pPr>
              <a:lnSpc>
                <a:spcPct val="100000"/>
              </a:lnSpc>
            </a:pPr>
            <a:r>
              <a:rPr lang="en-US" sz="2000" dirty="0">
                <a:effectLst/>
                <a:latin typeface="Calibri" panose="020F0502020204030204" pitchFamily="34" charset="0"/>
              </a:rPr>
              <a:t>The national intelligentsia was also subjected to persecution. In the 1930s some of the most talented figures in literature and the arts were declared ‘enemies of the people’, including ‘Abdullah </a:t>
            </a:r>
            <a:r>
              <a:rPr lang="en-US" sz="2000" dirty="0" err="1">
                <a:effectLst/>
                <a:latin typeface="Calibri" panose="020F0502020204030204" pitchFamily="34" charset="0"/>
              </a:rPr>
              <a:t>Qadiri</a:t>
            </a:r>
            <a:r>
              <a:rPr lang="en-US" sz="2000" dirty="0">
                <a:effectLst/>
                <a:latin typeface="Calibri" panose="020F0502020204030204" pitchFamily="34" charset="0"/>
              </a:rPr>
              <a:t>, ‘</a:t>
            </a:r>
            <a:r>
              <a:rPr lang="en-US" sz="2000" dirty="0" err="1">
                <a:effectLst/>
                <a:latin typeface="Calibri" panose="020F0502020204030204" pitchFamily="34" charset="0"/>
              </a:rPr>
              <a:t>Abdulhamid</a:t>
            </a:r>
            <a:r>
              <a:rPr lang="en-US" sz="2000" dirty="0">
                <a:effectLst/>
                <a:latin typeface="Calibri" panose="020F0502020204030204" pitchFamily="34" charset="0"/>
              </a:rPr>
              <a:t> </a:t>
            </a:r>
            <a:r>
              <a:rPr lang="en-US" sz="2000" dirty="0" err="1">
                <a:effectLst/>
                <a:latin typeface="Calibri" panose="020F0502020204030204" pitchFamily="34" charset="0"/>
              </a:rPr>
              <a:t>Cholpan</a:t>
            </a:r>
            <a:r>
              <a:rPr lang="en-US" sz="2000" dirty="0">
                <a:effectLst/>
                <a:latin typeface="Calibri" panose="020F0502020204030204" pitchFamily="34" charset="0"/>
              </a:rPr>
              <a:t>, ‘</a:t>
            </a:r>
            <a:r>
              <a:rPr lang="en-US" sz="2000" dirty="0" err="1">
                <a:effectLst/>
                <a:latin typeface="Calibri" panose="020F0502020204030204" pitchFamily="34" charset="0"/>
              </a:rPr>
              <a:t>Abdurrauf</a:t>
            </a:r>
            <a:r>
              <a:rPr lang="en-US" sz="2000" dirty="0">
                <a:effectLst/>
                <a:latin typeface="Calibri" panose="020F0502020204030204" pitchFamily="34" charset="0"/>
              </a:rPr>
              <a:t> Fitrat, Shakir Suleyman, </a:t>
            </a:r>
            <a:r>
              <a:rPr lang="en-US" sz="2000" dirty="0" err="1">
                <a:effectLst/>
                <a:latin typeface="Calibri" panose="020F0502020204030204" pitchFamily="34" charset="0"/>
              </a:rPr>
              <a:t>Ziya</a:t>
            </a:r>
            <a:r>
              <a:rPr lang="en-US" sz="2000" dirty="0">
                <a:effectLst/>
                <a:latin typeface="Calibri" panose="020F0502020204030204" pitchFamily="34" charset="0"/>
              </a:rPr>
              <a:t> Said, </a:t>
            </a:r>
            <a:r>
              <a:rPr lang="en-US" sz="2000" dirty="0" err="1">
                <a:effectLst/>
                <a:latin typeface="Calibri" panose="020F0502020204030204" pitchFamily="34" charset="0"/>
              </a:rPr>
              <a:t>Elbek</a:t>
            </a:r>
            <a:r>
              <a:rPr lang="en-US" sz="2000" dirty="0">
                <a:effectLst/>
                <a:latin typeface="Calibri" panose="020F0502020204030204" pitchFamily="34" charset="0"/>
              </a:rPr>
              <a:t>, </a:t>
            </a:r>
            <a:r>
              <a:rPr lang="en-US" sz="2000" dirty="0" err="1">
                <a:effectLst/>
                <a:latin typeface="Calibri" panose="020F0502020204030204" pitchFamily="34" charset="0"/>
              </a:rPr>
              <a:t>Agzam</a:t>
            </a:r>
            <a:r>
              <a:rPr lang="en-US" sz="2000" dirty="0">
                <a:effectLst/>
                <a:latin typeface="Calibri" panose="020F0502020204030204" pitchFamily="34" charset="0"/>
              </a:rPr>
              <a:t> </a:t>
            </a:r>
            <a:r>
              <a:rPr lang="en-US" sz="2000" dirty="0" err="1">
                <a:effectLst/>
                <a:latin typeface="Calibri" panose="020F0502020204030204" pitchFamily="34" charset="0"/>
              </a:rPr>
              <a:t>Ayub</a:t>
            </a:r>
            <a:r>
              <a:rPr lang="en-US" sz="2000" dirty="0">
                <a:effectLst/>
                <a:latin typeface="Calibri" panose="020F0502020204030204" pitchFamily="34" charset="0"/>
              </a:rPr>
              <a:t>, Usman Nasir, </a:t>
            </a:r>
            <a:r>
              <a:rPr lang="en-US" sz="2000" dirty="0" err="1">
                <a:effectLst/>
                <a:latin typeface="Calibri" panose="020F0502020204030204" pitchFamily="34" charset="0"/>
              </a:rPr>
              <a:t>Qasim</a:t>
            </a:r>
            <a:r>
              <a:rPr lang="en-US" sz="2000" dirty="0">
                <a:effectLst/>
                <a:latin typeface="Calibri" panose="020F0502020204030204" pitchFamily="34" charset="0"/>
              </a:rPr>
              <a:t> Sorokin, Muhammad Hasan, </a:t>
            </a:r>
            <a:r>
              <a:rPr lang="en-US" sz="2000" dirty="0" err="1">
                <a:effectLst/>
                <a:latin typeface="Calibri" panose="020F0502020204030204" pitchFamily="34" charset="0"/>
              </a:rPr>
              <a:t>Abdusalom</a:t>
            </a:r>
            <a:r>
              <a:rPr lang="en-US" sz="2000" dirty="0">
                <a:effectLst/>
                <a:latin typeface="Calibri" panose="020F0502020204030204" pitchFamily="34" charset="0"/>
              </a:rPr>
              <a:t> </a:t>
            </a:r>
            <a:r>
              <a:rPr lang="en-US" sz="2000" dirty="0" err="1">
                <a:effectLst/>
                <a:latin typeface="Calibri" panose="020F0502020204030204" pitchFamily="34" charset="0"/>
              </a:rPr>
              <a:t>Niyaziy</a:t>
            </a:r>
            <a:r>
              <a:rPr lang="en-US" sz="2000" dirty="0">
                <a:effectLst/>
                <a:latin typeface="Calibri" panose="020F0502020204030204" pitchFamily="34" charset="0"/>
              </a:rPr>
              <a:t> and </a:t>
            </a:r>
            <a:r>
              <a:rPr lang="en-US" sz="2000" dirty="0" err="1">
                <a:effectLst/>
                <a:latin typeface="Calibri" panose="020F0502020204030204" pitchFamily="34" charset="0"/>
              </a:rPr>
              <a:t>Atajan</a:t>
            </a:r>
            <a:r>
              <a:rPr lang="en-US" sz="2000" dirty="0">
                <a:effectLst/>
                <a:latin typeface="Calibri" panose="020F0502020204030204" pitchFamily="34" charset="0"/>
              </a:rPr>
              <a:t> </a:t>
            </a:r>
            <a:r>
              <a:rPr lang="en-US" sz="2000" dirty="0" err="1">
                <a:effectLst/>
                <a:latin typeface="Calibri" panose="020F0502020204030204" pitchFamily="34" charset="0"/>
              </a:rPr>
              <a:t>Khashimov</a:t>
            </a:r>
            <a:r>
              <a:rPr lang="en-US" sz="2000" dirty="0">
                <a:effectLst/>
                <a:latin typeface="Calibri" panose="020F0502020204030204" pitchFamily="34" charset="0"/>
              </a:rPr>
              <a:t>.</a:t>
            </a:r>
          </a:p>
          <a:p>
            <a:pPr>
              <a:lnSpc>
                <a:spcPct val="100000"/>
              </a:lnSpc>
            </a:pPr>
            <a:r>
              <a:rPr lang="en-US" sz="2000" dirty="0">
                <a:effectLst/>
                <a:latin typeface="Calibri" panose="020F0502020204030204" pitchFamily="34" charset="0"/>
              </a:rPr>
              <a:t>The political oppression of the clergy was intensified. Altogether in the republic between 1937 and 1953 almost 100,000 people were repressed, of whom 13,000 were executed.</a:t>
            </a:r>
            <a:endParaRPr lang="en-US" sz="2000" dirty="0">
              <a:latin typeface="Calibri" panose="020F0502020204030204" pitchFamily="34" charset="0"/>
            </a:endParaRPr>
          </a:p>
        </p:txBody>
      </p:sp>
    </p:spTree>
    <p:extLst>
      <p:ext uri="{BB962C8B-B14F-4D97-AF65-F5344CB8AC3E}">
        <p14:creationId xmlns:p14="http://schemas.microsoft.com/office/powerpoint/2010/main" val="326436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B05D9-017D-D8EE-0876-25DF814969AC}"/>
              </a:ext>
            </a:extLst>
          </p:cNvPr>
          <p:cNvSpPr>
            <a:spLocks noGrp="1"/>
          </p:cNvSpPr>
          <p:nvPr>
            <p:ph type="title"/>
          </p:nvPr>
        </p:nvSpPr>
        <p:spPr>
          <a:xfrm>
            <a:off x="422030" y="337624"/>
            <a:ext cx="10283483" cy="738664"/>
          </a:xfrm>
        </p:spPr>
        <p:txBody>
          <a:bodyPr/>
          <a:lstStyle/>
          <a:p>
            <a:r>
              <a:rPr lang="en-US" sz="4800" dirty="0">
                <a:latin typeface="Calibri" panose="020F0502020204030204" pitchFamily="34" charset="0"/>
              </a:rPr>
              <a:t>Cotton affair</a:t>
            </a:r>
          </a:p>
        </p:txBody>
      </p:sp>
      <p:sp>
        <p:nvSpPr>
          <p:cNvPr id="3" name="Text Placeholder 2">
            <a:extLst>
              <a:ext uri="{FF2B5EF4-FFF2-40B4-BE49-F238E27FC236}">
                <a16:creationId xmlns:a16="http://schemas.microsoft.com/office/drawing/2014/main" id="{C1C196D3-0CF8-3CE4-82C3-5CC22BEF1B21}"/>
              </a:ext>
            </a:extLst>
          </p:cNvPr>
          <p:cNvSpPr>
            <a:spLocks noGrp="1"/>
          </p:cNvSpPr>
          <p:nvPr>
            <p:ph type="body" sz="quarter" idx="10"/>
          </p:nvPr>
        </p:nvSpPr>
        <p:spPr>
          <a:xfrm>
            <a:off x="422030" y="1076289"/>
            <a:ext cx="10979834" cy="5113496"/>
          </a:xfrm>
        </p:spPr>
        <p:txBody>
          <a:bodyPr>
            <a:normAutofit lnSpcReduction="10000"/>
          </a:bodyPr>
          <a:lstStyle/>
          <a:p>
            <a:pPr indent="450215" algn="just">
              <a:lnSpc>
                <a:spcPct val="107000"/>
              </a:lnSpc>
            </a:pPr>
            <a:r>
              <a:rPr lang="en-US" sz="2000" kern="100" dirty="0">
                <a:effectLst/>
                <a:latin typeface="Calibri" panose="020F0502020204030204" pitchFamily="34" charset="0"/>
              </a:rPr>
              <a:t>Much-publicized campaigns of ‘exposure’ developed in a number of regions of the USSR to demonstrate the efforts of the new political elite to achieve ‘socialist purification’ and end corruption, whereby the blame for economic failures was placed on local leadership cadres. </a:t>
            </a:r>
          </a:p>
          <a:p>
            <a:pPr indent="450215" algn="just">
              <a:lnSpc>
                <a:spcPct val="107000"/>
              </a:lnSpc>
            </a:pPr>
            <a:r>
              <a:rPr lang="en-US" sz="2000" kern="100" dirty="0">
                <a:effectLst/>
                <a:latin typeface="Calibri" panose="020F0502020204030204" pitchFamily="34" charset="0"/>
              </a:rPr>
              <a:t>One of the regions receiving close attention was Uzbekistan, where the so-called ‘Uzbek’ or ‘cotton’ case was unraveled. Fed from the </a:t>
            </a:r>
            <a:r>
              <a:rPr lang="en-US" sz="2000" kern="100" dirty="0" err="1">
                <a:effectLst/>
                <a:latin typeface="Calibri" panose="020F0502020204030204" pitchFamily="34" charset="0"/>
              </a:rPr>
              <a:t>centre</a:t>
            </a:r>
            <a:r>
              <a:rPr lang="en-US" sz="2000" kern="100" dirty="0">
                <a:effectLst/>
                <a:latin typeface="Calibri" panose="020F0502020204030204" pitchFamily="34" charset="0"/>
              </a:rPr>
              <a:t>, the USSR mass media began to spread the view widely that the system of corruption in Uzbekistan had embraced the whole nation. This offended national dignity. </a:t>
            </a:r>
          </a:p>
          <a:p>
            <a:pPr indent="450215" algn="just">
              <a:lnSpc>
                <a:spcPct val="107000"/>
              </a:lnSpc>
            </a:pPr>
            <a:r>
              <a:rPr lang="en-US" sz="2000" kern="100" dirty="0">
                <a:effectLst/>
                <a:latin typeface="Calibri" panose="020F0502020204030204" pitchFamily="34" charset="0"/>
              </a:rPr>
              <a:t>Groups of party, local government, law enforcement and economic workers were sent down to the republic. Many of them took their appointment to leadership responsibilities as giving them the right to do as they pleased. They started interfering with people’s customs and culture and increased the artificial restrictions on the Uzbek language. </a:t>
            </a:r>
          </a:p>
          <a:p>
            <a:pPr indent="450215" algn="just">
              <a:lnSpc>
                <a:spcPct val="107000"/>
              </a:lnSpc>
              <a:spcBef>
                <a:spcPts val="0"/>
              </a:spcBef>
            </a:pPr>
            <a:r>
              <a:rPr lang="en-US" sz="2000" kern="100" dirty="0">
                <a:effectLst/>
                <a:latin typeface="Calibri" panose="020F0502020204030204" pitchFamily="34" charset="0"/>
              </a:rPr>
              <a:t>The situation was aggravated by the investigation teams, headed by </a:t>
            </a:r>
            <a:r>
              <a:rPr lang="en-US" sz="2000" kern="100" dirty="0" err="1">
                <a:effectLst/>
                <a:latin typeface="Calibri" panose="020F0502020204030204" pitchFamily="34" charset="0"/>
              </a:rPr>
              <a:t>Gdlyan</a:t>
            </a:r>
            <a:r>
              <a:rPr lang="en-US" sz="2000" kern="100" dirty="0">
                <a:effectLst/>
                <a:latin typeface="Calibri" panose="020F0502020204030204" pitchFamily="34" charset="0"/>
              </a:rPr>
              <a:t> and Ivanov, which began ‘purification’ work using the methods of Stalin and Beria. They beat suspects during interrogation and illegally arrested and imprisoned thousands of innocent people. Altogether over 25,000 executives and economic managers from Uzbekistan were arrested. </a:t>
            </a:r>
          </a:p>
        </p:txBody>
      </p:sp>
    </p:spTree>
    <p:extLst>
      <p:ext uri="{BB962C8B-B14F-4D97-AF65-F5344CB8AC3E}">
        <p14:creationId xmlns:p14="http://schemas.microsoft.com/office/powerpoint/2010/main" val="3672100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4D8D6-6CD5-56C0-9F64-06A21B0AD37B}"/>
              </a:ext>
            </a:extLst>
          </p:cNvPr>
          <p:cNvSpPr>
            <a:spLocks noGrp="1"/>
          </p:cNvSpPr>
          <p:nvPr>
            <p:ph type="title"/>
          </p:nvPr>
        </p:nvSpPr>
        <p:spPr/>
        <p:txBody>
          <a:bodyPr/>
          <a:lstStyle/>
          <a:p>
            <a:endParaRPr lang="ru-RU"/>
          </a:p>
        </p:txBody>
      </p:sp>
      <p:sp>
        <p:nvSpPr>
          <p:cNvPr id="3" name="Text Placeholder 2">
            <a:extLst>
              <a:ext uri="{FF2B5EF4-FFF2-40B4-BE49-F238E27FC236}">
                <a16:creationId xmlns:a16="http://schemas.microsoft.com/office/drawing/2014/main" id="{DEB0B52B-5805-6572-9BF7-DDBA2CBA315E}"/>
              </a:ext>
            </a:extLst>
          </p:cNvPr>
          <p:cNvSpPr>
            <a:spLocks noGrp="1"/>
          </p:cNvSpPr>
          <p:nvPr>
            <p:ph type="body" sz="quarter" idx="10"/>
          </p:nvPr>
        </p:nvSpPr>
        <p:spPr/>
        <p:txBody>
          <a:bodyPr/>
          <a:lstStyle/>
          <a:p>
            <a:endParaRPr lang="ru-RU"/>
          </a:p>
        </p:txBody>
      </p:sp>
      <p:pic>
        <p:nvPicPr>
          <p:cNvPr id="5" name="Picture 4">
            <a:extLst>
              <a:ext uri="{FF2B5EF4-FFF2-40B4-BE49-F238E27FC236}">
                <a16:creationId xmlns:a16="http://schemas.microsoft.com/office/drawing/2014/main" id="{4F808AA8-E18F-87A3-48DA-B4913861BCD3}"/>
              </a:ext>
            </a:extLst>
          </p:cNvPr>
          <p:cNvPicPr>
            <a:picLocks noChangeAspect="1"/>
          </p:cNvPicPr>
          <p:nvPr/>
        </p:nvPicPr>
        <p:blipFill>
          <a:blip r:embed="rId2"/>
          <a:stretch>
            <a:fillRect/>
          </a:stretch>
        </p:blipFill>
        <p:spPr>
          <a:xfrm>
            <a:off x="0" y="0"/>
            <a:ext cx="4683211" cy="6858000"/>
          </a:xfrm>
          <a:prstGeom prst="rect">
            <a:avLst/>
          </a:prstGeom>
        </p:spPr>
      </p:pic>
      <p:pic>
        <p:nvPicPr>
          <p:cNvPr id="7" name="Picture 6">
            <a:extLst>
              <a:ext uri="{FF2B5EF4-FFF2-40B4-BE49-F238E27FC236}">
                <a16:creationId xmlns:a16="http://schemas.microsoft.com/office/drawing/2014/main" id="{EF18A604-DF23-68C7-A23C-A90A0B8BE301}"/>
              </a:ext>
            </a:extLst>
          </p:cNvPr>
          <p:cNvPicPr>
            <a:picLocks noChangeAspect="1"/>
          </p:cNvPicPr>
          <p:nvPr/>
        </p:nvPicPr>
        <p:blipFill>
          <a:blip r:embed="rId3"/>
          <a:stretch>
            <a:fillRect/>
          </a:stretch>
        </p:blipFill>
        <p:spPr>
          <a:xfrm>
            <a:off x="4773612" y="924919"/>
            <a:ext cx="7020404" cy="4561481"/>
          </a:xfrm>
          <a:prstGeom prst="rect">
            <a:avLst/>
          </a:prstGeom>
        </p:spPr>
      </p:pic>
    </p:spTree>
    <p:extLst>
      <p:ext uri="{BB962C8B-B14F-4D97-AF65-F5344CB8AC3E}">
        <p14:creationId xmlns:p14="http://schemas.microsoft.com/office/powerpoint/2010/main" val="3482475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A6B93-B12B-E894-1C69-40C4A313C57F}"/>
              </a:ext>
            </a:extLst>
          </p:cNvPr>
          <p:cNvSpPr>
            <a:spLocks noGrp="1"/>
          </p:cNvSpPr>
          <p:nvPr>
            <p:ph type="ctrTitle"/>
          </p:nvPr>
        </p:nvSpPr>
        <p:spPr/>
        <p:txBody>
          <a:bodyPr/>
          <a:lstStyle/>
          <a:p>
            <a:endParaRPr lang="ru-RU"/>
          </a:p>
        </p:txBody>
      </p:sp>
      <p:sp>
        <p:nvSpPr>
          <p:cNvPr id="3" name="Subtitle 2">
            <a:extLst>
              <a:ext uri="{FF2B5EF4-FFF2-40B4-BE49-F238E27FC236}">
                <a16:creationId xmlns:a16="http://schemas.microsoft.com/office/drawing/2014/main" id="{ECD5D32B-C7FB-479E-FFC2-460A5E0B1328}"/>
              </a:ext>
            </a:extLst>
          </p:cNvPr>
          <p:cNvSpPr>
            <a:spLocks noGrp="1"/>
          </p:cNvSpPr>
          <p:nvPr>
            <p:ph type="subTitle" idx="1"/>
          </p:nvPr>
        </p:nvSpPr>
        <p:spPr/>
        <p:txBody>
          <a:bodyPr/>
          <a:lstStyle/>
          <a:p>
            <a:endParaRPr lang="ru-RU"/>
          </a:p>
        </p:txBody>
      </p:sp>
      <p:pic>
        <p:nvPicPr>
          <p:cNvPr id="5" name="Picture 4">
            <a:extLst>
              <a:ext uri="{FF2B5EF4-FFF2-40B4-BE49-F238E27FC236}">
                <a16:creationId xmlns:a16="http://schemas.microsoft.com/office/drawing/2014/main" id="{262D0BCF-D7AE-F0E1-B3F9-B3B69CE73798}"/>
              </a:ext>
            </a:extLst>
          </p:cNvPr>
          <p:cNvPicPr>
            <a:picLocks noChangeAspect="1"/>
          </p:cNvPicPr>
          <p:nvPr/>
        </p:nvPicPr>
        <p:blipFill>
          <a:blip r:embed="rId2"/>
          <a:stretch>
            <a:fillRect/>
          </a:stretch>
        </p:blipFill>
        <p:spPr>
          <a:xfrm>
            <a:off x="0" y="1337872"/>
            <a:ext cx="5242429" cy="4182256"/>
          </a:xfrm>
          <a:prstGeom prst="rect">
            <a:avLst/>
          </a:prstGeom>
        </p:spPr>
      </p:pic>
      <p:pic>
        <p:nvPicPr>
          <p:cNvPr id="7" name="Picture 6">
            <a:extLst>
              <a:ext uri="{FF2B5EF4-FFF2-40B4-BE49-F238E27FC236}">
                <a16:creationId xmlns:a16="http://schemas.microsoft.com/office/drawing/2014/main" id="{61DC264B-EAD8-585C-9752-6B460A1586A4}"/>
              </a:ext>
            </a:extLst>
          </p:cNvPr>
          <p:cNvPicPr>
            <a:picLocks noChangeAspect="1"/>
          </p:cNvPicPr>
          <p:nvPr/>
        </p:nvPicPr>
        <p:blipFill>
          <a:blip r:embed="rId3"/>
          <a:stretch>
            <a:fillRect/>
          </a:stretch>
        </p:blipFill>
        <p:spPr>
          <a:xfrm>
            <a:off x="5242429" y="1649282"/>
            <a:ext cx="6949571" cy="3213360"/>
          </a:xfrm>
          <a:prstGeom prst="rect">
            <a:avLst/>
          </a:prstGeom>
        </p:spPr>
      </p:pic>
    </p:spTree>
    <p:extLst>
      <p:ext uri="{BB962C8B-B14F-4D97-AF65-F5344CB8AC3E}">
        <p14:creationId xmlns:p14="http://schemas.microsoft.com/office/powerpoint/2010/main" val="3697496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494F3-CF06-537E-9F0D-8B3A5FF56394}"/>
              </a:ext>
            </a:extLst>
          </p:cNvPr>
          <p:cNvSpPr>
            <a:spLocks noGrp="1"/>
          </p:cNvSpPr>
          <p:nvPr>
            <p:ph type="title"/>
          </p:nvPr>
        </p:nvSpPr>
        <p:spPr>
          <a:xfrm>
            <a:off x="457200" y="492369"/>
            <a:ext cx="10121705" cy="738664"/>
          </a:xfrm>
        </p:spPr>
        <p:txBody>
          <a:bodyPr/>
          <a:lstStyle/>
          <a:p>
            <a:r>
              <a:rPr lang="en-US" sz="4800" dirty="0">
                <a:effectLst/>
                <a:latin typeface="Calibri" panose="020F0502020204030204" pitchFamily="34" charset="0"/>
                <a:cs typeface="Calibri" panose="020F0502020204030204" pitchFamily="34" charset="0"/>
              </a:rPr>
              <a:t>Literacy and Deculturation</a:t>
            </a:r>
            <a:endParaRPr lang="en-US" sz="4800"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5F213DCC-CB1E-D573-C3BC-B414E49C91FF}"/>
              </a:ext>
            </a:extLst>
          </p:cNvPr>
          <p:cNvSpPr>
            <a:spLocks noGrp="1"/>
          </p:cNvSpPr>
          <p:nvPr>
            <p:ph type="body" sz="quarter" idx="10"/>
          </p:nvPr>
        </p:nvSpPr>
        <p:spPr>
          <a:xfrm>
            <a:off x="457200" y="1294235"/>
            <a:ext cx="11106443" cy="4853347"/>
          </a:xfrm>
        </p:spPr>
        <p:txBody>
          <a:bodyPr/>
          <a:lstStyle/>
          <a:p>
            <a:pPr>
              <a:spcBef>
                <a:spcPts val="0"/>
              </a:spcBef>
            </a:pPr>
            <a:r>
              <a:rPr lang="en-US" sz="2000" dirty="0">
                <a:latin typeface="Calibri" panose="020F0502020204030204" pitchFamily="34" charset="0"/>
              </a:rPr>
              <a:t>Changes of writing scripts that led to high rate of illiteracy;</a:t>
            </a:r>
          </a:p>
          <a:p>
            <a:pPr>
              <a:spcBef>
                <a:spcPts val="0"/>
              </a:spcBef>
            </a:pPr>
            <a:r>
              <a:rPr lang="en-US" sz="2000" dirty="0">
                <a:latin typeface="Calibri" panose="020F0502020204030204" pitchFamily="34" charset="0"/>
              </a:rPr>
              <a:t>Establishment of public schools after eliminating private schools;</a:t>
            </a:r>
          </a:p>
          <a:p>
            <a:pPr>
              <a:spcBef>
                <a:spcPts val="0"/>
              </a:spcBef>
            </a:pPr>
            <a:r>
              <a:rPr lang="en-US" sz="2000" dirty="0">
                <a:latin typeface="Calibri" panose="020F0502020204030204" pitchFamily="34" charset="0"/>
              </a:rPr>
              <a:t>Increase in the number of specialists;</a:t>
            </a:r>
          </a:p>
          <a:p>
            <a:pPr>
              <a:spcBef>
                <a:spcPts val="0"/>
              </a:spcBef>
            </a:pPr>
            <a:r>
              <a:rPr lang="en-US" sz="2000" dirty="0">
                <a:latin typeface="Calibri" panose="020F0502020204030204" pitchFamily="34" charset="0"/>
              </a:rPr>
              <a:t>High level of poetry, playwriting, prose that was inspired by </a:t>
            </a:r>
            <a:r>
              <a:rPr lang="en-US" sz="2000" dirty="0" err="1">
                <a:latin typeface="Calibri" panose="020F0502020204030204" pitchFamily="34" charset="0"/>
              </a:rPr>
              <a:t>Jadids</a:t>
            </a:r>
            <a:r>
              <a:rPr lang="en-US" sz="2000" dirty="0">
                <a:latin typeface="Calibri" panose="020F0502020204030204" pitchFamily="34" charset="0"/>
              </a:rPr>
              <a:t>;</a:t>
            </a:r>
          </a:p>
          <a:p>
            <a:pPr>
              <a:spcBef>
                <a:spcPts val="0"/>
              </a:spcBef>
            </a:pPr>
            <a:r>
              <a:rPr lang="en-US" sz="2000" dirty="0">
                <a:latin typeface="Calibri" panose="020F0502020204030204" pitchFamily="34" charset="0"/>
              </a:rPr>
              <a:t>Controversiality in ideological development;</a:t>
            </a:r>
          </a:p>
          <a:p>
            <a:pPr>
              <a:spcBef>
                <a:spcPts val="0"/>
              </a:spcBef>
            </a:pPr>
            <a:r>
              <a:rPr lang="en-US" sz="2000" dirty="0">
                <a:effectLst/>
                <a:latin typeface="Calibri" panose="020F0502020204030204" pitchFamily="34" charset="0"/>
              </a:rPr>
              <a:t>Imprisonment for 10 to 15 years when anything was published in Arabic scripts;</a:t>
            </a:r>
          </a:p>
          <a:p>
            <a:pPr>
              <a:spcBef>
                <a:spcPts val="0"/>
              </a:spcBef>
            </a:pPr>
            <a:r>
              <a:rPr lang="en-US" sz="2000" dirty="0">
                <a:latin typeface="Calibri" panose="020F0502020204030204" pitchFamily="34" charset="0"/>
              </a:rPr>
              <a:t>artificially </a:t>
            </a:r>
            <a:r>
              <a:rPr lang="en-US" sz="2000" dirty="0" err="1">
                <a:latin typeface="Calibri" panose="020F0502020204030204" pitchFamily="34" charset="0"/>
              </a:rPr>
              <a:t>implantention</a:t>
            </a:r>
            <a:r>
              <a:rPr lang="en-US" sz="2000" dirty="0">
                <a:latin typeface="Calibri" panose="020F0502020204030204" pitchFamily="34" charset="0"/>
              </a:rPr>
              <a:t> of </a:t>
            </a:r>
            <a:r>
              <a:rPr lang="en-US" sz="2000" dirty="0">
                <a:effectLst/>
                <a:latin typeface="Calibri" panose="020F0502020204030204" pitchFamily="34" charset="0"/>
              </a:rPr>
              <a:t>new Soviet rites and rituals;</a:t>
            </a:r>
          </a:p>
          <a:p>
            <a:pPr>
              <a:spcBef>
                <a:spcPts val="0"/>
              </a:spcBef>
            </a:pPr>
            <a:r>
              <a:rPr lang="en-US" sz="2000" dirty="0">
                <a:effectLst/>
                <a:latin typeface="Calibri" panose="020F0502020204030204" pitchFamily="34" charset="0"/>
              </a:rPr>
              <a:t>Harm to cultural development by the policy of accelerated ‘internationalization’;</a:t>
            </a:r>
          </a:p>
          <a:p>
            <a:pPr>
              <a:spcBef>
                <a:spcPts val="0"/>
              </a:spcBef>
            </a:pPr>
            <a:r>
              <a:rPr lang="en-US" sz="2000" dirty="0">
                <a:effectLst/>
                <a:latin typeface="Calibri" panose="020F0502020204030204" pitchFamily="34" charset="0"/>
              </a:rPr>
              <a:t>Curtailment of the appointment of native cadres and set about the formation of a culture which was ‘socialist in content, internationalist in spirit’ and national in form; </a:t>
            </a:r>
          </a:p>
          <a:p>
            <a:pPr>
              <a:spcBef>
                <a:spcPts val="0"/>
              </a:spcBef>
            </a:pPr>
            <a:r>
              <a:rPr lang="en-US" sz="2000" dirty="0">
                <a:effectLst/>
                <a:latin typeface="Calibri" panose="020F0502020204030204" pitchFamily="34" charset="0"/>
              </a:rPr>
              <a:t>Alienation of the people from the roots of their thousand year-old spiritual heritage and the destruction of their historical memory</a:t>
            </a:r>
            <a:r>
              <a:rPr lang="en-US" sz="2000" dirty="0">
                <a:latin typeface="Calibri" panose="020F0502020204030204" pitchFamily="34" charset="0"/>
              </a:rPr>
              <a:t>;</a:t>
            </a:r>
          </a:p>
          <a:p>
            <a:pPr>
              <a:spcBef>
                <a:spcPts val="0"/>
              </a:spcBef>
            </a:pPr>
            <a:r>
              <a:rPr lang="en-US" sz="2000" dirty="0">
                <a:effectLst/>
                <a:latin typeface="Calibri" panose="020F0502020204030204" pitchFamily="34" charset="0"/>
              </a:rPr>
              <a:t>Language policy;</a:t>
            </a:r>
            <a:endParaRPr lang="en-US" sz="2000" dirty="0">
              <a:latin typeface="Calibri" panose="020F0502020204030204" pitchFamily="34" charset="0"/>
            </a:endParaRPr>
          </a:p>
        </p:txBody>
      </p:sp>
    </p:spTree>
    <p:extLst>
      <p:ext uri="{BB962C8B-B14F-4D97-AF65-F5344CB8AC3E}">
        <p14:creationId xmlns:p14="http://schemas.microsoft.com/office/powerpoint/2010/main" val="636464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4A9D2-38D3-368C-1220-A73513BCEA3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48632C4-9282-7BD7-B070-8AD99EB7926D}"/>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46710E2F-ADCC-5FD4-416D-9BBFE522FA0A}"/>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2272114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6DF4-F960-106C-600A-2E03EA14A60D}"/>
              </a:ext>
            </a:extLst>
          </p:cNvPr>
          <p:cNvSpPr>
            <a:spLocks noGrp="1"/>
          </p:cNvSpPr>
          <p:nvPr>
            <p:ph type="title"/>
          </p:nvPr>
        </p:nvSpPr>
        <p:spPr>
          <a:xfrm>
            <a:off x="407963" y="393892"/>
            <a:ext cx="10888394" cy="738664"/>
          </a:xfrm>
        </p:spPr>
        <p:txBody>
          <a:bodyPr/>
          <a:lstStyle/>
          <a:p>
            <a:r>
              <a:rPr lang="en-US" sz="4800" dirty="0">
                <a:effectLst/>
                <a:latin typeface="Calibri" panose="020F0502020204030204" pitchFamily="34" charset="0"/>
                <a:cs typeface="Calibri" panose="020F0502020204030204" pitchFamily="34" charset="0"/>
              </a:rPr>
              <a:t>Migrations and Centralization</a:t>
            </a:r>
            <a:endParaRPr lang="en-US" sz="4800"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66F34C41-6568-A696-CBB5-C76629F465BB}"/>
              </a:ext>
            </a:extLst>
          </p:cNvPr>
          <p:cNvSpPr>
            <a:spLocks noGrp="1"/>
          </p:cNvSpPr>
          <p:nvPr>
            <p:ph type="body" sz="quarter" idx="10"/>
          </p:nvPr>
        </p:nvSpPr>
        <p:spPr>
          <a:xfrm>
            <a:off x="457200" y="1266092"/>
            <a:ext cx="11176782" cy="4909625"/>
          </a:xfrm>
        </p:spPr>
        <p:txBody>
          <a:bodyPr/>
          <a:lstStyle/>
          <a:p>
            <a:r>
              <a:rPr lang="en-US" sz="2000" dirty="0">
                <a:effectLst/>
                <a:latin typeface="Calibri" panose="020F0502020204030204" pitchFamily="34" charset="0"/>
              </a:rPr>
              <a:t>Policy of artificially increasing the multinational mix of the Union Republics;</a:t>
            </a:r>
          </a:p>
          <a:p>
            <a:r>
              <a:rPr lang="en-US" sz="2000" dirty="0">
                <a:effectLst/>
                <a:latin typeface="Calibri" panose="020F0502020204030204" pitchFamily="34" charset="0"/>
              </a:rPr>
              <a:t>Forced migration into the republic as well as voluntary migration, which was uncontrolled</a:t>
            </a:r>
            <a:r>
              <a:rPr lang="en-US" sz="2000" dirty="0">
                <a:latin typeface="Calibri" panose="020F0502020204030204" pitchFamily="34" charset="0"/>
              </a:rPr>
              <a:t>;</a:t>
            </a:r>
          </a:p>
          <a:p>
            <a:r>
              <a:rPr lang="en-US" sz="2000" dirty="0">
                <a:effectLst/>
                <a:latin typeface="Calibri" panose="020F0502020204030204" pitchFamily="34" charset="0"/>
              </a:rPr>
              <a:t>Compulsory resettlement in the second half of the 1930s;</a:t>
            </a:r>
          </a:p>
          <a:p>
            <a:r>
              <a:rPr lang="en-US" sz="2000" dirty="0">
                <a:effectLst/>
                <a:latin typeface="Calibri" panose="020F0502020204030204" pitchFamily="34" charset="0"/>
              </a:rPr>
              <a:t>Koreans from the Soviet Far East, Germans from the Volga basin and Poles from western Ukraine and western Belorussia - the first to be subjected to such population transfers;</a:t>
            </a:r>
          </a:p>
          <a:p>
            <a:r>
              <a:rPr lang="en-US" sz="2000" dirty="0">
                <a:effectLst/>
                <a:latin typeface="Calibri" panose="020F0502020204030204" pitchFamily="34" charset="0"/>
              </a:rPr>
              <a:t>Arrival of more than 74,500 Koreans in Uzbekistan between September and December 1937;</a:t>
            </a:r>
          </a:p>
          <a:p>
            <a:r>
              <a:rPr lang="en-US" sz="2000" dirty="0">
                <a:effectLst/>
                <a:latin typeface="Calibri" panose="020F0502020204030204" pitchFamily="34" charset="0"/>
              </a:rPr>
              <a:t> A number </a:t>
            </a:r>
            <a:r>
              <a:rPr lang="en-US" sz="2000" dirty="0">
                <a:latin typeface="Calibri" panose="020F0502020204030204" pitchFamily="34" charset="0"/>
              </a:rPr>
              <a:t>of political exiles </a:t>
            </a:r>
            <a:r>
              <a:rPr lang="en-US" sz="2000" dirty="0">
                <a:effectLst/>
                <a:latin typeface="Calibri" panose="020F0502020204030204" pitchFamily="34" charset="0"/>
              </a:rPr>
              <a:t>from the northern Caucasus, Georgia and the Crimea in 1943 and 1944;</a:t>
            </a:r>
          </a:p>
          <a:p>
            <a:r>
              <a:rPr lang="en-US" sz="2000" dirty="0">
                <a:effectLst/>
                <a:latin typeface="Calibri" panose="020F0502020204030204" pitchFamily="34" charset="0"/>
              </a:rPr>
              <a:t>About 110,000 Meskhetian Turks from Georgia and 151,424 Crimean Tatars from </a:t>
            </a:r>
            <a:r>
              <a:rPr lang="en-US" sz="2000" dirty="0">
                <a:latin typeface="Calibri" panose="020F0502020204030204" pitchFamily="34" charset="0"/>
              </a:rPr>
              <a:t>the Crimea to Uzbekistan;</a:t>
            </a:r>
          </a:p>
          <a:p>
            <a:endParaRPr lang="en-US" sz="2000" dirty="0">
              <a:effectLst/>
              <a:latin typeface="Calibri" panose="020F0502020204030204" pitchFamily="34" charset="0"/>
            </a:endParaRPr>
          </a:p>
        </p:txBody>
      </p:sp>
    </p:spTree>
    <p:extLst>
      <p:ext uri="{BB962C8B-B14F-4D97-AF65-F5344CB8AC3E}">
        <p14:creationId xmlns:p14="http://schemas.microsoft.com/office/powerpoint/2010/main" val="97191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7694C-9A09-4346-A7D3-94C0663577A5}"/>
              </a:ext>
            </a:extLst>
          </p:cNvPr>
          <p:cNvSpPr>
            <a:spLocks noGrp="1"/>
          </p:cNvSpPr>
          <p:nvPr>
            <p:ph type="title"/>
          </p:nvPr>
        </p:nvSpPr>
        <p:spPr>
          <a:xfrm>
            <a:off x="457200" y="457200"/>
            <a:ext cx="11277599" cy="724486"/>
          </a:xfrm>
        </p:spPr>
        <p:txBody>
          <a:bodyPr>
            <a:noAutofit/>
          </a:bodyPr>
          <a:lstStyle/>
          <a:p>
            <a:r>
              <a:rPr lang="en-US" sz="4800" dirty="0">
                <a:effectLst/>
                <a:latin typeface="Calibri" panose="020F0502020204030204" pitchFamily="34" charset="0"/>
                <a:ea typeface="Calibri" panose="020F0502020204030204" pitchFamily="34" charset="0"/>
              </a:rPr>
              <a:t>Contribution to the victory over Fascism</a:t>
            </a:r>
            <a:endParaRPr lang="en-US" sz="7200" dirty="0">
              <a:latin typeface="Calibri" panose="020F0502020204030204" pitchFamily="34" charset="0"/>
            </a:endParaRPr>
          </a:p>
        </p:txBody>
      </p:sp>
      <p:sp>
        <p:nvSpPr>
          <p:cNvPr id="3" name="Content Placeholder 2">
            <a:extLst>
              <a:ext uri="{FF2B5EF4-FFF2-40B4-BE49-F238E27FC236}">
                <a16:creationId xmlns:a16="http://schemas.microsoft.com/office/drawing/2014/main" id="{2D16E3A7-020E-4D66-B2CD-B47A0D7175C8}"/>
              </a:ext>
            </a:extLst>
          </p:cNvPr>
          <p:cNvSpPr>
            <a:spLocks noGrp="1"/>
          </p:cNvSpPr>
          <p:nvPr>
            <p:ph idx="1"/>
          </p:nvPr>
        </p:nvSpPr>
        <p:spPr>
          <a:xfrm>
            <a:off x="752621" y="1181686"/>
            <a:ext cx="10982178" cy="4909625"/>
          </a:xfrm>
        </p:spPr>
        <p:txBody>
          <a:bodyPr>
            <a:noAutofit/>
          </a:bodyPr>
          <a:lstStyle/>
          <a:p>
            <a:r>
              <a:rPr lang="en-US" sz="2000" dirty="0">
                <a:effectLst/>
                <a:latin typeface="Calibri" panose="020F0502020204030204" pitchFamily="34" charset="0"/>
              </a:rPr>
              <a:t>Involvement of altogether 1,433,230 people from Uzbekistan in the war – over 40 per cent of the republic’s able-bodied population;</a:t>
            </a:r>
          </a:p>
          <a:p>
            <a:r>
              <a:rPr lang="en-US" sz="2000" dirty="0">
                <a:effectLst/>
                <a:latin typeface="Calibri" panose="020F0502020204030204" pitchFamily="34" charset="0"/>
              </a:rPr>
              <a:t>Uzbek </a:t>
            </a:r>
            <a:r>
              <a:rPr lang="en-US" sz="2000" dirty="0">
                <a:latin typeface="Calibri" panose="020F0502020204030204" pitchFamily="34" charset="0"/>
              </a:rPr>
              <a:t>soldiers killed - 263,005, missing in action - 132,670, not return - </a:t>
            </a:r>
            <a:r>
              <a:rPr lang="en-US" sz="2000" dirty="0">
                <a:effectLst/>
                <a:latin typeface="Calibri" panose="020F0502020204030204" pitchFamily="34" charset="0"/>
              </a:rPr>
              <a:t>395,795, </a:t>
            </a:r>
            <a:r>
              <a:rPr lang="en-US" sz="2000" dirty="0">
                <a:latin typeface="Calibri" panose="020F0502020204030204" pitchFamily="34" charset="0"/>
              </a:rPr>
              <a:t>and disabled - 60,452;</a:t>
            </a:r>
          </a:p>
          <a:p>
            <a:r>
              <a:rPr lang="en-US" sz="2000" dirty="0">
                <a:latin typeface="Calibri" panose="020F0502020204030204" pitchFamily="34" charset="0"/>
              </a:rPr>
              <a:t>Awarded </a:t>
            </a:r>
            <a:r>
              <a:rPr lang="en-US" sz="2000" dirty="0">
                <a:effectLst/>
                <a:latin typeface="Calibri" panose="020F0502020204030204" pitchFamily="34" charset="0"/>
              </a:rPr>
              <a:t>Uzbek soldiers for </a:t>
            </a:r>
            <a:r>
              <a:rPr lang="en-US" sz="2000" dirty="0">
                <a:latin typeface="Calibri" panose="020F0502020204030204" pitchFamily="34" charset="0"/>
              </a:rPr>
              <a:t>proving the courage and heroism with </a:t>
            </a:r>
            <a:r>
              <a:rPr lang="en-US" sz="2000" dirty="0">
                <a:effectLst/>
                <a:latin typeface="Calibri" panose="020F0502020204030204" pitchFamily="34" charset="0"/>
              </a:rPr>
              <a:t>orders and medals during the war years to around -120,000 soldiers; </a:t>
            </a:r>
          </a:p>
          <a:p>
            <a:r>
              <a:rPr lang="en-US" sz="2000" dirty="0">
                <a:effectLst/>
                <a:latin typeface="Calibri" panose="020F0502020204030204" pitchFamily="34" charset="0"/>
              </a:rPr>
              <a:t>Hero of the Soviet Union, awarded to 280 men from the republic, of whom 75 were Uzbeks;</a:t>
            </a:r>
          </a:p>
          <a:p>
            <a:r>
              <a:rPr lang="en-US" sz="2000" dirty="0">
                <a:effectLst/>
                <a:latin typeface="Calibri" panose="020F0502020204030204" pitchFamily="34" charset="0"/>
              </a:rPr>
              <a:t>Supplying the front with weapons, ammunition, uniforms and food;</a:t>
            </a:r>
          </a:p>
          <a:p>
            <a:r>
              <a:rPr lang="en-US" sz="2000" dirty="0">
                <a:effectLst/>
                <a:latin typeface="Calibri" panose="020F0502020204030204" pitchFamily="34" charset="0"/>
              </a:rPr>
              <a:t>Immediate specializations of local industry in the republic on a war footing and over 100 industrial enterprises evacuated from Russia, Ukraine and Belorussia;</a:t>
            </a:r>
          </a:p>
          <a:p>
            <a:r>
              <a:rPr lang="en-US" sz="2000" dirty="0">
                <a:effectLst/>
                <a:latin typeface="Calibri" panose="020F0502020204030204" pitchFamily="34" charset="0"/>
              </a:rPr>
              <a:t>Receiving 1 million citizens arriving in the republic from the occupied areas of Russia, Ukraine, Belorussia, Moldavia and the Baltic region, including 200,000 children;</a:t>
            </a:r>
          </a:p>
          <a:p>
            <a:endParaRPr lang="en-US" sz="2000" dirty="0">
              <a:effectLst/>
              <a:latin typeface="Calibri" panose="020F0502020204030204" pitchFamily="34" charset="0"/>
            </a:endParaRPr>
          </a:p>
          <a:p>
            <a:endParaRPr lang="en-US" sz="2000" dirty="0">
              <a:effectLst/>
              <a:latin typeface="Calibri" panose="020F0502020204030204" pitchFamily="34" charset="0"/>
            </a:endParaRPr>
          </a:p>
          <a:p>
            <a:endParaRPr lang="en-US" sz="2000" dirty="0">
              <a:latin typeface="Calibri" panose="020F0502020204030204" pitchFamily="34" charset="0"/>
            </a:endParaRPr>
          </a:p>
        </p:txBody>
      </p:sp>
    </p:spTree>
    <p:extLst>
      <p:ext uri="{BB962C8B-B14F-4D97-AF65-F5344CB8AC3E}">
        <p14:creationId xmlns:p14="http://schemas.microsoft.com/office/powerpoint/2010/main" val="2358660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938CD-C8D7-4BAC-8505-1A431F179316}"/>
              </a:ext>
            </a:extLst>
          </p:cNvPr>
          <p:cNvSpPr>
            <a:spLocks noGrp="1"/>
          </p:cNvSpPr>
          <p:nvPr>
            <p:ph type="title"/>
          </p:nvPr>
        </p:nvSpPr>
        <p:spPr>
          <a:xfrm>
            <a:off x="457200" y="337625"/>
            <a:ext cx="11277599" cy="731519"/>
          </a:xfrm>
        </p:spPr>
        <p:txBody>
          <a:bodyPr>
            <a:noAutofit/>
          </a:bodyPr>
          <a:lstStyle/>
          <a:p>
            <a:r>
              <a:rPr lang="en-US" sz="4800" dirty="0">
                <a:effectLst/>
                <a:latin typeface="Calibri" panose="020F0502020204030204" pitchFamily="34" charset="0"/>
              </a:rPr>
              <a:t>After Stalin</a:t>
            </a:r>
            <a:endParaRPr lang="en-US" sz="4800" dirty="0">
              <a:latin typeface="Calibri" panose="020F0502020204030204" pitchFamily="34" charset="0"/>
            </a:endParaRPr>
          </a:p>
        </p:txBody>
      </p:sp>
      <p:sp>
        <p:nvSpPr>
          <p:cNvPr id="3" name="Content Placeholder 2">
            <a:extLst>
              <a:ext uri="{FF2B5EF4-FFF2-40B4-BE49-F238E27FC236}">
                <a16:creationId xmlns:a16="http://schemas.microsoft.com/office/drawing/2014/main" id="{DF76166A-452E-413B-B1AF-26B90D4B672F}"/>
              </a:ext>
            </a:extLst>
          </p:cNvPr>
          <p:cNvSpPr>
            <a:spLocks noGrp="1"/>
          </p:cNvSpPr>
          <p:nvPr>
            <p:ph idx="1"/>
          </p:nvPr>
        </p:nvSpPr>
        <p:spPr/>
        <p:txBody>
          <a:bodyPr>
            <a:noAutofit/>
          </a:bodyPr>
          <a:lstStyle/>
          <a:p>
            <a:r>
              <a:rPr lang="en-US" sz="2000" dirty="0">
                <a:latin typeface="Calibri" panose="020F0502020204030204" pitchFamily="34" charset="0"/>
              </a:rPr>
              <a:t>The policy of de-Stalinization;</a:t>
            </a:r>
            <a:endParaRPr lang="en-US" sz="2000" dirty="0">
              <a:solidFill>
                <a:srgbClr val="202122"/>
              </a:solidFill>
              <a:latin typeface="Calibri" panose="020F0502020204030204" pitchFamily="34" charset="0"/>
            </a:endParaRPr>
          </a:p>
          <a:p>
            <a:r>
              <a:rPr lang="en-US" sz="2000" dirty="0">
                <a:latin typeface="Calibri" panose="020F0502020204030204" pitchFamily="34" charset="0"/>
              </a:rPr>
              <a:t>Rehabilitation of </a:t>
            </a:r>
            <a:r>
              <a:rPr lang="en-US" sz="2000" dirty="0">
                <a:effectLst/>
                <a:latin typeface="Calibri" panose="020F0502020204030204" pitchFamily="34" charset="0"/>
              </a:rPr>
              <a:t>the victims of political genocide to emerge from prisons and camps and many ‘repressed’ people</a:t>
            </a:r>
            <a:r>
              <a:rPr lang="en-US" sz="2000" dirty="0">
                <a:solidFill>
                  <a:srgbClr val="202122"/>
                </a:solidFill>
                <a:effectLst/>
                <a:latin typeface="Calibri" panose="020F0502020204030204" pitchFamily="34" charset="0"/>
              </a:rPr>
              <a:t>;</a:t>
            </a:r>
          </a:p>
          <a:p>
            <a:r>
              <a:rPr lang="en-US" sz="2000" dirty="0">
                <a:effectLst/>
                <a:latin typeface="Calibri" panose="020F0502020204030204" pitchFamily="34" charset="0"/>
              </a:rPr>
              <a:t>Little change in the general approach to national politics</a:t>
            </a:r>
            <a:endParaRPr lang="en-US" sz="2000" dirty="0">
              <a:solidFill>
                <a:srgbClr val="202122"/>
              </a:solidFill>
              <a:effectLst/>
              <a:latin typeface="Calibri" panose="020F0502020204030204" pitchFamily="34" charset="0"/>
            </a:endParaRPr>
          </a:p>
          <a:p>
            <a:pPr algn="l"/>
            <a:r>
              <a:rPr lang="en-US" sz="2000" dirty="0">
                <a:effectLst/>
                <a:latin typeface="Calibri" panose="020F0502020204030204" pitchFamily="34" charset="0"/>
              </a:rPr>
              <a:t>Withdrawal from the extremes of Stalin’s repressive regime and attempts at a ‘leap into communism’;</a:t>
            </a:r>
          </a:p>
          <a:p>
            <a:pPr algn="l"/>
            <a:r>
              <a:rPr lang="en-US" sz="2000" dirty="0">
                <a:effectLst/>
                <a:latin typeface="Calibri" panose="020F0502020204030204" pitchFamily="34" charset="0"/>
              </a:rPr>
              <a:t>solving social problems and boosting agrarian production</a:t>
            </a:r>
            <a:r>
              <a:rPr lang="en-US" sz="2000" dirty="0">
                <a:latin typeface="Calibri" panose="020F0502020204030204" pitchFamily="34" charset="0"/>
              </a:rPr>
              <a:t>;</a:t>
            </a:r>
          </a:p>
          <a:p>
            <a:pPr algn="l"/>
            <a:r>
              <a:rPr lang="en-US" sz="2000" dirty="0">
                <a:effectLst/>
                <a:latin typeface="Calibri" panose="020F0502020204030204" pitchFamily="34" charset="0"/>
              </a:rPr>
              <a:t>Sharaf </a:t>
            </a:r>
            <a:r>
              <a:rPr lang="en-US" sz="2000" dirty="0" err="1">
                <a:effectLst/>
                <a:latin typeface="Calibri" panose="020F0502020204030204" pitchFamily="34" charset="0"/>
              </a:rPr>
              <a:t>Rashidov’s</a:t>
            </a:r>
            <a:r>
              <a:rPr lang="en-US" sz="2000" dirty="0">
                <a:effectLst/>
                <a:latin typeface="Calibri" panose="020F0502020204030204" pitchFamily="34" charset="0"/>
              </a:rPr>
              <a:t> important role;</a:t>
            </a:r>
          </a:p>
          <a:p>
            <a:pPr algn="l"/>
            <a:r>
              <a:rPr lang="en-US" sz="2000" dirty="0">
                <a:effectLst/>
                <a:latin typeface="Calibri" panose="020F0502020204030204" pitchFamily="34" charset="0"/>
              </a:rPr>
              <a:t>Opening dozens of big industrial plants from the 1960s to the beginning of the 1980s;</a:t>
            </a:r>
          </a:p>
          <a:p>
            <a:pPr algn="l"/>
            <a:r>
              <a:rPr lang="en-US" sz="2000" dirty="0">
                <a:effectLst/>
                <a:latin typeface="Calibri" panose="020F0502020204030204" pitchFamily="34" charset="0"/>
              </a:rPr>
              <a:t>1,549 industrial enterprises, engineering, chemical, construction, light industry and agro-industrial complexes functioning</a:t>
            </a:r>
            <a:r>
              <a:rPr lang="en-US" sz="2000" dirty="0">
                <a:latin typeface="Calibri" panose="020F0502020204030204" pitchFamily="34" charset="0"/>
              </a:rPr>
              <a:t> in 1985;</a:t>
            </a:r>
          </a:p>
          <a:p>
            <a:pPr algn="l"/>
            <a:r>
              <a:rPr lang="en-US" sz="2000" dirty="0">
                <a:solidFill>
                  <a:srgbClr val="202122"/>
                </a:solidFill>
                <a:effectLst/>
                <a:latin typeface="Calibri" panose="020F0502020204030204" pitchFamily="34" charset="0"/>
              </a:rPr>
              <a:t>Opening irrigation facilities: </a:t>
            </a:r>
            <a:r>
              <a:rPr lang="en-US" sz="2000" dirty="0">
                <a:effectLst/>
                <a:latin typeface="Calibri" panose="020F0502020204030204" pitchFamily="34" charset="0"/>
              </a:rPr>
              <a:t>irrigation channels - 197,000 km; 23 reservoirs to accumulate 10 billion m3 of water for irrigation; </a:t>
            </a:r>
          </a:p>
          <a:p>
            <a:pPr algn="l"/>
            <a:endParaRPr lang="en-US" sz="2000" dirty="0">
              <a:solidFill>
                <a:srgbClr val="202122"/>
              </a:solidFill>
              <a:effectLst/>
              <a:latin typeface="Calibri" panose="020F0502020204030204" pitchFamily="34" charset="0"/>
            </a:endParaRPr>
          </a:p>
          <a:p>
            <a:pPr algn="l"/>
            <a:endParaRPr lang="en-US" sz="2000" dirty="0">
              <a:solidFill>
                <a:srgbClr val="202122"/>
              </a:solidFill>
              <a:effectLst/>
              <a:latin typeface="Calibri" panose="020F0502020204030204" pitchFamily="34" charset="0"/>
            </a:endParaRPr>
          </a:p>
          <a:p>
            <a:pPr algn="l"/>
            <a:endParaRPr lang="en-US" sz="2000" dirty="0">
              <a:solidFill>
                <a:srgbClr val="202122"/>
              </a:solidFill>
              <a:effectLst/>
              <a:latin typeface="Calibri" panose="020F0502020204030204" pitchFamily="34" charset="0"/>
            </a:endParaRPr>
          </a:p>
          <a:p>
            <a:endParaRPr lang="en-US" sz="2000" dirty="0">
              <a:effectLst/>
              <a:latin typeface="Calibri" panose="020F0502020204030204" pitchFamily="34" charset="0"/>
            </a:endParaRPr>
          </a:p>
        </p:txBody>
      </p:sp>
    </p:spTree>
    <p:extLst>
      <p:ext uri="{BB962C8B-B14F-4D97-AF65-F5344CB8AC3E}">
        <p14:creationId xmlns:p14="http://schemas.microsoft.com/office/powerpoint/2010/main" val="2031924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2224E-E5D1-4B43-9192-A678DDED5DBB}"/>
              </a:ext>
            </a:extLst>
          </p:cNvPr>
          <p:cNvSpPr>
            <a:spLocks noGrp="1"/>
          </p:cNvSpPr>
          <p:nvPr>
            <p:ph type="title"/>
          </p:nvPr>
        </p:nvSpPr>
        <p:spPr>
          <a:xfrm>
            <a:off x="956603" y="217488"/>
            <a:ext cx="9254197" cy="1143000"/>
          </a:xfrm>
        </p:spPr>
        <p:txBody>
          <a:bodyPr>
            <a:normAutofit/>
          </a:bodyPr>
          <a:lstStyle/>
          <a:p>
            <a:r>
              <a:rPr lang="en-US" sz="4800" dirty="0">
                <a:solidFill>
                  <a:schemeClr val="accent5">
                    <a:lumMod val="60000"/>
                    <a:lumOff val="40000"/>
                  </a:schemeClr>
                </a:solidFill>
                <a:latin typeface="Calibri" panose="020F0502020204030204" pitchFamily="34" charset="0"/>
              </a:rPr>
              <a:t>Losses</a:t>
            </a:r>
          </a:p>
        </p:txBody>
      </p:sp>
      <p:sp>
        <p:nvSpPr>
          <p:cNvPr id="3" name="Content Placeholder 2">
            <a:extLst>
              <a:ext uri="{FF2B5EF4-FFF2-40B4-BE49-F238E27FC236}">
                <a16:creationId xmlns:a16="http://schemas.microsoft.com/office/drawing/2014/main" id="{6D66D76B-BD0B-4BE4-992C-0D919F062425}"/>
              </a:ext>
            </a:extLst>
          </p:cNvPr>
          <p:cNvSpPr>
            <a:spLocks noGrp="1"/>
          </p:cNvSpPr>
          <p:nvPr>
            <p:ph idx="1"/>
          </p:nvPr>
        </p:nvSpPr>
        <p:spPr>
          <a:xfrm>
            <a:off x="956603" y="928469"/>
            <a:ext cx="10578905" cy="5197696"/>
          </a:xfrm>
        </p:spPr>
        <p:txBody>
          <a:bodyPr>
            <a:noAutofit/>
          </a:bodyPr>
          <a:lstStyle/>
          <a:p>
            <a:r>
              <a:rPr lang="en-US" sz="2000" dirty="0">
                <a:effectLst/>
                <a:latin typeface="Calibri" panose="020F0502020204030204" pitchFamily="34" charset="0"/>
              </a:rPr>
              <a:t>From the 1960s to the 1980s the republic’s specialization as a supplier of raw materials;</a:t>
            </a:r>
          </a:p>
          <a:p>
            <a:r>
              <a:rPr lang="en-US" sz="2000" dirty="0">
                <a:effectLst/>
                <a:latin typeface="Calibri" panose="020F0502020204030204" pitchFamily="34" charset="0"/>
              </a:rPr>
              <a:t>Deliveries of gas, non-ferrous and rare metals and other minerals intensively;</a:t>
            </a:r>
          </a:p>
          <a:p>
            <a:r>
              <a:rPr lang="en-US" sz="2000" dirty="0">
                <a:effectLst/>
                <a:latin typeface="Calibri" panose="020F0502020204030204" pitchFamily="34" charset="0"/>
              </a:rPr>
              <a:t>1980s - the annual deliveries of gas from Uzbekistan over 250 billion m3 and deliveries of gold over 50 tons;</a:t>
            </a:r>
          </a:p>
          <a:p>
            <a:r>
              <a:rPr lang="en-US" sz="2000" dirty="0">
                <a:effectLst/>
                <a:latin typeface="Calibri" panose="020F0502020204030204" pitchFamily="34" charset="0"/>
              </a:rPr>
              <a:t>A never-ending stream of cobalt, molybdenum, wolfram, refined copper, uranium</a:t>
            </a:r>
            <a:r>
              <a:rPr lang="en-US" sz="2000" dirty="0">
                <a:latin typeface="Calibri" panose="020F0502020204030204" pitchFamily="34" charset="0"/>
              </a:rPr>
              <a:t>;</a:t>
            </a:r>
          </a:p>
          <a:p>
            <a:r>
              <a:rPr lang="en-US" sz="2000" dirty="0">
                <a:effectLst/>
                <a:latin typeface="Calibri" panose="020F0502020204030204" pitchFamily="34" charset="0"/>
              </a:rPr>
              <a:t>Minerals worth around $5.5 billion a year;</a:t>
            </a:r>
          </a:p>
          <a:p>
            <a:r>
              <a:rPr lang="en-US" sz="2000" b="1" dirty="0">
                <a:effectLst/>
                <a:latin typeface="Calibri" panose="020F0502020204030204" pitchFamily="34" charset="0"/>
              </a:rPr>
              <a:t>Revenue from the production and sale of gold, rare and non-ferrous metals, strategic materials and other high-value products in demand on the world market did not go into the treasury of Uzbekistan</a:t>
            </a:r>
            <a:r>
              <a:rPr lang="en-US" sz="2000" dirty="0">
                <a:effectLst/>
                <a:latin typeface="Calibri" panose="020F0502020204030204" pitchFamily="34" charset="0"/>
              </a:rPr>
              <a:t>.</a:t>
            </a:r>
          </a:p>
          <a:p>
            <a:r>
              <a:rPr lang="en-US" sz="2000" dirty="0">
                <a:effectLst/>
                <a:latin typeface="Calibri" panose="020F0502020204030204" pitchFamily="34" charset="0"/>
              </a:rPr>
              <a:t>The total value of the minerals delivered to the central regions in the last 15 years – over 75 billion;</a:t>
            </a:r>
          </a:p>
          <a:p>
            <a:r>
              <a:rPr lang="en-US" sz="2000" dirty="0">
                <a:effectLst/>
                <a:latin typeface="Calibri" panose="020F0502020204030204" pitchFamily="34" charset="0"/>
              </a:rPr>
              <a:t>Cotton monoculture;</a:t>
            </a:r>
          </a:p>
          <a:p>
            <a:r>
              <a:rPr lang="en-US" sz="2000" dirty="0">
                <a:effectLst/>
                <a:latin typeface="Calibri" panose="020F0502020204030204" pitchFamily="34" charset="0"/>
              </a:rPr>
              <a:t>Uncontrolled use of the waters of the rivers Amu Darya and </a:t>
            </a:r>
            <a:r>
              <a:rPr lang="en-US" sz="2000" dirty="0" err="1">
                <a:effectLst/>
                <a:latin typeface="Calibri" panose="020F0502020204030204" pitchFamily="34" charset="0"/>
              </a:rPr>
              <a:t>Syr</a:t>
            </a:r>
            <a:r>
              <a:rPr lang="en-US" sz="2000" dirty="0">
                <a:effectLst/>
                <a:latin typeface="Calibri" panose="020F0502020204030204" pitchFamily="34" charset="0"/>
              </a:rPr>
              <a:t> Darya;</a:t>
            </a:r>
          </a:p>
          <a:p>
            <a:r>
              <a:rPr lang="en-US" sz="2000" dirty="0">
                <a:effectLst/>
                <a:latin typeface="Calibri" panose="020F0502020204030204" pitchFamily="34" charset="0"/>
              </a:rPr>
              <a:t>Aral Sea </a:t>
            </a:r>
            <a:r>
              <a:rPr lang="en-US" sz="2000" dirty="0">
                <a:latin typeface="Calibri" panose="020F0502020204030204" pitchFamily="34" charset="0"/>
              </a:rPr>
              <a:t> disaster;</a:t>
            </a:r>
          </a:p>
          <a:p>
            <a:endParaRPr lang="en-US" sz="2000" dirty="0">
              <a:effectLst/>
              <a:latin typeface="Calibri" panose="020F0502020204030204" pitchFamily="34" charset="0"/>
            </a:endParaRPr>
          </a:p>
          <a:p>
            <a:endParaRPr lang="en-US" sz="2000" dirty="0">
              <a:effectLst/>
              <a:latin typeface="Calibri" panose="020F0502020204030204" pitchFamily="34" charset="0"/>
            </a:endParaRPr>
          </a:p>
          <a:p>
            <a:endParaRPr lang="en-US" sz="2000" dirty="0">
              <a:latin typeface="Calibri" panose="020F0502020204030204" pitchFamily="34" charset="0"/>
            </a:endParaRPr>
          </a:p>
          <a:p>
            <a:endParaRPr lang="en-US" sz="2000" dirty="0">
              <a:effectLst/>
              <a:latin typeface="Calibri" panose="020F0502020204030204" pitchFamily="34" charset="0"/>
            </a:endParaRPr>
          </a:p>
          <a:p>
            <a:endParaRPr lang="en-US" sz="2000" dirty="0">
              <a:effectLst/>
              <a:latin typeface="Calibri" panose="020F0502020204030204" pitchFamily="34" charset="0"/>
            </a:endParaRPr>
          </a:p>
          <a:p>
            <a:endParaRPr lang="en-US" sz="2000" dirty="0">
              <a:effectLst/>
              <a:latin typeface="Calibri" panose="020F0502020204030204" pitchFamily="34" charset="0"/>
            </a:endParaRPr>
          </a:p>
        </p:txBody>
      </p:sp>
    </p:spTree>
    <p:extLst>
      <p:ext uri="{BB962C8B-B14F-4D97-AF65-F5344CB8AC3E}">
        <p14:creationId xmlns:p14="http://schemas.microsoft.com/office/powerpoint/2010/main" val="3262465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2224E-E5D1-4B43-9192-A678DDED5DBB}"/>
              </a:ext>
            </a:extLst>
          </p:cNvPr>
          <p:cNvSpPr>
            <a:spLocks noGrp="1"/>
          </p:cNvSpPr>
          <p:nvPr>
            <p:ph type="title"/>
          </p:nvPr>
        </p:nvSpPr>
        <p:spPr>
          <a:xfrm>
            <a:off x="956603" y="217488"/>
            <a:ext cx="9254197" cy="710981"/>
          </a:xfrm>
        </p:spPr>
        <p:txBody>
          <a:bodyPr>
            <a:noAutofit/>
          </a:bodyPr>
          <a:lstStyle/>
          <a:p>
            <a:r>
              <a:rPr lang="en-US" sz="4800" dirty="0">
                <a:effectLst/>
                <a:latin typeface="Calibri" panose="020F0502020204030204" pitchFamily="34" charset="0"/>
              </a:rPr>
              <a:t>PERESTROIKA</a:t>
            </a:r>
            <a:endParaRPr lang="en-US" sz="4800" dirty="0">
              <a:solidFill>
                <a:schemeClr val="accent5">
                  <a:lumMod val="60000"/>
                  <a:lumOff val="40000"/>
                </a:schemeClr>
              </a:solidFill>
              <a:latin typeface="Calibri" panose="020F0502020204030204" pitchFamily="34" charset="0"/>
            </a:endParaRPr>
          </a:p>
        </p:txBody>
      </p:sp>
      <p:sp>
        <p:nvSpPr>
          <p:cNvPr id="3" name="Content Placeholder 2">
            <a:extLst>
              <a:ext uri="{FF2B5EF4-FFF2-40B4-BE49-F238E27FC236}">
                <a16:creationId xmlns:a16="http://schemas.microsoft.com/office/drawing/2014/main" id="{6D66D76B-BD0B-4BE4-992C-0D919F062425}"/>
              </a:ext>
            </a:extLst>
          </p:cNvPr>
          <p:cNvSpPr>
            <a:spLocks noGrp="1"/>
          </p:cNvSpPr>
          <p:nvPr>
            <p:ph idx="1"/>
          </p:nvPr>
        </p:nvSpPr>
        <p:spPr>
          <a:xfrm>
            <a:off x="956603" y="928469"/>
            <a:ext cx="10578905" cy="5197696"/>
          </a:xfrm>
        </p:spPr>
        <p:txBody>
          <a:bodyPr>
            <a:noAutofit/>
          </a:bodyPr>
          <a:lstStyle/>
          <a:p>
            <a:r>
              <a:rPr lang="en-US" sz="2000" dirty="0">
                <a:effectLst/>
                <a:latin typeface="Calibri" panose="020F0502020204030204" pitchFamily="34" charset="0"/>
              </a:rPr>
              <a:t>The ‘restructuring’ proclaimed in April 1985 by M. Gorbachev - hopes of a way out of the systemic crisis;</a:t>
            </a:r>
          </a:p>
          <a:p>
            <a:r>
              <a:rPr lang="en-US" sz="2000" dirty="0">
                <a:effectLst/>
                <a:latin typeface="Calibri" panose="020F0502020204030204" pitchFamily="34" charset="0"/>
              </a:rPr>
              <a:t>The proclamation of a ‘new thinking’ in foreign policy in </a:t>
            </a:r>
            <a:r>
              <a:rPr lang="en-US" sz="2000" dirty="0" err="1">
                <a:effectLst/>
                <a:latin typeface="Calibri" panose="020F0502020204030204" pitchFamily="34" charset="0"/>
              </a:rPr>
              <a:t>favour</a:t>
            </a:r>
            <a:r>
              <a:rPr lang="en-US" sz="2000" dirty="0">
                <a:effectLst/>
                <a:latin typeface="Calibri" panose="020F0502020204030204" pitchFamily="34" charset="0"/>
              </a:rPr>
              <a:t> of ‘common human values’ and a ‘world without violence and war’;</a:t>
            </a:r>
          </a:p>
          <a:p>
            <a:r>
              <a:rPr lang="en-US" sz="2000" dirty="0">
                <a:effectLst/>
                <a:latin typeface="Calibri" panose="020F0502020204030204" pitchFamily="34" charset="0"/>
              </a:rPr>
              <a:t>The birth of national movements which expressed demands for national democratic reform and true sovereignty, rebirth of national consciousness and organization of political movements which focused on the restoration of national statehood;</a:t>
            </a:r>
          </a:p>
          <a:p>
            <a:r>
              <a:rPr lang="en-US" sz="2000" dirty="0">
                <a:effectLst/>
                <a:latin typeface="Calibri" panose="020F0502020204030204" pitchFamily="34" charset="0"/>
              </a:rPr>
              <a:t>Arrest of over 25,000 executives and economic managers from Uzbekistan in Cotton case;</a:t>
            </a:r>
          </a:p>
          <a:p>
            <a:r>
              <a:rPr lang="en-US" sz="2000" dirty="0">
                <a:effectLst/>
                <a:latin typeface="Calibri" panose="020F0502020204030204" pitchFamily="34" charset="0"/>
              </a:rPr>
              <a:t>A wave of demonstrations swept Ferghana, Kokand, </a:t>
            </a:r>
            <a:r>
              <a:rPr lang="en-US" sz="2000" dirty="0" err="1">
                <a:effectLst/>
                <a:latin typeface="Calibri" panose="020F0502020204030204" pitchFamily="34" charset="0"/>
              </a:rPr>
              <a:t>Quvasay</a:t>
            </a:r>
            <a:r>
              <a:rPr lang="en-US" sz="2000" dirty="0">
                <a:effectLst/>
                <a:latin typeface="Calibri" panose="020F0502020204030204" pitchFamily="34" charset="0"/>
              </a:rPr>
              <a:t>, Gulistan, </a:t>
            </a:r>
            <a:r>
              <a:rPr lang="en-US" sz="2000" dirty="0" err="1">
                <a:effectLst/>
                <a:latin typeface="Calibri" panose="020F0502020204030204" pitchFamily="34" charset="0"/>
              </a:rPr>
              <a:t>Parkent</a:t>
            </a:r>
            <a:r>
              <a:rPr lang="en-US" sz="2000" dirty="0">
                <a:effectLst/>
                <a:latin typeface="Calibri" panose="020F0502020204030204" pitchFamily="34" charset="0"/>
              </a:rPr>
              <a:t> and Buka in 1989;</a:t>
            </a:r>
          </a:p>
          <a:p>
            <a:r>
              <a:rPr lang="en-US" sz="2000" dirty="0">
                <a:effectLst/>
                <a:latin typeface="Calibri" panose="020F0502020204030204" pitchFamily="34" charset="0"/>
              </a:rPr>
              <a:t>The idea of Uzbekistan’s political sovereignty and economic self-dependence as the decisive conditions for independence;</a:t>
            </a:r>
          </a:p>
          <a:p>
            <a:r>
              <a:rPr lang="en-US" sz="2000" dirty="0">
                <a:effectLst/>
                <a:latin typeface="Calibri" panose="020F0502020204030204" pitchFamily="34" charset="0"/>
              </a:rPr>
              <a:t>The ‘Declaration of Independence’ adopted at the second session of the Supreme Soviet of Uzbekistan (June 1990);</a:t>
            </a:r>
          </a:p>
          <a:p>
            <a:endParaRPr lang="en-US" sz="2000" dirty="0">
              <a:effectLst/>
              <a:latin typeface="Calibri" panose="020F0502020204030204" pitchFamily="34" charset="0"/>
            </a:endParaRPr>
          </a:p>
          <a:p>
            <a:endParaRPr lang="en-US" sz="2000" dirty="0">
              <a:effectLst/>
              <a:latin typeface="Calibri" panose="020F0502020204030204" pitchFamily="34" charset="0"/>
            </a:endParaRPr>
          </a:p>
          <a:p>
            <a:endParaRPr lang="en-US" sz="2000" dirty="0">
              <a:effectLst/>
              <a:latin typeface="Calibri" panose="020F0502020204030204" pitchFamily="34" charset="0"/>
            </a:endParaRPr>
          </a:p>
        </p:txBody>
      </p:sp>
    </p:spTree>
    <p:extLst>
      <p:ext uri="{BB962C8B-B14F-4D97-AF65-F5344CB8AC3E}">
        <p14:creationId xmlns:p14="http://schemas.microsoft.com/office/powerpoint/2010/main" val="2935962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D39182-1F54-497D-32ED-593A2FE7F183}"/>
              </a:ext>
            </a:extLst>
          </p:cNvPr>
          <p:cNvSpPr>
            <a:spLocks noGrp="1"/>
          </p:cNvSpPr>
          <p:nvPr>
            <p:ph type="title"/>
          </p:nvPr>
        </p:nvSpPr>
        <p:spPr/>
        <p:txBody>
          <a:bodyPr rtlCol="0">
            <a:normAutofit fontScale="90000"/>
          </a:bodyPr>
          <a:lstStyle/>
          <a:p>
            <a:pPr>
              <a:defRPr/>
            </a:pPr>
            <a:br>
              <a:rPr lang="en-US" dirty="0"/>
            </a:br>
            <a:r>
              <a:rPr lang="en-US" dirty="0"/>
              <a:t>Adoption of the Declaration of Independence of Uzbekistan</a:t>
            </a:r>
            <a:br>
              <a:rPr lang="en-US" dirty="0"/>
            </a:br>
            <a:endParaRPr lang="ru-RU" dirty="0"/>
          </a:p>
        </p:txBody>
      </p:sp>
      <p:sp>
        <p:nvSpPr>
          <p:cNvPr id="5123" name="Объект 2">
            <a:extLst>
              <a:ext uri="{FF2B5EF4-FFF2-40B4-BE49-F238E27FC236}">
                <a16:creationId xmlns:a16="http://schemas.microsoft.com/office/drawing/2014/main" id="{89DD7337-7245-A9B5-682D-EBF1CF027440}"/>
              </a:ext>
            </a:extLst>
          </p:cNvPr>
          <p:cNvSpPr>
            <a:spLocks noGrp="1"/>
          </p:cNvSpPr>
          <p:nvPr>
            <p:ph idx="1"/>
          </p:nvPr>
        </p:nvSpPr>
        <p:spPr/>
        <p:txBody>
          <a:bodyPr/>
          <a:lstStyle/>
          <a:p>
            <a:pPr eaLnBrk="1" hangingPunct="1"/>
            <a:r>
              <a:rPr lang="en-US" altLang="ru-RU"/>
              <a:t>Discussion of the Declaration of Independence</a:t>
            </a:r>
          </a:p>
          <a:p>
            <a:pPr eaLnBrk="1" hangingPunct="1"/>
            <a:r>
              <a:rPr lang="en-US" altLang="ru-RU"/>
              <a:t>2</a:t>
            </a:r>
            <a:r>
              <a:rPr lang="en-US" altLang="ru-RU" baseline="30000"/>
              <a:t>nd</a:t>
            </a:r>
            <a:r>
              <a:rPr lang="en-US" altLang="ru-RU"/>
              <a:t> Session of XII Convocation of Supreme Council of SSRUz (18,06,1990-20,06,1990)</a:t>
            </a:r>
          </a:p>
          <a:p>
            <a:pPr eaLnBrk="1" hangingPunct="1"/>
            <a:r>
              <a:rPr lang="en-US" altLang="ru-RU"/>
              <a:t>12 articles</a:t>
            </a:r>
          </a:p>
          <a:p>
            <a:pPr eaLnBrk="1" hangingPunct="1"/>
            <a:endParaRPr lang="en-US" altLang="ru-RU"/>
          </a:p>
          <a:p>
            <a:pPr eaLnBrk="1" hangingPunct="1"/>
            <a:endParaRPr lang="ru-RU" altLang="ru-RU"/>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2559A3-6F15-E222-50FA-96BCC1BA8E2A}"/>
              </a:ext>
            </a:extLst>
          </p:cNvPr>
          <p:cNvSpPr>
            <a:spLocks noGrp="1"/>
          </p:cNvSpPr>
          <p:nvPr>
            <p:ph type="title"/>
          </p:nvPr>
        </p:nvSpPr>
        <p:spPr/>
        <p:txBody>
          <a:bodyPr rtlCol="0">
            <a:normAutofit fontScale="90000"/>
          </a:bodyPr>
          <a:lstStyle/>
          <a:p>
            <a:pPr>
              <a:defRPr/>
            </a:pPr>
            <a:br>
              <a:rPr lang="en-US" dirty="0"/>
            </a:br>
            <a:r>
              <a:rPr lang="en-US" dirty="0"/>
              <a:t>Extraordinary situation in August 1991</a:t>
            </a:r>
            <a:br>
              <a:rPr lang="en-US" dirty="0"/>
            </a:br>
            <a:endParaRPr lang="ru-RU" dirty="0"/>
          </a:p>
        </p:txBody>
      </p:sp>
      <p:sp>
        <p:nvSpPr>
          <p:cNvPr id="6147" name="Объект 2">
            <a:extLst>
              <a:ext uri="{FF2B5EF4-FFF2-40B4-BE49-F238E27FC236}">
                <a16:creationId xmlns:a16="http://schemas.microsoft.com/office/drawing/2014/main" id="{64BD7E0D-860C-51E4-DE13-F10812E11BE5}"/>
              </a:ext>
            </a:extLst>
          </p:cNvPr>
          <p:cNvSpPr>
            <a:spLocks noGrp="1"/>
          </p:cNvSpPr>
          <p:nvPr>
            <p:ph idx="1"/>
          </p:nvPr>
        </p:nvSpPr>
        <p:spPr/>
        <p:txBody>
          <a:bodyPr/>
          <a:lstStyle/>
          <a:p>
            <a:pPr eaLnBrk="1" hangingPunct="1"/>
            <a:r>
              <a:rPr lang="en-US" altLang="ru-RU"/>
              <a:t>Statement of Soviet Authority (August 19, 1991)</a:t>
            </a:r>
          </a:p>
          <a:p>
            <a:pPr eaLnBrk="1" hangingPunct="1"/>
            <a:r>
              <a:rPr lang="en-US" altLang="ru-RU"/>
              <a:t>Establishment of GKChP</a:t>
            </a:r>
          </a:p>
          <a:p>
            <a:pPr eaLnBrk="1" hangingPunct="1"/>
            <a:r>
              <a:rPr lang="en-US" altLang="ru-RU"/>
              <a:t>Isolation of M. Gorbachyov</a:t>
            </a:r>
          </a:p>
          <a:p>
            <a:pPr eaLnBrk="1" hangingPunct="1"/>
            <a:r>
              <a:rPr lang="en-US" altLang="ru-RU"/>
              <a:t>Termination of I. Karimov’s visit to India</a:t>
            </a:r>
            <a:endParaRPr lang="ru-RU" altLang="ru-R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9B75EA-43F6-5F78-267B-7477BF5369D1}"/>
              </a:ext>
            </a:extLst>
          </p:cNvPr>
          <p:cNvSpPr>
            <a:spLocks noGrp="1"/>
          </p:cNvSpPr>
          <p:nvPr>
            <p:ph type="title"/>
          </p:nvPr>
        </p:nvSpPr>
        <p:spPr/>
        <p:txBody>
          <a:bodyPr rtlCol="0">
            <a:normAutofit fontScale="90000"/>
          </a:bodyPr>
          <a:lstStyle/>
          <a:p>
            <a:pPr>
              <a:defRPr/>
            </a:pPr>
            <a:br>
              <a:rPr lang="en-US" dirty="0"/>
            </a:br>
            <a:r>
              <a:rPr lang="en-US" dirty="0"/>
              <a:t>Declaring the Independence of Uzbekistan</a:t>
            </a:r>
            <a:br>
              <a:rPr lang="en-US" dirty="0"/>
            </a:br>
            <a:endParaRPr lang="ru-RU" dirty="0"/>
          </a:p>
        </p:txBody>
      </p:sp>
      <p:sp>
        <p:nvSpPr>
          <p:cNvPr id="7171" name="Объект 2">
            <a:extLst>
              <a:ext uri="{FF2B5EF4-FFF2-40B4-BE49-F238E27FC236}">
                <a16:creationId xmlns:a16="http://schemas.microsoft.com/office/drawing/2014/main" id="{9695FC6B-92E5-095A-2422-D0ACF164EF94}"/>
              </a:ext>
            </a:extLst>
          </p:cNvPr>
          <p:cNvSpPr>
            <a:spLocks noGrp="1"/>
          </p:cNvSpPr>
          <p:nvPr>
            <p:ph idx="1"/>
          </p:nvPr>
        </p:nvSpPr>
        <p:spPr/>
        <p:txBody>
          <a:bodyPr/>
          <a:lstStyle/>
          <a:p>
            <a:pPr eaLnBrk="1" hangingPunct="1"/>
            <a:r>
              <a:rPr lang="en-US" altLang="ru-RU"/>
              <a:t>Extraordinary 6</a:t>
            </a:r>
            <a:r>
              <a:rPr lang="en-US" altLang="ru-RU" baseline="30000"/>
              <a:t>th</a:t>
            </a:r>
            <a:r>
              <a:rPr lang="en-US" altLang="ru-RU"/>
              <a:t> Session of XII Convocation</a:t>
            </a:r>
          </a:p>
          <a:p>
            <a:pPr eaLnBrk="1" hangingPunct="1"/>
            <a:r>
              <a:rPr lang="en-US" altLang="ru-RU"/>
              <a:t>Statement of Supreme Council about the Independence of Uzbekistan</a:t>
            </a:r>
          </a:p>
          <a:p>
            <a:pPr eaLnBrk="1" hangingPunct="1"/>
            <a:r>
              <a:rPr lang="en-US" altLang="ru-RU"/>
              <a:t>The Law about the Public Independence of the Republic of Uzbekistan</a:t>
            </a:r>
            <a:endParaRPr lang="ru-RU" altLang="ru-RU"/>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2E208-4BA0-5C64-1412-A153401B1B0F}"/>
              </a:ext>
            </a:extLst>
          </p:cNvPr>
          <p:cNvSpPr>
            <a:spLocks noGrp="1"/>
          </p:cNvSpPr>
          <p:nvPr>
            <p:ph type="title"/>
          </p:nvPr>
        </p:nvSpPr>
        <p:spPr>
          <a:xfrm>
            <a:off x="457200" y="443133"/>
            <a:ext cx="11277599" cy="457200"/>
          </a:xfrm>
        </p:spPr>
        <p:txBody>
          <a:bodyPr>
            <a:normAutofit fontScale="90000"/>
          </a:bodyPr>
          <a:lstStyle/>
          <a:p>
            <a:r>
              <a:rPr lang="en-US" dirty="0"/>
              <a:t>Additional sources to read</a:t>
            </a:r>
          </a:p>
        </p:txBody>
      </p:sp>
      <p:sp>
        <p:nvSpPr>
          <p:cNvPr id="3" name="Content Placeholder 2">
            <a:extLst>
              <a:ext uri="{FF2B5EF4-FFF2-40B4-BE49-F238E27FC236}">
                <a16:creationId xmlns:a16="http://schemas.microsoft.com/office/drawing/2014/main" id="{9E26FA37-F7C9-A0F8-7EB4-813147EE9A7B}"/>
              </a:ext>
            </a:extLst>
          </p:cNvPr>
          <p:cNvSpPr>
            <a:spLocks noGrp="1"/>
          </p:cNvSpPr>
          <p:nvPr>
            <p:ph idx="1"/>
          </p:nvPr>
        </p:nvSpPr>
        <p:spPr>
          <a:xfrm>
            <a:off x="492369" y="1181101"/>
            <a:ext cx="11235687" cy="4991099"/>
          </a:xfrm>
        </p:spPr>
        <p:txBody>
          <a:bodyPr/>
          <a:lstStyle/>
          <a:p>
            <a:pPr lvl="0" algn="just">
              <a:lnSpc>
                <a:spcPct val="107000"/>
              </a:lnSpc>
            </a:pPr>
            <a:r>
              <a:rPr lang="en-US" sz="1800" kern="100" dirty="0">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Sevket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Akyildiz</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 Introductory History of Soviet Uzbek Academics 1924-1960.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678815" algn="just">
              <a:lnSpc>
                <a:spcPct val="107000"/>
              </a:lnSpc>
              <a:spcAft>
                <a:spcPts val="800"/>
              </a:spcAft>
            </a:pP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https://www.soas.ac.uk/sites/default/files/2022-06/01%20An%20introductory%20history%20of%20Soviet%20Uzbek%20academics%201924%201960%20file75707.pdf</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678815" algn="just">
              <a:lnSpc>
                <a:spcPct val="107000"/>
              </a:lnSpc>
              <a:spcAft>
                <a:spcPts val="800"/>
              </a:spcAft>
            </a:pPr>
            <a:r>
              <a:rPr lang="en-US" sz="1800" kern="100" dirty="0">
                <a:latin typeface="Times New Roman" panose="02020603050405020304" pitchFamily="18" charset="0"/>
                <a:cs typeface="Times New Roman" panose="02020603050405020304" pitchFamily="18" charset="0"/>
              </a:rPr>
              <a:t>2. </a:t>
            </a:r>
            <a:r>
              <a:rPr lang="en-US" sz="1800" dirty="0" err="1">
                <a:effectLst/>
                <a:latin typeface="Times New Roman" panose="02020603050405020304" pitchFamily="18" charset="0"/>
                <a:ea typeface="Calibri" panose="020F0502020204030204" pitchFamily="34" charset="0"/>
              </a:rPr>
              <a:t>Mirzohid</a:t>
            </a:r>
            <a:r>
              <a:rPr lang="en-US" sz="1800" dirty="0">
                <a:effectLst/>
                <a:latin typeface="Times New Roman" panose="02020603050405020304" pitchFamily="18" charset="0"/>
                <a:ea typeface="Calibri" panose="020F0502020204030204" pitchFamily="34" charset="0"/>
              </a:rPr>
              <a:t> Rahimov &amp; Dr Galina </a:t>
            </a:r>
            <a:r>
              <a:rPr lang="en-US" sz="1800" dirty="0" err="1">
                <a:effectLst/>
                <a:latin typeface="Times New Roman" panose="02020603050405020304" pitchFamily="18" charset="0"/>
                <a:ea typeface="Calibri" panose="020F0502020204030204" pitchFamily="34" charset="0"/>
              </a:rPr>
              <a:t>Urazaeva</a:t>
            </a:r>
            <a:r>
              <a:rPr lang="en-US" sz="1800" dirty="0">
                <a:effectLst/>
                <a:latin typeface="Times New Roman" panose="02020603050405020304" pitchFamily="18" charset="0"/>
                <a:ea typeface="Calibri" panose="020F0502020204030204" pitchFamily="34" charset="0"/>
              </a:rPr>
              <a:t>. Central Asian Nations &amp; Border Issues.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https://www.files.ethz.ch/isn/92527/05_Apr.pdf</a:t>
            </a:r>
            <a:r>
              <a:rPr lang="en-US" sz="1800" dirty="0">
                <a:effectLst/>
                <a:latin typeface="Times New Roman" panose="02020603050405020304" pitchFamily="18" charset="0"/>
                <a:ea typeface="Calibri" panose="020F0502020204030204" pitchFamily="34" charset="0"/>
              </a:rPr>
              <a:t> </a:t>
            </a:r>
            <a:endParaRPr lang="en-US" sz="2000" dirty="0">
              <a:latin typeface="Calibri" panose="020F0502020204030204" pitchFamily="34" charset="0"/>
            </a:endParaRPr>
          </a:p>
        </p:txBody>
      </p:sp>
    </p:spTree>
    <p:extLst>
      <p:ext uri="{BB962C8B-B14F-4D97-AF65-F5344CB8AC3E}">
        <p14:creationId xmlns:p14="http://schemas.microsoft.com/office/powerpoint/2010/main" val="80857566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47</TotalTime>
  <Words>2224</Words>
  <Application>Microsoft Office PowerPoint</Application>
  <PresentationFormat>Widescreen</PresentationFormat>
  <Paragraphs>136</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Times New Roman</vt:lpstr>
      <vt:lpstr>Trebuchet MS</vt:lpstr>
      <vt:lpstr>Wingdings 3</vt:lpstr>
      <vt:lpstr>Facet</vt:lpstr>
      <vt:lpstr>Gaining the independence of Uzbekistan and further challenges in its state formation </vt:lpstr>
      <vt:lpstr>Plan</vt:lpstr>
      <vt:lpstr>Summary and Questions </vt:lpstr>
      <vt:lpstr>Soviet Uzbekistan</vt:lpstr>
      <vt:lpstr>Collectivization and Industrialization</vt:lpstr>
      <vt:lpstr>PowerPoint Presentation</vt:lpstr>
      <vt:lpstr>Repressions</vt:lpstr>
      <vt:lpstr>Great terror</vt:lpstr>
      <vt:lpstr>Cotton affair</vt:lpstr>
      <vt:lpstr>PowerPoint Presentation</vt:lpstr>
      <vt:lpstr>PowerPoint Presentation</vt:lpstr>
      <vt:lpstr>Literacy and Deculturation</vt:lpstr>
      <vt:lpstr>PowerPoint Presentation</vt:lpstr>
      <vt:lpstr>Migrations and Centralization</vt:lpstr>
      <vt:lpstr>Contribution to the victory over Fascism</vt:lpstr>
      <vt:lpstr>After Stalin</vt:lpstr>
      <vt:lpstr>Losses</vt:lpstr>
      <vt:lpstr>PERESTROIKA</vt:lpstr>
      <vt:lpstr> Adoption of the Declaration of Independence of Uzbekistan </vt:lpstr>
      <vt:lpstr> Extraordinary situation in August 1991 </vt:lpstr>
      <vt:lpstr> Declaring the Independence of Uzbekistan </vt:lpstr>
      <vt:lpstr>Additional sources to read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Gaining the independence of Uzbekistan and further challenges in its state formation </dc:title>
  <dc:creator>v.kholov@outlook.com</dc:creator>
  <cp:lastModifiedBy>Vohid Kholov</cp:lastModifiedBy>
  <cp:revision>2</cp:revision>
  <dcterms:created xsi:type="dcterms:W3CDTF">2023-02-21T06:13:15Z</dcterms:created>
  <dcterms:modified xsi:type="dcterms:W3CDTF">2023-10-18T08:17:58Z</dcterms:modified>
</cp:coreProperties>
</file>