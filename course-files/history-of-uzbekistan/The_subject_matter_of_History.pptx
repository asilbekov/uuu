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1" r:id="rId3"/>
    <p:sldId id="258" r:id="rId4"/>
    <p:sldId id="259" r:id="rId5"/>
    <p:sldId id="274" r:id="rId6"/>
    <p:sldId id="272" r:id="rId7"/>
    <p:sldId id="269" r:id="rId8"/>
    <p:sldId id="260" r:id="rId9"/>
    <p:sldId id="261" r:id="rId10"/>
    <p:sldId id="262" r:id="rId11"/>
    <p:sldId id="263" r:id="rId12"/>
    <p:sldId id="264" r:id="rId13"/>
    <p:sldId id="265" r:id="rId14"/>
    <p:sldId id="266" r:id="rId15"/>
    <p:sldId id="267" r:id="rId16"/>
    <p:sldId id="268"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45" autoAdjust="0"/>
    <p:restoredTop sz="94660"/>
  </p:normalViewPr>
  <p:slideViewPr>
    <p:cSldViewPr snapToGrid="0">
      <p:cViewPr varScale="1">
        <p:scale>
          <a:sx n="71" d="100"/>
          <a:sy n="71" d="100"/>
        </p:scale>
        <p:origin x="57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ru-RU"/>
              <a:t>Образец заголовка</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82164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1695360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860716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3550DAA7-82FB-4D06-8039-9733674C2415}" type="datetimeFigureOut">
              <a:rPr lang="en-US" smtClean="0"/>
              <a:t>8/3/2025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3574742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3550DAA7-82FB-4D06-8039-9733674C2415}" type="datetimeFigureOut">
              <a:rPr lang="en-US" smtClean="0"/>
              <a:t>8/3/2025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2917952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3550DAA7-82FB-4D06-8039-9733674C2415}" type="datetimeFigureOut">
              <a:rPr lang="en-US" smtClean="0"/>
              <a:t>8/3/2025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767873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50DAA7-82FB-4D06-8039-9733674C2415}" type="datetimeFigureOut">
              <a:rPr lang="en-US" smtClean="0"/>
              <a:t>8/3/2025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4050701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ru-RU"/>
              <a:t>Образец заголовка</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550DAA7-82FB-4D06-8039-9733674C2415}" type="datetimeFigureOut">
              <a:rPr lang="en-US" smtClean="0"/>
              <a:t>8/3/2025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3613278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3550DAA7-82FB-4D06-8039-9733674C2415}" type="datetimeFigureOut">
              <a:rPr lang="en-US" smtClean="0"/>
              <a:t>8/3/2025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39818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2583148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16031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2997538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26466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2027867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524346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550DAA7-82FB-4D06-8039-9733674C2415}" type="datetimeFigureOut">
              <a:rPr lang="en-US" smtClean="0"/>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8C36C-3E7A-4E62-9E98-69A9186BF22C}" type="slidenum">
              <a:rPr lang="en-US" smtClean="0"/>
              <a:t>‹#›</a:t>
            </a:fld>
            <a:endParaRPr lang="en-US"/>
          </a:p>
        </p:txBody>
      </p:sp>
    </p:spTree>
    <p:extLst>
      <p:ext uri="{BB962C8B-B14F-4D97-AF65-F5344CB8AC3E}">
        <p14:creationId xmlns:p14="http://schemas.microsoft.com/office/powerpoint/2010/main" val="948028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50DAA7-82FB-4D06-8039-9733674C2415}" type="datetimeFigureOut">
              <a:rPr lang="en-US" smtClean="0"/>
              <a:t>8/3/2025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1F8C36C-3E7A-4E62-9E98-69A9186BF22C}" type="slidenum">
              <a:rPr lang="en-US" smtClean="0"/>
              <a:t>‹#›</a:t>
            </a:fld>
            <a:endParaRPr lang="en-US"/>
          </a:p>
        </p:txBody>
      </p:sp>
    </p:spTree>
    <p:extLst>
      <p:ext uri="{BB962C8B-B14F-4D97-AF65-F5344CB8AC3E}">
        <p14:creationId xmlns:p14="http://schemas.microsoft.com/office/powerpoint/2010/main" val="7135593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en.wikipedia.org/wiki/Historical_method#Anonymous_sources" TargetMode="External"/><Relationship Id="rId3" Type="http://schemas.openxmlformats.org/officeDocument/2006/relationships/hyperlink" Target="https://en.wikipedia.org/wiki/Historical_method#Procedures_for_contradictory_sources" TargetMode="External"/><Relationship Id="rId7" Type="http://schemas.openxmlformats.org/officeDocument/2006/relationships/hyperlink" Target="https://en.wikipedia.org/wiki/Historical_method#Oral_tradition" TargetMode="External"/><Relationship Id="rId2" Type="http://schemas.openxmlformats.org/officeDocument/2006/relationships/hyperlink" Target="https://en.wikipedia.org/wiki/Historical_method#Source_criticism" TargetMode="External"/><Relationship Id="rId1" Type="http://schemas.openxmlformats.org/officeDocument/2006/relationships/slideLayout" Target="../slideLayouts/slideLayout2.xml"/><Relationship Id="rId6" Type="http://schemas.openxmlformats.org/officeDocument/2006/relationships/hyperlink" Target="https://en.wikipedia.org/wiki/Historical_method#Indirect_witnesses" TargetMode="External"/><Relationship Id="rId5" Type="http://schemas.openxmlformats.org/officeDocument/2006/relationships/hyperlink" Target="https://en.wikipedia.org/wiki/Historical_method#Eyewitness_evidence" TargetMode="External"/><Relationship Id="rId10" Type="http://schemas.openxmlformats.org/officeDocument/2006/relationships/hyperlink" Target="https://en.wikipedia.org/wiki/Historical_method#Argument_to_the_best_explanation" TargetMode="External"/><Relationship Id="rId4" Type="http://schemas.openxmlformats.org/officeDocument/2006/relationships/hyperlink" Target="https://en.wikipedia.org/wiki/Historical_method#Core_principles_for_determining_reliability" TargetMode="External"/><Relationship Id="rId9" Type="http://schemas.openxmlformats.org/officeDocument/2006/relationships/hyperlink" Target="https://en.wikipedia.org/wiki/Historical_method#Synthesis:_historical_reason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chroniclingamerica.loc.gov/lccn/2007252185/1900-10-11/ed-1/seq-10/#date1=1777&amp;index=0&amp;rows=20&amp;words=alfalfa+Turkestan&amp;searchType=basic&amp;sequence=0&amp;state=&amp;date2=1963&amp;proxtext=turkestan+alfalfa&amp;y=0&amp;x=0&amp;dateFilterType=yearRange&amp;page=1"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rusneb.ru/search/?f_field%5bauthorbook%5d=f/authorbook/%D0%90%D0%BB%D0%B8%D0%BC%D0%BE%D0%B2%D0%B0%2C+%D0%94%D0%B8%D0%BB%D0%BE%D1%80%D0%BE%D0%BC+%D0%90%D0%B3%D0%B7%D0%B0%D0%BC%D0%BE%D0%B2%D0%BD%D0%B0" TargetMode="External"/><Relationship Id="rId2" Type="http://schemas.openxmlformats.org/officeDocument/2006/relationships/hyperlink" Target="https://brocku.ca/MeadProject/Collingwood/1946_5.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15EE3-9CE7-0689-A7F2-2F268C6EBA20}"/>
              </a:ext>
            </a:extLst>
          </p:cNvPr>
          <p:cNvSpPr>
            <a:spLocks noGrp="1"/>
          </p:cNvSpPr>
          <p:nvPr>
            <p:ph type="ctrTitle"/>
          </p:nvPr>
        </p:nvSpPr>
        <p:spPr/>
        <p:txBody>
          <a:bodyPr/>
          <a:lstStyle/>
          <a:p>
            <a:r>
              <a:rPr lang="en-US" sz="6000" b="1" dirty="0">
                <a:effectLst/>
                <a:latin typeface="Calibri" panose="020F0502020204030204" pitchFamily="34" charset="0"/>
                <a:ea typeface="Calibri" panose="020F0502020204030204" pitchFamily="34" charset="0"/>
                <a:cs typeface="Times New Roman" panose="02020603050405020304" pitchFamily="18" charset="0"/>
              </a:rPr>
              <a:t>The subject matter of History</a:t>
            </a:r>
            <a:endParaRPr lang="en-US" dirty="0"/>
          </a:p>
        </p:txBody>
      </p:sp>
      <p:sp>
        <p:nvSpPr>
          <p:cNvPr id="3" name="Subtitle 2">
            <a:extLst>
              <a:ext uri="{FF2B5EF4-FFF2-40B4-BE49-F238E27FC236}">
                <a16:creationId xmlns:a16="http://schemas.microsoft.com/office/drawing/2014/main" id="{B2CC8C2E-305C-D42F-9B39-F075B6AEF68B}"/>
              </a:ext>
            </a:extLst>
          </p:cNvPr>
          <p:cNvSpPr>
            <a:spLocks noGrp="1"/>
          </p:cNvSpPr>
          <p:nvPr>
            <p:ph type="subTitle" idx="1"/>
          </p:nvPr>
        </p:nvSpPr>
        <p:spPr/>
        <p:txBody>
          <a:bodyPr>
            <a:noAutofit/>
          </a:bodyPr>
          <a:lstStyle/>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Dr Vohid </a:t>
            </a:r>
            <a:r>
              <a:rPr lang="en-US" sz="2400" dirty="0" err="1">
                <a:latin typeface="Calibri" panose="020F0502020204030204" pitchFamily="34" charset="0"/>
                <a:cs typeface="Calibri" panose="020F0502020204030204" pitchFamily="34" charset="0"/>
              </a:rPr>
              <a:t>Yusupovich</a:t>
            </a:r>
            <a:r>
              <a:rPr lang="en-US" sz="2400" dirty="0">
                <a:latin typeface="Calibri" panose="020F0502020204030204" pitchFamily="34" charset="0"/>
                <a:cs typeface="Calibri" panose="020F0502020204030204" pitchFamily="34" charset="0"/>
              </a:rPr>
              <a:t> Kholov</a:t>
            </a:r>
          </a:p>
          <a:p>
            <a:endParaRPr lang="en-US" sz="2400" dirty="0">
              <a:latin typeface="Calibri" panose="020F0502020204030204" pitchFamily="34" charset="0"/>
              <a:cs typeface="Calibri" panose="020F0502020204030204" pitchFamily="34" charset="0"/>
            </a:endParaRPr>
          </a:p>
          <a:p>
            <a:pPr algn="r"/>
            <a:r>
              <a:rPr lang="en-US" sz="2400" b="0" i="1" dirty="0">
                <a:solidFill>
                  <a:srgbClr val="FF0000"/>
                </a:solidFill>
                <a:effectLst/>
                <a:latin typeface="Lato" panose="020F0502020204030203" pitchFamily="34" charset="0"/>
              </a:rPr>
              <a:t>History is an argument without end</a:t>
            </a:r>
            <a:endParaRPr lang="en-US" sz="2400" dirty="0">
              <a:solidFill>
                <a:srgbClr val="FF0000"/>
              </a:solidFill>
            </a:endParaRPr>
          </a:p>
        </p:txBody>
      </p:sp>
    </p:spTree>
    <p:extLst>
      <p:ext uri="{BB962C8B-B14F-4D97-AF65-F5344CB8AC3E}">
        <p14:creationId xmlns:p14="http://schemas.microsoft.com/office/powerpoint/2010/main" val="1768314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Requirements</a:t>
            </a:r>
            <a:endParaRPr lang="ru-RU" dirty="0"/>
          </a:p>
        </p:txBody>
      </p:sp>
      <p:sp>
        <p:nvSpPr>
          <p:cNvPr id="3" name="Объект 2"/>
          <p:cNvSpPr>
            <a:spLocks noGrp="1"/>
          </p:cNvSpPr>
          <p:nvPr>
            <p:ph idx="1"/>
          </p:nvPr>
        </p:nvSpPr>
        <p:spPr/>
        <p:txBody>
          <a:bodyPr/>
          <a:lstStyle/>
          <a:p>
            <a:r>
              <a:rPr lang="en-US" dirty="0"/>
              <a:t>Being on time</a:t>
            </a:r>
          </a:p>
          <a:p>
            <a:r>
              <a:rPr lang="en-US" dirty="0"/>
              <a:t>Respecting to be respected</a:t>
            </a:r>
          </a:p>
          <a:p>
            <a:r>
              <a:rPr lang="en-US" dirty="0"/>
              <a:t>Providing presence</a:t>
            </a:r>
          </a:p>
          <a:p>
            <a:r>
              <a:rPr lang="en-US" dirty="0"/>
              <a:t>No allowance for any electronic devices without permission</a:t>
            </a:r>
          </a:p>
          <a:p>
            <a:r>
              <a:rPr lang="en-US" dirty="0"/>
              <a:t>Feeling the environment of the lesson</a:t>
            </a:r>
          </a:p>
          <a:p>
            <a:r>
              <a:rPr lang="en-US" dirty="0"/>
              <a:t>Feeling free to ask lesson related questions</a:t>
            </a:r>
            <a:endParaRPr lang="ru-RU" dirty="0"/>
          </a:p>
        </p:txBody>
      </p:sp>
    </p:spTree>
    <p:extLst>
      <p:ext uri="{BB962C8B-B14F-4D97-AF65-F5344CB8AC3E}">
        <p14:creationId xmlns:p14="http://schemas.microsoft.com/office/powerpoint/2010/main" val="3758519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7308-1E3F-6B19-6360-8F3D09954812}"/>
              </a:ext>
            </a:extLst>
          </p:cNvPr>
          <p:cNvSpPr>
            <a:spLocks noGrp="1"/>
          </p:cNvSpPr>
          <p:nvPr>
            <p:ph type="title"/>
          </p:nvPr>
        </p:nvSpPr>
        <p:spPr>
          <a:xfrm>
            <a:off x="838200" y="351057"/>
            <a:ext cx="10515600" cy="1325563"/>
          </a:xfrm>
        </p:spPr>
        <p:txBody>
          <a:bodyPr/>
          <a:lstStyle/>
          <a:p>
            <a:r>
              <a:rPr lang="en-US" dirty="0"/>
              <a:t>Content</a:t>
            </a:r>
          </a:p>
        </p:txBody>
      </p:sp>
      <p:sp>
        <p:nvSpPr>
          <p:cNvPr id="4" name="Text Placeholder 12">
            <a:extLst>
              <a:ext uri="{FF2B5EF4-FFF2-40B4-BE49-F238E27FC236}">
                <a16:creationId xmlns:a16="http://schemas.microsoft.com/office/drawing/2014/main" id="{217CEF1A-B735-2C6B-642C-666EAB25ACB0}"/>
              </a:ext>
            </a:extLst>
          </p:cNvPr>
          <p:cNvSpPr txBox="1">
            <a:spLocks/>
          </p:cNvSpPr>
          <p:nvPr/>
        </p:nvSpPr>
        <p:spPr>
          <a:xfrm>
            <a:off x="2658794" y="1922558"/>
            <a:ext cx="4518772" cy="2746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panose="020F0502020204030204" pitchFamily="34" charset="0"/>
              </a:rPr>
              <a:t>Introduction</a:t>
            </a:r>
          </a:p>
        </p:txBody>
      </p:sp>
      <p:sp>
        <p:nvSpPr>
          <p:cNvPr id="5" name="Text Placeholder 13">
            <a:extLst>
              <a:ext uri="{FF2B5EF4-FFF2-40B4-BE49-F238E27FC236}">
                <a16:creationId xmlns:a16="http://schemas.microsoft.com/office/drawing/2014/main" id="{36192BC9-58DA-1ABC-9FC7-A6EF18FC436D}"/>
              </a:ext>
            </a:extLst>
          </p:cNvPr>
          <p:cNvSpPr txBox="1">
            <a:spLocks/>
          </p:cNvSpPr>
          <p:nvPr/>
        </p:nvSpPr>
        <p:spPr>
          <a:xfrm>
            <a:off x="2658794" y="2615625"/>
            <a:ext cx="4518772" cy="2746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alibri" panose="020F0502020204030204" pitchFamily="34" charset="0"/>
              </a:rPr>
              <a:t>Nature of History</a:t>
            </a:r>
            <a:endParaRPr lang="en-US" dirty="0">
              <a:latin typeface="Calibri" panose="020F0502020204030204" pitchFamily="34" charset="0"/>
            </a:endParaRPr>
          </a:p>
        </p:txBody>
      </p:sp>
      <p:sp>
        <p:nvSpPr>
          <p:cNvPr id="6" name="Text Placeholder 14">
            <a:extLst>
              <a:ext uri="{FF2B5EF4-FFF2-40B4-BE49-F238E27FC236}">
                <a16:creationId xmlns:a16="http://schemas.microsoft.com/office/drawing/2014/main" id="{EE0F05CA-8B07-2DA5-48C0-A7D4AB209643}"/>
              </a:ext>
            </a:extLst>
          </p:cNvPr>
          <p:cNvSpPr txBox="1">
            <a:spLocks/>
          </p:cNvSpPr>
          <p:nvPr/>
        </p:nvSpPr>
        <p:spPr>
          <a:xfrm>
            <a:off x="2658794" y="3298531"/>
            <a:ext cx="4518772" cy="2746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panose="020F0502020204030204" pitchFamily="34" charset="0"/>
              </a:rPr>
              <a:t>Quotations about history</a:t>
            </a:r>
          </a:p>
        </p:txBody>
      </p:sp>
      <p:sp>
        <p:nvSpPr>
          <p:cNvPr id="7" name="Text Placeholder 15">
            <a:extLst>
              <a:ext uri="{FF2B5EF4-FFF2-40B4-BE49-F238E27FC236}">
                <a16:creationId xmlns:a16="http://schemas.microsoft.com/office/drawing/2014/main" id="{7A7F7D1E-C724-00DC-D96E-31897CE7127D}"/>
              </a:ext>
            </a:extLst>
          </p:cNvPr>
          <p:cNvSpPr txBox="1">
            <a:spLocks/>
          </p:cNvSpPr>
          <p:nvPr/>
        </p:nvSpPr>
        <p:spPr>
          <a:xfrm>
            <a:off x="2658794" y="3879054"/>
            <a:ext cx="4518772" cy="5637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alibri" panose="020F0502020204030204" pitchFamily="34" charset="0"/>
              </a:rPr>
              <a:t>3 key points to understand the essence of the history</a:t>
            </a:r>
            <a:endParaRPr lang="en-US" dirty="0">
              <a:latin typeface="Calibri" panose="020F0502020204030204" pitchFamily="34" charset="0"/>
            </a:endParaRPr>
          </a:p>
        </p:txBody>
      </p:sp>
      <p:sp>
        <p:nvSpPr>
          <p:cNvPr id="8" name="Text Placeholder 16">
            <a:extLst>
              <a:ext uri="{FF2B5EF4-FFF2-40B4-BE49-F238E27FC236}">
                <a16:creationId xmlns:a16="http://schemas.microsoft.com/office/drawing/2014/main" id="{5B0F6852-3E2E-C6B2-B412-9CDDDAED2E25}"/>
              </a:ext>
            </a:extLst>
          </p:cNvPr>
          <p:cNvSpPr txBox="1">
            <a:spLocks/>
          </p:cNvSpPr>
          <p:nvPr/>
        </p:nvSpPr>
        <p:spPr>
          <a:xfrm>
            <a:off x="2658794" y="4674504"/>
            <a:ext cx="4518772" cy="2746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panose="020F0502020204030204" pitchFamily="34" charset="0"/>
              </a:rPr>
              <a:t>Types of sources</a:t>
            </a:r>
          </a:p>
        </p:txBody>
      </p:sp>
      <p:sp>
        <p:nvSpPr>
          <p:cNvPr id="9" name="Text Placeholder 17">
            <a:extLst>
              <a:ext uri="{FF2B5EF4-FFF2-40B4-BE49-F238E27FC236}">
                <a16:creationId xmlns:a16="http://schemas.microsoft.com/office/drawing/2014/main" id="{36FFFAD2-4E45-A550-CEFB-19B4E7A84DA8}"/>
              </a:ext>
            </a:extLst>
          </p:cNvPr>
          <p:cNvSpPr txBox="1">
            <a:spLocks/>
          </p:cNvSpPr>
          <p:nvPr/>
        </p:nvSpPr>
        <p:spPr>
          <a:xfrm>
            <a:off x="2658794" y="5357411"/>
            <a:ext cx="4518772" cy="2746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alibri" panose="020F0502020204030204" pitchFamily="34" charset="0"/>
              </a:rPr>
              <a:t>Sub subjects of history</a:t>
            </a:r>
            <a:endParaRPr lang="en-US" dirty="0">
              <a:latin typeface="Calibri" panose="020F0502020204030204" pitchFamily="34" charset="0"/>
            </a:endParaRPr>
          </a:p>
        </p:txBody>
      </p:sp>
      <p:pic>
        <p:nvPicPr>
          <p:cNvPr id="10" name="Picture 2" descr="History | Gawughanatuc Website">
            <a:extLst>
              <a:ext uri="{FF2B5EF4-FFF2-40B4-BE49-F238E27FC236}">
                <a16:creationId xmlns:a16="http://schemas.microsoft.com/office/drawing/2014/main" id="{B48BDCEE-B48F-3A98-9CF1-C1665EFF0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3735" y="461626"/>
            <a:ext cx="4362842" cy="2967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079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606B-DBB0-7818-5482-71E82E8B0D8F}"/>
              </a:ext>
            </a:extLst>
          </p:cNvPr>
          <p:cNvSpPr>
            <a:spLocks noGrp="1"/>
          </p:cNvSpPr>
          <p:nvPr>
            <p:ph type="title"/>
          </p:nvPr>
        </p:nvSpPr>
        <p:spPr/>
        <p:txBody>
          <a:bodyPr/>
          <a:lstStyle/>
          <a:p>
            <a:r>
              <a:rPr lang="en-US" sz="4400" dirty="0">
                <a:latin typeface="Calibri" panose="020F0502020204030204" pitchFamily="34" charset="0"/>
                <a:cs typeface="Calibri" panose="020F0502020204030204" pitchFamily="34" charset="0"/>
              </a:rPr>
              <a:t>Introduction</a:t>
            </a:r>
            <a:endParaRPr lang="en-US" dirty="0"/>
          </a:p>
        </p:txBody>
      </p:sp>
      <p:sp>
        <p:nvSpPr>
          <p:cNvPr id="3" name="Content Placeholder 2">
            <a:extLst>
              <a:ext uri="{FF2B5EF4-FFF2-40B4-BE49-F238E27FC236}">
                <a16:creationId xmlns:a16="http://schemas.microsoft.com/office/drawing/2014/main" id="{980389BD-C011-091F-C0AF-A9D6CD084974}"/>
              </a:ext>
            </a:extLst>
          </p:cNvPr>
          <p:cNvSpPr>
            <a:spLocks noGrp="1"/>
          </p:cNvSpPr>
          <p:nvPr>
            <p:ph idx="1"/>
          </p:nvPr>
        </p:nvSpPr>
        <p:spPr>
          <a:xfrm>
            <a:off x="838200" y="1825624"/>
            <a:ext cx="10515600" cy="5032375"/>
          </a:xfrm>
        </p:spPr>
        <p:txBody>
          <a:bodyPr>
            <a:normAutofit/>
          </a:bodyPr>
          <a:lstStyle/>
          <a:p>
            <a:r>
              <a:rPr lang="en-US" sz="2800" dirty="0">
                <a:effectLst/>
                <a:latin typeface="Calibri" panose="020F0502020204030204" pitchFamily="34" charset="0"/>
                <a:ea typeface="Calibri" panose="020F0502020204030204" pitchFamily="34" charset="0"/>
                <a:cs typeface="Times New Roman" panose="02020603050405020304" pitchFamily="18" charset="0"/>
              </a:rPr>
              <a:t>History is the study of life in society in the past;</a:t>
            </a:r>
          </a:p>
          <a:p>
            <a:r>
              <a:rPr lang="en-US" sz="2800" dirty="0">
                <a:effectLst/>
                <a:latin typeface="Calibri" panose="020F0502020204030204" pitchFamily="34" charset="0"/>
                <a:ea typeface="Calibri" panose="020F0502020204030204" pitchFamily="34" charset="0"/>
                <a:cs typeface="Times New Roman" panose="02020603050405020304" pitchFamily="18" charset="0"/>
              </a:rPr>
              <a:t>Evidence (fact) is the raw material of history;</a:t>
            </a:r>
          </a:p>
          <a:p>
            <a:r>
              <a:rPr lang="en-US" sz="2800" dirty="0">
                <a:effectLst/>
                <a:latin typeface="Calibri" panose="020F0502020204030204" pitchFamily="34" charset="0"/>
                <a:ea typeface="Calibri" panose="020F0502020204030204" pitchFamily="34" charset="0"/>
                <a:cs typeface="Times New Roman" panose="02020603050405020304" pitchFamily="18" charset="0"/>
              </a:rPr>
              <a:t>History is, or should be an attempt to re-think the past;</a:t>
            </a:r>
          </a:p>
          <a:p>
            <a:r>
              <a:rPr lang="en-US" sz="2800" dirty="0">
                <a:effectLst/>
                <a:latin typeface="Calibri" panose="020F0502020204030204" pitchFamily="34" charset="0"/>
                <a:ea typeface="Calibri" panose="020F0502020204030204" pitchFamily="34" charset="0"/>
                <a:cs typeface="Times New Roman" panose="02020603050405020304" pitchFamily="18" charset="0"/>
              </a:rPr>
              <a:t>History aims at helping students to understand the present existing social, political, religious and economic conditions of the people. </a:t>
            </a:r>
            <a:endParaRPr lang="en-US" sz="2800" dirty="0">
              <a:latin typeface="Calibri" panose="020F0502020204030204" pitchFamily="34" charset="0"/>
              <a:cs typeface="Times New Roman" panose="02020603050405020304" pitchFamily="18" charset="0"/>
            </a:endParaRPr>
          </a:p>
          <a:p>
            <a:r>
              <a:rPr lang="en-US" sz="2800" dirty="0">
                <a:effectLst/>
                <a:latin typeface="Calibri" panose="020F0502020204030204" pitchFamily="34" charset="0"/>
                <a:ea typeface="Calibri" panose="020F0502020204030204" pitchFamily="34" charset="0"/>
                <a:cs typeface="Times New Roman" panose="02020603050405020304" pitchFamily="18" charset="0"/>
              </a:rPr>
              <a:t>Meaning, nature and scope of history, aims and objectives of teaching history;</a:t>
            </a:r>
          </a:p>
          <a:p>
            <a:r>
              <a:rPr lang="en-US" sz="2800" dirty="0">
                <a:effectLst/>
                <a:latin typeface="Calibri" panose="020F0502020204030204" pitchFamily="34" charset="0"/>
                <a:ea typeface="Calibri" panose="020F0502020204030204" pitchFamily="34" charset="0"/>
                <a:cs typeface="Times New Roman" panose="02020603050405020304" pitchFamily="18" charset="0"/>
              </a:rPr>
              <a:t>Using evidences to examine, interpret, revisit, and reinterpret the past;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p:txBody>
      </p:sp>
      <p:pic>
        <p:nvPicPr>
          <p:cNvPr id="4" name="Picture 2" descr="History | Incredible facts about the subject you must learn!">
            <a:extLst>
              <a:ext uri="{FF2B5EF4-FFF2-40B4-BE49-F238E27FC236}">
                <a16:creationId xmlns:a16="http://schemas.microsoft.com/office/drawing/2014/main" id="{00065DD9-65F1-078B-B194-30BCB3528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5457" y="0"/>
            <a:ext cx="3926543" cy="3007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5649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222AC0-928C-4877-B9FE-EC0CB6D6ED55}"/>
              </a:ext>
            </a:extLst>
          </p:cNvPr>
          <p:cNvSpPr>
            <a:spLocks noGrp="1"/>
          </p:cNvSpPr>
          <p:nvPr>
            <p:ph type="title"/>
          </p:nvPr>
        </p:nvSpPr>
        <p:spPr/>
        <p:txBody>
          <a:bodyPr/>
          <a:lstStyle/>
          <a:p>
            <a:pPr algn="ctr"/>
            <a:r>
              <a:rPr lang="en-US" dirty="0"/>
              <a:t>Knowing History vs Doing History</a:t>
            </a:r>
            <a:endParaRPr lang="ru-RU" dirty="0"/>
          </a:p>
        </p:txBody>
      </p:sp>
      <p:sp>
        <p:nvSpPr>
          <p:cNvPr id="3" name="Объект 2">
            <a:extLst>
              <a:ext uri="{FF2B5EF4-FFF2-40B4-BE49-F238E27FC236}">
                <a16:creationId xmlns:a16="http://schemas.microsoft.com/office/drawing/2014/main" id="{B5B4A487-069D-47E5-BF47-1C8F359B7DB4}"/>
              </a:ext>
            </a:extLst>
          </p:cNvPr>
          <p:cNvSpPr>
            <a:spLocks noGrp="1"/>
          </p:cNvSpPr>
          <p:nvPr>
            <p:ph sz="half" idx="1"/>
          </p:nvPr>
        </p:nvSpPr>
        <p:spPr/>
        <p:txBody>
          <a:bodyPr/>
          <a:lstStyle/>
          <a:p>
            <a:r>
              <a:rPr lang="en-US" dirty="0"/>
              <a:t>Knowing a lot about the past</a:t>
            </a:r>
          </a:p>
          <a:p>
            <a:r>
              <a:rPr lang="en-US" dirty="0"/>
              <a:t>can puff up people as walking encyclopedias</a:t>
            </a:r>
          </a:p>
          <a:p>
            <a:r>
              <a:rPr lang="en-US" dirty="0"/>
              <a:t>history enthusiast (those who love to collect tidbits about the past in a knowledge closet) </a:t>
            </a:r>
            <a:endParaRPr lang="ru-RU" dirty="0"/>
          </a:p>
        </p:txBody>
      </p:sp>
      <p:sp>
        <p:nvSpPr>
          <p:cNvPr id="4" name="Объект 3">
            <a:extLst>
              <a:ext uri="{FF2B5EF4-FFF2-40B4-BE49-F238E27FC236}">
                <a16:creationId xmlns:a16="http://schemas.microsoft.com/office/drawing/2014/main" id="{6CE7524C-11F8-4F70-8CC4-9933936D5478}"/>
              </a:ext>
            </a:extLst>
          </p:cNvPr>
          <p:cNvSpPr>
            <a:spLocks noGrp="1"/>
          </p:cNvSpPr>
          <p:nvPr>
            <p:ph sz="half" idx="2"/>
          </p:nvPr>
        </p:nvSpPr>
        <p:spPr/>
        <p:txBody>
          <a:bodyPr/>
          <a:lstStyle/>
          <a:p>
            <a:r>
              <a:rPr lang="en-US" dirty="0"/>
              <a:t>interrogating the past in order to make meaning of the world that came before them</a:t>
            </a:r>
          </a:p>
          <a:p>
            <a:r>
              <a:rPr lang="en-US" dirty="0"/>
              <a:t>Historical research</a:t>
            </a:r>
          </a:p>
          <a:p>
            <a:r>
              <a:rPr lang="en-US" dirty="0"/>
              <a:t>Historical thinking</a:t>
            </a:r>
          </a:p>
          <a:p>
            <a:r>
              <a:rPr lang="en-US" dirty="0"/>
              <a:t>wrestle with competing accounts and narratives</a:t>
            </a:r>
          </a:p>
          <a:p>
            <a:r>
              <a:rPr lang="en-US" dirty="0"/>
              <a:t>learn to understand those that are foreign to us (even if not foreign in space, historical actors are foreign in time).</a:t>
            </a:r>
            <a:endParaRPr lang="ru-RU" dirty="0"/>
          </a:p>
        </p:txBody>
      </p:sp>
    </p:spTree>
    <p:extLst>
      <p:ext uri="{BB962C8B-B14F-4D97-AF65-F5344CB8AC3E}">
        <p14:creationId xmlns:p14="http://schemas.microsoft.com/office/powerpoint/2010/main" val="1519882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6D5150-7829-4EB1-8B41-DB63F870E65E}"/>
              </a:ext>
            </a:extLst>
          </p:cNvPr>
          <p:cNvSpPr>
            <a:spLocks noGrp="1"/>
          </p:cNvSpPr>
          <p:nvPr>
            <p:ph type="title"/>
          </p:nvPr>
        </p:nvSpPr>
        <p:spPr>
          <a:xfrm>
            <a:off x="677334" y="225425"/>
            <a:ext cx="8596668" cy="1320800"/>
          </a:xfrm>
        </p:spPr>
        <p:txBody>
          <a:bodyPr/>
          <a:lstStyle/>
          <a:p>
            <a:pPr algn="ctr"/>
            <a:r>
              <a:rPr lang="en-US" b="1" dirty="0"/>
              <a:t>Types of History</a:t>
            </a:r>
            <a:endParaRPr lang="ru-RU" b="1" dirty="0"/>
          </a:p>
        </p:txBody>
      </p:sp>
      <p:sp>
        <p:nvSpPr>
          <p:cNvPr id="3" name="Объект 2">
            <a:extLst>
              <a:ext uri="{FF2B5EF4-FFF2-40B4-BE49-F238E27FC236}">
                <a16:creationId xmlns:a16="http://schemas.microsoft.com/office/drawing/2014/main" id="{E45736F7-76D5-43D2-8D9F-D10DB1DA17D5}"/>
              </a:ext>
            </a:extLst>
          </p:cNvPr>
          <p:cNvSpPr>
            <a:spLocks noGrp="1"/>
          </p:cNvSpPr>
          <p:nvPr>
            <p:ph idx="1"/>
          </p:nvPr>
        </p:nvSpPr>
        <p:spPr/>
        <p:txBody>
          <a:bodyPr/>
          <a:lstStyle/>
          <a:p>
            <a:pPr algn="ctr"/>
            <a:endParaRPr lang="ru-RU"/>
          </a:p>
        </p:txBody>
      </p:sp>
      <p:pic>
        <p:nvPicPr>
          <p:cNvPr id="1026" name="Picture 2" descr="English Oak Tree in field of Buttercups. Getty Images">
            <a:extLst>
              <a:ext uri="{FF2B5EF4-FFF2-40B4-BE49-F238E27FC236}">
                <a16:creationId xmlns:a16="http://schemas.microsoft.com/office/drawing/2014/main" id="{3A4C97D5-B657-4901-8D86-D8091B2F3D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5497" y="1217969"/>
            <a:ext cx="8596668" cy="5734161"/>
          </a:xfrm>
          <a:prstGeom prst="rect">
            <a:avLst/>
          </a:prstGeom>
          <a:noFill/>
          <a:extLst>
            <a:ext uri="{909E8E84-426E-40DD-AFC4-6F175D3DCCD1}">
              <a14:hiddenFill xmlns:a14="http://schemas.microsoft.com/office/drawing/2010/main">
                <a:solidFill>
                  <a:srgbClr val="FFFFFF"/>
                </a:solidFill>
              </a14:hiddenFill>
            </a:ext>
          </a:extLst>
        </p:spPr>
      </p:pic>
      <p:sp>
        <p:nvSpPr>
          <p:cNvPr id="22" name="Прямоугольник: скругленные углы 21">
            <a:extLst>
              <a:ext uri="{FF2B5EF4-FFF2-40B4-BE49-F238E27FC236}">
                <a16:creationId xmlns:a16="http://schemas.microsoft.com/office/drawing/2014/main" id="{98D3D1C0-F28C-4C58-9B3A-6CA969DC7A53}"/>
              </a:ext>
            </a:extLst>
          </p:cNvPr>
          <p:cNvSpPr/>
          <p:nvPr/>
        </p:nvSpPr>
        <p:spPr>
          <a:xfrm>
            <a:off x="4397189" y="1519518"/>
            <a:ext cx="2178423" cy="8875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Political History</a:t>
            </a:r>
            <a:endParaRPr lang="ru-RU" sz="2400" dirty="0"/>
          </a:p>
        </p:txBody>
      </p:sp>
      <p:sp>
        <p:nvSpPr>
          <p:cNvPr id="23" name="Прямоугольник: скругленные углы 22">
            <a:extLst>
              <a:ext uri="{FF2B5EF4-FFF2-40B4-BE49-F238E27FC236}">
                <a16:creationId xmlns:a16="http://schemas.microsoft.com/office/drawing/2014/main" id="{FB0E0625-A948-48B5-B60F-C2CFF250B3DB}"/>
              </a:ext>
            </a:extLst>
          </p:cNvPr>
          <p:cNvSpPr/>
          <p:nvPr/>
        </p:nvSpPr>
        <p:spPr>
          <a:xfrm>
            <a:off x="2823883" y="2931457"/>
            <a:ext cx="2178423" cy="8875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Diplomatic History</a:t>
            </a:r>
            <a:endParaRPr lang="ru-RU" sz="2400" dirty="0"/>
          </a:p>
        </p:txBody>
      </p:sp>
      <p:sp>
        <p:nvSpPr>
          <p:cNvPr id="24" name="Прямоугольник: скругленные углы 23">
            <a:extLst>
              <a:ext uri="{FF2B5EF4-FFF2-40B4-BE49-F238E27FC236}">
                <a16:creationId xmlns:a16="http://schemas.microsoft.com/office/drawing/2014/main" id="{60E5E5BE-36F2-40C0-BE06-0550F27A6195}"/>
              </a:ext>
            </a:extLst>
          </p:cNvPr>
          <p:cNvSpPr/>
          <p:nvPr/>
        </p:nvSpPr>
        <p:spPr>
          <a:xfrm>
            <a:off x="6243917" y="2919641"/>
            <a:ext cx="2178423" cy="8993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Social History</a:t>
            </a:r>
            <a:endParaRPr lang="ru-RU" sz="2400" dirty="0"/>
          </a:p>
        </p:txBody>
      </p:sp>
      <p:sp>
        <p:nvSpPr>
          <p:cNvPr id="25" name="Прямоугольник: скругленные углы 24">
            <a:extLst>
              <a:ext uri="{FF2B5EF4-FFF2-40B4-BE49-F238E27FC236}">
                <a16:creationId xmlns:a16="http://schemas.microsoft.com/office/drawing/2014/main" id="{5503C9A3-1CAF-4D05-B6A1-7DC2098D6A58}"/>
              </a:ext>
            </a:extLst>
          </p:cNvPr>
          <p:cNvSpPr/>
          <p:nvPr/>
        </p:nvSpPr>
        <p:spPr>
          <a:xfrm>
            <a:off x="2837330" y="4356847"/>
            <a:ext cx="2178423" cy="8875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Intellectual History</a:t>
            </a:r>
            <a:endParaRPr lang="ru-RU" sz="2400" dirty="0"/>
          </a:p>
        </p:txBody>
      </p:sp>
      <p:sp>
        <p:nvSpPr>
          <p:cNvPr id="26" name="Прямоугольник: скругленные углы 25">
            <a:extLst>
              <a:ext uri="{FF2B5EF4-FFF2-40B4-BE49-F238E27FC236}">
                <a16:creationId xmlns:a16="http://schemas.microsoft.com/office/drawing/2014/main" id="{60F6DBBB-AA94-4D73-90ED-1F0F03561DA0}"/>
              </a:ext>
            </a:extLst>
          </p:cNvPr>
          <p:cNvSpPr/>
          <p:nvPr/>
        </p:nvSpPr>
        <p:spPr>
          <a:xfrm>
            <a:off x="6243917" y="4356847"/>
            <a:ext cx="2178423" cy="9816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Cultural History</a:t>
            </a:r>
            <a:endParaRPr lang="ru-RU" sz="2400" dirty="0"/>
          </a:p>
        </p:txBody>
      </p:sp>
      <p:sp>
        <p:nvSpPr>
          <p:cNvPr id="27" name="Прямоугольник: скругленные углы 26">
            <a:extLst>
              <a:ext uri="{FF2B5EF4-FFF2-40B4-BE49-F238E27FC236}">
                <a16:creationId xmlns:a16="http://schemas.microsoft.com/office/drawing/2014/main" id="{14C9FE7E-6768-4977-B475-C71E73B44CC6}"/>
              </a:ext>
            </a:extLst>
          </p:cNvPr>
          <p:cNvSpPr/>
          <p:nvPr/>
        </p:nvSpPr>
        <p:spPr>
          <a:xfrm>
            <a:off x="4598894" y="5782234"/>
            <a:ext cx="2259105" cy="8394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Economic History</a:t>
            </a:r>
            <a:endParaRPr lang="ru-RU" sz="2400" dirty="0"/>
          </a:p>
        </p:txBody>
      </p:sp>
      <p:pic>
        <p:nvPicPr>
          <p:cNvPr id="29" name="Picture 8">
            <a:extLst>
              <a:ext uri="{FF2B5EF4-FFF2-40B4-BE49-F238E27FC236}">
                <a16:creationId xmlns:a16="http://schemas.microsoft.com/office/drawing/2014/main" id="{C6B4C5F2-6025-4504-A02B-895C01F202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t="19355" r="1455" b="9677"/>
          <a:stretch/>
        </p:blipFill>
        <p:spPr bwMode="auto">
          <a:xfrm>
            <a:off x="1283441" y="2810435"/>
            <a:ext cx="1849724" cy="88750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Dowbiggin &amp; Co., 23 Mount Street - Queen Victorias Throne">
            <a:extLst>
              <a:ext uri="{FF2B5EF4-FFF2-40B4-BE49-F238E27FC236}">
                <a16:creationId xmlns:a16="http://schemas.microsoft.com/office/drawing/2014/main" id="{0B9B2371-2D4B-4002-B0CA-3DDC5BF4E5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7178" y="1013841"/>
            <a:ext cx="951945" cy="179659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6" descr="Uzbek Culture – Dance in Uzbekistan">
            <a:extLst>
              <a:ext uri="{FF2B5EF4-FFF2-40B4-BE49-F238E27FC236}">
                <a16:creationId xmlns:a16="http://schemas.microsoft.com/office/drawing/2014/main" id="{39F22389-E2EA-426E-A177-EFF6E78303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2340" y="4307551"/>
            <a:ext cx="1661833" cy="110587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2" descr="Gold eases off nine-month peak as U.S. dollar, yields gain | Reuters">
            <a:extLst>
              <a:ext uri="{FF2B5EF4-FFF2-40B4-BE49-F238E27FC236}">
                <a16:creationId xmlns:a16="http://schemas.microsoft.com/office/drawing/2014/main" id="{0DF0054A-03C7-4926-8B62-C0C7522E56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8841" y="5664333"/>
            <a:ext cx="1586359" cy="109282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8" descr="The 50 great books on education">
            <a:extLst>
              <a:ext uri="{FF2B5EF4-FFF2-40B4-BE49-F238E27FC236}">
                <a16:creationId xmlns:a16="http://schemas.microsoft.com/office/drawing/2014/main" id="{B07A7C2A-C5B6-4B34-9C9D-0007CD8495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8556" y="4383642"/>
            <a:ext cx="1849725" cy="9075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История Узбекистана — Mice Uzbekistan">
            <a:extLst>
              <a:ext uri="{FF2B5EF4-FFF2-40B4-BE49-F238E27FC236}">
                <a16:creationId xmlns:a16="http://schemas.microsoft.com/office/drawing/2014/main" id="{0559A5D3-47C8-49DA-B41B-4033B165AC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3781" y="2810435"/>
            <a:ext cx="1474046" cy="905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0350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FC4DB-DADA-8E0D-B317-9FE96AF9F8A5}"/>
              </a:ext>
            </a:extLst>
          </p:cNvPr>
          <p:cNvSpPr>
            <a:spLocks noGrp="1"/>
          </p:cNvSpPr>
          <p:nvPr>
            <p:ph type="title"/>
          </p:nvPr>
        </p:nvSpPr>
        <p:spPr/>
        <p:txBody>
          <a:bodyPr/>
          <a:lstStyle/>
          <a:p>
            <a:r>
              <a:rPr lang="en-US" dirty="0"/>
              <a:t>The subjects included in history</a:t>
            </a:r>
          </a:p>
        </p:txBody>
      </p:sp>
      <p:sp>
        <p:nvSpPr>
          <p:cNvPr id="3" name="Content Placeholder 2">
            <a:extLst>
              <a:ext uri="{FF2B5EF4-FFF2-40B4-BE49-F238E27FC236}">
                <a16:creationId xmlns:a16="http://schemas.microsoft.com/office/drawing/2014/main" id="{DFEC9915-B68C-A068-A173-74C217D13D37}"/>
              </a:ext>
            </a:extLst>
          </p:cNvPr>
          <p:cNvSpPr>
            <a:spLocks noGrp="1"/>
          </p:cNvSpPr>
          <p:nvPr>
            <p:ph idx="1"/>
          </p:nvPr>
        </p:nvSpPr>
        <p:spPr/>
        <p:txBody>
          <a:bodyPr/>
          <a:lstStyle/>
          <a:p>
            <a:r>
              <a:rPr lang="en-US" sz="2800" dirty="0">
                <a:latin typeface="Calibri" panose="020F0502020204030204" pitchFamily="34" charset="0"/>
              </a:rPr>
              <a:t>Archeology – the study of the past by excavations;</a:t>
            </a:r>
          </a:p>
          <a:p>
            <a:r>
              <a:rPr lang="en-US" sz="2800" dirty="0">
                <a:latin typeface="Calibri" panose="020F0502020204030204" pitchFamily="34" charset="0"/>
              </a:rPr>
              <a:t>Chronology – the study of time, calendars;</a:t>
            </a:r>
          </a:p>
          <a:p>
            <a:r>
              <a:rPr lang="en-US" sz="2800" dirty="0">
                <a:latin typeface="Calibri" panose="020F0502020204030204" pitchFamily="34" charset="0"/>
              </a:rPr>
              <a:t>Source studies – the study of historical written sources;</a:t>
            </a:r>
          </a:p>
          <a:p>
            <a:r>
              <a:rPr lang="en-US" sz="2800" dirty="0">
                <a:latin typeface="Calibri" panose="020F0502020204030204" pitchFamily="34" charset="0"/>
              </a:rPr>
              <a:t>Numismatics – the study of coins;</a:t>
            </a:r>
          </a:p>
          <a:p>
            <a:r>
              <a:rPr lang="en-US" sz="2800" dirty="0">
                <a:latin typeface="Calibri" panose="020F0502020204030204" pitchFamily="34" charset="0"/>
              </a:rPr>
              <a:t>Ethnology – the study of traditions.</a:t>
            </a:r>
          </a:p>
          <a:p>
            <a:pPr>
              <a:buNone/>
            </a:pPr>
            <a:endParaRPr lang="en-US" sz="2800" dirty="0">
              <a:latin typeface="Calibri" panose="020F0502020204030204" pitchFamily="34" charset="0"/>
            </a:endParaRPr>
          </a:p>
          <a:p>
            <a:endParaRPr lang="ru-RU" sz="2800" dirty="0">
              <a:latin typeface="Calibri" panose="020F0502020204030204" pitchFamily="34" charset="0"/>
            </a:endParaRPr>
          </a:p>
          <a:p>
            <a:endParaRPr lang="en-US" dirty="0"/>
          </a:p>
        </p:txBody>
      </p:sp>
      <p:pic>
        <p:nvPicPr>
          <p:cNvPr id="4" name="Рисунок 3">
            <a:extLst>
              <a:ext uri="{FF2B5EF4-FFF2-40B4-BE49-F238E27FC236}">
                <a16:creationId xmlns:a16="http://schemas.microsoft.com/office/drawing/2014/main" id="{74C0A33B-607B-4C1F-8F84-A7871E85B7EE}"/>
              </a:ext>
            </a:extLst>
          </p:cNvPr>
          <p:cNvPicPr>
            <a:picLocks noChangeAspect="1"/>
          </p:cNvPicPr>
          <p:nvPr/>
        </p:nvPicPr>
        <p:blipFill>
          <a:blip r:embed="rId2"/>
          <a:stretch>
            <a:fillRect/>
          </a:stretch>
        </p:blipFill>
        <p:spPr>
          <a:xfrm>
            <a:off x="8869684" y="-32871"/>
            <a:ext cx="3236259" cy="2427194"/>
          </a:xfrm>
          <a:prstGeom prst="rect">
            <a:avLst/>
          </a:prstGeom>
        </p:spPr>
      </p:pic>
      <p:pic>
        <p:nvPicPr>
          <p:cNvPr id="1030" name="Picture 6" descr="Central Asia BUKHARA Tilla obverse">
            <a:extLst>
              <a:ext uri="{FF2B5EF4-FFF2-40B4-BE49-F238E27FC236}">
                <a16:creationId xmlns:a16="http://schemas.microsoft.com/office/drawing/2014/main" id="{F44381E7-3DB4-486F-8A5F-188D06755F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0962" y="3449298"/>
            <a:ext cx="2632728" cy="2631510"/>
          </a:xfrm>
          <a:prstGeom prst="rect">
            <a:avLst/>
          </a:prstGeom>
          <a:noFill/>
          <a:extLst>
            <a:ext uri="{909E8E84-426E-40DD-AFC4-6F175D3DCCD1}">
              <a14:hiddenFill xmlns:a14="http://schemas.microsoft.com/office/drawing/2010/main">
                <a:solidFill>
                  <a:srgbClr val="FFFFFF"/>
                </a:solidFill>
              </a14:hiddenFill>
            </a:ext>
          </a:extLst>
        </p:spPr>
      </p:pic>
      <p:pic>
        <p:nvPicPr>
          <p:cNvPr id="5" name="Рисунок 4">
            <a:extLst>
              <a:ext uri="{FF2B5EF4-FFF2-40B4-BE49-F238E27FC236}">
                <a16:creationId xmlns:a16="http://schemas.microsoft.com/office/drawing/2014/main" id="{46CCD805-57A6-4854-9052-689F34F289E0}"/>
              </a:ext>
            </a:extLst>
          </p:cNvPr>
          <p:cNvPicPr>
            <a:picLocks noChangeAspect="1"/>
          </p:cNvPicPr>
          <p:nvPr/>
        </p:nvPicPr>
        <p:blipFill>
          <a:blip r:embed="rId4"/>
          <a:stretch>
            <a:fillRect/>
          </a:stretch>
        </p:blipFill>
        <p:spPr>
          <a:xfrm>
            <a:off x="6263130" y="4685463"/>
            <a:ext cx="2909393" cy="2172537"/>
          </a:xfrm>
          <a:prstGeom prst="rect">
            <a:avLst/>
          </a:prstGeom>
        </p:spPr>
      </p:pic>
      <p:pic>
        <p:nvPicPr>
          <p:cNvPr id="6" name="Рисунок 5">
            <a:extLst>
              <a:ext uri="{FF2B5EF4-FFF2-40B4-BE49-F238E27FC236}">
                <a16:creationId xmlns:a16="http://schemas.microsoft.com/office/drawing/2014/main" id="{0FA1BC33-6411-4773-B9BF-967B5D448A51}"/>
              </a:ext>
            </a:extLst>
          </p:cNvPr>
          <p:cNvPicPr>
            <a:picLocks noChangeAspect="1"/>
          </p:cNvPicPr>
          <p:nvPr/>
        </p:nvPicPr>
        <p:blipFill>
          <a:blip r:embed="rId5"/>
          <a:stretch>
            <a:fillRect/>
          </a:stretch>
        </p:blipFill>
        <p:spPr>
          <a:xfrm>
            <a:off x="7449749" y="2679521"/>
            <a:ext cx="4418521" cy="714546"/>
          </a:xfrm>
          <a:prstGeom prst="rect">
            <a:avLst/>
          </a:prstGeom>
        </p:spPr>
      </p:pic>
    </p:spTree>
    <p:extLst>
      <p:ext uri="{BB962C8B-B14F-4D97-AF65-F5344CB8AC3E}">
        <p14:creationId xmlns:p14="http://schemas.microsoft.com/office/powerpoint/2010/main" val="3634033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EFF98-ACBA-7133-BFE6-1EACFB1EDD09}"/>
              </a:ext>
            </a:extLst>
          </p:cNvPr>
          <p:cNvSpPr>
            <a:spLocks noGrp="1"/>
          </p:cNvSpPr>
          <p:nvPr>
            <p:ph type="title"/>
          </p:nvPr>
        </p:nvSpPr>
        <p:spPr/>
        <p:txBody>
          <a:bodyPr/>
          <a:lstStyle/>
          <a:p>
            <a:r>
              <a:rPr lang="en-US" sz="4400" dirty="0">
                <a:latin typeface="Calibri" panose="020F0502020204030204" pitchFamily="34" charset="0"/>
              </a:rPr>
              <a:t>History as a sphere of science</a:t>
            </a:r>
            <a:endParaRPr lang="en-US" dirty="0"/>
          </a:p>
        </p:txBody>
      </p:sp>
      <p:sp>
        <p:nvSpPr>
          <p:cNvPr id="3" name="Content Placeholder 2">
            <a:extLst>
              <a:ext uri="{FF2B5EF4-FFF2-40B4-BE49-F238E27FC236}">
                <a16:creationId xmlns:a16="http://schemas.microsoft.com/office/drawing/2014/main" id="{64F4B3EE-2DB7-9F67-8CDB-CFC8AC1000CB}"/>
              </a:ext>
            </a:extLst>
          </p:cNvPr>
          <p:cNvSpPr>
            <a:spLocks noGrp="1"/>
          </p:cNvSpPr>
          <p:nvPr>
            <p:ph idx="1"/>
          </p:nvPr>
        </p:nvSpPr>
        <p:spPr>
          <a:xfrm>
            <a:off x="790074" y="1825625"/>
            <a:ext cx="10515600" cy="4351338"/>
          </a:xfrm>
        </p:spPr>
        <p:txBody>
          <a:bodyPr>
            <a:normAutofit fontScale="62500" lnSpcReduction="20000"/>
          </a:bodyPr>
          <a:lstStyle/>
          <a:p>
            <a:pPr>
              <a:lnSpc>
                <a:spcPct val="100000"/>
              </a:lnSpc>
            </a:pPr>
            <a:r>
              <a:rPr lang="en-US" sz="2800" b="0" dirty="0">
                <a:solidFill>
                  <a:schemeClr val="tx1"/>
                </a:solidFill>
                <a:latin typeface="Calibri" panose="020F0502020204030204" pitchFamily="34" charset="0"/>
                <a:cs typeface="Calibri" panose="020F0502020204030204" pitchFamily="34" charset="0"/>
              </a:rPr>
              <a:t>A study of the present in the light of the past;</a:t>
            </a:r>
          </a:p>
          <a:p>
            <a:pPr>
              <a:lnSpc>
                <a:spcPct val="100000"/>
              </a:lnSpc>
            </a:pPr>
            <a:r>
              <a:rPr lang="en-US" sz="2800" b="0" dirty="0">
                <a:solidFill>
                  <a:schemeClr val="tx1"/>
                </a:solidFill>
                <a:latin typeface="Calibri" panose="020F0502020204030204" pitchFamily="34" charset="0"/>
                <a:cs typeface="Calibri" panose="020F0502020204030204" pitchFamily="34" charset="0"/>
              </a:rPr>
              <a:t>History is the study of man;</a:t>
            </a:r>
          </a:p>
          <a:p>
            <a:pPr>
              <a:lnSpc>
                <a:spcPct val="100000"/>
              </a:lnSpc>
            </a:pPr>
            <a:r>
              <a:rPr lang="en-US" sz="2800" b="0" dirty="0">
                <a:solidFill>
                  <a:schemeClr val="tx1"/>
                </a:solidFill>
                <a:latin typeface="Calibri" panose="020F0502020204030204" pitchFamily="34" charset="0"/>
                <a:cs typeface="Calibri" panose="020F0502020204030204" pitchFamily="34" charset="0"/>
              </a:rPr>
              <a:t>History is concerned with man in time;</a:t>
            </a:r>
          </a:p>
          <a:p>
            <a:pPr>
              <a:lnSpc>
                <a:spcPct val="100000"/>
              </a:lnSpc>
            </a:pPr>
            <a:r>
              <a:rPr lang="en-US" sz="2800" b="0" dirty="0">
                <a:solidFill>
                  <a:schemeClr val="tx1"/>
                </a:solidFill>
                <a:latin typeface="Calibri" panose="020F0502020204030204" pitchFamily="34" charset="0"/>
                <a:cs typeface="Calibri" panose="020F0502020204030204" pitchFamily="34" charset="0"/>
              </a:rPr>
              <a:t>History is concerned with man in space;</a:t>
            </a:r>
          </a:p>
          <a:p>
            <a:pPr>
              <a:lnSpc>
                <a:spcPct val="100000"/>
              </a:lnSpc>
            </a:pPr>
            <a:r>
              <a:rPr lang="en-US" sz="2800" b="0" dirty="0">
                <a:solidFill>
                  <a:schemeClr val="tx1"/>
                </a:solidFill>
                <a:latin typeface="Calibri" panose="020F0502020204030204" pitchFamily="34" charset="0"/>
                <a:cs typeface="Calibri" panose="020F0502020204030204" pitchFamily="34" charset="0"/>
              </a:rPr>
              <a:t>Objective record of happening;</a:t>
            </a:r>
          </a:p>
          <a:p>
            <a:pPr>
              <a:lnSpc>
                <a:spcPct val="100000"/>
              </a:lnSpc>
            </a:pPr>
            <a:r>
              <a:rPr lang="en-US" sz="2800" b="0" dirty="0">
                <a:solidFill>
                  <a:schemeClr val="tx1"/>
                </a:solidFill>
                <a:latin typeface="Calibri" panose="020F0502020204030204" pitchFamily="34" charset="0"/>
                <a:cs typeface="Calibri" panose="020F0502020204030204" pitchFamily="34" charset="0"/>
              </a:rPr>
              <a:t>Multisided;</a:t>
            </a:r>
          </a:p>
          <a:p>
            <a:pPr>
              <a:lnSpc>
                <a:spcPct val="100000"/>
              </a:lnSpc>
            </a:pPr>
            <a:r>
              <a:rPr lang="en-US" sz="2800" b="0" dirty="0">
                <a:solidFill>
                  <a:schemeClr val="tx1"/>
                </a:solidFill>
                <a:latin typeface="Calibri" panose="020F0502020204030204" pitchFamily="34" charset="0"/>
                <a:cs typeface="Calibri" panose="020F0502020204030204" pitchFamily="34" charset="0"/>
              </a:rPr>
              <a:t>History is a dialogue between the events of the past and </a:t>
            </a:r>
          </a:p>
          <a:p>
            <a:pPr marL="0" indent="0">
              <a:lnSpc>
                <a:spcPct val="100000"/>
              </a:lnSpc>
              <a:buNone/>
            </a:pPr>
            <a:r>
              <a:rPr lang="en-US" sz="2800" b="0" dirty="0">
                <a:solidFill>
                  <a:schemeClr val="tx1"/>
                </a:solidFill>
                <a:latin typeface="Calibri" panose="020F0502020204030204" pitchFamily="34" charset="0"/>
                <a:cs typeface="Calibri" panose="020F0502020204030204" pitchFamily="34" charset="0"/>
              </a:rPr>
              <a:t>progressively emerging future ends;</a:t>
            </a:r>
          </a:p>
          <a:p>
            <a:pPr>
              <a:lnSpc>
                <a:spcPct val="100000"/>
              </a:lnSpc>
            </a:pPr>
            <a:r>
              <a:rPr lang="en-US" sz="2800" b="0" dirty="0">
                <a:solidFill>
                  <a:schemeClr val="tx1"/>
                </a:solidFill>
                <a:latin typeface="Calibri" panose="020F0502020204030204" pitchFamily="34" charset="0"/>
                <a:cs typeface="Calibri" panose="020F0502020204030204" pitchFamily="34" charset="0"/>
              </a:rPr>
              <a:t>Not only narration but also analysis;</a:t>
            </a:r>
          </a:p>
          <a:p>
            <a:pPr>
              <a:lnSpc>
                <a:spcPct val="100000"/>
              </a:lnSpc>
            </a:pPr>
            <a:r>
              <a:rPr lang="en-US" sz="2800" b="0" dirty="0">
                <a:solidFill>
                  <a:schemeClr val="tx1"/>
                </a:solidFill>
                <a:latin typeface="Calibri" panose="020F0502020204030204" pitchFamily="34" charset="0"/>
                <a:cs typeface="Calibri" panose="020F0502020204030204" pitchFamily="34" charset="0"/>
              </a:rPr>
              <a:t>Continuity and coherence are the necessary requisites of history;</a:t>
            </a:r>
          </a:p>
          <a:p>
            <a:pPr>
              <a:lnSpc>
                <a:spcPct val="100000"/>
              </a:lnSpc>
            </a:pPr>
            <a:r>
              <a:rPr lang="en-US" sz="2800" b="0" dirty="0">
                <a:solidFill>
                  <a:schemeClr val="tx1"/>
                </a:solidFill>
                <a:latin typeface="Calibri" panose="020F0502020204030204" pitchFamily="34" charset="0"/>
                <a:cs typeface="Calibri" panose="020F0502020204030204" pitchFamily="34" charset="0"/>
              </a:rPr>
              <a:t>Relevant;</a:t>
            </a:r>
          </a:p>
          <a:p>
            <a:pPr>
              <a:lnSpc>
                <a:spcPct val="100000"/>
              </a:lnSpc>
            </a:pPr>
            <a:r>
              <a:rPr lang="en-US" sz="2800" b="0" dirty="0">
                <a:solidFill>
                  <a:schemeClr val="tx1"/>
                </a:solidFill>
                <a:latin typeface="Calibri" panose="020F0502020204030204" pitchFamily="34" charset="0"/>
                <a:cs typeface="Calibri" panose="020F0502020204030204" pitchFamily="34" charset="0"/>
              </a:rPr>
              <a:t>Comprehensiveness</a:t>
            </a:r>
          </a:p>
          <a:p>
            <a:pPr>
              <a:lnSpc>
                <a:spcPct val="100000"/>
              </a:lnSpc>
            </a:pPr>
            <a:endParaRPr lang="en-US" sz="2800" dirty="0"/>
          </a:p>
          <a:p>
            <a:endParaRPr lang="en-US" dirty="0"/>
          </a:p>
        </p:txBody>
      </p:sp>
      <p:pic>
        <p:nvPicPr>
          <p:cNvPr id="4" name="Picture 6" descr="History word cloud. History concept word cloud background. | CanStock">
            <a:extLst>
              <a:ext uri="{FF2B5EF4-FFF2-40B4-BE49-F238E27FC236}">
                <a16:creationId xmlns:a16="http://schemas.microsoft.com/office/drawing/2014/main" id="{9F6D7FCF-AF02-EF48-E833-6644A58A5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331" y="1412691"/>
            <a:ext cx="5106669" cy="3566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435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955B3-4E65-3AD0-7061-D1EA2ACBDC20}"/>
              </a:ext>
            </a:extLst>
          </p:cNvPr>
          <p:cNvSpPr>
            <a:spLocks noGrp="1"/>
          </p:cNvSpPr>
          <p:nvPr>
            <p:ph type="title"/>
          </p:nvPr>
        </p:nvSpPr>
        <p:spPr/>
        <p:txBody>
          <a:bodyPr/>
          <a:lstStyle/>
          <a:p>
            <a:r>
              <a:rPr lang="en-US" sz="4400" dirty="0">
                <a:latin typeface="Calibri" panose="020F0502020204030204" pitchFamily="34" charset="0"/>
              </a:rPr>
              <a:t>Quotations about history</a:t>
            </a:r>
            <a:endParaRPr lang="en-US" dirty="0"/>
          </a:p>
        </p:txBody>
      </p:sp>
      <p:sp>
        <p:nvSpPr>
          <p:cNvPr id="3" name="Content Placeholder 2">
            <a:extLst>
              <a:ext uri="{FF2B5EF4-FFF2-40B4-BE49-F238E27FC236}">
                <a16:creationId xmlns:a16="http://schemas.microsoft.com/office/drawing/2014/main" id="{A22134B8-9C35-7ED7-3086-D64D460B10B7}"/>
              </a:ext>
            </a:extLst>
          </p:cNvPr>
          <p:cNvSpPr>
            <a:spLocks noGrp="1"/>
          </p:cNvSpPr>
          <p:nvPr>
            <p:ph idx="1"/>
          </p:nvPr>
        </p:nvSpPr>
        <p:spPr/>
        <p:txBody>
          <a:bodyPr>
            <a:normAutofit fontScale="92500" lnSpcReduction="20000"/>
          </a:bodyPr>
          <a:lstStyle/>
          <a:p>
            <a:r>
              <a:rPr lang="en-US" sz="2800" b="0" kern="1200" dirty="0">
                <a:effectLst/>
                <a:latin typeface="Calibri" panose="020F0502020204030204" pitchFamily="34" charset="0"/>
                <a:ea typeface="+mn-ea"/>
              </a:rPr>
              <a:t>Local thinkers:</a:t>
            </a:r>
          </a:p>
          <a:p>
            <a:r>
              <a:rPr lang="en-US" sz="2800" b="0" kern="1200" dirty="0">
                <a:effectLst/>
                <a:latin typeface="Calibri" panose="020F0502020204030204" pitchFamily="34" charset="0"/>
                <a:ea typeface="+mn-ea"/>
              </a:rPr>
              <a:t>Alisher </a:t>
            </a:r>
            <a:r>
              <a:rPr lang="en-US" sz="2800" b="0" kern="1200" dirty="0" err="1">
                <a:effectLst/>
                <a:latin typeface="Calibri" panose="020F0502020204030204" pitchFamily="34" charset="0"/>
                <a:ea typeface="+mn-ea"/>
              </a:rPr>
              <a:t>Nawoi</a:t>
            </a:r>
            <a:r>
              <a:rPr lang="en-US" sz="2800" b="0" kern="1200" dirty="0">
                <a:effectLst/>
                <a:latin typeface="Calibri" panose="020F0502020204030204" pitchFamily="34" charset="0"/>
                <a:ea typeface="+mn-ea"/>
              </a:rPr>
              <a:t>: We know from history which ruler was rough and cruel to govern and who kept the flag of justice. What developed in the area, what brought peace and stability to the country. Qualities and lacks of every person is recorded in history. </a:t>
            </a:r>
          </a:p>
          <a:p>
            <a:r>
              <a:rPr lang="en-US" sz="2800" b="0" kern="1200" dirty="0" err="1">
                <a:effectLst/>
                <a:latin typeface="Calibri" panose="020F0502020204030204" pitchFamily="34" charset="0"/>
                <a:ea typeface="+mn-ea"/>
              </a:rPr>
              <a:t>Ibrat</a:t>
            </a:r>
            <a:r>
              <a:rPr lang="en-US" sz="2800" b="0" kern="1200" dirty="0">
                <a:effectLst/>
                <a:latin typeface="Calibri" panose="020F0502020204030204" pitchFamily="34" charset="0"/>
                <a:ea typeface="+mn-ea"/>
              </a:rPr>
              <a:t>. Knowing the history of homeland in the necessary for every resident.</a:t>
            </a:r>
          </a:p>
          <a:p>
            <a:r>
              <a:rPr lang="en-US" sz="2800" b="0" kern="1200" dirty="0" err="1">
                <a:effectLst/>
                <a:latin typeface="Calibri" panose="020F0502020204030204" pitchFamily="34" charset="0"/>
                <a:ea typeface="+mn-ea"/>
              </a:rPr>
              <a:t>A.Fitrat</a:t>
            </a:r>
            <a:r>
              <a:rPr lang="en-US" sz="2800" b="0" kern="1200" dirty="0">
                <a:effectLst/>
                <a:latin typeface="Calibri" panose="020F0502020204030204" pitchFamily="34" charset="0"/>
                <a:ea typeface="+mn-ea"/>
              </a:rPr>
              <a:t>: History is the subject of learning the causes of our nation’s and past’s prosperity and crisis. </a:t>
            </a:r>
          </a:p>
          <a:p>
            <a:endParaRPr lang="en-US" sz="2800" dirty="0">
              <a:latin typeface="Calibri" panose="020F0502020204030204" pitchFamily="34" charset="0"/>
            </a:endParaRPr>
          </a:p>
          <a:p>
            <a:endParaRPr lang="en-US" dirty="0"/>
          </a:p>
        </p:txBody>
      </p:sp>
    </p:spTree>
    <p:extLst>
      <p:ext uri="{BB962C8B-B14F-4D97-AF65-F5344CB8AC3E}">
        <p14:creationId xmlns:p14="http://schemas.microsoft.com/office/powerpoint/2010/main" val="1504606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7CBD0-E84A-D655-5E27-F05622D7CCCF}"/>
              </a:ext>
            </a:extLst>
          </p:cNvPr>
          <p:cNvSpPr>
            <a:spLocks noGrp="1"/>
          </p:cNvSpPr>
          <p:nvPr>
            <p:ph type="title"/>
          </p:nvPr>
        </p:nvSpPr>
        <p:spPr>
          <a:xfrm>
            <a:off x="838200" y="365125"/>
            <a:ext cx="10515600" cy="802493"/>
          </a:xfrm>
        </p:spPr>
        <p:txBody>
          <a:bodyPr/>
          <a:lstStyle/>
          <a:p>
            <a:r>
              <a:rPr lang="en-US" sz="4400" dirty="0">
                <a:latin typeface="Calibri" panose="020F0502020204030204" pitchFamily="34" charset="0"/>
              </a:rPr>
              <a:t>Quotations about history</a:t>
            </a:r>
            <a:endParaRPr lang="en-US" dirty="0"/>
          </a:p>
        </p:txBody>
      </p:sp>
      <p:sp>
        <p:nvSpPr>
          <p:cNvPr id="3" name="Content Placeholder 2">
            <a:extLst>
              <a:ext uri="{FF2B5EF4-FFF2-40B4-BE49-F238E27FC236}">
                <a16:creationId xmlns:a16="http://schemas.microsoft.com/office/drawing/2014/main" id="{64E3D10A-5DFC-F116-16B8-4BB50A61E355}"/>
              </a:ext>
            </a:extLst>
          </p:cNvPr>
          <p:cNvSpPr>
            <a:spLocks noGrp="1"/>
          </p:cNvSpPr>
          <p:nvPr>
            <p:ph idx="1"/>
          </p:nvPr>
        </p:nvSpPr>
        <p:spPr>
          <a:xfrm>
            <a:off x="393895" y="981636"/>
            <a:ext cx="11422967" cy="5876364"/>
          </a:xfrm>
        </p:spPr>
        <p:txBody>
          <a:bodyPr>
            <a:noAutofit/>
          </a:bodyPr>
          <a:lstStyle/>
          <a:p>
            <a:r>
              <a:rPr lang="en-US" b="1" kern="1200" dirty="0">
                <a:effectLst/>
                <a:ea typeface="+mn-ea"/>
              </a:rPr>
              <a:t>Foreign thinkers:</a:t>
            </a:r>
          </a:p>
          <a:p>
            <a:r>
              <a:rPr lang="en-US" b="0" kern="1200" dirty="0">
                <a:effectLst/>
                <a:ea typeface="+mn-ea"/>
              </a:rPr>
              <a:t>Burckhardt: “History is the record of what one age finds worthy of note in another.” </a:t>
            </a:r>
          </a:p>
          <a:p>
            <a:r>
              <a:rPr lang="en-US" b="0" kern="1200" dirty="0">
                <a:effectLst/>
                <a:ea typeface="+mn-ea"/>
              </a:rPr>
              <a:t>Henry Johnson: “History, in its broadest sense, is everything that ever happened.”</a:t>
            </a:r>
          </a:p>
          <a:p>
            <a:r>
              <a:rPr lang="en-US" b="0" kern="1200" dirty="0" err="1">
                <a:effectLst/>
                <a:ea typeface="+mn-ea"/>
              </a:rPr>
              <a:t>Smith,V.S</a:t>
            </a:r>
            <a:r>
              <a:rPr lang="en-US" b="0" kern="1200" dirty="0">
                <a:effectLst/>
                <a:ea typeface="+mn-ea"/>
              </a:rPr>
              <a:t>: “The value and interest of history depend largely on the degree in which the present is illuminated by the past.” </a:t>
            </a:r>
          </a:p>
          <a:p>
            <a:r>
              <a:rPr lang="en-US" b="0" kern="1200" dirty="0">
                <a:effectLst/>
                <a:ea typeface="+mn-ea"/>
              </a:rPr>
              <a:t>NCERT: “History is the scientific study of past happenings in all their aspects, in the life of a social group, in the light of present happenings.” </a:t>
            </a:r>
          </a:p>
          <a:p>
            <a:r>
              <a:rPr lang="en-US" b="0" kern="1200" dirty="0">
                <a:effectLst/>
                <a:ea typeface="+mn-ea"/>
              </a:rPr>
              <a:t>Jawaharlal Nehru: “History is the story of Man’s struggle through the ages against Nature and the elements; against wild beasts and the jungle and some of his own kind who have tried to keep him down and to exploit him for their own benefit.”</a:t>
            </a:r>
          </a:p>
          <a:p>
            <a:r>
              <a:rPr lang="en-US" b="1" i="1" dirty="0">
                <a:solidFill>
                  <a:srgbClr val="2B2B2B"/>
                </a:solidFill>
                <a:effectLst/>
              </a:rPr>
              <a:t>Voltaire; </a:t>
            </a:r>
            <a:r>
              <a:rPr lang="en-US" b="0" i="1" dirty="0">
                <a:solidFill>
                  <a:srgbClr val="2B2B2B"/>
                </a:solidFill>
                <a:effectLst/>
              </a:rPr>
              <a:t>“History is the study of all the world’s crime.”</a:t>
            </a:r>
          </a:p>
          <a:p>
            <a:r>
              <a:rPr lang="en-US" b="1" i="1" dirty="0">
                <a:solidFill>
                  <a:srgbClr val="2B2B2B"/>
                </a:solidFill>
                <a:effectLst/>
              </a:rPr>
              <a:t>Robert Heinlein: </a:t>
            </a:r>
            <a:r>
              <a:rPr lang="en-US" b="0" i="1" dirty="0">
                <a:solidFill>
                  <a:srgbClr val="2B2B2B"/>
                </a:solidFill>
                <a:effectLst/>
              </a:rPr>
              <a:t>A generation which ignores history has no past and no future.”</a:t>
            </a:r>
          </a:p>
          <a:p>
            <a:r>
              <a:rPr lang="en-US" b="1" i="1" dirty="0">
                <a:solidFill>
                  <a:srgbClr val="2B2B2B"/>
                </a:solidFill>
                <a:effectLst/>
              </a:rPr>
              <a:t>Confucius: </a:t>
            </a:r>
            <a:r>
              <a:rPr lang="en-US" b="0" i="1" dirty="0">
                <a:solidFill>
                  <a:srgbClr val="2B2B2B"/>
                </a:solidFill>
                <a:effectLst/>
              </a:rPr>
              <a:t>“Study history, study history. In history lies all the secrets of statecraft.”</a:t>
            </a:r>
          </a:p>
          <a:p>
            <a:r>
              <a:rPr lang="en-US" b="1" i="1" dirty="0">
                <a:solidFill>
                  <a:srgbClr val="2B2B2B"/>
                </a:solidFill>
                <a:effectLst/>
              </a:rPr>
              <a:t>Napoleon Bonaparte: </a:t>
            </a:r>
            <a:r>
              <a:rPr lang="en-US" b="0" i="1" dirty="0">
                <a:solidFill>
                  <a:srgbClr val="2B2B2B"/>
                </a:solidFill>
                <a:effectLst/>
              </a:rPr>
              <a:t>“History is a set of lies, agreed upon.”</a:t>
            </a:r>
          </a:p>
          <a:p>
            <a:r>
              <a:rPr lang="en-US" b="1" i="1" dirty="0">
                <a:solidFill>
                  <a:srgbClr val="2B2B2B"/>
                </a:solidFill>
                <a:effectLst/>
              </a:rPr>
              <a:t>Richard Paul Evans: </a:t>
            </a:r>
            <a:r>
              <a:rPr lang="en-US" b="0" i="1" dirty="0">
                <a:solidFill>
                  <a:srgbClr val="2B2B2B"/>
                </a:solidFill>
                <a:effectLst/>
              </a:rPr>
              <a:t>“The more I study history the more I </a:t>
            </a:r>
            <a:r>
              <a:rPr lang="en-US" b="0" i="1" dirty="0" err="1">
                <a:solidFill>
                  <a:srgbClr val="2B2B2B"/>
                </a:solidFill>
                <a:effectLst/>
              </a:rPr>
              <a:t>realise</a:t>
            </a:r>
            <a:r>
              <a:rPr lang="en-US" b="0" i="1" dirty="0">
                <a:solidFill>
                  <a:srgbClr val="2B2B2B"/>
                </a:solidFill>
                <a:effectLst/>
              </a:rPr>
              <a:t> how little mankind has changed. There are no new scripts, just different actors.</a:t>
            </a:r>
            <a:r>
              <a:rPr lang="en-US" i="1" dirty="0">
                <a:solidFill>
                  <a:srgbClr val="2B2B2B"/>
                </a:solidFill>
              </a:rPr>
              <a:t>”</a:t>
            </a:r>
            <a:br>
              <a:rPr lang="en-US" dirty="0"/>
            </a:br>
            <a:br>
              <a:rPr lang="en-US" dirty="0"/>
            </a:br>
            <a:br>
              <a:rPr lang="en-US" dirty="0"/>
            </a:br>
            <a:endParaRPr lang="en-US" dirty="0"/>
          </a:p>
        </p:txBody>
      </p:sp>
    </p:spTree>
    <p:extLst>
      <p:ext uri="{BB962C8B-B14F-4D97-AF65-F5344CB8AC3E}">
        <p14:creationId xmlns:p14="http://schemas.microsoft.com/office/powerpoint/2010/main" val="81766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31C14-EE06-B7E7-5E0A-DD3AF86FDBAB}"/>
              </a:ext>
            </a:extLst>
          </p:cNvPr>
          <p:cNvSpPr>
            <a:spLocks noGrp="1"/>
          </p:cNvSpPr>
          <p:nvPr>
            <p:ph type="title"/>
          </p:nvPr>
        </p:nvSpPr>
        <p:spPr/>
        <p:txBody>
          <a:bodyPr>
            <a:normAutofit fontScale="90000"/>
          </a:bodyPr>
          <a:lstStyle/>
          <a:p>
            <a:r>
              <a:rPr lang="en-US" sz="4400" dirty="0">
                <a:effectLst/>
                <a:latin typeface="Calibri" panose="020F0502020204030204" pitchFamily="34" charset="0"/>
                <a:ea typeface="Calibri" panose="020F0502020204030204" pitchFamily="34" charset="0"/>
                <a:cs typeface="Times New Roman" panose="02020603050405020304" pitchFamily="18" charset="0"/>
              </a:rPr>
              <a:t>3 key points to understand the essence of the history</a:t>
            </a:r>
            <a:br>
              <a:rPr lang="en-US" sz="4400" dirty="0"/>
            </a:br>
            <a:endParaRPr lang="en-US" dirty="0"/>
          </a:p>
        </p:txBody>
      </p:sp>
      <p:sp>
        <p:nvSpPr>
          <p:cNvPr id="3" name="Content Placeholder 2">
            <a:extLst>
              <a:ext uri="{FF2B5EF4-FFF2-40B4-BE49-F238E27FC236}">
                <a16:creationId xmlns:a16="http://schemas.microsoft.com/office/drawing/2014/main" id="{9907C8CB-6F6A-D872-CCE8-AE930F688ACF}"/>
              </a:ext>
            </a:extLst>
          </p:cNvPr>
          <p:cNvSpPr>
            <a:spLocks noGrp="1"/>
          </p:cNvSpPr>
          <p:nvPr>
            <p:ph idx="1"/>
          </p:nvPr>
        </p:nvSpPr>
        <p:spPr/>
        <p:txBody>
          <a:bodyPr>
            <a:normAutofit fontScale="92500" lnSpcReduction="20000"/>
          </a:bodyPr>
          <a:lstStyle/>
          <a:p>
            <a:r>
              <a:rPr lang="en-US" sz="2800" dirty="0">
                <a:solidFill>
                  <a:schemeClr val="tx1"/>
                </a:solidFill>
                <a:latin typeface="Calibri" panose="020F0502020204030204" pitchFamily="34" charset="0"/>
              </a:rPr>
              <a:t>Experience – combination of positive and negative thoughts about a person or historical process, its analyses</a:t>
            </a:r>
            <a:r>
              <a:rPr lang="en-US" sz="2800" dirty="0">
                <a:latin typeface="Calibri" panose="020F0502020204030204" pitchFamily="34" charset="0"/>
              </a:rPr>
              <a:t> and </a:t>
            </a:r>
            <a:r>
              <a:rPr lang="en-US" sz="2800" dirty="0">
                <a:solidFill>
                  <a:schemeClr val="tx1"/>
                </a:solidFill>
                <a:latin typeface="Calibri" panose="020F0502020204030204" pitchFamily="34" charset="0"/>
              </a:rPr>
              <a:t>interpretation.</a:t>
            </a:r>
          </a:p>
          <a:p>
            <a:r>
              <a:rPr lang="en-US" sz="2800" dirty="0">
                <a:solidFill>
                  <a:schemeClr val="tx1"/>
                </a:solidFill>
                <a:latin typeface="Calibri" panose="020F0502020204030204" pitchFamily="34" charset="0"/>
              </a:rPr>
              <a:t>Thought – </a:t>
            </a:r>
            <a:r>
              <a:rPr lang="en-US" sz="2800" dirty="0">
                <a:latin typeface="Calibri" panose="020F0502020204030204" pitchFamily="34" charset="0"/>
              </a:rPr>
              <a:t>the idea or viewpoint developed by learning many facts. For instance, if tom much negative information and facts are gathered about any person or event, negative thought develops, if vice versa, positive thought develops.</a:t>
            </a:r>
            <a:endParaRPr lang="en-US" sz="2800" dirty="0">
              <a:solidFill>
                <a:schemeClr val="tx1"/>
              </a:solidFill>
              <a:latin typeface="Calibri" panose="020F0502020204030204" pitchFamily="34" charset="0"/>
            </a:endParaRPr>
          </a:p>
          <a:p>
            <a:r>
              <a:rPr lang="en-US" sz="2800" dirty="0">
                <a:solidFill>
                  <a:schemeClr val="tx1"/>
                </a:solidFill>
                <a:latin typeface="Calibri" panose="020F0502020204030204" pitchFamily="34" charset="0"/>
              </a:rPr>
              <a:t>Fact (evidence) -</a:t>
            </a:r>
            <a:r>
              <a:rPr lang="en-US" sz="2800" dirty="0">
                <a:latin typeface="Calibri" panose="020F0502020204030204" pitchFamily="34" charset="0"/>
              </a:rPr>
              <a:t> is the raw material of history teaching and learning. It is an Inquiry into what happened in the past, when it happened, and how it happened</a:t>
            </a:r>
            <a:endParaRPr lang="en-US" sz="2800" dirty="0">
              <a:solidFill>
                <a:schemeClr val="tx1"/>
              </a:solidFill>
              <a:latin typeface="Calibri" panose="020F0502020204030204" pitchFamily="34" charset="0"/>
            </a:endParaRPr>
          </a:p>
          <a:p>
            <a:endParaRPr lang="en-US" sz="2800" dirty="0">
              <a:solidFill>
                <a:schemeClr val="tx1"/>
              </a:solidFill>
              <a:latin typeface="Calibri" panose="020F0502020204030204" pitchFamily="34" charset="0"/>
            </a:endParaRPr>
          </a:p>
          <a:p>
            <a:endParaRPr lang="en-US" sz="2800" dirty="0">
              <a:latin typeface="Calibri" panose="020F0502020204030204" pitchFamily="34" charset="0"/>
            </a:endParaRPr>
          </a:p>
          <a:p>
            <a:endParaRPr lang="en-US" dirty="0"/>
          </a:p>
        </p:txBody>
      </p:sp>
    </p:spTree>
    <p:extLst>
      <p:ext uri="{BB962C8B-B14F-4D97-AF65-F5344CB8AC3E}">
        <p14:creationId xmlns:p14="http://schemas.microsoft.com/office/powerpoint/2010/main" val="770689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57C5D-F211-523A-FABE-F633107564BB}"/>
              </a:ext>
            </a:extLst>
          </p:cNvPr>
          <p:cNvSpPr>
            <a:spLocks noGrp="1"/>
          </p:cNvSpPr>
          <p:nvPr>
            <p:ph type="title"/>
          </p:nvPr>
        </p:nvSpPr>
        <p:spPr>
          <a:xfrm>
            <a:off x="677334" y="609600"/>
            <a:ext cx="9717242" cy="1111624"/>
          </a:xfrm>
        </p:spPr>
        <p:txBody>
          <a:bodyPr>
            <a:noAutofit/>
          </a:bodyPr>
          <a:lstStyle/>
          <a:p>
            <a:r>
              <a:rPr lang="en-US" sz="3200" dirty="0">
                <a:latin typeface="Calibri" panose="020F0502020204030204" pitchFamily="34" charset="0"/>
              </a:rPr>
              <a:t>Most commonly recognized historical methodologies (a technique of presenting information)</a:t>
            </a:r>
            <a:endParaRPr lang="en-US" sz="2400" dirty="0"/>
          </a:p>
        </p:txBody>
      </p:sp>
      <p:sp>
        <p:nvSpPr>
          <p:cNvPr id="3" name="Content Placeholder 2">
            <a:extLst>
              <a:ext uri="{FF2B5EF4-FFF2-40B4-BE49-F238E27FC236}">
                <a16:creationId xmlns:a16="http://schemas.microsoft.com/office/drawing/2014/main" id="{11B18756-9898-39D6-C356-AA29BCAB1081}"/>
              </a:ext>
            </a:extLst>
          </p:cNvPr>
          <p:cNvSpPr>
            <a:spLocks noGrp="1"/>
          </p:cNvSpPr>
          <p:nvPr>
            <p:ph idx="1"/>
          </p:nvPr>
        </p:nvSpPr>
        <p:spPr>
          <a:xfrm>
            <a:off x="838200" y="1825625"/>
            <a:ext cx="10515600" cy="4667250"/>
          </a:xfrm>
        </p:spPr>
        <p:txBody>
          <a:bodyPr>
            <a:normAutofit fontScale="62500" lnSpcReduction="20000"/>
          </a:bodyPr>
          <a:lstStyle/>
          <a:p>
            <a:r>
              <a:rPr lang="en-US" sz="2800" b="0" i="0" dirty="0" err="1">
                <a:effectLst/>
                <a:latin typeface="Roboto" panose="02000000000000000000" pitchFamily="2" charset="0"/>
              </a:rPr>
              <a:t>Palaeography</a:t>
            </a:r>
            <a:r>
              <a:rPr lang="en-US" sz="2800" b="0" i="0" dirty="0">
                <a:effectLst/>
                <a:latin typeface="Roboto" panose="02000000000000000000" pitchFamily="2" charset="0"/>
              </a:rPr>
              <a:t> (study of historical handwriting), </a:t>
            </a:r>
          </a:p>
          <a:p>
            <a:r>
              <a:rPr lang="en-US" sz="2800" b="0" i="0" dirty="0" err="1">
                <a:effectLst/>
                <a:latin typeface="Roboto" panose="02000000000000000000" pitchFamily="2" charset="0"/>
              </a:rPr>
              <a:t>diplomatics</a:t>
            </a:r>
            <a:r>
              <a:rPr lang="en-US" sz="2800" b="0" i="0" dirty="0">
                <a:effectLst/>
                <a:latin typeface="Roboto" panose="02000000000000000000" pitchFamily="2" charset="0"/>
              </a:rPr>
              <a:t>, </a:t>
            </a:r>
          </a:p>
          <a:p>
            <a:r>
              <a:rPr lang="en-US" sz="2800" b="0" i="0" dirty="0">
                <a:effectLst/>
                <a:latin typeface="Roboto" panose="02000000000000000000" pitchFamily="2" charset="0"/>
              </a:rPr>
              <a:t>the study of documents, records and archives,</a:t>
            </a:r>
          </a:p>
          <a:p>
            <a:r>
              <a:rPr lang="en-US" sz="2800" b="0" i="0" dirty="0">
                <a:effectLst/>
                <a:latin typeface="Roboto" panose="02000000000000000000" pitchFamily="2" charset="0"/>
              </a:rPr>
              <a:t>chronology (establishing the dates of past events),</a:t>
            </a:r>
          </a:p>
          <a:p>
            <a:r>
              <a:rPr lang="en-US" sz="2800" b="0" i="0" dirty="0">
                <a:effectLst/>
                <a:latin typeface="Roboto" panose="02000000000000000000" pitchFamily="2" charset="0"/>
              </a:rPr>
              <a:t> the study of publications, </a:t>
            </a:r>
          </a:p>
          <a:p>
            <a:r>
              <a:rPr lang="en-US" sz="2800" b="0" i="0" dirty="0">
                <a:effectLst/>
                <a:latin typeface="Roboto" panose="02000000000000000000" pitchFamily="2" charset="0"/>
              </a:rPr>
              <a:t>epigraphy (study of ancient inscriptions).</a:t>
            </a:r>
          </a:p>
          <a:p>
            <a:r>
              <a:rPr lang="en-US" sz="2800" b="0" i="0" dirty="0">
                <a:effectLst/>
                <a:latin typeface="Roboto" panose="02000000000000000000" pitchFamily="2" charset="0"/>
              </a:rPr>
              <a:t>genealogy (study of individuals and families),</a:t>
            </a:r>
          </a:p>
          <a:p>
            <a:r>
              <a:rPr lang="en-US" sz="2800" b="0" i="0" dirty="0">
                <a:effectLst/>
                <a:latin typeface="Roboto" panose="02000000000000000000" pitchFamily="2" charset="0"/>
              </a:rPr>
              <a:t>historical geography, </a:t>
            </a:r>
          </a:p>
          <a:p>
            <a:r>
              <a:rPr lang="en-US" sz="2800" b="0" i="0" dirty="0">
                <a:effectLst/>
                <a:latin typeface="Roboto" panose="02000000000000000000" pitchFamily="2" charset="0"/>
              </a:rPr>
              <a:t>heraldry (study of weapons), </a:t>
            </a:r>
          </a:p>
          <a:p>
            <a:r>
              <a:rPr lang="en-US" sz="2800" b="0" i="0" dirty="0">
                <a:effectLst/>
                <a:latin typeface="Roboto" panose="02000000000000000000" pitchFamily="2" charset="0"/>
              </a:rPr>
              <a:t>codicology (the study of handwritten documents),</a:t>
            </a:r>
          </a:p>
          <a:p>
            <a:r>
              <a:rPr lang="en-US" sz="2800" b="0" i="0" dirty="0">
                <a:effectLst/>
                <a:latin typeface="Roboto" panose="02000000000000000000" pitchFamily="2" charset="0"/>
              </a:rPr>
              <a:t>numismatics (the study of coins), </a:t>
            </a:r>
          </a:p>
          <a:p>
            <a:r>
              <a:rPr lang="en-US" sz="2800" b="0" i="0" dirty="0">
                <a:effectLst/>
                <a:latin typeface="Roboto" panose="02000000000000000000" pitchFamily="2" charset="0"/>
              </a:rPr>
              <a:t>sphragistics (study of seals), </a:t>
            </a:r>
          </a:p>
          <a:p>
            <a:r>
              <a:rPr lang="en-US" sz="2800" b="0" i="0" dirty="0">
                <a:effectLst/>
                <a:latin typeface="Roboto" panose="02000000000000000000" pitchFamily="2" charset="0"/>
              </a:rPr>
              <a:t>the study of new media (historical E-literacy).</a:t>
            </a:r>
            <a:endParaRPr lang="en-US" sz="2800" dirty="0"/>
          </a:p>
        </p:txBody>
      </p:sp>
    </p:spTree>
    <p:extLst>
      <p:ext uri="{BB962C8B-B14F-4D97-AF65-F5344CB8AC3E}">
        <p14:creationId xmlns:p14="http://schemas.microsoft.com/office/powerpoint/2010/main" val="3461490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7E1B-6488-F6E1-6CCB-27389A33F4BF}"/>
              </a:ext>
            </a:extLst>
          </p:cNvPr>
          <p:cNvSpPr>
            <a:spLocks noGrp="1"/>
          </p:cNvSpPr>
          <p:nvPr>
            <p:ph type="title"/>
          </p:nvPr>
        </p:nvSpPr>
        <p:spPr/>
        <p:txBody>
          <a:bodyPr/>
          <a:lstStyle/>
          <a:p>
            <a:r>
              <a:rPr lang="en-US" b="0" i="0" dirty="0">
                <a:solidFill>
                  <a:srgbClr val="000000"/>
                </a:solidFill>
                <a:effectLst/>
                <a:latin typeface="Linux Libertine"/>
              </a:rPr>
              <a:t>Historical methods</a:t>
            </a:r>
            <a:endParaRPr lang="en-US" dirty="0"/>
          </a:p>
        </p:txBody>
      </p:sp>
      <p:sp>
        <p:nvSpPr>
          <p:cNvPr id="3" name="Content Placeholder 2">
            <a:extLst>
              <a:ext uri="{FF2B5EF4-FFF2-40B4-BE49-F238E27FC236}">
                <a16:creationId xmlns:a16="http://schemas.microsoft.com/office/drawing/2014/main" id="{48E34D66-84BD-A472-45C3-2DEA992F7D15}"/>
              </a:ext>
            </a:extLst>
          </p:cNvPr>
          <p:cNvSpPr>
            <a:spLocks noGrp="1"/>
          </p:cNvSpPr>
          <p:nvPr>
            <p:ph idx="1"/>
          </p:nvPr>
        </p:nvSpPr>
        <p:spPr>
          <a:xfrm>
            <a:off x="838200" y="1825625"/>
            <a:ext cx="10515600" cy="4898732"/>
          </a:xfrm>
        </p:spPr>
        <p:txBody>
          <a:bodyPr>
            <a:normAutofit/>
          </a:bodyPr>
          <a:lstStyle/>
          <a:p>
            <a:pPr algn="l">
              <a:buFont typeface="Arial" panose="020B0604020202020204" pitchFamily="34" charset="0"/>
              <a:buChar char="•"/>
            </a:pPr>
            <a:endParaRPr lang="en-US" sz="2000" b="0" i="0" dirty="0">
              <a:solidFill>
                <a:srgbClr val="202122"/>
              </a:solidFill>
              <a:effectLst/>
              <a:latin typeface="Calibri" panose="020F0502020204030204" pitchFamily="34" charset="0"/>
            </a:endParaRPr>
          </a:p>
          <a:p>
            <a:pPr marL="742950" lvl="1" indent="-285750"/>
            <a:r>
              <a:rPr lang="en-US" sz="2000" b="0" i="0" dirty="0">
                <a:solidFill>
                  <a:srgbClr val="0000FF"/>
                </a:solidFill>
                <a:effectLst/>
                <a:latin typeface="Calibri" panose="020F0502020204030204" pitchFamily="34" charset="0"/>
                <a:hlinkClick r:id="rId2">
                  <a:extLst>
                    <a:ext uri="{A12FA001-AC4F-418D-AE19-62706E023703}">
                      <ahyp:hlinkClr xmlns:ahyp="http://schemas.microsoft.com/office/drawing/2018/hyperlinkcolor" val="tx"/>
                    </a:ext>
                  </a:extLst>
                </a:hlinkClick>
              </a:rPr>
              <a:t>1</a:t>
            </a:r>
            <a:r>
              <a:rPr lang="en-US" sz="2000" b="0" i="0" dirty="0">
                <a:effectLst/>
                <a:latin typeface="Calibri" panose="020F0502020204030204" pitchFamily="34" charset="0"/>
                <a:hlinkClick r:id="rId2">
                  <a:extLst>
                    <a:ext uri="{A12FA001-AC4F-418D-AE19-62706E023703}">
                      <ahyp:hlinkClr xmlns:ahyp="http://schemas.microsoft.com/office/drawing/2018/hyperlinkcolor" val="tx"/>
                    </a:ext>
                  </a:extLst>
                </a:hlinkClick>
              </a:rPr>
              <a:t>Source criticism</a:t>
            </a:r>
            <a:endParaRPr lang="en-US" sz="2000" b="0" i="0" dirty="0">
              <a:effectLst/>
              <a:latin typeface="Calibri" panose="020F0502020204030204" pitchFamily="34" charset="0"/>
            </a:endParaRPr>
          </a:p>
          <a:p>
            <a:pPr lvl="2"/>
            <a:r>
              <a:rPr lang="en-US" sz="2000" b="0" i="0" strike="noStrike" dirty="0">
                <a:solidFill>
                  <a:srgbClr val="0000FF"/>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1.1</a:t>
            </a:r>
            <a:r>
              <a:rPr lang="en-US" sz="2000" b="0" i="0" strike="noStrike" dirty="0">
                <a:effectLst/>
                <a:latin typeface="Calibri" panose="020F0502020204030204" pitchFamily="34" charset="0"/>
                <a:hlinkClick r:id="rId3">
                  <a:extLst>
                    <a:ext uri="{A12FA001-AC4F-418D-AE19-62706E023703}">
                      <ahyp:hlinkClr xmlns:ahyp="http://schemas.microsoft.com/office/drawing/2018/hyperlinkcolor" val="tx"/>
                    </a:ext>
                  </a:extLst>
                </a:hlinkClick>
              </a:rPr>
              <a:t>Procedures for contradictory sources</a:t>
            </a:r>
            <a:endParaRPr lang="en-US" sz="2000" b="0" i="0" dirty="0">
              <a:effectLst/>
              <a:latin typeface="Calibri" panose="020F0502020204030204" pitchFamily="34" charset="0"/>
            </a:endParaRPr>
          </a:p>
          <a:p>
            <a:pPr lvl="2"/>
            <a:r>
              <a:rPr lang="en-US" sz="2000" b="0" i="0" strike="noStrike" dirty="0">
                <a:solidFill>
                  <a:srgbClr val="0000FF"/>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1.2</a:t>
            </a:r>
            <a:r>
              <a:rPr lang="en-US" sz="2000" b="0" i="0" strike="noStrike" dirty="0">
                <a:effectLst/>
                <a:latin typeface="Calibri" panose="020F0502020204030204" pitchFamily="34" charset="0"/>
                <a:hlinkClick r:id="rId4">
                  <a:extLst>
                    <a:ext uri="{A12FA001-AC4F-418D-AE19-62706E023703}">
                      <ahyp:hlinkClr xmlns:ahyp="http://schemas.microsoft.com/office/drawing/2018/hyperlinkcolor" val="tx"/>
                    </a:ext>
                  </a:extLst>
                </a:hlinkClick>
              </a:rPr>
              <a:t>Core principles for determining reliability</a:t>
            </a:r>
            <a:endParaRPr lang="en-US" sz="2000" b="0" i="0" dirty="0">
              <a:effectLst/>
              <a:latin typeface="Calibri" panose="020F0502020204030204" pitchFamily="34" charset="0"/>
            </a:endParaRPr>
          </a:p>
          <a:p>
            <a:pPr lvl="2"/>
            <a:r>
              <a:rPr lang="en-US" sz="2000" b="0" i="0" strike="noStrike" dirty="0">
                <a:solidFill>
                  <a:srgbClr val="0000FF"/>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1.3</a:t>
            </a:r>
            <a:r>
              <a:rPr lang="en-US" sz="2000" b="0" i="0" strike="noStrike" dirty="0">
                <a:effectLst/>
                <a:latin typeface="Calibri" panose="020F0502020204030204" pitchFamily="34" charset="0"/>
                <a:hlinkClick r:id="rId5">
                  <a:extLst>
                    <a:ext uri="{A12FA001-AC4F-418D-AE19-62706E023703}">
                      <ahyp:hlinkClr xmlns:ahyp="http://schemas.microsoft.com/office/drawing/2018/hyperlinkcolor" val="tx"/>
                    </a:ext>
                  </a:extLst>
                </a:hlinkClick>
              </a:rPr>
              <a:t>Eyewitness evidence</a:t>
            </a:r>
            <a:endParaRPr lang="en-US" sz="2000" b="0" i="0" dirty="0">
              <a:effectLst/>
              <a:latin typeface="Calibri" panose="020F0502020204030204" pitchFamily="34" charset="0"/>
            </a:endParaRPr>
          </a:p>
          <a:p>
            <a:pPr lvl="2"/>
            <a:r>
              <a:rPr lang="en-US" sz="2000" b="0" i="0" strike="noStrike" dirty="0">
                <a:solidFill>
                  <a:srgbClr val="0000FF"/>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1.4</a:t>
            </a:r>
            <a:r>
              <a:rPr lang="en-US" sz="2000" b="0" i="0" strike="noStrike" dirty="0">
                <a:effectLst/>
                <a:latin typeface="Calibri" panose="020F0502020204030204" pitchFamily="34" charset="0"/>
                <a:hlinkClick r:id="rId6">
                  <a:extLst>
                    <a:ext uri="{A12FA001-AC4F-418D-AE19-62706E023703}">
                      <ahyp:hlinkClr xmlns:ahyp="http://schemas.microsoft.com/office/drawing/2018/hyperlinkcolor" val="tx"/>
                    </a:ext>
                  </a:extLst>
                </a:hlinkClick>
              </a:rPr>
              <a:t>Indirect witnesses</a:t>
            </a:r>
            <a:endParaRPr lang="en-US" sz="2000" b="0" i="0" dirty="0">
              <a:effectLst/>
              <a:latin typeface="Calibri" panose="020F0502020204030204" pitchFamily="34" charset="0"/>
            </a:endParaRPr>
          </a:p>
          <a:p>
            <a:pPr lvl="2"/>
            <a:r>
              <a:rPr lang="en-US" sz="2000" b="0" i="0" strike="noStrike" dirty="0">
                <a:solidFill>
                  <a:srgbClr val="0000FF"/>
                </a:solidFill>
                <a:effectLst/>
                <a:latin typeface="Calibri" panose="020F0502020204030204" pitchFamily="34" charset="0"/>
                <a:hlinkClick r:id="rId7">
                  <a:extLst>
                    <a:ext uri="{A12FA001-AC4F-418D-AE19-62706E023703}">
                      <ahyp:hlinkClr xmlns:ahyp="http://schemas.microsoft.com/office/drawing/2018/hyperlinkcolor" val="tx"/>
                    </a:ext>
                  </a:extLst>
                </a:hlinkClick>
              </a:rPr>
              <a:t>1.5</a:t>
            </a:r>
            <a:r>
              <a:rPr lang="en-US" sz="2000" b="0" i="0" strike="noStrike" dirty="0">
                <a:effectLst/>
                <a:latin typeface="Calibri" panose="020F0502020204030204" pitchFamily="34" charset="0"/>
                <a:hlinkClick r:id="rId7">
                  <a:extLst>
                    <a:ext uri="{A12FA001-AC4F-418D-AE19-62706E023703}">
                      <ahyp:hlinkClr xmlns:ahyp="http://schemas.microsoft.com/office/drawing/2018/hyperlinkcolor" val="tx"/>
                    </a:ext>
                  </a:extLst>
                </a:hlinkClick>
              </a:rPr>
              <a:t>Oral tradition</a:t>
            </a:r>
            <a:endParaRPr lang="en-US" sz="2000" b="0" i="0" dirty="0">
              <a:effectLst/>
              <a:latin typeface="Calibri" panose="020F0502020204030204" pitchFamily="34" charset="0"/>
            </a:endParaRPr>
          </a:p>
          <a:p>
            <a:pPr lvl="2"/>
            <a:r>
              <a:rPr lang="en-US" sz="2000" b="0" i="0" strike="noStrike" dirty="0">
                <a:solidFill>
                  <a:srgbClr val="0000FF"/>
                </a:solidFill>
                <a:effectLst/>
                <a:latin typeface="Calibri" panose="020F0502020204030204" pitchFamily="34" charset="0"/>
                <a:hlinkClick r:id="rId8">
                  <a:extLst>
                    <a:ext uri="{A12FA001-AC4F-418D-AE19-62706E023703}">
                      <ahyp:hlinkClr xmlns:ahyp="http://schemas.microsoft.com/office/drawing/2018/hyperlinkcolor" val="tx"/>
                    </a:ext>
                  </a:extLst>
                </a:hlinkClick>
              </a:rPr>
              <a:t>1.6</a:t>
            </a:r>
            <a:r>
              <a:rPr lang="en-US" sz="2000" b="0" i="0" strike="noStrike" dirty="0">
                <a:effectLst/>
                <a:latin typeface="Calibri" panose="020F0502020204030204" pitchFamily="34" charset="0"/>
                <a:hlinkClick r:id="rId8">
                  <a:extLst>
                    <a:ext uri="{A12FA001-AC4F-418D-AE19-62706E023703}">
                      <ahyp:hlinkClr xmlns:ahyp="http://schemas.microsoft.com/office/drawing/2018/hyperlinkcolor" val="tx"/>
                    </a:ext>
                  </a:extLst>
                </a:hlinkClick>
              </a:rPr>
              <a:t>Anonymous sources</a:t>
            </a:r>
            <a:endParaRPr lang="en-US" sz="2000" b="0" i="0" dirty="0">
              <a:effectLst/>
              <a:latin typeface="Calibri" panose="020F0502020204030204" pitchFamily="34" charset="0"/>
            </a:endParaRPr>
          </a:p>
          <a:p>
            <a:pPr marL="742950" lvl="1" indent="-285750"/>
            <a:r>
              <a:rPr lang="en-US" sz="2000" b="0" i="0" strike="noStrike" dirty="0">
                <a:solidFill>
                  <a:srgbClr val="0000FF"/>
                </a:solidFill>
                <a:effectLst/>
                <a:latin typeface="Calibri" panose="020F0502020204030204" pitchFamily="34" charset="0"/>
                <a:hlinkClick r:id="rId9">
                  <a:extLst>
                    <a:ext uri="{A12FA001-AC4F-418D-AE19-62706E023703}">
                      <ahyp:hlinkClr xmlns:ahyp="http://schemas.microsoft.com/office/drawing/2018/hyperlinkcolor" val="tx"/>
                    </a:ext>
                  </a:extLst>
                </a:hlinkClick>
              </a:rPr>
              <a:t>2</a:t>
            </a:r>
            <a:r>
              <a:rPr lang="en-US" sz="2000" b="0" i="0" strike="noStrike" dirty="0">
                <a:effectLst/>
                <a:latin typeface="Calibri" panose="020F0502020204030204" pitchFamily="34" charset="0"/>
                <a:hlinkClick r:id="rId9">
                  <a:extLst>
                    <a:ext uri="{A12FA001-AC4F-418D-AE19-62706E023703}">
                      <ahyp:hlinkClr xmlns:ahyp="http://schemas.microsoft.com/office/drawing/2018/hyperlinkcolor" val="tx"/>
                    </a:ext>
                  </a:extLst>
                </a:hlinkClick>
              </a:rPr>
              <a:t>Synthesis: historical reasoning</a:t>
            </a:r>
            <a:endParaRPr lang="en-US" sz="2000" b="0" i="0" dirty="0">
              <a:effectLst/>
              <a:latin typeface="Calibri" panose="020F0502020204030204" pitchFamily="34" charset="0"/>
            </a:endParaRPr>
          </a:p>
          <a:p>
            <a:pPr lvl="2"/>
            <a:r>
              <a:rPr lang="en-US" sz="2000" b="0" i="0" strike="noStrike" dirty="0">
                <a:solidFill>
                  <a:srgbClr val="0000FF"/>
                </a:solidFill>
                <a:effectLst/>
                <a:latin typeface="Calibri" panose="020F0502020204030204" pitchFamily="34" charset="0"/>
                <a:hlinkClick r:id="rId10">
                  <a:extLst>
                    <a:ext uri="{A12FA001-AC4F-418D-AE19-62706E023703}">
                      <ahyp:hlinkClr xmlns:ahyp="http://schemas.microsoft.com/office/drawing/2018/hyperlinkcolor" val="tx"/>
                    </a:ext>
                  </a:extLst>
                </a:hlinkClick>
              </a:rPr>
              <a:t>2.1</a:t>
            </a:r>
            <a:r>
              <a:rPr lang="en-US" sz="2000" b="0" i="0" strike="noStrike" dirty="0">
                <a:effectLst/>
                <a:latin typeface="Calibri" panose="020F0502020204030204" pitchFamily="34" charset="0"/>
                <a:hlinkClick r:id="rId10">
                  <a:extLst>
                    <a:ext uri="{A12FA001-AC4F-418D-AE19-62706E023703}">
                      <ahyp:hlinkClr xmlns:ahyp="http://schemas.microsoft.com/office/drawing/2018/hyperlinkcolor" val="tx"/>
                    </a:ext>
                  </a:extLst>
                </a:hlinkClick>
              </a:rPr>
              <a:t>Argument to the best explanation</a:t>
            </a:r>
            <a:endParaRPr lang="en-US" sz="2000" b="0" i="0" dirty="0">
              <a:effectLst/>
              <a:latin typeface="Calibri" panose="020F0502020204030204" pitchFamily="34" charset="0"/>
            </a:endParaRPr>
          </a:p>
          <a:p>
            <a:pPr lvl="2"/>
            <a:r>
              <a:rPr lang="en-US" dirty="0">
                <a:solidFill>
                  <a:srgbClr val="0000FF"/>
                </a:solidFill>
                <a:latin typeface="Calibri" panose="020F0502020204030204" pitchFamily="34" charset="0"/>
              </a:rPr>
              <a:t>2.2</a:t>
            </a:r>
            <a:r>
              <a:rPr lang="en-US" dirty="0">
                <a:latin typeface="Calibri" panose="020F0502020204030204" pitchFamily="34" charset="0"/>
              </a:rPr>
              <a:t>Statistical inference</a:t>
            </a:r>
            <a:endParaRPr lang="en-US" sz="2000" b="0" i="0" dirty="0">
              <a:effectLst/>
              <a:latin typeface="Calibri" panose="020F0502020204030204" pitchFamily="34" charset="0"/>
            </a:endParaRPr>
          </a:p>
        </p:txBody>
      </p:sp>
    </p:spTree>
    <p:extLst>
      <p:ext uri="{BB962C8B-B14F-4D97-AF65-F5344CB8AC3E}">
        <p14:creationId xmlns:p14="http://schemas.microsoft.com/office/powerpoint/2010/main" val="2546005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7C020-1A20-52FE-C9C1-BE026D3AC4E4}"/>
              </a:ext>
            </a:extLst>
          </p:cNvPr>
          <p:cNvSpPr>
            <a:spLocks noGrp="1"/>
          </p:cNvSpPr>
          <p:nvPr>
            <p:ph type="title"/>
          </p:nvPr>
        </p:nvSpPr>
        <p:spPr/>
        <p:txBody>
          <a:bodyPr/>
          <a:lstStyle/>
          <a:p>
            <a:r>
              <a:rPr lang="en-US" sz="4400" i="0" dirty="0">
                <a:solidFill>
                  <a:schemeClr val="accent5">
                    <a:lumMod val="60000"/>
                    <a:lumOff val="40000"/>
                  </a:schemeClr>
                </a:solidFill>
                <a:effectLst/>
                <a:latin typeface="Calibri" panose="020F0502020204030204" pitchFamily="34" charset="0"/>
              </a:rPr>
              <a:t>Primary &amp; Secondary Sources</a:t>
            </a:r>
            <a:endParaRPr lang="en-US" dirty="0"/>
          </a:p>
        </p:txBody>
      </p:sp>
      <p:sp>
        <p:nvSpPr>
          <p:cNvPr id="3" name="Content Placeholder 2">
            <a:extLst>
              <a:ext uri="{FF2B5EF4-FFF2-40B4-BE49-F238E27FC236}">
                <a16:creationId xmlns:a16="http://schemas.microsoft.com/office/drawing/2014/main" id="{9E866D01-A970-E2E9-3D83-3BA178DE60B1}"/>
              </a:ext>
            </a:extLst>
          </p:cNvPr>
          <p:cNvSpPr>
            <a:spLocks noGrp="1"/>
          </p:cNvSpPr>
          <p:nvPr>
            <p:ph idx="1"/>
          </p:nvPr>
        </p:nvSpPr>
        <p:spPr/>
        <p:txBody>
          <a:bodyPr>
            <a:normAutofit fontScale="77500" lnSpcReduction="20000"/>
          </a:bodyPr>
          <a:lstStyle/>
          <a:p>
            <a:r>
              <a:rPr lang="en-US" sz="2800" b="1" i="0" dirty="0">
                <a:solidFill>
                  <a:srgbClr val="333333"/>
                </a:solidFill>
                <a:effectLst/>
                <a:latin typeface="Calibri" panose="020F0502020204030204" pitchFamily="34" charset="0"/>
              </a:rPr>
              <a:t>Primary sources</a:t>
            </a:r>
            <a:r>
              <a:rPr lang="en-US" sz="2800" b="0" i="0" dirty="0">
                <a:solidFill>
                  <a:srgbClr val="333333"/>
                </a:solidFill>
                <a:effectLst/>
                <a:latin typeface="Calibri" panose="020F0502020204030204" pitchFamily="34" charset="0"/>
              </a:rPr>
              <a:t> include documents or artifacts created by a witness to or participant in an event.  They can be firsthand testimony or evidence created during the time period that you are studying. </a:t>
            </a:r>
            <a:r>
              <a:rPr lang="en-US" sz="2800" b="1" i="0" dirty="0">
                <a:solidFill>
                  <a:srgbClr val="333333"/>
                </a:solidFill>
                <a:effectLst/>
                <a:latin typeface="Calibri" panose="020F0502020204030204" pitchFamily="34" charset="0"/>
              </a:rPr>
              <a:t>Primary sources</a:t>
            </a:r>
            <a:r>
              <a:rPr lang="en-US" sz="2800" b="0" i="0" dirty="0">
                <a:solidFill>
                  <a:srgbClr val="333333"/>
                </a:solidFill>
                <a:effectLst/>
                <a:latin typeface="Calibri" panose="020F0502020204030204" pitchFamily="34" charset="0"/>
              </a:rPr>
              <a:t> are personal diaries, letters, correspondences, interviews, oral histories, photographs, newspaper articles, government documents, poems, novels, plays, and music.  The collection and analysis of primary sources is central to historical research.</a:t>
            </a:r>
          </a:p>
          <a:p>
            <a:pPr algn="l"/>
            <a:r>
              <a:rPr lang="en-US" sz="2800" b="1" i="0" dirty="0">
                <a:solidFill>
                  <a:srgbClr val="333333"/>
                </a:solidFill>
                <a:effectLst/>
                <a:latin typeface="Calibri" panose="020F0502020204030204" pitchFamily="34" charset="0"/>
              </a:rPr>
              <a:t>Secondary sources</a:t>
            </a:r>
            <a:r>
              <a:rPr lang="en-US" sz="2800" b="0" i="0" dirty="0">
                <a:solidFill>
                  <a:srgbClr val="333333"/>
                </a:solidFill>
                <a:effectLst/>
                <a:latin typeface="Calibri" panose="020F0502020204030204" pitchFamily="34" charset="0"/>
              </a:rPr>
              <a:t> analyze a scholarly question and often use primary sources as evidence. </a:t>
            </a:r>
            <a:r>
              <a:rPr lang="en-US" sz="2800" b="1" i="0" dirty="0">
                <a:solidFill>
                  <a:srgbClr val="333333"/>
                </a:solidFill>
                <a:effectLst/>
                <a:latin typeface="Calibri" panose="020F0502020204030204" pitchFamily="34" charset="0"/>
              </a:rPr>
              <a:t>Secondary sources</a:t>
            </a:r>
            <a:r>
              <a:rPr lang="en-US" sz="2800" b="0" i="0" dirty="0">
                <a:solidFill>
                  <a:srgbClr val="333333"/>
                </a:solidFill>
                <a:effectLst/>
                <a:latin typeface="Calibri" panose="020F0502020204030204" pitchFamily="34" charset="0"/>
              </a:rPr>
              <a:t> include books and articles about a topic.  They may include lists of sources, i.e. bibliographies, that may lead you to other primary or secondary sources.</a:t>
            </a:r>
          </a:p>
          <a:p>
            <a:pPr marL="0" indent="0">
              <a:buNone/>
            </a:pPr>
            <a:endParaRPr lang="en-US" sz="2800" dirty="0">
              <a:latin typeface="Calibri" panose="020F0502020204030204" pitchFamily="34" charset="0"/>
            </a:endParaRPr>
          </a:p>
        </p:txBody>
      </p:sp>
    </p:spTree>
    <p:extLst>
      <p:ext uri="{BB962C8B-B14F-4D97-AF65-F5344CB8AC3E}">
        <p14:creationId xmlns:p14="http://schemas.microsoft.com/office/powerpoint/2010/main" val="3256154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A41EA-7544-65B7-16BB-DE9D12A31235}"/>
              </a:ext>
            </a:extLst>
          </p:cNvPr>
          <p:cNvSpPr>
            <a:spLocks noGrp="1"/>
          </p:cNvSpPr>
          <p:nvPr>
            <p:ph type="title"/>
          </p:nvPr>
        </p:nvSpPr>
        <p:spPr/>
        <p:txBody>
          <a:bodyPr/>
          <a:lstStyle/>
          <a:p>
            <a:r>
              <a:rPr lang="en-US" dirty="0"/>
              <a:t>Examples of primary sources</a:t>
            </a:r>
          </a:p>
        </p:txBody>
      </p:sp>
      <p:pic>
        <p:nvPicPr>
          <p:cNvPr id="4" name="Content Placeholder 3">
            <a:extLst>
              <a:ext uri="{FF2B5EF4-FFF2-40B4-BE49-F238E27FC236}">
                <a16:creationId xmlns:a16="http://schemas.microsoft.com/office/drawing/2014/main" id="{6E986C6B-B5A8-9222-0478-604F24118372}"/>
              </a:ext>
            </a:extLst>
          </p:cNvPr>
          <p:cNvPicPr>
            <a:picLocks noGrp="1" noChangeAspect="1"/>
          </p:cNvPicPr>
          <p:nvPr>
            <p:ph idx="1"/>
          </p:nvPr>
        </p:nvPicPr>
        <p:blipFill>
          <a:blip r:embed="rId2"/>
          <a:stretch>
            <a:fillRect/>
          </a:stretch>
        </p:blipFill>
        <p:spPr>
          <a:xfrm>
            <a:off x="158305" y="1491176"/>
            <a:ext cx="5181654" cy="2913258"/>
          </a:xfrm>
          <a:prstGeom prst="rect">
            <a:avLst/>
          </a:prstGeom>
        </p:spPr>
      </p:pic>
      <p:pic>
        <p:nvPicPr>
          <p:cNvPr id="5" name="Picture 4">
            <a:extLst>
              <a:ext uri="{FF2B5EF4-FFF2-40B4-BE49-F238E27FC236}">
                <a16:creationId xmlns:a16="http://schemas.microsoft.com/office/drawing/2014/main" id="{DC155E25-78D6-2BF2-8BDA-45E07FF7398C}"/>
              </a:ext>
            </a:extLst>
          </p:cNvPr>
          <p:cNvPicPr>
            <a:picLocks noChangeAspect="1"/>
          </p:cNvPicPr>
          <p:nvPr/>
        </p:nvPicPr>
        <p:blipFill>
          <a:blip r:embed="rId3"/>
          <a:stretch>
            <a:fillRect/>
          </a:stretch>
        </p:blipFill>
        <p:spPr>
          <a:xfrm>
            <a:off x="9058274" y="914400"/>
            <a:ext cx="2676525" cy="4343400"/>
          </a:xfrm>
          <a:prstGeom prst="rect">
            <a:avLst/>
          </a:prstGeom>
        </p:spPr>
      </p:pic>
      <p:sp>
        <p:nvSpPr>
          <p:cNvPr id="6" name="Content Placeholder 2">
            <a:extLst>
              <a:ext uri="{FF2B5EF4-FFF2-40B4-BE49-F238E27FC236}">
                <a16:creationId xmlns:a16="http://schemas.microsoft.com/office/drawing/2014/main" id="{918AE26B-4486-5BDC-D462-C8A5CC067982}"/>
              </a:ext>
            </a:extLst>
          </p:cNvPr>
          <p:cNvSpPr txBox="1">
            <a:spLocks/>
          </p:cNvSpPr>
          <p:nvPr/>
        </p:nvSpPr>
        <p:spPr>
          <a:xfrm>
            <a:off x="1981200" y="1600200"/>
            <a:ext cx="8229600" cy="52578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600"/>
          </a:p>
          <a:p>
            <a:endParaRPr lang="en-US" sz="1600"/>
          </a:p>
          <a:p>
            <a:endParaRPr lang="en-US" sz="1600"/>
          </a:p>
          <a:p>
            <a:r>
              <a:rPr lang="en-US" sz="1600"/>
              <a:t>\</a:t>
            </a:r>
          </a:p>
          <a:p>
            <a:endParaRPr lang="en-US" sz="1600"/>
          </a:p>
          <a:p>
            <a:endParaRPr lang="en-US" sz="1600"/>
          </a:p>
          <a:p>
            <a:endParaRPr lang="en-US" sz="1600"/>
          </a:p>
          <a:p>
            <a:endParaRPr lang="en-US" sz="1600"/>
          </a:p>
          <a:p>
            <a:endParaRPr lang="en-US" sz="1600"/>
          </a:p>
          <a:p>
            <a:endParaRPr lang="en-US" sz="1600"/>
          </a:p>
          <a:p>
            <a:pPr marL="342900" indent="-342900">
              <a:buFont typeface="Arial" panose="020B0604020202020204" pitchFamily="34" charset="0"/>
              <a:buAutoNum type="arabicPeriod"/>
            </a:pPr>
            <a:r>
              <a:rPr lang="en-US" sz="1600">
                <a:hlinkClick r:id="rId4"/>
              </a:rPr>
              <a:t>https://chroniclingamerica.loc.gov/lccn/2007252185/1900-10-11/ed-1/seq-10/#date1=1777&amp;index=0&amp;rows=20&amp;words=alfalfa+Turkestan&amp;searchType=basic&amp;sequence=0&amp;state=&amp;date2=1963&amp;proxtext=turkestan+alfalfa&amp;y=0&amp;x=0&amp;dateFilterType=yearRange&amp;page=1</a:t>
            </a:r>
            <a:r>
              <a:rPr lang="en-US" sz="1600"/>
              <a:t> </a:t>
            </a:r>
          </a:p>
          <a:p>
            <a:pPr marL="342900" indent="-342900">
              <a:buFont typeface="Arial" panose="020B0604020202020204" pitchFamily="34" charset="0"/>
              <a:buAutoNum type="arabicPeriod"/>
            </a:pPr>
            <a:r>
              <a:rPr lang="en-US" sz="1600"/>
              <a:t>The work of Mir Abdulkarim Bukhari. Tarikhi Nadimi. 1818.</a:t>
            </a:r>
            <a:endParaRPr lang="en-US" sz="1600" dirty="0"/>
          </a:p>
        </p:txBody>
      </p:sp>
    </p:spTree>
    <p:extLst>
      <p:ext uri="{BB962C8B-B14F-4D97-AF65-F5344CB8AC3E}">
        <p14:creationId xmlns:p14="http://schemas.microsoft.com/office/powerpoint/2010/main" val="368437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592BB-5C26-707D-58DC-58DC4A26E4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D3B27F-0033-306C-FEBE-BDEF6ABD7588}"/>
              </a:ext>
            </a:extLst>
          </p:cNvPr>
          <p:cNvSpPr>
            <a:spLocks noGrp="1"/>
          </p:cNvSpPr>
          <p:nvPr>
            <p:ph idx="1"/>
          </p:nvPr>
        </p:nvSpPr>
        <p:spPr/>
        <p:txBody>
          <a:bodyPr/>
          <a:lstStyle/>
          <a:p>
            <a:endParaRPr lang="en-US"/>
          </a:p>
        </p:txBody>
      </p:sp>
      <p:pic>
        <p:nvPicPr>
          <p:cNvPr id="4" name="Содержимое 5" descr="150217_629999627077677_1449096160_n.jpg">
            <a:extLst>
              <a:ext uri="{FF2B5EF4-FFF2-40B4-BE49-F238E27FC236}">
                <a16:creationId xmlns:a16="http://schemas.microsoft.com/office/drawing/2014/main" id="{D92D6D1A-1F0C-704A-BCED-F4C2248527EA}"/>
              </a:ext>
            </a:extLst>
          </p:cNvPr>
          <p:cNvPicPr>
            <a:picLocks noChangeAspect="1"/>
          </p:cNvPicPr>
          <p:nvPr/>
        </p:nvPicPr>
        <p:blipFill>
          <a:blip r:embed="rId2"/>
          <a:stretch>
            <a:fillRect/>
          </a:stretch>
        </p:blipFill>
        <p:spPr>
          <a:xfrm>
            <a:off x="1491175" y="220499"/>
            <a:ext cx="8857327" cy="6637501"/>
          </a:xfrm>
          <a:prstGeom prst="rect">
            <a:avLst/>
          </a:prstGeom>
        </p:spPr>
      </p:pic>
    </p:spTree>
    <p:extLst>
      <p:ext uri="{BB962C8B-B14F-4D97-AF65-F5344CB8AC3E}">
        <p14:creationId xmlns:p14="http://schemas.microsoft.com/office/powerpoint/2010/main" val="391330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F2850-DDDE-F7BC-78D9-49FC9F5D0749}"/>
              </a:ext>
            </a:extLst>
          </p:cNvPr>
          <p:cNvSpPr>
            <a:spLocks noGrp="1"/>
          </p:cNvSpPr>
          <p:nvPr>
            <p:ph type="title"/>
          </p:nvPr>
        </p:nvSpPr>
        <p:spPr/>
        <p:txBody>
          <a:bodyPr/>
          <a:lstStyle/>
          <a:p>
            <a:r>
              <a:rPr lang="en-US" dirty="0"/>
              <a:t>Additional sources to read</a:t>
            </a:r>
          </a:p>
        </p:txBody>
      </p:sp>
      <p:sp>
        <p:nvSpPr>
          <p:cNvPr id="3" name="Content Placeholder 2">
            <a:extLst>
              <a:ext uri="{FF2B5EF4-FFF2-40B4-BE49-F238E27FC236}">
                <a16:creationId xmlns:a16="http://schemas.microsoft.com/office/drawing/2014/main" id="{89AA9C87-0D2C-7A0F-F780-381050353605}"/>
              </a:ext>
            </a:extLst>
          </p:cNvPr>
          <p:cNvSpPr>
            <a:spLocks noGrp="1"/>
          </p:cNvSpPr>
          <p:nvPr>
            <p:ph idx="1"/>
          </p:nvPr>
        </p:nvSpPr>
        <p:spPr/>
        <p:txBody>
          <a:bodyPr>
            <a:normAutofit fontScale="62500" lnSpcReduction="20000"/>
          </a:bodyPr>
          <a:lstStyle/>
          <a:p>
            <a:pPr marL="450215" algn="just">
              <a:lnSpc>
                <a:spcPct val="150000"/>
              </a:lnSpc>
              <a:spcAft>
                <a:spcPts val="800"/>
              </a:spcAft>
            </a:pPr>
            <a:r>
              <a:rPr lang="en-US" sz="2800" b="1" dirty="0">
                <a:effectLst/>
                <a:latin typeface="Calibri" panose="020F0502020204030204" pitchFamily="34" charset="0"/>
              </a:rPr>
              <a:t>Extra reading materials.</a:t>
            </a:r>
            <a:endParaRPr lang="en-US" sz="2800" dirty="0">
              <a:effectLst/>
              <a:latin typeface="Calibri" panose="020F0502020204030204" pitchFamily="34" charset="0"/>
            </a:endParaRPr>
          </a:p>
          <a:p>
            <a:pPr marL="342900" lvl="0" indent="-342900" algn="just">
              <a:lnSpc>
                <a:spcPct val="150000"/>
              </a:lnSpc>
              <a:spcAft>
                <a:spcPts val="800"/>
              </a:spcAft>
              <a:buFont typeface="+mj-lt"/>
              <a:buAutoNum type="arabicPeriod"/>
            </a:pPr>
            <a:r>
              <a:rPr lang="en-US" sz="2800" dirty="0">
                <a:effectLst/>
                <a:latin typeface="Calibri" panose="020F0502020204030204" pitchFamily="34" charset="0"/>
              </a:rPr>
              <a:t>Pallavi </a:t>
            </a:r>
            <a:r>
              <a:rPr lang="en-US" sz="2800" dirty="0" err="1">
                <a:effectLst/>
                <a:latin typeface="Calibri" panose="020F0502020204030204" pitchFamily="34" charset="0"/>
              </a:rPr>
              <a:t>Talekau</a:t>
            </a:r>
            <a:r>
              <a:rPr lang="en-US" sz="2800" dirty="0">
                <a:effectLst/>
                <a:latin typeface="Calibri" panose="020F0502020204030204" pitchFamily="34" charset="0"/>
              </a:rPr>
              <a:t>, Dr. </a:t>
            </a:r>
            <a:r>
              <a:rPr lang="en-US" sz="2800" dirty="0" err="1">
                <a:effectLst/>
                <a:latin typeface="Calibri" panose="020F0502020204030204" pitchFamily="34" charset="0"/>
              </a:rPr>
              <a:t>Jyotrimayee</a:t>
            </a:r>
            <a:r>
              <a:rPr lang="en-US" sz="2800" dirty="0">
                <a:effectLst/>
                <a:latin typeface="Calibri" panose="020F0502020204030204" pitchFamily="34" charset="0"/>
              </a:rPr>
              <a:t> Nayak , </a:t>
            </a:r>
            <a:r>
              <a:rPr lang="en-US" sz="2800" dirty="0" err="1">
                <a:effectLst/>
                <a:latin typeface="Calibri" panose="020F0502020204030204" pitchFamily="34" charset="0"/>
              </a:rPr>
              <a:t>Dr.S.Harichandan</a:t>
            </a:r>
            <a:r>
              <a:rPr lang="en-US" sz="2800" dirty="0">
                <a:effectLst/>
                <a:latin typeface="Calibri" panose="020F0502020204030204" pitchFamily="34" charset="0"/>
              </a:rPr>
              <a:t>. History.</a:t>
            </a:r>
          </a:p>
          <a:p>
            <a:pPr marL="342900" lvl="0" indent="-342900">
              <a:lnSpc>
                <a:spcPct val="150000"/>
              </a:lnSpc>
              <a:spcAft>
                <a:spcPts val="800"/>
              </a:spcAft>
              <a:buFont typeface="+mj-lt"/>
              <a:buAutoNum type="arabicPeriod"/>
            </a:pPr>
            <a:r>
              <a:rPr lang="en-US" sz="2800" dirty="0">
                <a:solidFill>
                  <a:srgbClr val="000000"/>
                </a:solidFill>
                <a:effectLst/>
                <a:latin typeface="Calibri" panose="020F0502020204030204" pitchFamily="34" charset="0"/>
                <a:ea typeface="Times New Roman" panose="02020603050405020304" pitchFamily="18" charset="0"/>
              </a:rPr>
              <a:t>R. G. Collingwood</a:t>
            </a:r>
            <a:r>
              <a:rPr lang="en-US" sz="2800" dirty="0">
                <a:effectLst/>
                <a:latin typeface="Calibri" panose="020F0502020204030204" pitchFamily="34" charset="0"/>
              </a:rPr>
              <a:t> </a:t>
            </a:r>
            <a:r>
              <a:rPr lang="en-US" sz="2800" u="sng" dirty="0">
                <a:solidFill>
                  <a:srgbClr val="0563C1"/>
                </a:solidFill>
                <a:effectLst/>
                <a:latin typeface="Calibri" panose="020F0502020204030204" pitchFamily="34" charset="0"/>
                <a:hlinkClick r:id="rId2"/>
              </a:rPr>
              <a:t>https://brocku.ca/MeadProject/Collingwood/1946_5.html</a:t>
            </a:r>
            <a:endParaRPr lang="en-US" sz="2800" dirty="0">
              <a:effectLst/>
              <a:latin typeface="Calibri" panose="020F0502020204030204" pitchFamily="34" charset="0"/>
            </a:endParaRPr>
          </a:p>
          <a:p>
            <a:pPr marL="342900" lvl="0" indent="-342900">
              <a:lnSpc>
                <a:spcPct val="150000"/>
              </a:lnSpc>
              <a:spcAft>
                <a:spcPts val="800"/>
              </a:spcAft>
              <a:buFont typeface="+mj-lt"/>
              <a:buAutoNum type="arabicPeriod"/>
            </a:pPr>
            <a:r>
              <a:rPr lang="en-US" sz="2800" dirty="0">
                <a:effectLst/>
                <a:latin typeface="Calibri" panose="020F0502020204030204" pitchFamily="34" charset="0"/>
              </a:rPr>
              <a:t>M. V. C. Jeffreys. The subject-matter of history in schools: a case for a new principle of selection // History, December, 1935, new series, Vol. 20, No. 79, pp. 233-242.</a:t>
            </a:r>
          </a:p>
          <a:p>
            <a:pPr marL="342900" lvl="0" indent="-342900">
              <a:lnSpc>
                <a:spcPct val="107000"/>
              </a:lnSpc>
              <a:spcAft>
                <a:spcPts val="800"/>
              </a:spcAft>
              <a:buFont typeface="+mj-lt"/>
              <a:buAutoNum type="arabicPeriod"/>
            </a:pPr>
            <a:r>
              <a:rPr lang="en-US" sz="2800" u="sng" dirty="0" err="1">
                <a:effectLst/>
                <a:latin typeface="Calibri" panose="020F0502020204030204" pitchFamily="34" charset="0"/>
                <a:hlinkClick r:id="rId3">
                  <a:extLst>
                    <a:ext uri="{A12FA001-AC4F-418D-AE19-62706E023703}">
                      <ahyp:hlinkClr xmlns:ahyp="http://schemas.microsoft.com/office/drawing/2018/hyperlinkcolor" val="tx"/>
                    </a:ext>
                  </a:extLst>
                </a:hlinkClick>
              </a:rPr>
              <a:t>Алимова</a:t>
            </a:r>
            <a:r>
              <a:rPr lang="en-US" sz="2800" u="sng" dirty="0">
                <a:effectLst/>
                <a:latin typeface="Calibri" panose="020F0502020204030204" pitchFamily="34" charset="0"/>
                <a:hlinkClick r:id="rId3">
                  <a:extLst>
                    <a:ext uri="{A12FA001-AC4F-418D-AE19-62706E023703}">
                      <ahyp:hlinkClr xmlns:ahyp="http://schemas.microsoft.com/office/drawing/2018/hyperlinkcolor" val="tx"/>
                    </a:ext>
                  </a:extLst>
                </a:hlinkClick>
              </a:rPr>
              <a:t>, </a:t>
            </a:r>
            <a:r>
              <a:rPr lang="en-US" sz="2800" u="sng" dirty="0" err="1">
                <a:effectLst/>
                <a:latin typeface="Calibri" panose="020F0502020204030204" pitchFamily="34" charset="0"/>
                <a:hlinkClick r:id="rId3">
                  <a:extLst>
                    <a:ext uri="{A12FA001-AC4F-418D-AE19-62706E023703}">
                      <ahyp:hlinkClr xmlns:ahyp="http://schemas.microsoft.com/office/drawing/2018/hyperlinkcolor" val="tx"/>
                    </a:ext>
                  </a:extLst>
                </a:hlinkClick>
              </a:rPr>
              <a:t>Дилором</a:t>
            </a:r>
            <a:r>
              <a:rPr lang="en-US" sz="2800" u="sng" dirty="0">
                <a:effectLst/>
                <a:latin typeface="Calibri" panose="020F0502020204030204" pitchFamily="34" charset="0"/>
                <a:hlinkClick r:id="rId3">
                  <a:extLst>
                    <a:ext uri="{A12FA001-AC4F-418D-AE19-62706E023703}">
                      <ahyp:hlinkClr xmlns:ahyp="http://schemas.microsoft.com/office/drawing/2018/hyperlinkcolor" val="tx"/>
                    </a:ext>
                  </a:extLst>
                </a:hlinkClick>
              </a:rPr>
              <a:t> </a:t>
            </a:r>
            <a:r>
              <a:rPr lang="en-US" sz="2800" u="sng" dirty="0" err="1">
                <a:effectLst/>
                <a:latin typeface="Calibri" panose="020F0502020204030204" pitchFamily="34" charset="0"/>
                <a:hlinkClick r:id="rId3">
                  <a:extLst>
                    <a:ext uri="{A12FA001-AC4F-418D-AE19-62706E023703}">
                      <ahyp:hlinkClr xmlns:ahyp="http://schemas.microsoft.com/office/drawing/2018/hyperlinkcolor" val="tx"/>
                    </a:ext>
                  </a:extLst>
                </a:hlinkClick>
              </a:rPr>
              <a:t>Агзамовна</a:t>
            </a:r>
            <a:r>
              <a:rPr lang="en-US" sz="2800" dirty="0">
                <a:effectLst/>
                <a:latin typeface="Calibri" panose="020F0502020204030204" pitchFamily="34" charset="0"/>
              </a:rPr>
              <a:t>. </a:t>
            </a:r>
            <a:r>
              <a:rPr lang="en-US" sz="2800" dirty="0" err="1">
                <a:effectLst/>
                <a:latin typeface="Calibri" panose="020F0502020204030204" pitchFamily="34" charset="0"/>
              </a:rPr>
              <a:t>История</a:t>
            </a:r>
            <a:r>
              <a:rPr lang="en-US" sz="2800" dirty="0">
                <a:solidFill>
                  <a:srgbClr val="000000"/>
                </a:solidFill>
                <a:effectLst/>
                <a:latin typeface="Calibri" panose="020F0502020204030204" pitchFamily="34" charset="0"/>
              </a:rPr>
              <a:t> </a:t>
            </a:r>
            <a:r>
              <a:rPr lang="en-US" sz="2800" dirty="0" err="1">
                <a:solidFill>
                  <a:srgbClr val="000000"/>
                </a:solidFill>
                <a:effectLst/>
                <a:latin typeface="Calibri" panose="020F0502020204030204" pitchFamily="34" charset="0"/>
              </a:rPr>
              <a:t>как</a:t>
            </a:r>
            <a:r>
              <a:rPr lang="en-US" sz="2800" dirty="0">
                <a:solidFill>
                  <a:srgbClr val="000000"/>
                </a:solidFill>
                <a:effectLst/>
                <a:latin typeface="Calibri" panose="020F0502020204030204" pitchFamily="34" charset="0"/>
              </a:rPr>
              <a:t> </a:t>
            </a:r>
            <a:r>
              <a:rPr lang="en-US" sz="2800" dirty="0" err="1">
                <a:solidFill>
                  <a:srgbClr val="000000"/>
                </a:solidFill>
                <a:effectLst/>
                <a:latin typeface="Calibri" panose="020F0502020204030204" pitchFamily="34" charset="0"/>
              </a:rPr>
              <a:t>история</a:t>
            </a:r>
            <a:r>
              <a:rPr lang="en-US" sz="2800" dirty="0">
                <a:solidFill>
                  <a:srgbClr val="000000"/>
                </a:solidFill>
                <a:effectLst/>
                <a:latin typeface="Calibri" panose="020F0502020204030204" pitchFamily="34" charset="0"/>
              </a:rPr>
              <a:t>, </a:t>
            </a:r>
            <a:r>
              <a:rPr lang="en-US" sz="2800" dirty="0" err="1">
                <a:solidFill>
                  <a:srgbClr val="000000"/>
                </a:solidFill>
                <a:effectLst/>
                <a:latin typeface="Calibri" panose="020F0502020204030204" pitchFamily="34" charset="0"/>
              </a:rPr>
              <a:t>история</a:t>
            </a:r>
            <a:r>
              <a:rPr lang="en-US" sz="2800" dirty="0">
                <a:solidFill>
                  <a:srgbClr val="000000"/>
                </a:solidFill>
                <a:effectLst/>
                <a:latin typeface="Calibri" panose="020F0502020204030204" pitchFamily="34" charset="0"/>
              </a:rPr>
              <a:t> </a:t>
            </a:r>
            <a:r>
              <a:rPr lang="en-US" sz="2800" dirty="0" err="1">
                <a:solidFill>
                  <a:srgbClr val="000000"/>
                </a:solidFill>
                <a:effectLst/>
                <a:latin typeface="Calibri" panose="020F0502020204030204" pitchFamily="34" charset="0"/>
              </a:rPr>
              <a:t>как</a:t>
            </a:r>
            <a:r>
              <a:rPr lang="en-US" sz="2800" dirty="0">
                <a:solidFill>
                  <a:srgbClr val="000000"/>
                </a:solidFill>
                <a:effectLst/>
                <a:latin typeface="Calibri" panose="020F0502020204030204" pitchFamily="34" charset="0"/>
              </a:rPr>
              <a:t> </a:t>
            </a:r>
            <a:r>
              <a:rPr lang="en-US" sz="2800" dirty="0" err="1">
                <a:solidFill>
                  <a:srgbClr val="000000"/>
                </a:solidFill>
                <a:effectLst/>
                <a:latin typeface="Calibri" panose="020F0502020204030204" pitchFamily="34" charset="0"/>
              </a:rPr>
              <a:t>наука</a:t>
            </a:r>
            <a:r>
              <a:rPr lang="en-US" sz="2800" dirty="0">
                <a:solidFill>
                  <a:srgbClr val="000000"/>
                </a:solidFill>
                <a:effectLst/>
                <a:latin typeface="Calibri" panose="020F0502020204030204" pitchFamily="34" charset="0"/>
              </a:rPr>
              <a:t>. Т. 2008. </a:t>
            </a:r>
            <a:endParaRPr lang="en-US" sz="2800" dirty="0">
              <a:effectLst/>
              <a:latin typeface="Calibri" panose="020F0502020204030204" pitchFamily="34" charset="0"/>
            </a:endParaRPr>
          </a:p>
          <a:p>
            <a:endParaRPr lang="en-US" sz="2800" dirty="0">
              <a:latin typeface="Calibri" panose="020F0502020204030204" pitchFamily="34" charset="0"/>
            </a:endParaRPr>
          </a:p>
          <a:p>
            <a:endParaRPr lang="en-US" dirty="0"/>
          </a:p>
        </p:txBody>
      </p:sp>
    </p:spTree>
    <p:extLst>
      <p:ext uri="{BB962C8B-B14F-4D97-AF65-F5344CB8AC3E}">
        <p14:creationId xmlns:p14="http://schemas.microsoft.com/office/powerpoint/2010/main" val="1678878202"/>
      </p:ext>
    </p:extLst>
  </p:cSld>
  <p:clrMapOvr>
    <a:masterClrMapping/>
  </p:clrMapOvr>
</p:sld>
</file>

<file path=ppt/theme/theme1.xml><?xml version="1.0" encoding="utf-8"?>
<a:theme xmlns:a="http://schemas.openxmlformats.org/drawingml/2006/main" name="Аспект">
  <a:themeElements>
    <a:clrScheme name="Аспект">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Аспект">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Аспект">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107</TotalTime>
  <Words>1276</Words>
  <Application>Microsoft Office PowerPoint</Application>
  <PresentationFormat>Широкоэкранный</PresentationFormat>
  <Paragraphs>132</Paragraphs>
  <Slides>17</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17</vt:i4>
      </vt:variant>
    </vt:vector>
  </HeadingPairs>
  <TitlesOfParts>
    <vt:vector size="25" baseType="lpstr">
      <vt:lpstr>Arial</vt:lpstr>
      <vt:lpstr>Calibri</vt:lpstr>
      <vt:lpstr>Lato</vt:lpstr>
      <vt:lpstr>Linux Libertine</vt:lpstr>
      <vt:lpstr>Roboto</vt:lpstr>
      <vt:lpstr>Trebuchet MS</vt:lpstr>
      <vt:lpstr>Wingdings 3</vt:lpstr>
      <vt:lpstr>Аспект</vt:lpstr>
      <vt:lpstr>The subject matter of History</vt:lpstr>
      <vt:lpstr>Requirements</vt:lpstr>
      <vt:lpstr>Content</vt:lpstr>
      <vt:lpstr>Introduction</vt:lpstr>
      <vt:lpstr>Knowing History vs Doing History</vt:lpstr>
      <vt:lpstr>Types of History</vt:lpstr>
      <vt:lpstr>The subjects included in history</vt:lpstr>
      <vt:lpstr>History as a sphere of science</vt:lpstr>
      <vt:lpstr>Quotations about history</vt:lpstr>
      <vt:lpstr>Quotations about history</vt:lpstr>
      <vt:lpstr>3 key points to understand the essence of the history </vt:lpstr>
      <vt:lpstr>Most commonly recognized historical methodologies (a technique of presenting information)</vt:lpstr>
      <vt:lpstr>Historical methods</vt:lpstr>
      <vt:lpstr>Primary &amp; Secondary Sources</vt:lpstr>
      <vt:lpstr>Examples of primary sources</vt:lpstr>
      <vt:lpstr>Презентация PowerPoint</vt:lpstr>
      <vt:lpstr>Additional sources to read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subject matter of History</dc:title>
  <dc:creator>v.kholov@outlook.com</dc:creator>
  <cp:lastModifiedBy>Vohid</cp:lastModifiedBy>
  <cp:revision>12</cp:revision>
  <dcterms:created xsi:type="dcterms:W3CDTF">2023-01-31T07:25:28Z</dcterms:created>
  <dcterms:modified xsi:type="dcterms:W3CDTF">2025-08-03T14:02:19Z</dcterms:modified>
</cp:coreProperties>
</file>