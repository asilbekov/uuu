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73" r:id="rId2"/>
    <p:sldId id="256" r:id="rId3"/>
    <p:sldId id="283" r:id="rId4"/>
    <p:sldId id="257" r:id="rId5"/>
    <p:sldId id="282" r:id="rId6"/>
    <p:sldId id="259" r:id="rId7"/>
    <p:sldId id="258" r:id="rId8"/>
    <p:sldId id="260" r:id="rId9"/>
    <p:sldId id="264" r:id="rId10"/>
    <p:sldId id="265" r:id="rId11"/>
    <p:sldId id="261" r:id="rId12"/>
    <p:sldId id="262" r:id="rId13"/>
    <p:sldId id="263" r:id="rId14"/>
    <p:sldId id="266" r:id="rId15"/>
    <p:sldId id="267" r:id="rId16"/>
    <p:sldId id="268" r:id="rId17"/>
    <p:sldId id="269" r:id="rId18"/>
    <p:sldId id="270" r:id="rId19"/>
    <p:sldId id="274" r:id="rId20"/>
    <p:sldId id="275" r:id="rId21"/>
    <p:sldId id="276" r:id="rId22"/>
    <p:sldId id="277" r:id="rId23"/>
    <p:sldId id="279" r:id="rId24"/>
    <p:sldId id="280" r:id="rId25"/>
    <p:sldId id="281" r:id="rId26"/>
    <p:sldId id="284" r:id="rId27"/>
    <p:sldId id="366" r:id="rId28"/>
    <p:sldId id="367" r:id="rId29"/>
    <p:sldId id="368" r:id="rId30"/>
    <p:sldId id="369" r:id="rId31"/>
    <p:sldId id="362" r:id="rId32"/>
    <p:sldId id="363" r:id="rId33"/>
    <p:sldId id="343" r:id="rId34"/>
    <p:sldId id="364" r:id="rId35"/>
    <p:sldId id="370" r:id="rId36"/>
    <p:sldId id="365" r:id="rId37"/>
    <p:sldId id="371" r:id="rId38"/>
    <p:sldId id="332" r:id="rId39"/>
    <p:sldId id="333" r:id="rId40"/>
    <p:sldId id="372" r:id="rId41"/>
    <p:sldId id="34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45" autoAdjust="0"/>
    <p:restoredTop sz="94660"/>
  </p:normalViewPr>
  <p:slideViewPr>
    <p:cSldViewPr snapToGrid="0">
      <p:cViewPr varScale="1">
        <p:scale>
          <a:sx n="71" d="100"/>
          <a:sy n="71" d="100"/>
        </p:scale>
        <p:origin x="57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CE44D-CFFC-6AC5-0F96-BA02DC7134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A0621E-71C9-5E8B-8814-48BD6E757C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DDBFDA-7A5C-95F5-15E6-BD4FF92529FB}"/>
              </a:ext>
            </a:extLst>
          </p:cNvPr>
          <p:cNvSpPr>
            <a:spLocks noGrp="1"/>
          </p:cNvSpPr>
          <p:nvPr>
            <p:ph type="dt" sz="half" idx="10"/>
          </p:nvPr>
        </p:nvSpPr>
        <p:spPr/>
        <p:txBody>
          <a:bodyPr/>
          <a:lstStyle/>
          <a:p>
            <a:fld id="{8AB773B9-0B80-407A-891D-76E37F7E42F0}" type="datetimeFigureOut">
              <a:rPr lang="en-US" smtClean="0"/>
              <a:t>1/28/2025</a:t>
            </a:fld>
            <a:endParaRPr lang="en-US"/>
          </a:p>
        </p:txBody>
      </p:sp>
      <p:sp>
        <p:nvSpPr>
          <p:cNvPr id="5" name="Footer Placeholder 4">
            <a:extLst>
              <a:ext uri="{FF2B5EF4-FFF2-40B4-BE49-F238E27FC236}">
                <a16:creationId xmlns:a16="http://schemas.microsoft.com/office/drawing/2014/main" id="{1EAA9D1E-2C75-CE3A-5CF5-791CEDFEB9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4084DD-54BF-3049-5AE3-84EB87E2A869}"/>
              </a:ext>
            </a:extLst>
          </p:cNvPr>
          <p:cNvSpPr>
            <a:spLocks noGrp="1"/>
          </p:cNvSpPr>
          <p:nvPr>
            <p:ph type="sldNum" sz="quarter" idx="12"/>
          </p:nvPr>
        </p:nvSpPr>
        <p:spPr/>
        <p:txBody>
          <a:bodyPr/>
          <a:lstStyle/>
          <a:p>
            <a:fld id="{F181E078-A28C-4CC5-8DD9-F381FA66BC99}" type="slidenum">
              <a:rPr lang="en-US" smtClean="0"/>
              <a:t>‹#›</a:t>
            </a:fld>
            <a:endParaRPr lang="en-US"/>
          </a:p>
        </p:txBody>
      </p:sp>
    </p:spTree>
    <p:extLst>
      <p:ext uri="{BB962C8B-B14F-4D97-AF65-F5344CB8AC3E}">
        <p14:creationId xmlns:p14="http://schemas.microsoft.com/office/powerpoint/2010/main" val="3241951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06ED4-5188-496E-2A5C-ECA033D00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B98069-57C3-526F-D7F5-6DBFA009C6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613C09-30DE-6008-AD2F-E8F432646F94}"/>
              </a:ext>
            </a:extLst>
          </p:cNvPr>
          <p:cNvSpPr>
            <a:spLocks noGrp="1"/>
          </p:cNvSpPr>
          <p:nvPr>
            <p:ph type="dt" sz="half" idx="10"/>
          </p:nvPr>
        </p:nvSpPr>
        <p:spPr/>
        <p:txBody>
          <a:bodyPr/>
          <a:lstStyle/>
          <a:p>
            <a:fld id="{8AB773B9-0B80-407A-891D-76E37F7E42F0}" type="datetimeFigureOut">
              <a:rPr lang="en-US" smtClean="0"/>
              <a:t>1/28/2025</a:t>
            </a:fld>
            <a:endParaRPr lang="en-US"/>
          </a:p>
        </p:txBody>
      </p:sp>
      <p:sp>
        <p:nvSpPr>
          <p:cNvPr id="5" name="Footer Placeholder 4">
            <a:extLst>
              <a:ext uri="{FF2B5EF4-FFF2-40B4-BE49-F238E27FC236}">
                <a16:creationId xmlns:a16="http://schemas.microsoft.com/office/drawing/2014/main" id="{4CF7D682-AD58-8C23-B8A3-C9490AADF0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B7D756-8B27-7C44-127C-0455D089B33A}"/>
              </a:ext>
            </a:extLst>
          </p:cNvPr>
          <p:cNvSpPr>
            <a:spLocks noGrp="1"/>
          </p:cNvSpPr>
          <p:nvPr>
            <p:ph type="sldNum" sz="quarter" idx="12"/>
          </p:nvPr>
        </p:nvSpPr>
        <p:spPr/>
        <p:txBody>
          <a:bodyPr/>
          <a:lstStyle/>
          <a:p>
            <a:fld id="{F181E078-A28C-4CC5-8DD9-F381FA66BC99}" type="slidenum">
              <a:rPr lang="en-US" smtClean="0"/>
              <a:t>‹#›</a:t>
            </a:fld>
            <a:endParaRPr lang="en-US"/>
          </a:p>
        </p:txBody>
      </p:sp>
    </p:spTree>
    <p:extLst>
      <p:ext uri="{BB962C8B-B14F-4D97-AF65-F5344CB8AC3E}">
        <p14:creationId xmlns:p14="http://schemas.microsoft.com/office/powerpoint/2010/main" val="3800281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C86A4-4816-AE74-8F98-A16ABE5AE2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1C755B-3D52-CDC3-1C24-5110DC4042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4AC895-A216-77BC-8A40-3ECBD4C7EDF4}"/>
              </a:ext>
            </a:extLst>
          </p:cNvPr>
          <p:cNvSpPr>
            <a:spLocks noGrp="1"/>
          </p:cNvSpPr>
          <p:nvPr>
            <p:ph type="dt" sz="half" idx="10"/>
          </p:nvPr>
        </p:nvSpPr>
        <p:spPr/>
        <p:txBody>
          <a:bodyPr/>
          <a:lstStyle/>
          <a:p>
            <a:fld id="{8AB773B9-0B80-407A-891D-76E37F7E42F0}" type="datetimeFigureOut">
              <a:rPr lang="en-US" smtClean="0"/>
              <a:t>1/28/2025</a:t>
            </a:fld>
            <a:endParaRPr lang="en-US"/>
          </a:p>
        </p:txBody>
      </p:sp>
      <p:sp>
        <p:nvSpPr>
          <p:cNvPr id="5" name="Footer Placeholder 4">
            <a:extLst>
              <a:ext uri="{FF2B5EF4-FFF2-40B4-BE49-F238E27FC236}">
                <a16:creationId xmlns:a16="http://schemas.microsoft.com/office/drawing/2014/main" id="{E69C16F7-62FB-4517-1345-DF8C54500E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9CA614-D7B2-D849-B765-AE389E5E73EF}"/>
              </a:ext>
            </a:extLst>
          </p:cNvPr>
          <p:cNvSpPr>
            <a:spLocks noGrp="1"/>
          </p:cNvSpPr>
          <p:nvPr>
            <p:ph type="sldNum" sz="quarter" idx="12"/>
          </p:nvPr>
        </p:nvSpPr>
        <p:spPr/>
        <p:txBody>
          <a:bodyPr/>
          <a:lstStyle/>
          <a:p>
            <a:fld id="{F181E078-A28C-4CC5-8DD9-F381FA66BC99}" type="slidenum">
              <a:rPr lang="en-US" smtClean="0"/>
              <a:t>‹#›</a:t>
            </a:fld>
            <a:endParaRPr lang="en-US"/>
          </a:p>
        </p:txBody>
      </p:sp>
    </p:spTree>
    <p:extLst>
      <p:ext uri="{BB962C8B-B14F-4D97-AF65-F5344CB8AC3E}">
        <p14:creationId xmlns:p14="http://schemas.microsoft.com/office/powerpoint/2010/main" val="2057782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C61FC-6686-8BE9-9D84-78491BAD8C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85E3BA-A3B2-49FA-AACE-18658EE4F5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57AEE3-5AA9-6892-3839-88CF21FE55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EA96BA-0065-808C-41B4-0BEE40AF13D8}"/>
              </a:ext>
            </a:extLst>
          </p:cNvPr>
          <p:cNvSpPr>
            <a:spLocks noGrp="1"/>
          </p:cNvSpPr>
          <p:nvPr>
            <p:ph type="dt" sz="half" idx="10"/>
          </p:nvPr>
        </p:nvSpPr>
        <p:spPr/>
        <p:txBody>
          <a:bodyPr/>
          <a:lstStyle/>
          <a:p>
            <a:fld id="{8AB773B9-0B80-407A-891D-76E37F7E42F0}" type="datetimeFigureOut">
              <a:rPr lang="en-US" smtClean="0"/>
              <a:t>1/28/2025</a:t>
            </a:fld>
            <a:endParaRPr lang="en-US"/>
          </a:p>
        </p:txBody>
      </p:sp>
      <p:sp>
        <p:nvSpPr>
          <p:cNvPr id="6" name="Footer Placeholder 5">
            <a:extLst>
              <a:ext uri="{FF2B5EF4-FFF2-40B4-BE49-F238E27FC236}">
                <a16:creationId xmlns:a16="http://schemas.microsoft.com/office/drawing/2014/main" id="{73CB049B-2057-9669-AE21-751A60668E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720413-33B9-6B8E-4B0D-9737AA64874C}"/>
              </a:ext>
            </a:extLst>
          </p:cNvPr>
          <p:cNvSpPr>
            <a:spLocks noGrp="1"/>
          </p:cNvSpPr>
          <p:nvPr>
            <p:ph type="sldNum" sz="quarter" idx="12"/>
          </p:nvPr>
        </p:nvSpPr>
        <p:spPr/>
        <p:txBody>
          <a:bodyPr/>
          <a:lstStyle/>
          <a:p>
            <a:fld id="{F181E078-A28C-4CC5-8DD9-F381FA66BC99}" type="slidenum">
              <a:rPr lang="en-US" smtClean="0"/>
              <a:t>‹#›</a:t>
            </a:fld>
            <a:endParaRPr lang="en-US"/>
          </a:p>
        </p:txBody>
      </p:sp>
    </p:spTree>
    <p:extLst>
      <p:ext uri="{BB962C8B-B14F-4D97-AF65-F5344CB8AC3E}">
        <p14:creationId xmlns:p14="http://schemas.microsoft.com/office/powerpoint/2010/main" val="2868759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528FC-B256-E966-8E4E-15FF2490A19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AC605E-DBA8-A45C-77DC-12F4DA406A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7D81D1-8A48-EAD3-2BC5-961582DAC4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3DDF48-9527-CF93-9A74-AF791DC255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88DB04-7BBE-5464-78EF-5BD9AA433A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274C22-85FA-0B8E-5B5C-C8E6FB155F11}"/>
              </a:ext>
            </a:extLst>
          </p:cNvPr>
          <p:cNvSpPr>
            <a:spLocks noGrp="1"/>
          </p:cNvSpPr>
          <p:nvPr>
            <p:ph type="dt" sz="half" idx="10"/>
          </p:nvPr>
        </p:nvSpPr>
        <p:spPr/>
        <p:txBody>
          <a:bodyPr/>
          <a:lstStyle/>
          <a:p>
            <a:fld id="{8AB773B9-0B80-407A-891D-76E37F7E42F0}" type="datetimeFigureOut">
              <a:rPr lang="en-US" smtClean="0"/>
              <a:t>1/28/2025</a:t>
            </a:fld>
            <a:endParaRPr lang="en-US"/>
          </a:p>
        </p:txBody>
      </p:sp>
      <p:sp>
        <p:nvSpPr>
          <p:cNvPr id="8" name="Footer Placeholder 7">
            <a:extLst>
              <a:ext uri="{FF2B5EF4-FFF2-40B4-BE49-F238E27FC236}">
                <a16:creationId xmlns:a16="http://schemas.microsoft.com/office/drawing/2014/main" id="{154EC5AA-D008-8E05-18C0-FD0192C45C1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3F5FFA-DFDC-9161-3F8B-B5F332D8A6E6}"/>
              </a:ext>
            </a:extLst>
          </p:cNvPr>
          <p:cNvSpPr>
            <a:spLocks noGrp="1"/>
          </p:cNvSpPr>
          <p:nvPr>
            <p:ph type="sldNum" sz="quarter" idx="12"/>
          </p:nvPr>
        </p:nvSpPr>
        <p:spPr/>
        <p:txBody>
          <a:bodyPr/>
          <a:lstStyle/>
          <a:p>
            <a:fld id="{F181E078-A28C-4CC5-8DD9-F381FA66BC99}" type="slidenum">
              <a:rPr lang="en-US" smtClean="0"/>
              <a:t>‹#›</a:t>
            </a:fld>
            <a:endParaRPr lang="en-US"/>
          </a:p>
        </p:txBody>
      </p:sp>
    </p:spTree>
    <p:extLst>
      <p:ext uri="{BB962C8B-B14F-4D97-AF65-F5344CB8AC3E}">
        <p14:creationId xmlns:p14="http://schemas.microsoft.com/office/powerpoint/2010/main" val="70890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9E9EF-F313-CBAE-CE2C-518D5E42C9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0C2FEA-5CD4-E243-7092-4E1FB162FC67}"/>
              </a:ext>
            </a:extLst>
          </p:cNvPr>
          <p:cNvSpPr>
            <a:spLocks noGrp="1"/>
          </p:cNvSpPr>
          <p:nvPr>
            <p:ph type="dt" sz="half" idx="10"/>
          </p:nvPr>
        </p:nvSpPr>
        <p:spPr/>
        <p:txBody>
          <a:bodyPr/>
          <a:lstStyle/>
          <a:p>
            <a:fld id="{8AB773B9-0B80-407A-891D-76E37F7E42F0}" type="datetimeFigureOut">
              <a:rPr lang="en-US" smtClean="0"/>
              <a:t>1/28/2025</a:t>
            </a:fld>
            <a:endParaRPr lang="en-US"/>
          </a:p>
        </p:txBody>
      </p:sp>
      <p:sp>
        <p:nvSpPr>
          <p:cNvPr id="4" name="Footer Placeholder 3">
            <a:extLst>
              <a:ext uri="{FF2B5EF4-FFF2-40B4-BE49-F238E27FC236}">
                <a16:creationId xmlns:a16="http://schemas.microsoft.com/office/drawing/2014/main" id="{A1372B93-0995-5613-6FBA-398DFA1595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FBD103-887E-EC5E-7324-3F37D85199AB}"/>
              </a:ext>
            </a:extLst>
          </p:cNvPr>
          <p:cNvSpPr>
            <a:spLocks noGrp="1"/>
          </p:cNvSpPr>
          <p:nvPr>
            <p:ph type="sldNum" sz="quarter" idx="12"/>
          </p:nvPr>
        </p:nvSpPr>
        <p:spPr/>
        <p:txBody>
          <a:bodyPr/>
          <a:lstStyle/>
          <a:p>
            <a:fld id="{F181E078-A28C-4CC5-8DD9-F381FA66BC99}" type="slidenum">
              <a:rPr lang="en-US" smtClean="0"/>
              <a:t>‹#›</a:t>
            </a:fld>
            <a:endParaRPr lang="en-US"/>
          </a:p>
        </p:txBody>
      </p:sp>
    </p:spTree>
    <p:extLst>
      <p:ext uri="{BB962C8B-B14F-4D97-AF65-F5344CB8AC3E}">
        <p14:creationId xmlns:p14="http://schemas.microsoft.com/office/powerpoint/2010/main" val="2290562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155223-833F-A865-6DA6-E856D6F528FD}"/>
              </a:ext>
            </a:extLst>
          </p:cNvPr>
          <p:cNvSpPr>
            <a:spLocks noGrp="1"/>
          </p:cNvSpPr>
          <p:nvPr>
            <p:ph type="dt" sz="half" idx="10"/>
          </p:nvPr>
        </p:nvSpPr>
        <p:spPr/>
        <p:txBody>
          <a:bodyPr/>
          <a:lstStyle/>
          <a:p>
            <a:fld id="{8AB773B9-0B80-407A-891D-76E37F7E42F0}" type="datetimeFigureOut">
              <a:rPr lang="en-US" smtClean="0"/>
              <a:t>1/28/2025</a:t>
            </a:fld>
            <a:endParaRPr lang="en-US"/>
          </a:p>
        </p:txBody>
      </p:sp>
      <p:sp>
        <p:nvSpPr>
          <p:cNvPr id="3" name="Footer Placeholder 2">
            <a:extLst>
              <a:ext uri="{FF2B5EF4-FFF2-40B4-BE49-F238E27FC236}">
                <a16:creationId xmlns:a16="http://schemas.microsoft.com/office/drawing/2014/main" id="{7C4EA743-FD51-0E17-CC3E-D94265012E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2B07B2-2F56-4DA9-30AA-12E3BDF2CC55}"/>
              </a:ext>
            </a:extLst>
          </p:cNvPr>
          <p:cNvSpPr>
            <a:spLocks noGrp="1"/>
          </p:cNvSpPr>
          <p:nvPr>
            <p:ph type="sldNum" sz="quarter" idx="12"/>
          </p:nvPr>
        </p:nvSpPr>
        <p:spPr/>
        <p:txBody>
          <a:bodyPr/>
          <a:lstStyle/>
          <a:p>
            <a:fld id="{F181E078-A28C-4CC5-8DD9-F381FA66BC99}" type="slidenum">
              <a:rPr lang="en-US" smtClean="0"/>
              <a:t>‹#›</a:t>
            </a:fld>
            <a:endParaRPr lang="en-US"/>
          </a:p>
        </p:txBody>
      </p:sp>
    </p:spTree>
    <p:extLst>
      <p:ext uri="{BB962C8B-B14F-4D97-AF65-F5344CB8AC3E}">
        <p14:creationId xmlns:p14="http://schemas.microsoft.com/office/powerpoint/2010/main" val="3089137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6A880-95D4-A987-3D8A-7030E816C0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C307A9-B5F6-956B-53C4-29610A7CC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F45A-73E3-8EA8-550B-C3C5AAC776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CEED38-B679-9B73-CBE9-45E0273F4672}"/>
              </a:ext>
            </a:extLst>
          </p:cNvPr>
          <p:cNvSpPr>
            <a:spLocks noGrp="1"/>
          </p:cNvSpPr>
          <p:nvPr>
            <p:ph type="dt" sz="half" idx="10"/>
          </p:nvPr>
        </p:nvSpPr>
        <p:spPr/>
        <p:txBody>
          <a:bodyPr/>
          <a:lstStyle/>
          <a:p>
            <a:fld id="{8AB773B9-0B80-407A-891D-76E37F7E42F0}" type="datetimeFigureOut">
              <a:rPr lang="en-US" smtClean="0"/>
              <a:t>1/28/2025</a:t>
            </a:fld>
            <a:endParaRPr lang="en-US"/>
          </a:p>
        </p:txBody>
      </p:sp>
      <p:sp>
        <p:nvSpPr>
          <p:cNvPr id="6" name="Footer Placeholder 5">
            <a:extLst>
              <a:ext uri="{FF2B5EF4-FFF2-40B4-BE49-F238E27FC236}">
                <a16:creationId xmlns:a16="http://schemas.microsoft.com/office/drawing/2014/main" id="{1BCB3930-6FEC-1415-D8BE-3A88FA7DB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3CFBEB-EAC1-2B42-B59A-146A9C7B48DC}"/>
              </a:ext>
            </a:extLst>
          </p:cNvPr>
          <p:cNvSpPr>
            <a:spLocks noGrp="1"/>
          </p:cNvSpPr>
          <p:nvPr>
            <p:ph type="sldNum" sz="quarter" idx="12"/>
          </p:nvPr>
        </p:nvSpPr>
        <p:spPr/>
        <p:txBody>
          <a:bodyPr/>
          <a:lstStyle/>
          <a:p>
            <a:fld id="{F181E078-A28C-4CC5-8DD9-F381FA66BC99}" type="slidenum">
              <a:rPr lang="en-US" smtClean="0"/>
              <a:t>‹#›</a:t>
            </a:fld>
            <a:endParaRPr lang="en-US"/>
          </a:p>
        </p:txBody>
      </p:sp>
    </p:spTree>
    <p:extLst>
      <p:ext uri="{BB962C8B-B14F-4D97-AF65-F5344CB8AC3E}">
        <p14:creationId xmlns:p14="http://schemas.microsoft.com/office/powerpoint/2010/main" val="1560782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DA421-8D56-A44B-9A45-7419BEE73B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A8DDEE-A556-512F-45C6-132BFA42E6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787B10-D97F-99B0-31FF-DB52EF49FE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0DA39F-1C83-B225-FB14-EC21EEF97A0B}"/>
              </a:ext>
            </a:extLst>
          </p:cNvPr>
          <p:cNvSpPr>
            <a:spLocks noGrp="1"/>
          </p:cNvSpPr>
          <p:nvPr>
            <p:ph type="dt" sz="half" idx="10"/>
          </p:nvPr>
        </p:nvSpPr>
        <p:spPr/>
        <p:txBody>
          <a:bodyPr/>
          <a:lstStyle/>
          <a:p>
            <a:fld id="{8AB773B9-0B80-407A-891D-76E37F7E42F0}" type="datetimeFigureOut">
              <a:rPr lang="en-US" smtClean="0"/>
              <a:t>1/28/2025</a:t>
            </a:fld>
            <a:endParaRPr lang="en-US"/>
          </a:p>
        </p:txBody>
      </p:sp>
      <p:sp>
        <p:nvSpPr>
          <p:cNvPr id="6" name="Footer Placeholder 5">
            <a:extLst>
              <a:ext uri="{FF2B5EF4-FFF2-40B4-BE49-F238E27FC236}">
                <a16:creationId xmlns:a16="http://schemas.microsoft.com/office/drawing/2014/main" id="{B8DC6988-8CD6-6534-B95A-6E1FED69C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FA7BE-3D0E-F7F5-7D2A-B16659B6E787}"/>
              </a:ext>
            </a:extLst>
          </p:cNvPr>
          <p:cNvSpPr>
            <a:spLocks noGrp="1"/>
          </p:cNvSpPr>
          <p:nvPr>
            <p:ph type="sldNum" sz="quarter" idx="12"/>
          </p:nvPr>
        </p:nvSpPr>
        <p:spPr/>
        <p:txBody>
          <a:bodyPr/>
          <a:lstStyle/>
          <a:p>
            <a:fld id="{F181E078-A28C-4CC5-8DD9-F381FA66BC99}" type="slidenum">
              <a:rPr lang="en-US" smtClean="0"/>
              <a:t>‹#›</a:t>
            </a:fld>
            <a:endParaRPr lang="en-US"/>
          </a:p>
        </p:txBody>
      </p:sp>
    </p:spTree>
    <p:extLst>
      <p:ext uri="{BB962C8B-B14F-4D97-AF65-F5344CB8AC3E}">
        <p14:creationId xmlns:p14="http://schemas.microsoft.com/office/powerpoint/2010/main" val="4145523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D7719-3183-E761-4C91-9944EF4738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472877-7B36-6094-DD15-1A6C2232DE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03009D-6543-1FDD-4DE3-41647FB03F13}"/>
              </a:ext>
            </a:extLst>
          </p:cNvPr>
          <p:cNvSpPr>
            <a:spLocks noGrp="1"/>
          </p:cNvSpPr>
          <p:nvPr>
            <p:ph type="dt" sz="half" idx="10"/>
          </p:nvPr>
        </p:nvSpPr>
        <p:spPr/>
        <p:txBody>
          <a:bodyPr/>
          <a:lstStyle/>
          <a:p>
            <a:fld id="{8AB773B9-0B80-407A-891D-76E37F7E42F0}" type="datetimeFigureOut">
              <a:rPr lang="en-US" smtClean="0"/>
              <a:t>1/28/2025</a:t>
            </a:fld>
            <a:endParaRPr lang="en-US"/>
          </a:p>
        </p:txBody>
      </p:sp>
      <p:sp>
        <p:nvSpPr>
          <p:cNvPr id="5" name="Footer Placeholder 4">
            <a:extLst>
              <a:ext uri="{FF2B5EF4-FFF2-40B4-BE49-F238E27FC236}">
                <a16:creationId xmlns:a16="http://schemas.microsoft.com/office/drawing/2014/main" id="{2CDBA5CB-E2E2-B4B1-BC93-ED3839C0A1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563E-24B0-F1ED-4BC9-033BAA8CD1F6}"/>
              </a:ext>
            </a:extLst>
          </p:cNvPr>
          <p:cNvSpPr>
            <a:spLocks noGrp="1"/>
          </p:cNvSpPr>
          <p:nvPr>
            <p:ph type="sldNum" sz="quarter" idx="12"/>
          </p:nvPr>
        </p:nvSpPr>
        <p:spPr/>
        <p:txBody>
          <a:bodyPr/>
          <a:lstStyle/>
          <a:p>
            <a:fld id="{F181E078-A28C-4CC5-8DD9-F381FA66BC99}" type="slidenum">
              <a:rPr lang="en-US" smtClean="0"/>
              <a:t>‹#›</a:t>
            </a:fld>
            <a:endParaRPr lang="en-US"/>
          </a:p>
        </p:txBody>
      </p:sp>
    </p:spTree>
    <p:extLst>
      <p:ext uri="{BB962C8B-B14F-4D97-AF65-F5344CB8AC3E}">
        <p14:creationId xmlns:p14="http://schemas.microsoft.com/office/powerpoint/2010/main" val="657571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B39E05-3469-FBC8-05C4-6209B04674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B4D0BA-C64D-1795-6564-73B325FA6D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9B179E-5D54-9533-9D3A-F170D6460DE8}"/>
              </a:ext>
            </a:extLst>
          </p:cNvPr>
          <p:cNvSpPr>
            <a:spLocks noGrp="1"/>
          </p:cNvSpPr>
          <p:nvPr>
            <p:ph type="dt" sz="half" idx="10"/>
          </p:nvPr>
        </p:nvSpPr>
        <p:spPr/>
        <p:txBody>
          <a:bodyPr/>
          <a:lstStyle/>
          <a:p>
            <a:fld id="{8AB773B9-0B80-407A-891D-76E37F7E42F0}" type="datetimeFigureOut">
              <a:rPr lang="en-US" smtClean="0"/>
              <a:t>1/28/2025</a:t>
            </a:fld>
            <a:endParaRPr lang="en-US"/>
          </a:p>
        </p:txBody>
      </p:sp>
      <p:sp>
        <p:nvSpPr>
          <p:cNvPr id="5" name="Footer Placeholder 4">
            <a:extLst>
              <a:ext uri="{FF2B5EF4-FFF2-40B4-BE49-F238E27FC236}">
                <a16:creationId xmlns:a16="http://schemas.microsoft.com/office/drawing/2014/main" id="{A4583EE0-7E81-2F6A-69C5-5220676064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5DF087-A0E1-47EC-8A13-BFAFD48E15C0}"/>
              </a:ext>
            </a:extLst>
          </p:cNvPr>
          <p:cNvSpPr>
            <a:spLocks noGrp="1"/>
          </p:cNvSpPr>
          <p:nvPr>
            <p:ph type="sldNum" sz="quarter" idx="12"/>
          </p:nvPr>
        </p:nvSpPr>
        <p:spPr/>
        <p:txBody>
          <a:bodyPr/>
          <a:lstStyle/>
          <a:p>
            <a:fld id="{F181E078-A28C-4CC5-8DD9-F381FA66BC99}" type="slidenum">
              <a:rPr lang="en-US" smtClean="0"/>
              <a:t>‹#›</a:t>
            </a:fld>
            <a:endParaRPr lang="en-US"/>
          </a:p>
        </p:txBody>
      </p:sp>
    </p:spTree>
    <p:extLst>
      <p:ext uri="{BB962C8B-B14F-4D97-AF65-F5344CB8AC3E}">
        <p14:creationId xmlns:p14="http://schemas.microsoft.com/office/powerpoint/2010/main" val="2626730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457200" y="457200"/>
            <a:ext cx="11274552" cy="457200"/>
          </a:xfrm>
        </p:spPr>
        <p:txBody>
          <a:bodyPr/>
          <a:lstStyle>
            <a:lvl1pPr>
              <a:defRPr b="1">
                <a:latin typeface="+mj-lt"/>
              </a:defRPr>
            </a:lvl1pPr>
          </a:lstStyle>
          <a:p>
            <a:r>
              <a:rPr lang="en-US" dirty="0"/>
              <a:t>CLICK TO EDIT MASTER TITLE STYLE</a:t>
            </a:r>
          </a:p>
        </p:txBody>
      </p:sp>
    </p:spTree>
    <p:extLst>
      <p:ext uri="{BB962C8B-B14F-4D97-AF65-F5344CB8AC3E}">
        <p14:creationId xmlns:p14="http://schemas.microsoft.com/office/powerpoint/2010/main" val="209029949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Заголовок, схема или организационная диаграмм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4638"/>
            <a:ext cx="10972800" cy="1143000"/>
          </a:xfrm>
        </p:spPr>
        <p:txBody>
          <a:bodyPr/>
          <a:lstStyle/>
          <a:p>
            <a:r>
              <a:rPr lang="ru-RU"/>
              <a:t>Образец заголовка</a:t>
            </a:r>
          </a:p>
        </p:txBody>
      </p:sp>
      <p:sp>
        <p:nvSpPr>
          <p:cNvPr id="3" name="Рисунок SmartArt 2"/>
          <p:cNvSpPr>
            <a:spLocks noGrp="1"/>
          </p:cNvSpPr>
          <p:nvPr>
            <p:ph type="dgm" idx="1"/>
          </p:nvPr>
        </p:nvSpPr>
        <p:spPr>
          <a:xfrm>
            <a:off x="609600" y="1600201"/>
            <a:ext cx="10972800" cy="4525963"/>
          </a:xfrm>
        </p:spPr>
        <p:txBody>
          <a:bodyPr rtlCol="0">
            <a:normAutofit/>
          </a:bodyPr>
          <a:lstStyle/>
          <a:p>
            <a:pPr lvl="0"/>
            <a:endParaRPr lang="ru-RU" noProof="0"/>
          </a:p>
        </p:txBody>
      </p:sp>
      <p:sp>
        <p:nvSpPr>
          <p:cNvPr id="4" name="Дата 3">
            <a:extLst>
              <a:ext uri="{FF2B5EF4-FFF2-40B4-BE49-F238E27FC236}">
                <a16:creationId xmlns:a16="http://schemas.microsoft.com/office/drawing/2014/main" id="{226EA94F-F7B1-E494-CFCE-E6A3A5EAC338}"/>
              </a:ext>
            </a:extLst>
          </p:cNvPr>
          <p:cNvSpPr>
            <a:spLocks noGrp="1"/>
          </p:cNvSpPr>
          <p:nvPr>
            <p:ph type="dt" sz="half" idx="10"/>
          </p:nvPr>
        </p:nvSpPr>
        <p:spPr>
          <a:xfrm>
            <a:off x="609600" y="6245225"/>
            <a:ext cx="2844800" cy="476250"/>
          </a:xfrm>
        </p:spPr>
        <p:txBody>
          <a:bodyPr/>
          <a:lstStyle>
            <a:lvl1pPr>
              <a:defRPr/>
            </a:lvl1pPr>
          </a:lstStyle>
          <a:p>
            <a:pPr>
              <a:defRPr/>
            </a:pPr>
            <a:endParaRPr lang="ru-RU" altLang="ru-RU"/>
          </a:p>
        </p:txBody>
      </p:sp>
      <p:sp>
        <p:nvSpPr>
          <p:cNvPr id="5" name="Нижний колонтитул 4">
            <a:extLst>
              <a:ext uri="{FF2B5EF4-FFF2-40B4-BE49-F238E27FC236}">
                <a16:creationId xmlns:a16="http://schemas.microsoft.com/office/drawing/2014/main" id="{A0C1AA6F-DCED-D2B3-5D2D-6F89BD3730CB}"/>
              </a:ext>
            </a:extLst>
          </p:cNvPr>
          <p:cNvSpPr>
            <a:spLocks noGrp="1"/>
          </p:cNvSpPr>
          <p:nvPr>
            <p:ph type="ftr" sz="quarter" idx="11"/>
          </p:nvPr>
        </p:nvSpPr>
        <p:spPr>
          <a:xfrm>
            <a:off x="4165600" y="6245225"/>
            <a:ext cx="3860800" cy="476250"/>
          </a:xfrm>
        </p:spPr>
        <p:txBody>
          <a:bodyPr/>
          <a:lstStyle>
            <a:lvl1pPr>
              <a:defRPr/>
            </a:lvl1pPr>
          </a:lstStyle>
          <a:p>
            <a:pPr>
              <a:defRPr/>
            </a:pPr>
            <a:endParaRPr lang="ru-RU" altLang="ru-RU"/>
          </a:p>
        </p:txBody>
      </p:sp>
      <p:sp>
        <p:nvSpPr>
          <p:cNvPr id="6" name="Номер слайда 5">
            <a:extLst>
              <a:ext uri="{FF2B5EF4-FFF2-40B4-BE49-F238E27FC236}">
                <a16:creationId xmlns:a16="http://schemas.microsoft.com/office/drawing/2014/main" id="{03B2E118-D9D4-CAA3-FB45-DA03DD719DED}"/>
              </a:ext>
            </a:extLst>
          </p:cNvPr>
          <p:cNvSpPr>
            <a:spLocks noGrp="1"/>
          </p:cNvSpPr>
          <p:nvPr>
            <p:ph type="sldNum" sz="quarter" idx="12"/>
          </p:nvPr>
        </p:nvSpPr>
        <p:spPr>
          <a:xfrm>
            <a:off x="8737600" y="6245225"/>
            <a:ext cx="2844800" cy="476250"/>
          </a:xfrm>
        </p:spPr>
        <p:txBody>
          <a:bodyPr/>
          <a:lstStyle>
            <a:lvl1pPr>
              <a:defRPr/>
            </a:lvl1pPr>
          </a:lstStyle>
          <a:p>
            <a:pPr>
              <a:defRPr/>
            </a:pPr>
            <a:fld id="{5B506E8F-F6B2-401A-8EFD-248793269248}" type="slidenum">
              <a:rPr lang="ru-RU" altLang="ru-RU"/>
              <a:pPr>
                <a:defRPr/>
              </a:pPr>
              <a:t>‹#›</a:t>
            </a:fld>
            <a:endParaRPr lang="ru-RU" altLang="ru-RU"/>
          </a:p>
        </p:txBody>
      </p:sp>
    </p:spTree>
    <p:extLst>
      <p:ext uri="{BB962C8B-B14F-4D97-AF65-F5344CB8AC3E}">
        <p14:creationId xmlns:p14="http://schemas.microsoft.com/office/powerpoint/2010/main" val="2027388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FD3E18-D571-CC2C-8834-96E7CA5568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265AED-CB73-F421-812F-A907F4F84F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C44745-25B4-FDB1-3AAE-19A1909760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B773B9-0B80-407A-891D-76E37F7E42F0}" type="datetimeFigureOut">
              <a:rPr lang="en-US" smtClean="0"/>
              <a:t>1/28/2025</a:t>
            </a:fld>
            <a:endParaRPr lang="en-US"/>
          </a:p>
        </p:txBody>
      </p:sp>
      <p:sp>
        <p:nvSpPr>
          <p:cNvPr id="5" name="Footer Placeholder 4">
            <a:extLst>
              <a:ext uri="{FF2B5EF4-FFF2-40B4-BE49-F238E27FC236}">
                <a16:creationId xmlns:a16="http://schemas.microsoft.com/office/drawing/2014/main" id="{A4AC3E71-75DB-231D-095C-A0B5B76054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4D53E7-7A39-EE98-7FF1-354E3516D9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81E078-A28C-4CC5-8DD9-F381FA66BC99}" type="slidenum">
              <a:rPr lang="en-US" smtClean="0"/>
              <a:t>‹#›</a:t>
            </a:fld>
            <a:endParaRPr lang="en-US"/>
          </a:p>
        </p:txBody>
      </p:sp>
    </p:spTree>
    <p:extLst>
      <p:ext uri="{BB962C8B-B14F-4D97-AF65-F5344CB8AC3E}">
        <p14:creationId xmlns:p14="http://schemas.microsoft.com/office/powerpoint/2010/main" val="2134369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3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E44EAC-84E2-4047-A7D3-0C2E192E4DFA}"/>
              </a:ext>
            </a:extLst>
          </p:cNvPr>
          <p:cNvSpPr>
            <a:spLocks noGrp="1"/>
          </p:cNvSpPr>
          <p:nvPr>
            <p:ph type="title"/>
          </p:nvPr>
        </p:nvSpPr>
        <p:spPr/>
        <p:txBody>
          <a:bodyPr/>
          <a:lstStyle/>
          <a:p>
            <a:endParaRPr lang="ru-RU"/>
          </a:p>
        </p:txBody>
      </p:sp>
      <p:graphicFrame>
        <p:nvGraphicFramePr>
          <p:cNvPr id="4" name="Таблица 4">
            <a:extLst>
              <a:ext uri="{FF2B5EF4-FFF2-40B4-BE49-F238E27FC236}">
                <a16:creationId xmlns:a16="http://schemas.microsoft.com/office/drawing/2014/main" id="{2CCE26B4-1827-4AC6-BFCF-825B50101B58}"/>
              </a:ext>
            </a:extLst>
          </p:cNvPr>
          <p:cNvGraphicFramePr>
            <a:graphicFrameLocks noGrp="1"/>
          </p:cNvGraphicFramePr>
          <p:nvPr>
            <p:ph idx="1"/>
            <p:extLst>
              <p:ext uri="{D42A27DB-BD31-4B8C-83A1-F6EECF244321}">
                <p14:modId xmlns:p14="http://schemas.microsoft.com/office/powerpoint/2010/main" val="4288438320"/>
              </p:ext>
            </p:extLst>
          </p:nvPr>
        </p:nvGraphicFramePr>
        <p:xfrm>
          <a:off x="1129553" y="1825625"/>
          <a:ext cx="10224247" cy="5770880"/>
        </p:xfrm>
        <a:graphic>
          <a:graphicData uri="http://schemas.openxmlformats.org/drawingml/2006/table">
            <a:tbl>
              <a:tblPr firstRow="1" bandRow="1">
                <a:tableStyleId>{5C22544A-7EE6-4342-B048-85BDC9FD1C3A}</a:tableStyleId>
              </a:tblPr>
              <a:tblGrid>
                <a:gridCol w="4966447">
                  <a:extLst>
                    <a:ext uri="{9D8B030D-6E8A-4147-A177-3AD203B41FA5}">
                      <a16:colId xmlns:a16="http://schemas.microsoft.com/office/drawing/2014/main" val="4190562640"/>
                    </a:ext>
                  </a:extLst>
                </a:gridCol>
                <a:gridCol w="5257800">
                  <a:extLst>
                    <a:ext uri="{9D8B030D-6E8A-4147-A177-3AD203B41FA5}">
                      <a16:colId xmlns:a16="http://schemas.microsoft.com/office/drawing/2014/main" val="1306070036"/>
                    </a:ext>
                  </a:extLst>
                </a:gridCol>
              </a:tblGrid>
              <a:tr h="370840">
                <a:tc>
                  <a:txBody>
                    <a:bodyPr/>
                    <a:lstStyle/>
                    <a:p>
                      <a:r>
                        <a:rPr lang="ru-RU" dirty="0" err="1"/>
                        <a:t>Давосда</a:t>
                      </a:r>
                      <a:r>
                        <a:rPr lang="ru-RU" dirty="0"/>
                        <a:t> </a:t>
                      </a:r>
                      <a:r>
                        <a:rPr lang="ru-RU" dirty="0" err="1"/>
                        <a:t>ўтказилаётган</a:t>
                      </a:r>
                      <a:r>
                        <a:rPr lang="ru-RU" dirty="0"/>
                        <a:t> </a:t>
                      </a:r>
                      <a:r>
                        <a:rPr lang="ru-RU" dirty="0" err="1"/>
                        <a:t>Жаҳон</a:t>
                      </a:r>
                      <a:r>
                        <a:rPr lang="ru-RU" dirty="0"/>
                        <a:t> </a:t>
                      </a:r>
                      <a:r>
                        <a:rPr lang="ru-RU" dirty="0" err="1"/>
                        <a:t>иқтисодий</a:t>
                      </a:r>
                      <a:r>
                        <a:rPr lang="ru-RU" dirty="0"/>
                        <a:t> </a:t>
                      </a:r>
                      <a:r>
                        <a:rPr lang="ru-RU" dirty="0" err="1"/>
                        <a:t>форумида</a:t>
                      </a:r>
                      <a:r>
                        <a:rPr lang="ru-RU" dirty="0"/>
                        <a:t> 2025 </a:t>
                      </a:r>
                      <a:r>
                        <a:rPr lang="ru-RU" dirty="0" err="1"/>
                        <a:t>йилги</a:t>
                      </a:r>
                      <a:r>
                        <a:rPr lang="ru-RU" dirty="0"/>
                        <a:t> </a:t>
                      </a:r>
                      <a:r>
                        <a:rPr lang="en-GB" dirty="0"/>
                        <a:t>Global Risks Report (https://reports.weforum.org/docs/WEF_Global_Risks_Report_2025.pdf) </a:t>
                      </a:r>
                      <a:r>
                        <a:rPr lang="ru-RU" dirty="0" err="1"/>
                        <a:t>ҳисоботи</a:t>
                      </a:r>
                      <a:r>
                        <a:rPr lang="ru-RU" dirty="0"/>
                        <a:t> </a:t>
                      </a:r>
                      <a:r>
                        <a:rPr lang="ru-RU" dirty="0" err="1"/>
                        <a:t>эълон</a:t>
                      </a:r>
                      <a:r>
                        <a:rPr lang="ru-RU" dirty="0"/>
                        <a:t> </a:t>
                      </a:r>
                      <a:r>
                        <a:rPr lang="ru-RU" dirty="0" err="1"/>
                        <a:t>қилинди</a:t>
                      </a:r>
                      <a:r>
                        <a:rPr lang="ru-RU" dirty="0"/>
                        <a:t>, </a:t>
                      </a:r>
                      <a:r>
                        <a:rPr lang="ru-RU" dirty="0" err="1"/>
                        <a:t>унда</a:t>
                      </a:r>
                      <a:r>
                        <a:rPr lang="ru-RU" dirty="0"/>
                        <a:t> </a:t>
                      </a:r>
                      <a:r>
                        <a:rPr lang="ru-RU" dirty="0" err="1"/>
                        <a:t>ўрта</a:t>
                      </a:r>
                      <a:r>
                        <a:rPr lang="ru-RU" dirty="0"/>
                        <a:t> </a:t>
                      </a:r>
                      <a:r>
                        <a:rPr lang="ru-RU" dirty="0" err="1"/>
                        <a:t>муддатли</a:t>
                      </a:r>
                      <a:r>
                        <a:rPr lang="ru-RU" dirty="0"/>
                        <a:t> </a:t>
                      </a:r>
                      <a:r>
                        <a:rPr lang="ru-RU" dirty="0" err="1"/>
                        <a:t>истиқболдаги</a:t>
                      </a:r>
                      <a:r>
                        <a:rPr lang="ru-RU" dirty="0"/>
                        <a:t> </a:t>
                      </a:r>
                      <a:r>
                        <a:rPr lang="ru-RU" dirty="0" err="1"/>
                        <a:t>асосий</a:t>
                      </a:r>
                      <a:r>
                        <a:rPr lang="ru-RU" dirty="0"/>
                        <a:t> </a:t>
                      </a:r>
                      <a:r>
                        <a:rPr lang="ru-RU" dirty="0" err="1"/>
                        <a:t>хавфлар</a:t>
                      </a:r>
                      <a:r>
                        <a:rPr lang="ru-RU" dirty="0"/>
                        <a:t> </a:t>
                      </a:r>
                      <a:r>
                        <a:rPr lang="ru-RU" dirty="0" err="1"/>
                        <a:t>аниқланди</a:t>
                      </a:r>
                      <a:r>
                        <a:rPr lang="ru-RU" dirty="0"/>
                        <a:t>.</a:t>
                      </a:r>
                    </a:p>
                    <a:p>
                      <a:endParaRPr lang="ru-RU" dirty="0"/>
                    </a:p>
                    <a:p>
                      <a:r>
                        <a:rPr lang="ru-RU" dirty="0"/>
                        <a:t>🇺🇿 </a:t>
                      </a:r>
                      <a:r>
                        <a:rPr lang="ru-RU" dirty="0" err="1"/>
                        <a:t>Ўзбекистон</a:t>
                      </a:r>
                      <a:r>
                        <a:rPr lang="ru-RU" dirty="0"/>
                        <a:t> </a:t>
                      </a:r>
                      <a:r>
                        <a:rPr lang="ru-RU" dirty="0" err="1"/>
                        <a:t>учун</a:t>
                      </a:r>
                      <a:r>
                        <a:rPr lang="ru-RU" dirty="0"/>
                        <a:t> улар </a:t>
                      </a:r>
                      <a:r>
                        <a:rPr lang="ru-RU" dirty="0" err="1"/>
                        <a:t>қуйидагилар</a:t>
                      </a:r>
                      <a:r>
                        <a:rPr lang="ru-RU" dirty="0"/>
                        <a:t>:</a:t>
                      </a:r>
                    </a:p>
                    <a:p>
                      <a:endParaRPr lang="ru-RU" dirty="0"/>
                    </a:p>
                    <a:p>
                      <a:r>
                        <a:rPr lang="ru-RU" dirty="0"/>
                        <a:t>1. </a:t>
                      </a:r>
                      <a:r>
                        <a:rPr lang="ru-RU" dirty="0" err="1"/>
                        <a:t>Сув</a:t>
                      </a:r>
                      <a:r>
                        <a:rPr lang="ru-RU" dirty="0"/>
                        <a:t> </a:t>
                      </a:r>
                      <a:r>
                        <a:rPr lang="ru-RU" dirty="0" err="1"/>
                        <a:t>етишмаслиги</a:t>
                      </a:r>
                      <a:endParaRPr lang="ru-RU" dirty="0"/>
                    </a:p>
                    <a:p>
                      <a:r>
                        <a:rPr lang="ru-RU" dirty="0"/>
                        <a:t>2. Энергия </a:t>
                      </a:r>
                      <a:r>
                        <a:rPr lang="ru-RU" dirty="0" err="1"/>
                        <a:t>танқислиги</a:t>
                      </a:r>
                      <a:endParaRPr lang="ru-RU" dirty="0"/>
                    </a:p>
                    <a:p>
                      <a:r>
                        <a:rPr lang="ru-RU" dirty="0"/>
                        <a:t>3. </a:t>
                      </a:r>
                      <a:r>
                        <a:rPr lang="ru-RU" dirty="0" err="1"/>
                        <a:t>Ифлосланиш</a:t>
                      </a:r>
                      <a:r>
                        <a:rPr lang="ru-RU" dirty="0"/>
                        <a:t> (</a:t>
                      </a:r>
                      <a:r>
                        <a:rPr lang="ru-RU" dirty="0" err="1"/>
                        <a:t>ҳаво</a:t>
                      </a:r>
                      <a:r>
                        <a:rPr lang="ru-RU" dirty="0"/>
                        <a:t>, </a:t>
                      </a:r>
                      <a:r>
                        <a:rPr lang="ru-RU" dirty="0" err="1"/>
                        <a:t>сув</a:t>
                      </a:r>
                      <a:r>
                        <a:rPr lang="ru-RU" dirty="0"/>
                        <a:t>, </a:t>
                      </a:r>
                      <a:r>
                        <a:rPr lang="ru-RU" dirty="0" err="1"/>
                        <a:t>тупроқ</a:t>
                      </a:r>
                      <a:r>
                        <a:rPr lang="ru-RU" dirty="0"/>
                        <a:t>)</a:t>
                      </a:r>
                    </a:p>
                    <a:p>
                      <a:r>
                        <a:rPr lang="ru-RU" dirty="0"/>
                        <a:t>4. Давлат </a:t>
                      </a:r>
                      <a:r>
                        <a:rPr lang="ru-RU" dirty="0" err="1"/>
                        <a:t>қарзи</a:t>
                      </a:r>
                      <a:endParaRPr lang="ru-RU" dirty="0"/>
                    </a:p>
                    <a:p>
                      <a:r>
                        <a:rPr lang="ru-RU" dirty="0"/>
                        <a:t>5. Кадр </a:t>
                      </a:r>
                      <a:r>
                        <a:rPr lang="ru-RU" dirty="0" err="1"/>
                        <a:t>ва</a:t>
                      </a:r>
                      <a:r>
                        <a:rPr lang="ru-RU" dirty="0"/>
                        <a:t>/</a:t>
                      </a:r>
                      <a:r>
                        <a:rPr lang="ru-RU" dirty="0" err="1"/>
                        <a:t>ёки</a:t>
                      </a:r>
                      <a:r>
                        <a:rPr lang="ru-RU" dirty="0"/>
                        <a:t> </a:t>
                      </a:r>
                      <a:r>
                        <a:rPr lang="ru-RU" dirty="0" err="1"/>
                        <a:t>истеъдоднинг</a:t>
                      </a:r>
                      <a:r>
                        <a:rPr lang="ru-RU" dirty="0"/>
                        <a:t> </a:t>
                      </a:r>
                      <a:r>
                        <a:rPr lang="ru-RU" dirty="0" err="1"/>
                        <a:t>етишмаслиги</a:t>
                      </a:r>
                      <a:endParaRPr lang="ru-RU" dirty="0"/>
                    </a:p>
                    <a:p>
                      <a:endParaRPr lang="ru-RU" dirty="0"/>
                    </a:p>
                  </a:txBody>
                  <a:tcPr/>
                </a:tc>
                <a:tc>
                  <a:txBody>
                    <a:bodyPr/>
                    <a:lstStyle/>
                    <a:p>
                      <a:r>
                        <a:rPr lang="ru-RU" dirty="0"/>
                        <a:t>🇰🇿 </a:t>
                      </a:r>
                      <a:r>
                        <a:rPr lang="ru-RU" dirty="0" err="1"/>
                        <a:t>Қозоғистон</a:t>
                      </a:r>
                      <a:r>
                        <a:rPr lang="ru-RU" dirty="0"/>
                        <a:t> </a:t>
                      </a:r>
                      <a:r>
                        <a:rPr lang="ru-RU" dirty="0" err="1"/>
                        <a:t>учун</a:t>
                      </a:r>
                      <a:r>
                        <a:rPr lang="ru-RU" dirty="0"/>
                        <a:t> улар </a:t>
                      </a:r>
                      <a:r>
                        <a:rPr lang="ru-RU" dirty="0" err="1"/>
                        <a:t>қуйидагилар</a:t>
                      </a:r>
                      <a:r>
                        <a:rPr lang="ru-RU" dirty="0"/>
                        <a:t>:</a:t>
                      </a:r>
                    </a:p>
                    <a:p>
                      <a:endParaRPr lang="ru-RU" dirty="0"/>
                    </a:p>
                    <a:p>
                      <a:r>
                        <a:rPr lang="ru-RU" dirty="0"/>
                        <a:t>1. </a:t>
                      </a:r>
                      <a:r>
                        <a:rPr lang="ru-RU" dirty="0" err="1"/>
                        <a:t>Қуролли</a:t>
                      </a:r>
                      <a:r>
                        <a:rPr lang="ru-RU" dirty="0"/>
                        <a:t> </a:t>
                      </a:r>
                      <a:r>
                        <a:rPr lang="ru-RU" dirty="0" err="1"/>
                        <a:t>тўқнашувлар</a:t>
                      </a:r>
                      <a:r>
                        <a:rPr lang="ru-RU" dirty="0"/>
                        <a:t> (</a:t>
                      </a:r>
                      <a:r>
                        <a:rPr lang="ru-RU" dirty="0" err="1"/>
                        <a:t>давлатлараро</a:t>
                      </a:r>
                      <a:r>
                        <a:rPr lang="ru-RU" dirty="0"/>
                        <a:t>, </a:t>
                      </a:r>
                      <a:r>
                        <a:rPr lang="ru-RU" dirty="0" err="1"/>
                        <a:t>давлатлараро</a:t>
                      </a:r>
                      <a:r>
                        <a:rPr lang="ru-RU" dirty="0"/>
                        <a:t>, прокси </a:t>
                      </a:r>
                      <a:r>
                        <a:rPr lang="ru-RU" dirty="0" err="1"/>
                        <a:t>урушлар</a:t>
                      </a:r>
                      <a:r>
                        <a:rPr lang="ru-RU" dirty="0"/>
                        <a:t>, </a:t>
                      </a:r>
                      <a:r>
                        <a:rPr lang="ru-RU" dirty="0" err="1"/>
                        <a:t>давлат</a:t>
                      </a:r>
                      <a:r>
                        <a:rPr lang="ru-RU" dirty="0"/>
                        <a:t> </a:t>
                      </a:r>
                      <a:r>
                        <a:rPr lang="ru-RU" dirty="0" err="1"/>
                        <a:t>тўнтаришлари</a:t>
                      </a:r>
                      <a:r>
                        <a:rPr lang="ru-RU" dirty="0"/>
                        <a:t>)</a:t>
                      </a:r>
                    </a:p>
                    <a:p>
                      <a:r>
                        <a:rPr lang="ru-RU" dirty="0"/>
                        <a:t>2. </a:t>
                      </a:r>
                      <a:r>
                        <a:rPr lang="ru-RU" dirty="0" err="1"/>
                        <a:t>Иқтисодий</a:t>
                      </a:r>
                      <a:r>
                        <a:rPr lang="ru-RU" dirty="0"/>
                        <a:t> </a:t>
                      </a:r>
                      <a:r>
                        <a:rPr lang="ru-RU" dirty="0" err="1"/>
                        <a:t>таназзул</a:t>
                      </a:r>
                      <a:r>
                        <a:rPr lang="ru-RU" dirty="0"/>
                        <a:t> (рецессия, </a:t>
                      </a:r>
                      <a:r>
                        <a:rPr lang="ru-RU" dirty="0" err="1"/>
                        <a:t>турғунлик</a:t>
                      </a:r>
                      <a:r>
                        <a:rPr lang="ru-RU" dirty="0"/>
                        <a:t>)</a:t>
                      </a:r>
                    </a:p>
                    <a:p>
                      <a:r>
                        <a:rPr lang="ru-RU" dirty="0"/>
                        <a:t>3. </a:t>
                      </a:r>
                      <a:r>
                        <a:rPr lang="ru-RU" dirty="0" err="1"/>
                        <a:t>Сув</a:t>
                      </a:r>
                      <a:r>
                        <a:rPr lang="ru-RU" dirty="0"/>
                        <a:t> </a:t>
                      </a:r>
                      <a:r>
                        <a:rPr lang="ru-RU" dirty="0" err="1"/>
                        <a:t>етишмаслиги</a:t>
                      </a:r>
                      <a:endParaRPr lang="ru-RU" dirty="0"/>
                    </a:p>
                    <a:p>
                      <a:r>
                        <a:rPr lang="ru-RU" dirty="0"/>
                        <a:t>4. </a:t>
                      </a:r>
                      <a:r>
                        <a:rPr lang="ru-RU" dirty="0" err="1"/>
                        <a:t>Қашшоқлик</a:t>
                      </a:r>
                      <a:r>
                        <a:rPr lang="ru-RU" dirty="0"/>
                        <a:t> </a:t>
                      </a:r>
                      <a:r>
                        <a:rPr lang="ru-RU" dirty="0" err="1"/>
                        <a:t>ва</a:t>
                      </a:r>
                      <a:r>
                        <a:rPr lang="ru-RU" dirty="0"/>
                        <a:t> </a:t>
                      </a:r>
                      <a:r>
                        <a:rPr lang="ru-RU" dirty="0" err="1"/>
                        <a:t>тенгсизлик</a:t>
                      </a:r>
                      <a:r>
                        <a:rPr lang="ru-RU" dirty="0"/>
                        <a:t> (</a:t>
                      </a:r>
                      <a:r>
                        <a:rPr lang="ru-RU" dirty="0" err="1"/>
                        <a:t>бойлик</a:t>
                      </a:r>
                      <a:r>
                        <a:rPr lang="ru-RU" dirty="0"/>
                        <a:t>, </a:t>
                      </a:r>
                      <a:r>
                        <a:rPr lang="ru-RU" dirty="0" err="1"/>
                        <a:t>даромад</a:t>
                      </a:r>
                      <a:r>
                        <a:rPr lang="ru-RU" dirty="0"/>
                        <a:t>)</a:t>
                      </a:r>
                    </a:p>
                    <a:p>
                      <a:r>
                        <a:rPr lang="ru-RU" dirty="0"/>
                        <a:t>5. Инфляция</a:t>
                      </a:r>
                    </a:p>
                    <a:p>
                      <a:endParaRPr lang="ru-RU" dirty="0"/>
                    </a:p>
                    <a:p>
                      <a:r>
                        <a:rPr lang="ru-RU" dirty="0"/>
                        <a:t>🇰🇬</a:t>
                      </a:r>
                      <a:r>
                        <a:rPr lang="ru-RU" dirty="0" err="1"/>
                        <a:t>Қирғизистон</a:t>
                      </a:r>
                      <a:r>
                        <a:rPr lang="ru-RU" dirty="0"/>
                        <a:t>:</a:t>
                      </a:r>
                    </a:p>
                    <a:p>
                      <a:endParaRPr lang="ru-RU" dirty="0"/>
                    </a:p>
                    <a:p>
                      <a:r>
                        <a:rPr lang="ru-RU" dirty="0"/>
                        <a:t>1. Энергия </a:t>
                      </a:r>
                      <a:r>
                        <a:rPr lang="ru-RU" dirty="0" err="1"/>
                        <a:t>танқислиги</a:t>
                      </a:r>
                      <a:endParaRPr lang="ru-RU" dirty="0"/>
                    </a:p>
                    <a:p>
                      <a:r>
                        <a:rPr lang="ru-RU" dirty="0"/>
                        <a:t>2. </a:t>
                      </a:r>
                      <a:r>
                        <a:rPr lang="ru-RU" dirty="0" err="1"/>
                        <a:t>Сув</a:t>
                      </a:r>
                      <a:r>
                        <a:rPr lang="ru-RU" dirty="0"/>
                        <a:t> </a:t>
                      </a:r>
                      <a:r>
                        <a:rPr lang="ru-RU" dirty="0" err="1"/>
                        <a:t>етишмаслиги</a:t>
                      </a:r>
                      <a:endParaRPr lang="ru-RU" dirty="0"/>
                    </a:p>
                    <a:p>
                      <a:r>
                        <a:rPr lang="ru-RU" dirty="0"/>
                        <a:t>3. </a:t>
                      </a:r>
                      <a:r>
                        <a:rPr lang="ru-RU" dirty="0" err="1"/>
                        <a:t>Ифлосланиш</a:t>
                      </a:r>
                      <a:r>
                        <a:rPr lang="ru-RU" dirty="0"/>
                        <a:t> (</a:t>
                      </a:r>
                      <a:r>
                        <a:rPr lang="ru-RU" dirty="0" err="1"/>
                        <a:t>ҳаво</a:t>
                      </a:r>
                      <a:r>
                        <a:rPr lang="ru-RU" dirty="0"/>
                        <a:t>, </a:t>
                      </a:r>
                      <a:r>
                        <a:rPr lang="ru-RU" dirty="0" err="1"/>
                        <a:t>сув</a:t>
                      </a:r>
                      <a:r>
                        <a:rPr lang="ru-RU" dirty="0"/>
                        <a:t>, </a:t>
                      </a:r>
                      <a:r>
                        <a:rPr lang="ru-RU" dirty="0" err="1"/>
                        <a:t>тупроқ</a:t>
                      </a:r>
                      <a:r>
                        <a:rPr lang="ru-RU" dirty="0"/>
                        <a:t>)</a:t>
                      </a:r>
                    </a:p>
                    <a:p>
                      <a:r>
                        <a:rPr lang="ru-RU" dirty="0"/>
                        <a:t>4. Инфляция</a:t>
                      </a:r>
                    </a:p>
                    <a:p>
                      <a:r>
                        <a:rPr lang="ru-RU" dirty="0"/>
                        <a:t>5. Давлат </a:t>
                      </a:r>
                      <a:r>
                        <a:rPr lang="ru-RU" dirty="0" err="1"/>
                        <a:t>қарзи</a:t>
                      </a:r>
                      <a:endParaRPr lang="ru-RU" dirty="0"/>
                    </a:p>
                    <a:p>
                      <a:endParaRPr lang="ru-RU" dirty="0"/>
                    </a:p>
                  </a:txBody>
                  <a:tcPr/>
                </a:tc>
                <a:extLst>
                  <a:ext uri="{0D108BD9-81ED-4DB2-BD59-A6C34878D82A}">
                    <a16:rowId xmlns:a16="http://schemas.microsoft.com/office/drawing/2014/main" val="1763041458"/>
                  </a:ext>
                </a:extLst>
              </a:tr>
              <a:tr h="370840">
                <a:tc>
                  <a:txBody>
                    <a:bodyPr/>
                    <a:lstStyle/>
                    <a:p>
                      <a:endParaRPr lang="ru-RU"/>
                    </a:p>
                  </a:txBody>
                  <a:tcPr/>
                </a:tc>
                <a:tc>
                  <a:txBody>
                    <a:bodyPr/>
                    <a:lstStyle/>
                    <a:p>
                      <a:endParaRPr lang="ru-RU"/>
                    </a:p>
                  </a:txBody>
                  <a:tcPr/>
                </a:tc>
                <a:extLst>
                  <a:ext uri="{0D108BD9-81ED-4DB2-BD59-A6C34878D82A}">
                    <a16:rowId xmlns:a16="http://schemas.microsoft.com/office/drawing/2014/main" val="93208371"/>
                  </a:ext>
                </a:extLst>
              </a:tr>
              <a:tr h="370840">
                <a:tc>
                  <a:txBody>
                    <a:bodyPr/>
                    <a:lstStyle/>
                    <a:p>
                      <a:endParaRPr lang="ru-RU"/>
                    </a:p>
                  </a:txBody>
                  <a:tcPr/>
                </a:tc>
                <a:tc>
                  <a:txBody>
                    <a:bodyPr/>
                    <a:lstStyle/>
                    <a:p>
                      <a:endParaRPr lang="ru-RU" dirty="0"/>
                    </a:p>
                  </a:txBody>
                  <a:tcPr/>
                </a:tc>
                <a:extLst>
                  <a:ext uri="{0D108BD9-81ED-4DB2-BD59-A6C34878D82A}">
                    <a16:rowId xmlns:a16="http://schemas.microsoft.com/office/drawing/2014/main" val="3663039825"/>
                  </a:ext>
                </a:extLst>
              </a:tr>
            </a:tbl>
          </a:graphicData>
        </a:graphic>
      </p:graphicFrame>
    </p:spTree>
    <p:extLst>
      <p:ext uri="{BB962C8B-B14F-4D97-AF65-F5344CB8AC3E}">
        <p14:creationId xmlns:p14="http://schemas.microsoft.com/office/powerpoint/2010/main" val="80654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A2E1E-AB9B-B157-FB15-7E0431D7E783}"/>
              </a:ext>
            </a:extLst>
          </p:cNvPr>
          <p:cNvSpPr>
            <a:spLocks noGrp="1"/>
          </p:cNvSpPr>
          <p:nvPr>
            <p:ph type="ctrTitle"/>
          </p:nvPr>
        </p:nvSpPr>
        <p:spPr/>
        <p:txBody>
          <a:bodyPr/>
          <a:lstStyle/>
          <a:p>
            <a:r>
              <a:rPr lang="en-US" dirty="0"/>
              <a:t>Formation of Uzbekistan as a republic</a:t>
            </a:r>
          </a:p>
        </p:txBody>
      </p:sp>
      <p:sp>
        <p:nvSpPr>
          <p:cNvPr id="3" name="Subtitle 2">
            <a:extLst>
              <a:ext uri="{FF2B5EF4-FFF2-40B4-BE49-F238E27FC236}">
                <a16:creationId xmlns:a16="http://schemas.microsoft.com/office/drawing/2014/main" id="{3356E826-62F7-6A01-7099-0B5ACF9550CD}"/>
              </a:ext>
            </a:extLst>
          </p:cNvPr>
          <p:cNvSpPr>
            <a:spLocks noGrp="1"/>
          </p:cNvSpPr>
          <p:nvPr>
            <p:ph type="subTitle" idx="1"/>
          </p:nvPr>
        </p:nvSpPr>
        <p:spPr/>
        <p:txBody>
          <a:bodyPr/>
          <a:lstStyle/>
          <a:p>
            <a:r>
              <a:rPr lang="en-US" dirty="0"/>
              <a:t>Vohid </a:t>
            </a:r>
            <a:r>
              <a:rPr lang="en-US" dirty="0" err="1"/>
              <a:t>Yusupovich</a:t>
            </a:r>
            <a:r>
              <a:rPr lang="en-US" dirty="0"/>
              <a:t> Kholov</a:t>
            </a:r>
          </a:p>
        </p:txBody>
      </p:sp>
    </p:spTree>
    <p:extLst>
      <p:ext uri="{BB962C8B-B14F-4D97-AF65-F5344CB8AC3E}">
        <p14:creationId xmlns:p14="http://schemas.microsoft.com/office/powerpoint/2010/main" val="2522974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C803AC-D7AF-2B64-424F-EA0DE219C238}"/>
              </a:ext>
            </a:extLst>
          </p:cNvPr>
          <p:cNvSpPr>
            <a:spLocks noGrp="1"/>
          </p:cNvSpPr>
          <p:nvPr>
            <p:ph sz="half" idx="1"/>
          </p:nvPr>
        </p:nvSpPr>
        <p:spPr>
          <a:xfrm>
            <a:off x="140677" y="239151"/>
            <a:ext cx="5879123" cy="5937812"/>
          </a:xfrm>
        </p:spPr>
        <p:txBody>
          <a:bodyPr>
            <a:noAutofit/>
          </a:bodyPr>
          <a:lstStyle/>
          <a:p>
            <a:pPr marL="342900" lvl="0" indent="-342900">
              <a:lnSpc>
                <a:spcPct val="120000"/>
              </a:lnSpc>
              <a:spcBef>
                <a:spcPts val="0"/>
              </a:spcBef>
              <a:buSzPts val="1300"/>
              <a:buFont typeface="Calibri" panose="020F0502020204030204" pitchFamily="34" charset="0"/>
              <a:buAutoNum type="arabicPeriod"/>
            </a:pPr>
            <a:r>
              <a:rPr lang="en-US" sz="1800" i="0" dirty="0">
                <a:effectLst/>
                <a:latin typeface="Calibri" panose="020F0502020204030204" pitchFamily="34" charset="0"/>
                <a:ea typeface="Calibri" panose="020F0502020204030204" pitchFamily="34" charset="0"/>
                <a:cs typeface="Times New Roman" panose="02020603050405020304" pitchFamily="18" charset="0"/>
              </a:rPr>
              <a:t>Civilization is …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1800" i="0" dirty="0">
                <a:effectLst/>
                <a:latin typeface="Calibri" panose="020F0502020204030204" pitchFamily="34" charset="0"/>
                <a:ea typeface="Calibri" panose="020F0502020204030204" pitchFamily="34" charset="0"/>
                <a:cs typeface="Times New Roman" panose="02020603050405020304" pitchFamily="18" charset="0"/>
              </a:rPr>
              <a:t>an advanced state of society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1800" i="0" dirty="0">
                <a:effectLst/>
                <a:latin typeface="Calibri" panose="020F0502020204030204" pitchFamily="34" charset="0"/>
                <a:ea typeface="Calibri" panose="020F0502020204030204" pitchFamily="34" charset="0"/>
                <a:cs typeface="Times New Roman" panose="02020603050405020304" pitchFamily="18" charset="0"/>
              </a:rPr>
              <a:t>the end of migrations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1800" i="0" dirty="0">
                <a:effectLst/>
                <a:latin typeface="Calibri" panose="020F0502020204030204" pitchFamily="34" charset="0"/>
                <a:ea typeface="Calibri" panose="020F0502020204030204" pitchFamily="34" charset="0"/>
                <a:cs typeface="Times New Roman" panose="02020603050405020304" pitchFamily="18" charset="0"/>
              </a:rPr>
              <a:t>capitalism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1800" i="0" dirty="0">
                <a:effectLst/>
                <a:latin typeface="Calibri" panose="020F0502020204030204" pitchFamily="34" charset="0"/>
                <a:ea typeface="Calibri" panose="020F0502020204030204" pitchFamily="34" charset="0"/>
                <a:cs typeface="Times New Roman" panose="02020603050405020304" pitchFamily="18" charset="0"/>
              </a:rPr>
              <a:t>developed economy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spcBef>
                <a:spcPts val="0"/>
              </a:spcBef>
              <a:buSzPts val="1300"/>
              <a:buFont typeface="Calibri" panose="020F0502020204030204" pitchFamily="34" charset="0"/>
              <a:buAutoNum type="arabicPeriod"/>
            </a:pPr>
            <a:r>
              <a:rPr lang="en-US" sz="1800" i="0" dirty="0">
                <a:effectLst/>
                <a:latin typeface="Calibri" panose="020F0502020204030204" pitchFamily="34" charset="0"/>
                <a:ea typeface="Calibri" panose="020F0502020204030204" pitchFamily="34" charset="0"/>
                <a:cs typeface="Times New Roman" panose="02020603050405020304" pitchFamily="18" charset="0"/>
              </a:rPr>
              <a:t>Which of the following cultures developed in the deltas of the </a:t>
            </a:r>
            <a:r>
              <a:rPr lang="en-US" sz="1800" i="0" dirty="0" err="1">
                <a:effectLst/>
                <a:latin typeface="Calibri" panose="020F0502020204030204" pitchFamily="34" charset="0"/>
                <a:ea typeface="Calibri" panose="020F0502020204030204" pitchFamily="34" charset="0"/>
                <a:cs typeface="Times New Roman" panose="02020603050405020304" pitchFamily="18" charset="0"/>
              </a:rPr>
              <a:t>Amudarya</a:t>
            </a:r>
            <a:r>
              <a:rPr lang="en-US" sz="1800" i="0" dirty="0">
                <a:effectLst/>
                <a:latin typeface="Calibri" panose="020F0502020204030204" pitchFamily="34" charset="0"/>
                <a:ea typeface="Calibri" panose="020F0502020204030204" pitchFamily="34" charset="0"/>
                <a:cs typeface="Times New Roman" panose="02020603050405020304" pitchFamily="18" charset="0"/>
              </a:rPr>
              <a:t> and the Zarafshan?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1800" i="0" dirty="0" err="1">
                <a:effectLst/>
                <a:latin typeface="Calibri" panose="020F0502020204030204" pitchFamily="34" charset="0"/>
                <a:ea typeface="Calibri" panose="020F0502020204030204" pitchFamily="34" charset="0"/>
                <a:cs typeface="Times New Roman" panose="02020603050405020304" pitchFamily="18" charset="0"/>
              </a:rPr>
              <a:t>Jeitun</a:t>
            </a:r>
            <a:r>
              <a:rPr lang="en-US" sz="1800" i="0"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1800" i="0" dirty="0">
                <a:effectLst/>
                <a:latin typeface="Calibri" panose="020F0502020204030204" pitchFamily="34" charset="0"/>
                <a:ea typeface="Calibri" panose="020F0502020204030204" pitchFamily="34" charset="0"/>
                <a:cs typeface="Times New Roman" panose="02020603050405020304" pitchFamily="18" charset="0"/>
              </a:rPr>
              <a:t>Hissar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1800" i="0" dirty="0" err="1">
                <a:effectLst/>
                <a:latin typeface="Calibri" panose="020F0502020204030204" pitchFamily="34" charset="0"/>
                <a:ea typeface="Calibri" panose="020F0502020204030204" pitchFamily="34" charset="0"/>
                <a:cs typeface="Times New Roman" panose="02020603050405020304" pitchFamily="18" charset="0"/>
              </a:rPr>
              <a:t>Keltaminar</a:t>
            </a:r>
            <a:r>
              <a:rPr lang="en-US" sz="1800" i="0"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1800" i="0" dirty="0" err="1">
                <a:effectLst/>
                <a:latin typeface="Calibri" panose="020F0502020204030204" pitchFamily="34" charset="0"/>
                <a:ea typeface="Calibri" panose="020F0502020204030204" pitchFamily="34" charset="0"/>
                <a:cs typeface="Times New Roman" panose="02020603050405020304" pitchFamily="18" charset="0"/>
              </a:rPr>
              <a:t>Chust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spcBef>
                <a:spcPts val="0"/>
              </a:spcBef>
              <a:buSzPts val="1300"/>
              <a:buFont typeface="Calibri" panose="020F0502020204030204" pitchFamily="34" charset="0"/>
              <a:buAutoNum type="arabicPeriod"/>
            </a:pPr>
            <a:r>
              <a:rPr lang="en-US" sz="1800" i="0" dirty="0">
                <a:effectLst/>
                <a:latin typeface="Calibri" panose="020F0502020204030204" pitchFamily="34" charset="0"/>
                <a:ea typeface="Calibri" panose="020F0502020204030204" pitchFamily="34" charset="0"/>
                <a:cs typeface="Times New Roman" panose="02020603050405020304" pitchFamily="18" charset="0"/>
              </a:rPr>
              <a:t>Find the place where agriculture developed first in Central Asia.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1800" i="0" dirty="0" err="1">
                <a:effectLst/>
                <a:latin typeface="Calibri" panose="020F0502020204030204" pitchFamily="34" charset="0"/>
                <a:ea typeface="Calibri" panose="020F0502020204030204" pitchFamily="34" charset="0"/>
                <a:cs typeface="Times New Roman" panose="02020603050405020304" pitchFamily="18" charset="0"/>
              </a:rPr>
              <a:t>Jeitun</a:t>
            </a:r>
            <a:r>
              <a:rPr lang="en-US" sz="1800" i="0"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1800" i="0" dirty="0">
                <a:effectLst/>
                <a:latin typeface="Calibri" panose="020F0502020204030204" pitchFamily="34" charset="0"/>
                <a:ea typeface="Calibri" panose="020F0502020204030204" pitchFamily="34" charset="0"/>
                <a:cs typeface="Times New Roman" panose="02020603050405020304" pitchFamily="18" charset="0"/>
              </a:rPr>
              <a:t>Hissar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1800" i="0" dirty="0" err="1">
                <a:effectLst/>
                <a:latin typeface="Calibri" panose="020F0502020204030204" pitchFamily="34" charset="0"/>
                <a:ea typeface="Calibri" panose="020F0502020204030204" pitchFamily="34" charset="0"/>
                <a:cs typeface="Times New Roman" panose="02020603050405020304" pitchFamily="18" charset="0"/>
              </a:rPr>
              <a:t>Keltaminar</a:t>
            </a:r>
            <a:r>
              <a:rPr lang="en-US" sz="1800" i="0" dirty="0">
                <a:effectLst/>
                <a:latin typeface="Calibri" panose="020F050202020403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1800" i="0" dirty="0" err="1">
                <a:effectLst/>
                <a:latin typeface="Calibri" panose="020F0502020204030204" pitchFamily="34" charset="0"/>
                <a:ea typeface="Calibri" panose="020F0502020204030204" pitchFamily="34" charset="0"/>
                <a:cs typeface="Times New Roman" panose="02020603050405020304" pitchFamily="18" charset="0"/>
              </a:rPr>
              <a:t>Chust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endParaRPr lang="en-US" sz="1800" dirty="0"/>
          </a:p>
        </p:txBody>
      </p:sp>
      <p:sp>
        <p:nvSpPr>
          <p:cNvPr id="4" name="Content Placeholder 3">
            <a:extLst>
              <a:ext uri="{FF2B5EF4-FFF2-40B4-BE49-F238E27FC236}">
                <a16:creationId xmlns:a16="http://schemas.microsoft.com/office/drawing/2014/main" id="{BA3BAE8D-4EAB-4C82-F864-5ABF3FC2DAC0}"/>
              </a:ext>
            </a:extLst>
          </p:cNvPr>
          <p:cNvSpPr>
            <a:spLocks noGrp="1"/>
          </p:cNvSpPr>
          <p:nvPr>
            <p:ph sz="half" idx="2"/>
          </p:nvPr>
        </p:nvSpPr>
        <p:spPr>
          <a:xfrm>
            <a:off x="6172199" y="239151"/>
            <a:ext cx="5574323" cy="5937812"/>
          </a:xfrm>
        </p:spPr>
        <p:txBody>
          <a:bodyPr>
            <a:noAutofit/>
          </a:bodyPr>
          <a:lstStyle/>
          <a:p>
            <a:pPr marL="342900" lvl="0" indent="-342900">
              <a:lnSpc>
                <a:spcPct val="120000"/>
              </a:lnSpc>
              <a:spcBef>
                <a:spcPts val="0"/>
              </a:spcBef>
              <a:buSzPts val="1300"/>
              <a:buFont typeface="Calibri" panose="020F0502020204030204" pitchFamily="34" charset="0"/>
              <a:buAutoNum type="arabicPeriod"/>
            </a:pPr>
            <a:r>
              <a:rPr lang="en-US" sz="20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Altyndepe</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Jarkutan</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Namazgadepe</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are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Neolithic cultures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Bronze age period sites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Proto-urban settlements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 and c</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spcBef>
                <a:spcPts val="0"/>
              </a:spcBef>
              <a:buSzPts val="1300"/>
              <a:buFont typeface="Calibri" panose="020F0502020204030204" pitchFamily="34" charset="0"/>
              <a:buAutoNum type="arabicPeriod"/>
            </a:pPr>
            <a:r>
              <a:rPr lang="en-US" sz="2000" i="0" dirty="0" err="1">
                <a:effectLst/>
                <a:latin typeface="Calibri" panose="020F0502020204030204" pitchFamily="34" charset="0"/>
                <a:ea typeface="Calibri" panose="020F0502020204030204" pitchFamily="34" charset="0"/>
                <a:cs typeface="Times New Roman" panose="02020603050405020304" pitchFamily="18" charset="0"/>
              </a:rPr>
              <a:t>Zamanbaba</a:t>
            </a:r>
            <a:r>
              <a:rPr lang="en-US" sz="2000" i="0" dirty="0">
                <a:effectLst/>
                <a:latin typeface="Calibri" panose="020F0502020204030204" pitchFamily="34" charset="0"/>
                <a:ea typeface="Calibri" panose="020F0502020204030204" pitchFamily="34" charset="0"/>
                <a:cs typeface="Times New Roman" panose="02020603050405020304" pitchFamily="18" charset="0"/>
              </a:rPr>
              <a:t> culture developed in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2000" i="0" dirty="0">
                <a:effectLst/>
                <a:latin typeface="Calibri" panose="020F0502020204030204" pitchFamily="34" charset="0"/>
                <a:ea typeface="Calibri" panose="020F0502020204030204" pitchFamily="34" charset="0"/>
                <a:cs typeface="Times New Roman" panose="02020603050405020304" pitchFamily="18" charset="0"/>
              </a:rPr>
              <a:t>Bukhara region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2000" i="0" dirty="0">
                <a:effectLst/>
                <a:latin typeface="Calibri" panose="020F0502020204030204" pitchFamily="34" charset="0"/>
                <a:ea typeface="Calibri" panose="020F0502020204030204" pitchFamily="34" charset="0"/>
                <a:cs typeface="Times New Roman" panose="02020603050405020304" pitchFamily="18" charset="0"/>
              </a:rPr>
              <a:t>Tashkent region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2000" i="0" dirty="0">
                <a:effectLst/>
                <a:latin typeface="Calibri" panose="020F0502020204030204" pitchFamily="34" charset="0"/>
                <a:ea typeface="Calibri" panose="020F0502020204030204" pitchFamily="34" charset="0"/>
                <a:cs typeface="Times New Roman" panose="02020603050405020304" pitchFamily="18" charset="0"/>
              </a:rPr>
              <a:t>Samarkand region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2000" i="0" dirty="0">
                <a:effectLst/>
                <a:latin typeface="Calibri" panose="020F0502020204030204" pitchFamily="34" charset="0"/>
                <a:ea typeface="Calibri" panose="020F0502020204030204" pitchFamily="34" charset="0"/>
                <a:cs typeface="Times New Roman" panose="02020603050405020304" pitchFamily="18" charset="0"/>
              </a:rPr>
              <a:t>Tashkent region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spcBef>
                <a:spcPts val="0"/>
              </a:spcBef>
              <a:buSzPts val="1300"/>
              <a:buFont typeface="Calibri" panose="020F0502020204030204" pitchFamily="34" charset="0"/>
              <a:buAutoNum type="arabicPeriod"/>
            </a:pPr>
            <a:r>
              <a:rPr lang="en-US" sz="2000" i="0" dirty="0">
                <a:effectLst/>
                <a:latin typeface="Calibri" panose="020F0502020204030204" pitchFamily="34" charset="0"/>
                <a:ea typeface="Calibri" panose="020F0502020204030204" pitchFamily="34" charset="0"/>
                <a:cs typeface="Times New Roman" panose="02020603050405020304" pitchFamily="18" charset="0"/>
              </a:rPr>
              <a:t>The nation that migrated to Central Asia in VII-VIII centuries were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2000" i="0" dirty="0">
                <a:effectLst/>
                <a:latin typeface="Calibri" panose="020F0502020204030204" pitchFamily="34" charset="0"/>
                <a:ea typeface="Calibri" panose="020F0502020204030204" pitchFamily="34" charset="0"/>
                <a:cs typeface="Times New Roman" panose="02020603050405020304" pitchFamily="18" charset="0"/>
              </a:rPr>
              <a:t>Jews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2000" i="0" dirty="0">
                <a:effectLst/>
                <a:latin typeface="Calibri" panose="020F0502020204030204" pitchFamily="34" charset="0"/>
                <a:ea typeface="Calibri" panose="020F0502020204030204" pitchFamily="34" charset="0"/>
                <a:cs typeface="Times New Roman" panose="02020603050405020304" pitchFamily="18" charset="0"/>
              </a:rPr>
              <a:t>Indians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2000" i="0" dirty="0">
                <a:effectLst/>
                <a:latin typeface="Calibri" panose="020F0502020204030204" pitchFamily="34" charset="0"/>
                <a:ea typeface="Calibri" panose="020F0502020204030204" pitchFamily="34" charset="0"/>
                <a:cs typeface="Times New Roman" panose="02020603050405020304" pitchFamily="18" charset="0"/>
              </a:rPr>
              <a:t>Greeks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US" sz="2000" i="0" dirty="0">
                <a:effectLst/>
                <a:latin typeface="Calibri" panose="020F0502020204030204" pitchFamily="34" charset="0"/>
                <a:ea typeface="Calibri" panose="020F0502020204030204" pitchFamily="34" charset="0"/>
                <a:cs typeface="Times New Roman" panose="02020603050405020304" pitchFamily="18" charset="0"/>
              </a:rPr>
              <a:t>Arabs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endParaRPr lang="en-US" sz="2000" dirty="0"/>
          </a:p>
        </p:txBody>
      </p:sp>
    </p:spTree>
    <p:extLst>
      <p:ext uri="{BB962C8B-B14F-4D97-AF65-F5344CB8AC3E}">
        <p14:creationId xmlns:p14="http://schemas.microsoft.com/office/powerpoint/2010/main" val="3351440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8BFF-0D79-5910-59AF-26BFC0184A13}"/>
              </a:ext>
            </a:extLst>
          </p:cNvPr>
          <p:cNvSpPr>
            <a:spLocks noGrp="1"/>
          </p:cNvSpPr>
          <p:nvPr>
            <p:ph type="title"/>
          </p:nvPr>
        </p:nvSpPr>
        <p:spPr/>
        <p:txBody>
          <a:bodyPr/>
          <a:lstStyle/>
          <a:p>
            <a:r>
              <a:rPr lang="en-US" dirty="0"/>
              <a:t>Plan</a:t>
            </a:r>
          </a:p>
        </p:txBody>
      </p:sp>
      <p:sp>
        <p:nvSpPr>
          <p:cNvPr id="3" name="Content Placeholder 2">
            <a:extLst>
              <a:ext uri="{FF2B5EF4-FFF2-40B4-BE49-F238E27FC236}">
                <a16:creationId xmlns:a16="http://schemas.microsoft.com/office/drawing/2014/main" id="{93084940-D80A-8DFD-F04F-36B86AD5235A}"/>
              </a:ext>
            </a:extLst>
          </p:cNvPr>
          <p:cNvSpPr>
            <a:spLocks noGrp="1"/>
          </p:cNvSpPr>
          <p:nvPr>
            <p:ph idx="1"/>
          </p:nvPr>
        </p:nvSpPr>
        <p:spPr/>
        <p:txBody>
          <a:bodyPr/>
          <a:lstStyle/>
          <a:p>
            <a:r>
              <a:rPr lang="en-US" dirty="0"/>
              <a:t>History of ancient statehood</a:t>
            </a:r>
          </a:p>
          <a:p>
            <a:r>
              <a:rPr lang="en-US" dirty="0"/>
              <a:t>History of Medieval age statehood</a:t>
            </a:r>
          </a:p>
          <a:p>
            <a:r>
              <a:rPr lang="en-US" dirty="0"/>
              <a:t>Formation of Uzbek Khanates</a:t>
            </a:r>
          </a:p>
          <a:p>
            <a:r>
              <a:rPr lang="en-US" dirty="0"/>
              <a:t>Political and territorial changes after Russian conquest</a:t>
            </a:r>
          </a:p>
          <a:p>
            <a:r>
              <a:rPr lang="en-US" dirty="0"/>
              <a:t>Formation of Nation-building states</a:t>
            </a:r>
          </a:p>
          <a:p>
            <a:r>
              <a:rPr lang="en-US" dirty="0"/>
              <a:t>Inner division of Uzbekistan</a:t>
            </a:r>
          </a:p>
          <a:p>
            <a:r>
              <a:rPr lang="en-US" dirty="0"/>
              <a:t>Territorial disputes and delimitation</a:t>
            </a:r>
          </a:p>
        </p:txBody>
      </p:sp>
    </p:spTree>
    <p:extLst>
      <p:ext uri="{BB962C8B-B14F-4D97-AF65-F5344CB8AC3E}">
        <p14:creationId xmlns:p14="http://schemas.microsoft.com/office/powerpoint/2010/main" val="1554467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26D66-742A-A4FC-9062-1CF23CC3EE1F}"/>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D8E3FDA1-29F3-6601-A44E-250EDBE37B07}"/>
              </a:ext>
            </a:extLst>
          </p:cNvPr>
          <p:cNvSpPr>
            <a:spLocks noGrp="1"/>
          </p:cNvSpPr>
          <p:nvPr>
            <p:ph idx="1"/>
          </p:nvPr>
        </p:nvSpPr>
        <p:spPr/>
        <p:txBody>
          <a:bodyPr/>
          <a:lstStyle/>
          <a:p>
            <a:pPr marL="342900" lvl="0" indent="-342900" algn="just">
              <a:buFont typeface="+mj-lt"/>
              <a:buAutoNum type="arabicPeriod"/>
            </a:pPr>
            <a:r>
              <a:rPr lang="en-GB"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do you understand as a state?</a:t>
            </a:r>
            <a:endParaRPr lang="en-US" dirty="0">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lgn="just">
              <a:buFont typeface="+mj-lt"/>
              <a:buAutoNum type="arabicPeriod"/>
            </a:pPr>
            <a:r>
              <a:rPr lang="en-GB"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are the states of development of states?</a:t>
            </a:r>
            <a:endParaRPr lang="en-US" dirty="0">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lgn="just">
              <a:buFont typeface="+mj-lt"/>
              <a:buAutoNum type="arabicPeriod"/>
            </a:pPr>
            <a:r>
              <a:rPr lang="en-GB"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do you know about the titles of rulers?</a:t>
            </a:r>
            <a:endParaRPr lang="en-US" dirty="0">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lgn="just">
              <a:buFont typeface="+mj-lt"/>
              <a:buAutoNum type="arabicPeriod"/>
            </a:pPr>
            <a:r>
              <a:rPr lang="en-GB"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are the types of state formations? </a:t>
            </a:r>
          </a:p>
          <a:p>
            <a:pPr marL="342900" lvl="0" indent="-342900" algn="just">
              <a:buFont typeface="+mj-lt"/>
              <a:buAutoNum type="arabicPeriod"/>
            </a:pPr>
            <a:r>
              <a:rPr lang="en-GB"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What are factors that led to the crisis of big and strong countries?</a:t>
            </a:r>
            <a:endParaRPr lang="en-US" dirty="0">
              <a:latin typeface="Calibri" panose="020F0502020204030204" pitchFamily="34" charset="0"/>
              <a:ea typeface="Human Sans" charset="0"/>
              <a:cs typeface="Calibri" panose="020F0502020204030204" pitchFamily="34" charset="0"/>
            </a:endParaRPr>
          </a:p>
          <a:p>
            <a:endParaRPr lang="en-US" dirty="0"/>
          </a:p>
        </p:txBody>
      </p:sp>
    </p:spTree>
    <p:extLst>
      <p:ext uri="{BB962C8B-B14F-4D97-AF65-F5344CB8AC3E}">
        <p14:creationId xmlns:p14="http://schemas.microsoft.com/office/powerpoint/2010/main" val="4139828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0A365-F54C-79B7-5DBB-221513D842EE}"/>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EB3698FD-A776-430F-33DD-06601AA49EF2}"/>
              </a:ext>
            </a:extLst>
          </p:cNvPr>
          <p:cNvSpPr>
            <a:spLocks noGrp="1"/>
          </p:cNvSpPr>
          <p:nvPr>
            <p:ph idx="1"/>
          </p:nvPr>
        </p:nvSpPr>
        <p:spPr/>
        <p:txBody>
          <a:bodyPr>
            <a:normAutofit fontScale="92500" lnSpcReduction="20000"/>
          </a:bodyPr>
          <a:lstStyle/>
          <a:p>
            <a:r>
              <a:rPr lang="en-US" sz="2800" dirty="0">
                <a:latin typeface="Calibri" panose="020F0502020204030204" pitchFamily="34" charset="0"/>
              </a:rPr>
              <a:t>The history of statehood indicates the formation of political entities, transformation from </a:t>
            </a:r>
            <a:r>
              <a:rPr lang="en-US" sz="2800" dirty="0" err="1">
                <a:latin typeface="Calibri" panose="020F0502020204030204" pitchFamily="34" charset="0"/>
              </a:rPr>
              <a:t>adats</a:t>
            </a:r>
            <a:r>
              <a:rPr lang="en-US" sz="2800" dirty="0">
                <a:latin typeface="Calibri" panose="020F0502020204030204" pitchFamily="34" charset="0"/>
              </a:rPr>
              <a:t> and tribal forms to certain legally based structures under particular ruler and system. </a:t>
            </a:r>
          </a:p>
          <a:p>
            <a:r>
              <a:rPr lang="en-US" sz="2800" dirty="0">
                <a:latin typeface="Calibri" panose="020F0502020204030204" pitchFamily="34" charset="0"/>
              </a:rPr>
              <a:t>The tribal forms mostly indicate to control of a particular geographical area under the limited regulation. The transformation to statehood is the combination or alliance of different nations and tribes under more developed legal process. </a:t>
            </a:r>
          </a:p>
          <a:p>
            <a:r>
              <a:rPr lang="en-GB" sz="2800" dirty="0">
                <a:effectLst/>
                <a:latin typeface="Calibri" panose="020F0502020204030204" pitchFamily="34" charset="0"/>
              </a:rPr>
              <a:t>Module goal.</a:t>
            </a:r>
            <a:r>
              <a:rPr lang="en-US" sz="2800" dirty="0">
                <a:effectLst/>
                <a:latin typeface="Calibri" panose="020F0502020204030204" pitchFamily="34" charset="0"/>
              </a:rPr>
              <a:t> </a:t>
            </a:r>
            <a:r>
              <a:rPr lang="en-GB" sz="2800" dirty="0">
                <a:effectLst/>
                <a:latin typeface="Calibri" panose="020F0502020204030204" pitchFamily="34" charset="0"/>
              </a:rPr>
              <a:t>the notion of statehood, in the periods till the VIII century, types of state rulers, structure of state formation in </a:t>
            </a:r>
            <a:r>
              <a:rPr lang="en-GB" sz="2800" dirty="0" err="1">
                <a:effectLst/>
                <a:latin typeface="Calibri" panose="020F0502020204030204" pitchFamily="34" charset="0"/>
              </a:rPr>
              <a:t>Samanids</a:t>
            </a:r>
            <a:r>
              <a:rPr lang="en-GB" sz="2800" dirty="0">
                <a:latin typeface="Calibri" panose="020F0502020204030204" pitchFamily="34" charset="0"/>
              </a:rPr>
              <a:t>, </a:t>
            </a:r>
            <a:r>
              <a:rPr lang="en-GB" sz="2800" dirty="0" err="1">
                <a:latin typeface="Calibri" panose="020F0502020204030204" pitchFamily="34" charset="0"/>
              </a:rPr>
              <a:t>Temurid</a:t>
            </a:r>
            <a:r>
              <a:rPr lang="en-GB" sz="2800" dirty="0">
                <a:latin typeface="Calibri" panose="020F0502020204030204" pitchFamily="34" charset="0"/>
              </a:rPr>
              <a:t> period, division into </a:t>
            </a:r>
            <a:r>
              <a:rPr lang="en-GB" sz="2800" dirty="0">
                <a:effectLst/>
                <a:latin typeface="Calibri" panose="020F0502020204030204" pitchFamily="34" charset="0"/>
              </a:rPr>
              <a:t>khanates</a:t>
            </a:r>
          </a:p>
          <a:p>
            <a:r>
              <a:rPr lang="en-GB" sz="2800" dirty="0">
                <a:latin typeface="Calibri" panose="020F0502020204030204" pitchFamily="34" charset="0"/>
              </a:rPr>
              <a:t>Leaning objectives. Factors of statehood, types of state rulers.</a:t>
            </a:r>
          </a:p>
          <a:p>
            <a:r>
              <a:rPr lang="en-GB" sz="2800" dirty="0">
                <a:latin typeface="Calibri" panose="020F0502020204030204" pitchFamily="34" charset="0"/>
              </a:rPr>
              <a:t>Mixture of Islamic and Turkic elements of statehood;</a:t>
            </a:r>
          </a:p>
          <a:p>
            <a:r>
              <a:rPr lang="en-GB" sz="2800" dirty="0">
                <a:latin typeface="Calibri" panose="020F0502020204030204" pitchFamily="34" charset="0"/>
              </a:rPr>
              <a:t>Internal conflicts.</a:t>
            </a:r>
          </a:p>
          <a:p>
            <a:endParaRPr lang="en-US" sz="2800" dirty="0">
              <a:latin typeface="Calibri" panose="020F0502020204030204" pitchFamily="34" charset="0"/>
            </a:endParaRPr>
          </a:p>
          <a:p>
            <a:endParaRPr lang="en-US" dirty="0"/>
          </a:p>
        </p:txBody>
      </p:sp>
    </p:spTree>
    <p:extLst>
      <p:ext uri="{BB962C8B-B14F-4D97-AF65-F5344CB8AC3E}">
        <p14:creationId xmlns:p14="http://schemas.microsoft.com/office/powerpoint/2010/main" val="2844289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CFFC37-592D-F481-0362-BA2AFD7B9192}"/>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A5ECC1C6-8E7C-06C8-2A37-328731E1BD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81164" y="365760"/>
            <a:ext cx="9213872" cy="6492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3910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9D376-2FCC-B398-BFA8-DFDE18954459}"/>
              </a:ext>
            </a:extLst>
          </p:cNvPr>
          <p:cNvSpPr>
            <a:spLocks noGrp="1"/>
          </p:cNvSpPr>
          <p:nvPr>
            <p:ph type="title"/>
          </p:nvPr>
        </p:nvSpPr>
        <p:spPr/>
        <p:txBody>
          <a:bodyPr/>
          <a:lstStyle/>
          <a:p>
            <a:r>
              <a:rPr lang="en-US" sz="4400" dirty="0"/>
              <a:t>The concept of statehood</a:t>
            </a:r>
            <a:endParaRPr lang="en-US" dirty="0"/>
          </a:p>
        </p:txBody>
      </p:sp>
      <p:sp>
        <p:nvSpPr>
          <p:cNvPr id="3" name="Content Placeholder 2">
            <a:extLst>
              <a:ext uri="{FF2B5EF4-FFF2-40B4-BE49-F238E27FC236}">
                <a16:creationId xmlns:a16="http://schemas.microsoft.com/office/drawing/2014/main" id="{D0E31C04-09DB-A2BC-C442-8ABB53B73132}"/>
              </a:ext>
            </a:extLst>
          </p:cNvPr>
          <p:cNvSpPr>
            <a:spLocks noGrp="1"/>
          </p:cNvSpPr>
          <p:nvPr>
            <p:ph idx="1"/>
          </p:nvPr>
        </p:nvSpPr>
        <p:spPr/>
        <p:txBody>
          <a:bodyPr>
            <a:normAutofit fontScale="92500" lnSpcReduction="20000"/>
          </a:bodyPr>
          <a:lstStyle/>
          <a:p>
            <a:r>
              <a:rPr lang="en-US" sz="2800" b="0" i="0" dirty="0">
                <a:solidFill>
                  <a:srgbClr val="2E2E2E"/>
                </a:solidFill>
                <a:effectLst/>
                <a:latin typeface="Calibri" panose="020F0502020204030204" pitchFamily="34" charset="0"/>
              </a:rPr>
              <a:t>Modern statehood - mode of political organization of ‘society’;</a:t>
            </a:r>
            <a:endParaRPr lang="en-US" sz="2800" dirty="0">
              <a:solidFill>
                <a:srgbClr val="2E2E2E"/>
              </a:solidFill>
              <a:latin typeface="Calibri" panose="020F0502020204030204" pitchFamily="34" charset="0"/>
            </a:endParaRPr>
          </a:p>
          <a:p>
            <a:r>
              <a:rPr lang="en-US" sz="2800" b="0" i="0" dirty="0">
                <a:solidFill>
                  <a:srgbClr val="2E2E2E"/>
                </a:solidFill>
                <a:effectLst/>
                <a:latin typeface="Calibri" panose="020F0502020204030204" pitchFamily="34" charset="0"/>
              </a:rPr>
              <a:t>The state - the primary agent charged with building the representation of society;</a:t>
            </a:r>
          </a:p>
          <a:p>
            <a:r>
              <a:rPr lang="en-US" sz="2800" b="0" i="0" dirty="0">
                <a:solidFill>
                  <a:srgbClr val="2E2E2E"/>
                </a:solidFill>
                <a:effectLst/>
                <a:latin typeface="Calibri" panose="020F0502020204030204" pitchFamily="34" charset="0"/>
              </a:rPr>
              <a:t>Nation-states – to organize people and territory into formally comparable and sovereign governing units;</a:t>
            </a:r>
          </a:p>
          <a:p>
            <a:r>
              <a:rPr lang="en-US" sz="2800" dirty="0">
                <a:solidFill>
                  <a:srgbClr val="2E2E2E"/>
                </a:solidFill>
                <a:latin typeface="Calibri" panose="020F0502020204030204" pitchFamily="34" charset="0"/>
              </a:rPr>
              <a:t>T</a:t>
            </a:r>
            <a:r>
              <a:rPr lang="en-US" sz="2800" b="0" i="0" dirty="0">
                <a:solidFill>
                  <a:srgbClr val="2E2E2E"/>
                </a:solidFill>
                <a:effectLst/>
                <a:latin typeface="Calibri" panose="020F0502020204030204" pitchFamily="34" charset="0"/>
              </a:rPr>
              <a:t>he scope of the state now goes beyond traditional activities; the production of laws regulating the exercise of power over territoriality and commerce; to generate forms of subjectivity in people</a:t>
            </a:r>
            <a:r>
              <a:rPr lang="en-US" sz="2800" dirty="0">
                <a:solidFill>
                  <a:srgbClr val="2E2E2E"/>
                </a:solidFill>
                <a:latin typeface="Calibri" panose="020F0502020204030204" pitchFamily="34" charset="0"/>
              </a:rPr>
              <a:t>; </a:t>
            </a:r>
          </a:p>
          <a:p>
            <a:r>
              <a:rPr lang="en-US" sz="2800" b="0" i="0" dirty="0">
                <a:solidFill>
                  <a:srgbClr val="2E2E2E"/>
                </a:solidFill>
                <a:effectLst/>
                <a:latin typeface="Calibri" panose="020F0502020204030204" pitchFamily="34" charset="0"/>
              </a:rPr>
              <a:t>One of the major anthropological aspects of states - the deployment of anthropologies: ways of defining and categorizing populations and of systematizing knowledge about them.</a:t>
            </a:r>
          </a:p>
          <a:p>
            <a:r>
              <a:rPr lang="en-US" sz="2800" dirty="0">
                <a:solidFill>
                  <a:srgbClr val="2E2E2E"/>
                </a:solidFill>
                <a:latin typeface="Calibri" panose="020F0502020204030204" pitchFamily="34" charset="0"/>
              </a:rPr>
              <a:t>The origin of statehood in the world goes back to the period of </a:t>
            </a:r>
            <a:r>
              <a:rPr lang="en-US" sz="2800" dirty="0" err="1">
                <a:solidFill>
                  <a:srgbClr val="2E2E2E"/>
                </a:solidFill>
                <a:latin typeface="Calibri" panose="020F0502020204030204" pitchFamily="34" charset="0"/>
              </a:rPr>
              <a:t>Charcoalithic</a:t>
            </a:r>
            <a:r>
              <a:rPr lang="en-US" sz="2800" dirty="0">
                <a:solidFill>
                  <a:srgbClr val="2E2E2E"/>
                </a:solidFill>
                <a:latin typeface="Calibri" panose="020F0502020204030204" pitchFamily="34" charset="0"/>
              </a:rPr>
              <a:t> period in Egypt and Mesopotamia. </a:t>
            </a:r>
            <a:endParaRPr lang="en-US" sz="2800" dirty="0">
              <a:latin typeface="Calibri" panose="020F0502020204030204" pitchFamily="34" charset="0"/>
            </a:endParaRPr>
          </a:p>
          <a:p>
            <a:endParaRPr lang="en-US" dirty="0"/>
          </a:p>
        </p:txBody>
      </p:sp>
    </p:spTree>
    <p:extLst>
      <p:ext uri="{BB962C8B-B14F-4D97-AF65-F5344CB8AC3E}">
        <p14:creationId xmlns:p14="http://schemas.microsoft.com/office/powerpoint/2010/main" val="2739251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D5FAA-092C-E353-DF0E-C40A88B5B3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79359A-1126-32A0-336F-D7C40F305CA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599FB595-85EA-EA9E-E66A-9787C8850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227" y="299377"/>
            <a:ext cx="11127545" cy="6259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6387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564E2-29AD-8EF0-EB80-5BD50DE53C9E}"/>
              </a:ext>
            </a:extLst>
          </p:cNvPr>
          <p:cNvSpPr>
            <a:spLocks noGrp="1"/>
          </p:cNvSpPr>
          <p:nvPr>
            <p:ph type="title"/>
          </p:nvPr>
        </p:nvSpPr>
        <p:spPr>
          <a:xfrm>
            <a:off x="838200" y="365125"/>
            <a:ext cx="10515600" cy="563343"/>
          </a:xfrm>
        </p:spPr>
        <p:txBody>
          <a:bodyPr>
            <a:normAutofit fontScale="90000"/>
          </a:bodyPr>
          <a:lstStyle/>
          <a:p>
            <a:br>
              <a:rPr lang="en-US" sz="4400" dirty="0">
                <a:latin typeface="Calibri" panose="020F0502020204030204" pitchFamily="34" charset="0"/>
              </a:rPr>
            </a:br>
            <a:br>
              <a:rPr lang="en-US" sz="4400" dirty="0">
                <a:latin typeface="Calibri" panose="020F0502020204030204" pitchFamily="34" charset="0"/>
              </a:rPr>
            </a:br>
            <a:r>
              <a:rPr lang="en-US" sz="4400" dirty="0">
                <a:latin typeface="Calibri" panose="020F0502020204030204" pitchFamily="34" charset="0"/>
              </a:rPr>
              <a:t>Forms of states and state rulers.</a:t>
            </a:r>
            <a:br>
              <a:rPr lang="en-US" sz="4400" dirty="0">
                <a:latin typeface="Calibri" panose="020F0502020204030204" pitchFamily="34" charset="0"/>
              </a:rPr>
            </a:br>
            <a:br>
              <a:rPr lang="en-US" sz="4400" dirty="0">
                <a:latin typeface="Calibri" panose="020F0502020204030204" pitchFamily="34" charset="0"/>
              </a:rPr>
            </a:br>
            <a:endParaRPr lang="en-US" dirty="0"/>
          </a:p>
        </p:txBody>
      </p:sp>
      <p:sp>
        <p:nvSpPr>
          <p:cNvPr id="3" name="Content Placeholder 2">
            <a:extLst>
              <a:ext uri="{FF2B5EF4-FFF2-40B4-BE49-F238E27FC236}">
                <a16:creationId xmlns:a16="http://schemas.microsoft.com/office/drawing/2014/main" id="{06F64291-A8A6-6581-DFB9-C5FA28C5042C}"/>
              </a:ext>
            </a:extLst>
          </p:cNvPr>
          <p:cNvSpPr>
            <a:spLocks noGrp="1"/>
          </p:cNvSpPr>
          <p:nvPr>
            <p:ph idx="1"/>
          </p:nvPr>
        </p:nvSpPr>
        <p:spPr>
          <a:xfrm>
            <a:off x="838200" y="1111348"/>
            <a:ext cx="10880188" cy="5556738"/>
          </a:xfrm>
        </p:spPr>
        <p:txBody>
          <a:bodyPr>
            <a:normAutofit lnSpcReduction="10000"/>
          </a:bodyPr>
          <a:lstStyle/>
          <a:p>
            <a:pPr>
              <a:lnSpc>
                <a:spcPct val="110000"/>
              </a:lnSpc>
              <a:spcBef>
                <a:spcPts val="600"/>
              </a:spcBef>
            </a:pPr>
            <a:r>
              <a:rPr lang="en-US" sz="2800" dirty="0">
                <a:latin typeface="Calibri" panose="020F0502020204030204" pitchFamily="34" charset="0"/>
                <a:ea typeface="Human Sans" charset="0"/>
                <a:cs typeface="Calibri" panose="020F0502020204030204" pitchFamily="34" charset="0"/>
              </a:rPr>
              <a:t>By genetic structure they are divided into </a:t>
            </a:r>
            <a:r>
              <a:rPr lang="en-US" sz="2800" b="1" dirty="0">
                <a:latin typeface="Calibri" panose="020F0502020204030204" pitchFamily="34" charset="0"/>
                <a:ea typeface="Human Sans" charset="0"/>
                <a:cs typeface="Calibri" panose="020F0502020204030204" pitchFamily="34" charset="0"/>
              </a:rPr>
              <a:t>Autochthonous</a:t>
            </a:r>
            <a:r>
              <a:rPr lang="en-US" sz="2800" dirty="0">
                <a:latin typeface="Calibri" panose="020F0502020204030204" pitchFamily="34" charset="0"/>
                <a:ea typeface="Human Sans" charset="0"/>
                <a:cs typeface="Calibri" panose="020F0502020204030204" pitchFamily="34" charset="0"/>
              </a:rPr>
              <a:t> ( </a:t>
            </a:r>
            <a:r>
              <a:rPr lang="en-US" sz="2800" dirty="0" err="1">
                <a:latin typeface="Calibri" panose="020F0502020204030204" pitchFamily="34" charset="0"/>
                <a:ea typeface="Human Sans" charset="0"/>
                <a:cs typeface="Calibri" panose="020F0502020204030204" pitchFamily="34" charset="0"/>
              </a:rPr>
              <a:t>Qangyu</a:t>
            </a:r>
            <a:r>
              <a:rPr lang="en-US" sz="2800" dirty="0">
                <a:latin typeface="Calibri" panose="020F0502020204030204" pitchFamily="34" charset="0"/>
                <a:ea typeface="Human Sans" charset="0"/>
                <a:cs typeface="Calibri" panose="020F0502020204030204" pitchFamily="34" charset="0"/>
              </a:rPr>
              <a:t>, </a:t>
            </a:r>
            <a:r>
              <a:rPr lang="en-US" sz="2800" dirty="0" err="1">
                <a:latin typeface="Calibri" panose="020F0502020204030204" pitchFamily="34" charset="0"/>
                <a:ea typeface="Human Sans" charset="0"/>
                <a:cs typeface="Calibri" panose="020F0502020204030204" pitchFamily="34" charset="0"/>
              </a:rPr>
              <a:t>Korezmia</a:t>
            </a:r>
            <a:r>
              <a:rPr lang="en-US" sz="2800" dirty="0">
                <a:latin typeface="Calibri" panose="020F0502020204030204" pitchFamily="34" charset="0"/>
                <a:ea typeface="Human Sans" charset="0"/>
                <a:cs typeface="Calibri" panose="020F0502020204030204" pitchFamily="34" charset="0"/>
              </a:rPr>
              <a:t>) and </a:t>
            </a:r>
            <a:r>
              <a:rPr lang="en-US" sz="2800" b="1" dirty="0">
                <a:latin typeface="Calibri" panose="020F0502020204030204" pitchFamily="34" charset="0"/>
                <a:ea typeface="Human Sans" charset="0"/>
                <a:cs typeface="Calibri" panose="020F0502020204030204" pitchFamily="34" charset="0"/>
              </a:rPr>
              <a:t>foreign-based </a:t>
            </a:r>
            <a:r>
              <a:rPr lang="en-US" sz="2800" dirty="0">
                <a:latin typeface="Calibri" panose="020F0502020204030204" pitchFamily="34" charset="0"/>
                <a:ea typeface="Human Sans" charset="0"/>
                <a:cs typeface="Calibri" panose="020F0502020204030204" pitchFamily="34" charset="0"/>
              </a:rPr>
              <a:t>(Achaemenid Empire, Graeco-Bactrian kingdom) </a:t>
            </a:r>
          </a:p>
          <a:p>
            <a:pPr>
              <a:lnSpc>
                <a:spcPct val="110000"/>
              </a:lnSpc>
              <a:spcBef>
                <a:spcPts val="600"/>
              </a:spcBef>
            </a:pPr>
            <a:r>
              <a:rPr lang="en-US" sz="2800" dirty="0">
                <a:latin typeface="Calibri" panose="020F0502020204030204" pitchFamily="34" charset="0"/>
                <a:ea typeface="Human Sans" charset="0"/>
                <a:cs typeface="Calibri" panose="020F0502020204030204" pitchFamily="34" charset="0"/>
              </a:rPr>
              <a:t> </a:t>
            </a:r>
            <a:r>
              <a:rPr lang="en-US" sz="2800" b="1" dirty="0">
                <a:latin typeface="Calibri" panose="020F0502020204030204" pitchFamily="34" charset="0"/>
                <a:ea typeface="Human Sans" charset="0"/>
                <a:cs typeface="Calibri" panose="020F0502020204030204" pitchFamily="34" charset="0"/>
              </a:rPr>
              <a:t>By their typology- </a:t>
            </a:r>
            <a:r>
              <a:rPr lang="en-US" sz="2800" dirty="0">
                <a:latin typeface="Calibri" panose="020F0502020204030204" pitchFamily="34" charset="0"/>
                <a:ea typeface="Human Sans" charset="0"/>
                <a:cs typeface="Calibri" panose="020F0502020204030204" pitchFamily="34" charset="0"/>
              </a:rPr>
              <a:t> </a:t>
            </a:r>
          </a:p>
          <a:p>
            <a:pPr marL="342900" indent="-342900">
              <a:lnSpc>
                <a:spcPct val="110000"/>
              </a:lnSpc>
              <a:spcBef>
                <a:spcPts val="600"/>
              </a:spcBef>
              <a:buAutoNum type="arabicPeriod"/>
            </a:pPr>
            <a:r>
              <a:rPr lang="en-US" sz="2800" b="1" dirty="0">
                <a:latin typeface="Calibri" panose="020F0502020204030204" pitchFamily="34" charset="0"/>
                <a:ea typeface="Human Sans" charset="0"/>
                <a:cs typeface="Calibri" panose="020F0502020204030204" pitchFamily="34" charset="0"/>
              </a:rPr>
              <a:t>State type – Kingdom, form of government – absolute monarchy. </a:t>
            </a:r>
            <a:r>
              <a:rPr lang="en-US" sz="2800" dirty="0">
                <a:latin typeface="Calibri" panose="020F0502020204030204" pitchFamily="34" charset="0"/>
                <a:ea typeface="Human Sans" charset="0"/>
                <a:cs typeface="Calibri" panose="020F0502020204030204" pitchFamily="34" charset="0"/>
              </a:rPr>
              <a:t>(Achaemenid Empire, Graeco-Bactrian kingdom). </a:t>
            </a:r>
          </a:p>
          <a:p>
            <a:pPr marL="342900" indent="-342900">
              <a:lnSpc>
                <a:spcPct val="110000"/>
              </a:lnSpc>
              <a:spcBef>
                <a:spcPts val="600"/>
              </a:spcBef>
              <a:buAutoNum type="arabicPeriod"/>
            </a:pPr>
            <a:r>
              <a:rPr lang="en-US" sz="2800" b="1" dirty="0">
                <a:latin typeface="Calibri" panose="020F0502020204030204" pitchFamily="34" charset="0"/>
                <a:ea typeface="Human Sans" charset="0"/>
                <a:cs typeface="Calibri" panose="020F0502020204030204" pitchFamily="34" charset="0"/>
              </a:rPr>
              <a:t>Theocratic monarchy – </a:t>
            </a:r>
            <a:r>
              <a:rPr lang="en-US" sz="2800" dirty="0">
                <a:latin typeface="Calibri" panose="020F0502020204030204" pitchFamily="34" charset="0"/>
                <a:ea typeface="Human Sans" charset="0"/>
                <a:cs typeface="Calibri" panose="020F0502020204030204" pitchFamily="34" charset="0"/>
              </a:rPr>
              <a:t>Kushan kingdom.</a:t>
            </a:r>
          </a:p>
          <a:p>
            <a:pPr marL="342900" indent="-342900">
              <a:lnSpc>
                <a:spcPct val="110000"/>
              </a:lnSpc>
              <a:spcBef>
                <a:spcPts val="600"/>
              </a:spcBef>
              <a:buAutoNum type="arabicPeriod"/>
            </a:pPr>
            <a:r>
              <a:rPr lang="en-US" sz="2800" dirty="0">
                <a:latin typeface="Calibri" panose="020F0502020204030204" pitchFamily="34" charset="0"/>
                <a:ea typeface="Human Sans" charset="0"/>
                <a:cs typeface="Calibri" panose="020F0502020204030204" pitchFamily="34" charset="0"/>
              </a:rPr>
              <a:t>State type – confederative kingdom, form of government – limited monarchy.  (</a:t>
            </a:r>
            <a:r>
              <a:rPr lang="en-US" sz="2800" dirty="0" err="1">
                <a:latin typeface="Calibri" panose="020F0502020204030204" pitchFamily="34" charset="0"/>
                <a:ea typeface="Human Sans" charset="0"/>
                <a:cs typeface="Calibri" panose="020F0502020204030204" pitchFamily="34" charset="0"/>
              </a:rPr>
              <a:t>Kangju</a:t>
            </a:r>
            <a:r>
              <a:rPr lang="en-US" sz="2800" dirty="0">
                <a:latin typeface="Calibri" panose="020F0502020204030204" pitchFamily="34" charset="0"/>
                <a:ea typeface="Human Sans" charset="0"/>
                <a:cs typeface="Calibri" panose="020F0502020204030204" pitchFamily="34" charset="0"/>
              </a:rPr>
              <a:t> consisting of at least 5 domains and Large Yuezhi).</a:t>
            </a:r>
          </a:p>
          <a:p>
            <a:pPr marL="342900" indent="-342900">
              <a:lnSpc>
                <a:spcPct val="110000"/>
              </a:lnSpc>
              <a:spcBef>
                <a:spcPts val="600"/>
              </a:spcBef>
              <a:buAutoNum type="arabicPeriod"/>
            </a:pPr>
            <a:r>
              <a:rPr lang="en-US" sz="2800" b="1" dirty="0">
                <a:latin typeface="Calibri" panose="020F0502020204030204" pitchFamily="34" charset="0"/>
                <a:ea typeface="Human Sans" charset="0"/>
                <a:cs typeface="Calibri" panose="020F0502020204030204" pitchFamily="34" charset="0"/>
              </a:rPr>
              <a:t>State type- </a:t>
            </a:r>
            <a:r>
              <a:rPr lang="en-US" sz="2800" dirty="0">
                <a:latin typeface="Calibri" panose="020F0502020204030204" pitchFamily="34" charset="0"/>
                <a:ea typeface="Human Sans" charset="0"/>
                <a:cs typeface="Calibri" panose="020F0502020204030204" pitchFamily="34" charset="0"/>
              </a:rPr>
              <a:t>Domain, type of government – hereditary of tribal leaders, head of clans.</a:t>
            </a:r>
          </a:p>
          <a:p>
            <a:pPr>
              <a:lnSpc>
                <a:spcPct val="110000"/>
              </a:lnSpc>
              <a:spcBef>
                <a:spcPts val="600"/>
              </a:spcBef>
            </a:pPr>
            <a:endParaRPr lang="en-US" sz="2800" dirty="0">
              <a:latin typeface="Calibri" panose="020F0502020204030204" pitchFamily="34" charset="0"/>
              <a:ea typeface="Human Sans" charset="0"/>
              <a:cs typeface="Calibri" panose="020F0502020204030204" pitchFamily="34" charset="0"/>
            </a:endParaRPr>
          </a:p>
          <a:p>
            <a:pPr marL="342900" indent="-342900">
              <a:lnSpc>
                <a:spcPct val="110000"/>
              </a:lnSpc>
              <a:spcBef>
                <a:spcPts val="600"/>
              </a:spcBef>
              <a:buAutoNum type="arabicPeriod"/>
            </a:pPr>
            <a:endParaRPr lang="en-US" sz="2800" dirty="0">
              <a:latin typeface="Calibri" panose="020F0502020204030204" pitchFamily="34" charset="0"/>
              <a:ea typeface="Human Sans" charset="0"/>
              <a:cs typeface="Calibri" panose="020F0502020204030204" pitchFamily="34" charset="0"/>
            </a:endParaRPr>
          </a:p>
          <a:p>
            <a:pPr>
              <a:lnSpc>
                <a:spcPct val="110000"/>
              </a:lnSpc>
              <a:spcBef>
                <a:spcPts val="600"/>
              </a:spcBef>
            </a:pPr>
            <a:endParaRPr lang="en-US" sz="2800" dirty="0">
              <a:latin typeface="Calibri" panose="020F0502020204030204" pitchFamily="34" charset="0"/>
              <a:ea typeface="Human Sans" charset="0"/>
              <a:cs typeface="Calibri" panose="020F0502020204030204" pitchFamily="34" charset="0"/>
            </a:endParaRPr>
          </a:p>
          <a:p>
            <a:pPr marL="342900" indent="-342900">
              <a:lnSpc>
                <a:spcPct val="110000"/>
              </a:lnSpc>
              <a:spcBef>
                <a:spcPts val="600"/>
              </a:spcBef>
              <a:buAutoNum type="arabicPeriod"/>
            </a:pPr>
            <a:endParaRPr lang="en-US" sz="2800" b="1" dirty="0">
              <a:latin typeface="Calibri" panose="020F0502020204030204" pitchFamily="34" charset="0"/>
              <a:ea typeface="Human Sans" charset="0"/>
              <a:cs typeface="Calibri" panose="020F0502020204030204" pitchFamily="34" charset="0"/>
            </a:endParaRPr>
          </a:p>
          <a:p>
            <a:endParaRPr lang="en-US" dirty="0"/>
          </a:p>
        </p:txBody>
      </p:sp>
    </p:spTree>
    <p:extLst>
      <p:ext uri="{BB962C8B-B14F-4D97-AF65-F5344CB8AC3E}">
        <p14:creationId xmlns:p14="http://schemas.microsoft.com/office/powerpoint/2010/main" val="1902626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2DC50-8C7C-ABF5-B2E9-35D14E287B0C}"/>
              </a:ext>
            </a:extLst>
          </p:cNvPr>
          <p:cNvSpPr>
            <a:spLocks noGrp="1"/>
          </p:cNvSpPr>
          <p:nvPr>
            <p:ph type="title"/>
          </p:nvPr>
        </p:nvSpPr>
        <p:spPr/>
        <p:txBody>
          <a:bodyPr/>
          <a:lstStyle/>
          <a:p>
            <a:r>
              <a:rPr lang="en-US" dirty="0"/>
              <a:t>History of ancient statehood</a:t>
            </a:r>
          </a:p>
        </p:txBody>
      </p:sp>
      <p:sp>
        <p:nvSpPr>
          <p:cNvPr id="3" name="Content Placeholder 2">
            <a:extLst>
              <a:ext uri="{FF2B5EF4-FFF2-40B4-BE49-F238E27FC236}">
                <a16:creationId xmlns:a16="http://schemas.microsoft.com/office/drawing/2014/main" id="{68FA4727-1E3F-0FE4-9FE3-FCBEEF415C85}"/>
              </a:ext>
            </a:extLst>
          </p:cNvPr>
          <p:cNvSpPr>
            <a:spLocks noGrp="1"/>
          </p:cNvSpPr>
          <p:nvPr>
            <p:ph idx="1"/>
          </p:nvPr>
        </p:nvSpPr>
        <p:spPr>
          <a:xfrm>
            <a:off x="838199" y="1406769"/>
            <a:ext cx="10992730" cy="5317588"/>
          </a:xfrm>
        </p:spPr>
        <p:txBody>
          <a:bodyPr>
            <a:normAutofit fontScale="77500" lnSpcReduction="20000"/>
          </a:bodyPr>
          <a:lstStyle/>
          <a:p>
            <a:pPr>
              <a:lnSpc>
                <a:spcPct val="110000"/>
              </a:lnSpc>
              <a:spcBef>
                <a:spcPts val="600"/>
              </a:spcBef>
            </a:pPr>
            <a:r>
              <a:rPr lang="en-US" sz="2800" dirty="0">
                <a:latin typeface="Calibri" panose="020F0502020204030204" pitchFamily="34" charset="0"/>
                <a:ea typeface="Human Sans" charset="0"/>
                <a:cs typeface="Calibri" panose="020F0502020204030204" pitchFamily="34" charset="0"/>
              </a:rPr>
              <a:t>The first state formations in world history – IV-III millennium BC in Egypt and Mesopotamia</a:t>
            </a:r>
          </a:p>
          <a:p>
            <a:pPr>
              <a:lnSpc>
                <a:spcPct val="110000"/>
              </a:lnSpc>
              <a:spcBef>
                <a:spcPts val="600"/>
              </a:spcBef>
            </a:pPr>
            <a:r>
              <a:rPr lang="en-US" sz="2800" dirty="0">
                <a:latin typeface="Calibri" panose="020F0502020204030204" pitchFamily="34" charset="0"/>
                <a:ea typeface="Human Sans" charset="0"/>
                <a:cs typeface="Calibri" panose="020F0502020204030204" pitchFamily="34" charset="0"/>
              </a:rPr>
              <a:t> In the history of Turkestan, there are different stages of state formation. These stages are because of changes in ruling the country.</a:t>
            </a:r>
          </a:p>
          <a:p>
            <a:pPr>
              <a:lnSpc>
                <a:spcPct val="110000"/>
              </a:lnSpc>
              <a:spcBef>
                <a:spcPts val="600"/>
              </a:spcBef>
            </a:pPr>
            <a:r>
              <a:rPr lang="en-US" sz="2800" b="1" dirty="0">
                <a:latin typeface="Calibri" panose="020F0502020204030204" pitchFamily="34" charset="0"/>
                <a:ea typeface="Human Sans" charset="0"/>
                <a:cs typeface="Calibri" panose="020F0502020204030204" pitchFamily="34" charset="0"/>
              </a:rPr>
              <a:t>1-period</a:t>
            </a:r>
            <a:r>
              <a:rPr lang="en-US" sz="2800" dirty="0">
                <a:latin typeface="Calibri" panose="020F0502020204030204" pitchFamily="34" charset="0"/>
                <a:ea typeface="Human Sans" charset="0"/>
                <a:cs typeface="Calibri" panose="020F0502020204030204" pitchFamily="34" charset="0"/>
              </a:rPr>
              <a:t>. The development of early state-like forms in North Bactria in the second half of the II millennium BC.</a:t>
            </a:r>
          </a:p>
          <a:p>
            <a:pPr>
              <a:lnSpc>
                <a:spcPct val="110000"/>
              </a:lnSpc>
              <a:spcBef>
                <a:spcPts val="600"/>
              </a:spcBef>
            </a:pPr>
            <a:r>
              <a:rPr lang="en-US" sz="2800" b="1" dirty="0">
                <a:latin typeface="Calibri" panose="020F0502020204030204" pitchFamily="34" charset="0"/>
                <a:ea typeface="Human Sans" charset="0"/>
                <a:cs typeface="Calibri" panose="020F0502020204030204" pitchFamily="34" charset="0"/>
              </a:rPr>
              <a:t>2-period. </a:t>
            </a:r>
            <a:r>
              <a:rPr lang="en-US" sz="2800" dirty="0">
                <a:latin typeface="Calibri" panose="020F0502020204030204" pitchFamily="34" charset="0"/>
                <a:ea typeface="Human Sans" charset="0"/>
                <a:cs typeface="Calibri" panose="020F0502020204030204" pitchFamily="34" charset="0"/>
              </a:rPr>
              <a:t> Beginning of the I millennium BC – late VI century BC. The formation of the states of Bactria, </a:t>
            </a:r>
            <a:r>
              <a:rPr lang="en-US" sz="2800" dirty="0" err="1">
                <a:latin typeface="Calibri" panose="020F0502020204030204" pitchFamily="34" charset="0"/>
                <a:ea typeface="Human Sans" charset="0"/>
                <a:cs typeface="Calibri" panose="020F0502020204030204" pitchFamily="34" charset="0"/>
              </a:rPr>
              <a:t>Sogdia</a:t>
            </a:r>
            <a:r>
              <a:rPr lang="en-US" sz="2800" dirty="0">
                <a:latin typeface="Calibri" panose="020F0502020204030204" pitchFamily="34" charset="0"/>
                <a:ea typeface="Human Sans" charset="0"/>
                <a:cs typeface="Calibri" panose="020F0502020204030204" pitchFamily="34" charset="0"/>
              </a:rPr>
              <a:t> and Khwarazm.</a:t>
            </a:r>
          </a:p>
          <a:p>
            <a:pPr>
              <a:lnSpc>
                <a:spcPct val="110000"/>
              </a:lnSpc>
              <a:spcBef>
                <a:spcPts val="600"/>
              </a:spcBef>
            </a:pPr>
            <a:r>
              <a:rPr lang="en-US" sz="2800" b="1" dirty="0">
                <a:latin typeface="Calibri" panose="020F0502020204030204" pitchFamily="34" charset="0"/>
                <a:ea typeface="Human Sans" charset="0"/>
                <a:cs typeface="Calibri" panose="020F0502020204030204" pitchFamily="34" charset="0"/>
              </a:rPr>
              <a:t>3-period. </a:t>
            </a:r>
            <a:r>
              <a:rPr lang="en-US" sz="2800" dirty="0">
                <a:latin typeface="Calibri" panose="020F0502020204030204" pitchFamily="34" charset="0"/>
                <a:ea typeface="Human Sans" charset="0"/>
                <a:cs typeface="Calibri" panose="020F0502020204030204" pitchFamily="34" charset="0"/>
              </a:rPr>
              <a:t>Early V century BC – 329 BC. In this period, the area was controlled by Achaemenids.</a:t>
            </a:r>
          </a:p>
          <a:p>
            <a:pPr>
              <a:lnSpc>
                <a:spcPct val="110000"/>
              </a:lnSpc>
              <a:spcBef>
                <a:spcPts val="600"/>
              </a:spcBef>
            </a:pPr>
            <a:r>
              <a:rPr lang="en-US" sz="2800" b="1" dirty="0">
                <a:latin typeface="Calibri" panose="020F0502020204030204" pitchFamily="34" charset="0"/>
                <a:ea typeface="Human Sans" charset="0"/>
                <a:cs typeface="Calibri" panose="020F0502020204030204" pitchFamily="34" charset="0"/>
              </a:rPr>
              <a:t>4-period. </a:t>
            </a:r>
            <a:r>
              <a:rPr lang="en-US" sz="2800" dirty="0">
                <a:latin typeface="Calibri" panose="020F0502020204030204" pitchFamily="34" charset="0"/>
                <a:ea typeface="Human Sans" charset="0"/>
                <a:cs typeface="Calibri" panose="020F0502020204030204" pitchFamily="34" charset="0"/>
              </a:rPr>
              <a:t>The end of the IV century BC – late II century BC. The existence of two types of states. Hellenistic and </a:t>
            </a:r>
            <a:r>
              <a:rPr lang="en-US" sz="2800" dirty="0" err="1">
                <a:latin typeface="Calibri" panose="020F0502020204030204" pitchFamily="34" charset="0"/>
                <a:ea typeface="Human Sans" charset="0"/>
                <a:cs typeface="Calibri" panose="020F0502020204030204" pitchFamily="34" charset="0"/>
              </a:rPr>
              <a:t>Khwarazmian</a:t>
            </a:r>
            <a:r>
              <a:rPr lang="en-US" sz="2800" dirty="0">
                <a:latin typeface="Calibri" panose="020F0502020204030204" pitchFamily="34" charset="0"/>
                <a:ea typeface="Human Sans" charset="0"/>
                <a:cs typeface="Calibri" panose="020F0502020204030204" pitchFamily="34" charset="0"/>
              </a:rPr>
              <a:t> and </a:t>
            </a:r>
            <a:r>
              <a:rPr lang="en-US" sz="2800" dirty="0" err="1">
                <a:latin typeface="Calibri" panose="020F0502020204030204" pitchFamily="34" charset="0"/>
                <a:ea typeface="Human Sans" charset="0"/>
                <a:cs typeface="Calibri" panose="020F0502020204030204" pitchFamily="34" charset="0"/>
              </a:rPr>
              <a:t>Kangyu</a:t>
            </a:r>
            <a:r>
              <a:rPr lang="en-US" sz="2800" dirty="0">
                <a:latin typeface="Calibri" panose="020F0502020204030204" pitchFamily="34" charset="0"/>
                <a:ea typeface="Human Sans" charset="0"/>
                <a:cs typeface="Calibri" panose="020F0502020204030204" pitchFamily="34" charset="0"/>
              </a:rPr>
              <a:t> states.</a:t>
            </a:r>
          </a:p>
          <a:p>
            <a:pPr>
              <a:lnSpc>
                <a:spcPct val="110000"/>
              </a:lnSpc>
              <a:spcBef>
                <a:spcPts val="600"/>
              </a:spcBef>
            </a:pPr>
            <a:r>
              <a:rPr lang="en-US" sz="2800" b="1" dirty="0">
                <a:latin typeface="Calibri" panose="020F0502020204030204" pitchFamily="34" charset="0"/>
                <a:ea typeface="Human Sans" charset="0"/>
                <a:cs typeface="Calibri" panose="020F0502020204030204" pitchFamily="34" charset="0"/>
              </a:rPr>
              <a:t>5-period. </a:t>
            </a:r>
            <a:r>
              <a:rPr lang="en-US" sz="2800" dirty="0">
                <a:latin typeface="Calibri" panose="020F0502020204030204" pitchFamily="34" charset="0"/>
                <a:ea typeface="Human Sans" charset="0"/>
                <a:cs typeface="Calibri" panose="020F0502020204030204" pitchFamily="34" charset="0"/>
              </a:rPr>
              <a:t>Late II century BC – I century AD. </a:t>
            </a:r>
            <a:r>
              <a:rPr lang="en-US" sz="2800" dirty="0" err="1">
                <a:latin typeface="Calibri" panose="020F0502020204030204" pitchFamily="34" charset="0"/>
                <a:ea typeface="Human Sans" charset="0"/>
                <a:cs typeface="Calibri" panose="020F0502020204030204" pitchFamily="34" charset="0"/>
              </a:rPr>
              <a:t>Kushanian</a:t>
            </a:r>
            <a:r>
              <a:rPr lang="en-US" sz="2800" dirty="0">
                <a:latin typeface="Calibri" panose="020F0502020204030204" pitchFamily="34" charset="0"/>
                <a:ea typeface="Human Sans" charset="0"/>
                <a:cs typeface="Calibri" panose="020F0502020204030204" pitchFamily="34" charset="0"/>
              </a:rPr>
              <a:t> kingdom.</a:t>
            </a:r>
          </a:p>
          <a:p>
            <a:pPr>
              <a:lnSpc>
                <a:spcPct val="110000"/>
              </a:lnSpc>
              <a:spcBef>
                <a:spcPts val="600"/>
              </a:spcBef>
            </a:pPr>
            <a:r>
              <a:rPr lang="en-US" sz="2800" b="1" dirty="0">
                <a:latin typeface="Calibri" panose="020F0502020204030204" pitchFamily="34" charset="0"/>
                <a:ea typeface="Human Sans" charset="0"/>
                <a:cs typeface="Calibri" panose="020F0502020204030204" pitchFamily="34" charset="0"/>
              </a:rPr>
              <a:t>6-period. </a:t>
            </a:r>
            <a:r>
              <a:rPr lang="en-US" sz="2800" dirty="0">
                <a:latin typeface="Calibri" panose="020F0502020204030204" pitchFamily="34" charset="0"/>
                <a:ea typeface="Human Sans" charset="0"/>
                <a:cs typeface="Calibri" panose="020F0502020204030204" pitchFamily="34" charset="0"/>
              </a:rPr>
              <a:t>I-III centuries. Development and growth of antient statehood and its final stage in ancient period.</a:t>
            </a:r>
            <a:endParaRPr lang="en-US" dirty="0"/>
          </a:p>
        </p:txBody>
      </p:sp>
    </p:spTree>
    <p:extLst>
      <p:ext uri="{BB962C8B-B14F-4D97-AF65-F5344CB8AC3E}">
        <p14:creationId xmlns:p14="http://schemas.microsoft.com/office/powerpoint/2010/main" val="3716938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2DF9F-2FF5-569E-9976-1850AE950A60}"/>
              </a:ext>
            </a:extLst>
          </p:cNvPr>
          <p:cNvSpPr>
            <a:spLocks noGrp="1"/>
          </p:cNvSpPr>
          <p:nvPr>
            <p:ph type="title"/>
          </p:nvPr>
        </p:nvSpPr>
        <p:spPr/>
        <p:txBody>
          <a:bodyPr/>
          <a:lstStyle/>
          <a:p>
            <a:r>
              <a:rPr lang="en-US" sz="4400" dirty="0">
                <a:latin typeface="Calibri" panose="020F0502020204030204" pitchFamily="34" charset="0"/>
              </a:rPr>
              <a:t>Primary states</a:t>
            </a:r>
            <a:endParaRPr lang="en-US" dirty="0"/>
          </a:p>
        </p:txBody>
      </p:sp>
      <p:sp>
        <p:nvSpPr>
          <p:cNvPr id="3" name="Content Placeholder 2">
            <a:extLst>
              <a:ext uri="{FF2B5EF4-FFF2-40B4-BE49-F238E27FC236}">
                <a16:creationId xmlns:a16="http://schemas.microsoft.com/office/drawing/2014/main" id="{E305B64C-BA53-1227-59D4-2694D2731793}"/>
              </a:ext>
            </a:extLst>
          </p:cNvPr>
          <p:cNvSpPr>
            <a:spLocks noGrp="1"/>
          </p:cNvSpPr>
          <p:nvPr>
            <p:ph idx="1"/>
          </p:nvPr>
        </p:nvSpPr>
        <p:spPr>
          <a:xfrm>
            <a:off x="838199" y="1825625"/>
            <a:ext cx="10922391" cy="4898732"/>
          </a:xfrm>
        </p:spPr>
        <p:txBody>
          <a:bodyPr>
            <a:normAutofit fontScale="70000" lnSpcReduction="20000"/>
          </a:bodyPr>
          <a:lstStyle/>
          <a:p>
            <a:pPr>
              <a:lnSpc>
                <a:spcPct val="110000"/>
              </a:lnSpc>
              <a:spcBef>
                <a:spcPts val="600"/>
              </a:spcBef>
            </a:pPr>
            <a:r>
              <a:rPr lang="en-US" sz="2800" dirty="0">
                <a:latin typeface="Calibri" panose="020F0502020204030204" pitchFamily="34" charset="0"/>
                <a:ea typeface="Human Sans" charset="0"/>
                <a:cs typeface="Calibri" panose="020F0502020204030204" pitchFamily="34" charset="0"/>
              </a:rPr>
              <a:t>Turkestan is a specific </a:t>
            </a:r>
            <a:r>
              <a:rPr lang="en-US" sz="2800" dirty="0" err="1">
                <a:latin typeface="Calibri" panose="020F0502020204030204" pitchFamily="34" charset="0"/>
                <a:ea typeface="Human Sans" charset="0"/>
                <a:cs typeface="Calibri" panose="020F0502020204030204" pitchFamily="34" charset="0"/>
              </a:rPr>
              <a:t>historico</a:t>
            </a:r>
            <a:r>
              <a:rPr lang="en-US" sz="2800" dirty="0">
                <a:latin typeface="Calibri" panose="020F0502020204030204" pitchFamily="34" charset="0"/>
                <a:ea typeface="Human Sans" charset="0"/>
                <a:cs typeface="Calibri" panose="020F0502020204030204" pitchFamily="34" charset="0"/>
              </a:rPr>
              <a:t>-geographical and </a:t>
            </a:r>
            <a:r>
              <a:rPr lang="en-US" sz="2800" dirty="0" err="1">
                <a:latin typeface="Calibri" panose="020F0502020204030204" pitchFamily="34" charset="0"/>
                <a:ea typeface="Human Sans" charset="0"/>
                <a:cs typeface="Calibri" panose="020F0502020204030204" pitchFamily="34" charset="0"/>
              </a:rPr>
              <a:t>historico</a:t>
            </a:r>
            <a:r>
              <a:rPr lang="en-US" sz="2800" dirty="0">
                <a:latin typeface="Calibri" panose="020F0502020204030204" pitchFamily="34" charset="0"/>
                <a:ea typeface="Human Sans" charset="0"/>
                <a:cs typeface="Calibri" panose="020F0502020204030204" pitchFamily="34" charset="0"/>
              </a:rPr>
              <a:t>-cultural region civilizations had existed over many </a:t>
            </a:r>
            <a:r>
              <a:rPr lang="en-US" sz="2800" dirty="0" err="1">
                <a:latin typeface="Calibri" panose="020F0502020204030204" pitchFamily="34" charset="0"/>
                <a:ea typeface="Human Sans" charset="0"/>
                <a:cs typeface="Calibri" panose="020F0502020204030204" pitchFamily="34" charset="0"/>
              </a:rPr>
              <a:t>millenia</a:t>
            </a:r>
            <a:r>
              <a:rPr lang="en-US" sz="2800" dirty="0">
                <a:latin typeface="Calibri" panose="020F0502020204030204" pitchFamily="34" charset="0"/>
                <a:ea typeface="Human Sans" charset="0"/>
                <a:cs typeface="Calibri" panose="020F0502020204030204" pitchFamily="34" charset="0"/>
              </a:rPr>
              <a:t> due to two great rivers (The </a:t>
            </a:r>
            <a:r>
              <a:rPr lang="en-US" sz="2800" dirty="0" err="1">
                <a:latin typeface="Calibri" panose="020F0502020204030204" pitchFamily="34" charset="0"/>
                <a:ea typeface="Human Sans" charset="0"/>
                <a:cs typeface="Calibri" panose="020F0502020204030204" pitchFamily="34" charset="0"/>
              </a:rPr>
              <a:t>Amudarya</a:t>
            </a:r>
            <a:r>
              <a:rPr lang="en-US" sz="2800" dirty="0">
                <a:latin typeface="Calibri" panose="020F0502020204030204" pitchFamily="34" charset="0"/>
                <a:ea typeface="Human Sans" charset="0"/>
                <a:cs typeface="Calibri" panose="020F0502020204030204" pitchFamily="34" charset="0"/>
              </a:rPr>
              <a:t> and the </a:t>
            </a:r>
            <a:r>
              <a:rPr lang="en-US" sz="2800" dirty="0" err="1">
                <a:latin typeface="Calibri" panose="020F0502020204030204" pitchFamily="34" charset="0"/>
                <a:ea typeface="Human Sans" charset="0"/>
                <a:cs typeface="Calibri" panose="020F0502020204030204" pitchFamily="34" charset="0"/>
              </a:rPr>
              <a:t>Syrdarya</a:t>
            </a:r>
            <a:r>
              <a:rPr lang="en-US" sz="2800" dirty="0">
                <a:latin typeface="Calibri" panose="020F0502020204030204" pitchFamily="34" charset="0"/>
                <a:ea typeface="Human Sans" charset="0"/>
                <a:cs typeface="Calibri" panose="020F0502020204030204" pitchFamily="34" charset="0"/>
              </a:rPr>
              <a:t>).</a:t>
            </a:r>
          </a:p>
          <a:p>
            <a:pPr>
              <a:lnSpc>
                <a:spcPct val="110000"/>
              </a:lnSpc>
              <a:spcBef>
                <a:spcPts val="600"/>
              </a:spcBef>
            </a:pPr>
            <a:r>
              <a:rPr lang="en-US" sz="2800" b="1" dirty="0">
                <a:latin typeface="Calibri" panose="020F0502020204030204" pitchFamily="34" charset="0"/>
                <a:ea typeface="Human Sans" charset="0"/>
                <a:cs typeface="Calibri" panose="020F0502020204030204" pitchFamily="34" charset="0"/>
              </a:rPr>
              <a:t>Bactria. </a:t>
            </a:r>
            <a:r>
              <a:rPr lang="en-US" sz="2800" dirty="0">
                <a:latin typeface="Calibri" panose="020F0502020204030204" pitchFamily="34" charset="0"/>
                <a:ea typeface="Human Sans" charset="0"/>
                <a:cs typeface="Calibri" panose="020F0502020204030204" pitchFamily="34" charset="0"/>
              </a:rPr>
              <a:t>In contemporary Afghanistan, southern Uzbekistan and Tajikistan. The capital was Bactra. In the late II millennium BC, the region saw the emergence of proto-cities, which later consolidated to form the state called the Ancient Bactrian Kingdom. In the VI century it was occupied by Achaemenids, and later by Alexandre Macedonian. After that it was a capital of </a:t>
            </a:r>
            <a:r>
              <a:rPr lang="en-US" sz="2800" dirty="0" err="1">
                <a:latin typeface="Calibri" panose="020F0502020204030204" pitchFamily="34" charset="0"/>
                <a:ea typeface="Human Sans" charset="0"/>
                <a:cs typeface="Calibri" panose="020F0502020204030204" pitchFamily="34" charset="0"/>
              </a:rPr>
              <a:t>Greko</a:t>
            </a:r>
            <a:r>
              <a:rPr lang="en-US" sz="2800" dirty="0">
                <a:latin typeface="Calibri" panose="020F0502020204030204" pitchFamily="34" charset="0"/>
                <a:ea typeface="Human Sans" charset="0"/>
                <a:cs typeface="Calibri" panose="020F0502020204030204" pitchFamily="34" charset="0"/>
              </a:rPr>
              <a:t>-Bactrian </a:t>
            </a:r>
            <a:r>
              <a:rPr lang="en-US" sz="2800" dirty="0" err="1">
                <a:latin typeface="Calibri" panose="020F0502020204030204" pitchFamily="34" charset="0"/>
                <a:ea typeface="Human Sans" charset="0"/>
                <a:cs typeface="Calibri" panose="020F0502020204030204" pitchFamily="34" charset="0"/>
              </a:rPr>
              <a:t>Knigdom</a:t>
            </a:r>
            <a:r>
              <a:rPr lang="en-US" sz="2800" dirty="0">
                <a:latin typeface="Calibri" panose="020F0502020204030204" pitchFamily="34" charset="0"/>
                <a:ea typeface="Human Sans" charset="0"/>
                <a:cs typeface="Calibri" panose="020F0502020204030204" pitchFamily="34" charset="0"/>
              </a:rPr>
              <a:t> by the time </a:t>
            </a:r>
            <a:r>
              <a:rPr lang="en-US" sz="2800" dirty="0" err="1">
                <a:latin typeface="Calibri" panose="020F0502020204030204" pitchFamily="34" charset="0"/>
                <a:ea typeface="Human Sans" charset="0"/>
                <a:cs typeface="Calibri" panose="020F0502020204030204" pitchFamily="34" charset="0"/>
              </a:rPr>
              <a:t>Tokhars</a:t>
            </a:r>
            <a:r>
              <a:rPr lang="en-US" sz="2800" dirty="0">
                <a:latin typeface="Calibri" panose="020F0502020204030204" pitchFamily="34" charset="0"/>
                <a:ea typeface="Human Sans" charset="0"/>
                <a:cs typeface="Calibri" panose="020F0502020204030204" pitchFamily="34" charset="0"/>
              </a:rPr>
              <a:t> succeeded.</a:t>
            </a:r>
          </a:p>
          <a:p>
            <a:pPr>
              <a:lnSpc>
                <a:spcPct val="110000"/>
              </a:lnSpc>
              <a:spcBef>
                <a:spcPts val="600"/>
              </a:spcBef>
            </a:pPr>
            <a:r>
              <a:rPr lang="en-US" sz="2800" b="1" dirty="0" err="1">
                <a:latin typeface="Calibri" panose="020F0502020204030204" pitchFamily="34" charset="0"/>
                <a:ea typeface="Human Sans" charset="0"/>
                <a:cs typeface="Calibri" panose="020F0502020204030204" pitchFamily="34" charset="0"/>
              </a:rPr>
              <a:t>Sogdia</a:t>
            </a:r>
            <a:r>
              <a:rPr lang="en-US" sz="2800" dirty="0">
                <a:latin typeface="Calibri" panose="020F0502020204030204" pitchFamily="34" charset="0"/>
                <a:ea typeface="Human Sans" charset="0"/>
                <a:cs typeface="Calibri" panose="020F0502020204030204" pitchFamily="34" charset="0"/>
              </a:rPr>
              <a:t> was established in the in Central Uzbekistan. The capital was present Samarkand. In VI-IV centuries, it was a satrapy of </a:t>
            </a:r>
            <a:r>
              <a:rPr lang="en-US" sz="2800" dirty="0" err="1">
                <a:latin typeface="Calibri" panose="020F0502020204030204" pitchFamily="34" charset="0"/>
                <a:ea typeface="Human Sans" charset="0"/>
                <a:cs typeface="Calibri" panose="020F0502020204030204" pitchFamily="34" charset="0"/>
              </a:rPr>
              <a:t>Acheamenids</a:t>
            </a:r>
            <a:r>
              <a:rPr lang="en-US" sz="2800" dirty="0">
                <a:latin typeface="Calibri" panose="020F0502020204030204" pitchFamily="34" charset="0"/>
                <a:ea typeface="Human Sans" charset="0"/>
                <a:cs typeface="Calibri" panose="020F0502020204030204" pitchFamily="34" charset="0"/>
              </a:rPr>
              <a:t>. In 329 BC, it was attacked by A. Macedonian and occupied two years later. </a:t>
            </a:r>
          </a:p>
          <a:p>
            <a:pPr>
              <a:lnSpc>
                <a:spcPct val="110000"/>
              </a:lnSpc>
              <a:spcBef>
                <a:spcPts val="600"/>
              </a:spcBef>
            </a:pPr>
            <a:r>
              <a:rPr lang="en-US" sz="2800" b="1" dirty="0" err="1">
                <a:latin typeface="Calibri" panose="020F0502020204030204" pitchFamily="34" charset="0"/>
                <a:ea typeface="Human Sans" charset="0"/>
                <a:cs typeface="Calibri" panose="020F0502020204030204" pitchFamily="34" charset="0"/>
              </a:rPr>
              <a:t>Khoresmia</a:t>
            </a:r>
            <a:r>
              <a:rPr lang="en-US" sz="2800" b="1" dirty="0">
                <a:latin typeface="Calibri" panose="020F0502020204030204" pitchFamily="34" charset="0"/>
                <a:ea typeface="Human Sans" charset="0"/>
                <a:cs typeface="Calibri" panose="020F0502020204030204" pitchFamily="34" charset="0"/>
              </a:rPr>
              <a:t> </a:t>
            </a:r>
            <a:r>
              <a:rPr lang="en-US" sz="2800" dirty="0">
                <a:latin typeface="Calibri" panose="020F0502020204030204" pitchFamily="34" charset="0"/>
                <a:ea typeface="Human Sans" charset="0"/>
                <a:cs typeface="Calibri" panose="020F0502020204030204" pitchFamily="34" charset="0"/>
              </a:rPr>
              <a:t>developed in present sites of Khwarazm. In the VII century, it was a </a:t>
            </a:r>
            <a:r>
              <a:rPr lang="en-US" sz="2800" dirty="0" err="1">
                <a:latin typeface="Calibri" panose="020F0502020204030204" pitchFamily="34" charset="0"/>
                <a:ea typeface="Human Sans" charset="0"/>
                <a:cs typeface="Calibri" panose="020F0502020204030204" pitchFamily="34" charset="0"/>
              </a:rPr>
              <a:t>centre</a:t>
            </a:r>
            <a:r>
              <a:rPr lang="en-US" sz="2800" dirty="0">
                <a:latin typeface="Calibri" panose="020F0502020204030204" pitchFamily="34" charset="0"/>
                <a:ea typeface="Human Sans" charset="0"/>
                <a:cs typeface="Calibri" panose="020F0502020204030204" pitchFamily="34" charset="0"/>
              </a:rPr>
              <a:t> of Great Khwarazm. In the late VI century BC, it was occupied by Achaemenids. Alexandre Macedonian dd not attack on it since its ruler was smart in foreign policy. It kept its independence by the time Arabs occupied.</a:t>
            </a:r>
          </a:p>
          <a:p>
            <a:pPr>
              <a:lnSpc>
                <a:spcPct val="110000"/>
              </a:lnSpc>
              <a:spcBef>
                <a:spcPts val="600"/>
              </a:spcBef>
            </a:pPr>
            <a:r>
              <a:rPr lang="en-US" sz="2800" b="1" dirty="0" err="1">
                <a:latin typeface="Calibri" panose="020F0502020204030204" pitchFamily="34" charset="0"/>
                <a:ea typeface="Human Sans" charset="0"/>
                <a:cs typeface="Calibri" panose="020F0502020204030204" pitchFamily="34" charset="0"/>
              </a:rPr>
              <a:t>Dawan</a:t>
            </a:r>
            <a:r>
              <a:rPr lang="en-US" sz="2800" dirty="0">
                <a:latin typeface="Calibri" panose="020F0502020204030204" pitchFamily="34" charset="0"/>
                <a:ea typeface="Human Sans" charset="0"/>
                <a:cs typeface="Calibri" panose="020F0502020204030204" pitchFamily="34" charset="0"/>
              </a:rPr>
              <a:t> – A state that was developed in Ferghana valley. Zhang Qian noted that there were 70 big and small towns. </a:t>
            </a:r>
          </a:p>
          <a:p>
            <a:pPr>
              <a:lnSpc>
                <a:spcPct val="110000"/>
              </a:lnSpc>
              <a:spcBef>
                <a:spcPts val="600"/>
              </a:spcBef>
            </a:pPr>
            <a:endParaRPr lang="en-US" sz="2800" dirty="0">
              <a:latin typeface="Calibri" panose="020F0502020204030204" pitchFamily="34" charset="0"/>
              <a:ea typeface="Human Sans" charset="0"/>
              <a:cs typeface="Calibri" panose="020F0502020204030204" pitchFamily="34" charset="0"/>
            </a:endParaRPr>
          </a:p>
          <a:p>
            <a:pPr>
              <a:lnSpc>
                <a:spcPct val="110000"/>
              </a:lnSpc>
              <a:spcBef>
                <a:spcPts val="600"/>
              </a:spcBef>
            </a:pPr>
            <a:endParaRPr lang="en-US" sz="2800" dirty="0">
              <a:latin typeface="Calibri" panose="020F0502020204030204" pitchFamily="34" charset="0"/>
              <a:ea typeface="Human Sans" charset="0"/>
              <a:cs typeface="Calibri" panose="020F0502020204030204" pitchFamily="34" charset="0"/>
            </a:endParaRPr>
          </a:p>
          <a:p>
            <a:endParaRPr lang="en-US" dirty="0"/>
          </a:p>
        </p:txBody>
      </p:sp>
    </p:spTree>
    <p:extLst>
      <p:ext uri="{BB962C8B-B14F-4D97-AF65-F5344CB8AC3E}">
        <p14:creationId xmlns:p14="http://schemas.microsoft.com/office/powerpoint/2010/main" val="3059856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47087-6FFE-1E4A-176E-3190E541EC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702936-FF60-D8C8-45B2-87959563AF84}"/>
              </a:ext>
            </a:extLst>
          </p:cNvPr>
          <p:cNvSpPr>
            <a:spLocks noGrp="1"/>
          </p:cNvSpPr>
          <p:nvPr>
            <p:ph idx="1"/>
          </p:nvPr>
        </p:nvSpPr>
        <p:spPr/>
        <p:txBody>
          <a:bodyPr/>
          <a:lstStyle/>
          <a:p>
            <a:endParaRPr lang="en-US"/>
          </a:p>
        </p:txBody>
      </p:sp>
      <p:pic>
        <p:nvPicPr>
          <p:cNvPr id="4" name="Picture 3" descr="The Greeks in the East: How a Powerful Greek Kingdom Arose in Afghanistan">
            <a:extLst>
              <a:ext uri="{FF2B5EF4-FFF2-40B4-BE49-F238E27FC236}">
                <a16:creationId xmlns:a16="http://schemas.microsoft.com/office/drawing/2014/main" id="{5D53C32B-C821-A03B-D0CB-1332AD7D34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094" y="916285"/>
            <a:ext cx="5713830" cy="458805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Map of Soghdia">
            <a:extLst>
              <a:ext uri="{FF2B5EF4-FFF2-40B4-BE49-F238E27FC236}">
                <a16:creationId xmlns:a16="http://schemas.microsoft.com/office/drawing/2014/main" id="{2644E8FD-F909-61FF-DFC9-BED718EF87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1924" y="916285"/>
            <a:ext cx="6034553" cy="4375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9703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9BAFF-CBCE-9C9D-F34F-ABC2FC1A7301}"/>
              </a:ext>
            </a:extLst>
          </p:cNvPr>
          <p:cNvSpPr>
            <a:spLocks noGrp="1"/>
          </p:cNvSpPr>
          <p:nvPr>
            <p:ph type="title"/>
          </p:nvPr>
        </p:nvSpPr>
        <p:spPr/>
        <p:txBody>
          <a:bodyPr/>
          <a:lstStyle/>
          <a:p>
            <a:r>
              <a:rPr lang="en-US" sz="4400" dirty="0">
                <a:latin typeface="Calibri" panose="020F0502020204030204" pitchFamily="34" charset="0"/>
              </a:rPr>
              <a:t>Titles of rulers</a:t>
            </a:r>
            <a:endParaRPr lang="en-US" dirty="0"/>
          </a:p>
        </p:txBody>
      </p:sp>
      <p:sp>
        <p:nvSpPr>
          <p:cNvPr id="3" name="Content Placeholder 2">
            <a:extLst>
              <a:ext uri="{FF2B5EF4-FFF2-40B4-BE49-F238E27FC236}">
                <a16:creationId xmlns:a16="http://schemas.microsoft.com/office/drawing/2014/main" id="{2B2084C2-B01D-AAE0-BE9A-EAE99E53CB73}"/>
              </a:ext>
            </a:extLst>
          </p:cNvPr>
          <p:cNvSpPr>
            <a:spLocks noGrp="1"/>
          </p:cNvSpPr>
          <p:nvPr>
            <p:ph idx="1"/>
          </p:nvPr>
        </p:nvSpPr>
        <p:spPr/>
        <p:txBody>
          <a:bodyPr>
            <a:normAutofit fontScale="92500" lnSpcReduction="20000"/>
          </a:bodyPr>
          <a:lstStyle/>
          <a:p>
            <a:pPr>
              <a:lnSpc>
                <a:spcPct val="110000"/>
              </a:lnSpc>
              <a:spcBef>
                <a:spcPts val="600"/>
              </a:spcBef>
            </a:pPr>
            <a:r>
              <a:rPr lang="en-US" sz="2800" dirty="0">
                <a:latin typeface="Calibri" panose="020F0502020204030204" pitchFamily="34" charset="0"/>
                <a:ea typeface="Human Sans" charset="0"/>
                <a:cs typeface="Calibri" panose="020F0502020204030204" pitchFamily="34" charset="0"/>
              </a:rPr>
              <a:t>Indian factor – Bago </a:t>
            </a:r>
            <a:r>
              <a:rPr lang="en-US" sz="2800" dirty="0" err="1">
                <a:latin typeface="Calibri" panose="020F0502020204030204" pitchFamily="34" charset="0"/>
                <a:ea typeface="Human Sans" charset="0"/>
                <a:cs typeface="Calibri" panose="020F0502020204030204" pitchFamily="34" charset="0"/>
              </a:rPr>
              <a:t>pauro</a:t>
            </a:r>
            <a:r>
              <a:rPr lang="en-US" sz="2800" dirty="0">
                <a:latin typeface="Calibri" panose="020F0502020204030204" pitchFamily="34" charset="0"/>
                <a:ea typeface="Human Sans" charset="0"/>
                <a:cs typeface="Calibri" panose="020F0502020204030204" pitchFamily="34" charset="0"/>
              </a:rPr>
              <a:t> (Son of God) in Bactria</a:t>
            </a:r>
          </a:p>
          <a:p>
            <a:pPr>
              <a:lnSpc>
                <a:spcPct val="110000"/>
              </a:lnSpc>
              <a:spcBef>
                <a:spcPts val="600"/>
              </a:spcBef>
            </a:pPr>
            <a:r>
              <a:rPr lang="en-US" sz="2800" dirty="0" err="1">
                <a:latin typeface="Calibri" panose="020F0502020204030204" pitchFamily="34" charset="0"/>
                <a:ea typeface="Human Sans" charset="0"/>
                <a:cs typeface="Calibri" panose="020F0502020204030204" pitchFamily="34" charset="0"/>
              </a:rPr>
              <a:t>Iranianr</a:t>
            </a:r>
            <a:r>
              <a:rPr lang="en-US" sz="2800" dirty="0">
                <a:latin typeface="Calibri" panose="020F0502020204030204" pitchFamily="34" charset="0"/>
                <a:ea typeface="Human Sans" charset="0"/>
                <a:cs typeface="Calibri" panose="020F0502020204030204" pitchFamily="34" charset="0"/>
              </a:rPr>
              <a:t> factor – King of Kings (</a:t>
            </a:r>
            <a:r>
              <a:rPr lang="en-US" sz="2800" dirty="0" err="1">
                <a:latin typeface="Calibri" panose="020F0502020204030204" pitchFamily="34" charset="0"/>
                <a:ea typeface="Human Sans" charset="0"/>
                <a:cs typeface="Calibri" panose="020F0502020204030204" pitchFamily="34" charset="0"/>
              </a:rPr>
              <a:t>shahanshah</a:t>
            </a:r>
            <a:r>
              <a:rPr lang="en-US" sz="2800" dirty="0">
                <a:latin typeface="Calibri" panose="020F0502020204030204" pitchFamily="34" charset="0"/>
                <a:ea typeface="Human Sans" charset="0"/>
                <a:cs typeface="Calibri" panose="020F0502020204030204" pitchFamily="34" charset="0"/>
              </a:rPr>
              <a:t>) </a:t>
            </a:r>
          </a:p>
          <a:p>
            <a:pPr>
              <a:lnSpc>
                <a:spcPct val="110000"/>
              </a:lnSpc>
              <a:spcBef>
                <a:spcPts val="600"/>
              </a:spcBef>
            </a:pPr>
            <a:r>
              <a:rPr lang="en-US" sz="2800" dirty="0">
                <a:latin typeface="Calibri" panose="020F0502020204030204" pitchFamily="34" charset="0"/>
                <a:ea typeface="Human Sans" charset="0"/>
                <a:cs typeface="Calibri" panose="020F0502020204030204" pitchFamily="34" charset="0"/>
              </a:rPr>
              <a:t>Kavi – good princes</a:t>
            </a:r>
          </a:p>
          <a:p>
            <a:pPr>
              <a:lnSpc>
                <a:spcPct val="110000"/>
              </a:lnSpc>
              <a:spcBef>
                <a:spcPts val="600"/>
              </a:spcBef>
            </a:pPr>
            <a:r>
              <a:rPr lang="en-US" sz="2800" dirty="0" err="1">
                <a:latin typeface="Calibri" panose="020F0502020204030204" pitchFamily="34" charset="0"/>
                <a:ea typeface="Human Sans" charset="0"/>
                <a:cs typeface="Calibri" panose="020F0502020204030204" pitchFamily="34" charset="0"/>
              </a:rPr>
              <a:t>Satar</a:t>
            </a:r>
            <a:r>
              <a:rPr lang="en-US" sz="2800" dirty="0">
                <a:latin typeface="Calibri" panose="020F0502020204030204" pitchFamily="34" charset="0"/>
                <a:ea typeface="Human Sans" charset="0"/>
                <a:cs typeface="Calibri" panose="020F0502020204030204" pitchFamily="34" charset="0"/>
              </a:rPr>
              <a:t> –ruler of a region or a country.</a:t>
            </a:r>
          </a:p>
          <a:p>
            <a:pPr>
              <a:lnSpc>
                <a:spcPct val="110000"/>
              </a:lnSpc>
              <a:spcBef>
                <a:spcPts val="600"/>
              </a:spcBef>
            </a:pPr>
            <a:r>
              <a:rPr lang="en-US" sz="2800" dirty="0" err="1">
                <a:latin typeface="Calibri" panose="020F0502020204030204" pitchFamily="34" charset="0"/>
                <a:ea typeface="Human Sans" charset="0"/>
                <a:cs typeface="Calibri" panose="020F0502020204030204" pitchFamily="34" charset="0"/>
              </a:rPr>
              <a:t>Dakhy</a:t>
            </a:r>
            <a:r>
              <a:rPr lang="en-US" sz="2800" dirty="0">
                <a:latin typeface="Calibri" panose="020F0502020204030204" pitchFamily="34" charset="0"/>
                <a:ea typeface="Human Sans" charset="0"/>
                <a:cs typeface="Calibri" panose="020F0502020204030204" pitchFamily="34" charset="0"/>
              </a:rPr>
              <a:t> –pat of all </a:t>
            </a:r>
            <a:r>
              <a:rPr lang="en-US" sz="2800" dirty="0" err="1">
                <a:latin typeface="Calibri" panose="020F0502020204030204" pitchFamily="34" charset="0"/>
                <a:ea typeface="Human Sans" charset="0"/>
                <a:cs typeface="Calibri" panose="020F0502020204030204" pitchFamily="34" charset="0"/>
              </a:rPr>
              <a:t>dakhy</a:t>
            </a:r>
            <a:r>
              <a:rPr lang="en-US" sz="2800" dirty="0">
                <a:latin typeface="Calibri" panose="020F0502020204030204" pitchFamily="34" charset="0"/>
                <a:ea typeface="Human Sans" charset="0"/>
                <a:cs typeface="Calibri" panose="020F0502020204030204" pitchFamily="34" charset="0"/>
              </a:rPr>
              <a:t> – lord of all regions</a:t>
            </a:r>
          </a:p>
          <a:p>
            <a:pPr>
              <a:lnSpc>
                <a:spcPct val="110000"/>
              </a:lnSpc>
              <a:spcBef>
                <a:spcPts val="600"/>
              </a:spcBef>
            </a:pPr>
            <a:r>
              <a:rPr lang="en-US" sz="2800" dirty="0" err="1">
                <a:latin typeface="Calibri" panose="020F0502020204030204" pitchFamily="34" charset="0"/>
                <a:ea typeface="Human Sans" charset="0"/>
                <a:cs typeface="Calibri" panose="020F0502020204030204" pitchFamily="34" charset="0"/>
              </a:rPr>
              <a:t>Yabghu</a:t>
            </a:r>
            <a:r>
              <a:rPr lang="en-US" sz="2800" dirty="0">
                <a:latin typeface="Calibri" panose="020F0502020204030204" pitchFamily="34" charset="0"/>
                <a:ea typeface="Human Sans" charset="0"/>
                <a:cs typeface="Calibri" panose="020F0502020204030204" pitchFamily="34" charset="0"/>
              </a:rPr>
              <a:t> – ruler. </a:t>
            </a:r>
          </a:p>
          <a:p>
            <a:pPr>
              <a:lnSpc>
                <a:spcPct val="110000"/>
              </a:lnSpc>
              <a:spcBef>
                <a:spcPts val="600"/>
              </a:spcBef>
            </a:pPr>
            <a:r>
              <a:rPr lang="en-US" sz="2800" dirty="0">
                <a:latin typeface="Calibri" panose="020F0502020204030204" pitchFamily="34" charset="0"/>
                <a:ea typeface="Human Sans" charset="0"/>
                <a:cs typeface="Calibri" panose="020F0502020204030204" pitchFamily="34" charset="0"/>
              </a:rPr>
              <a:t>Amir;</a:t>
            </a:r>
          </a:p>
          <a:p>
            <a:pPr>
              <a:lnSpc>
                <a:spcPct val="110000"/>
              </a:lnSpc>
              <a:spcBef>
                <a:spcPts val="600"/>
              </a:spcBef>
            </a:pPr>
            <a:r>
              <a:rPr lang="en-US" sz="2800" dirty="0">
                <a:latin typeface="Calibri" panose="020F0502020204030204" pitchFamily="34" charset="0"/>
                <a:ea typeface="Human Sans" charset="0"/>
                <a:cs typeface="Calibri" panose="020F0502020204030204" pitchFamily="34" charset="0"/>
              </a:rPr>
              <a:t>Sultan;</a:t>
            </a:r>
          </a:p>
          <a:p>
            <a:pPr>
              <a:lnSpc>
                <a:spcPct val="110000"/>
              </a:lnSpc>
              <a:spcBef>
                <a:spcPts val="600"/>
              </a:spcBef>
            </a:pPr>
            <a:r>
              <a:rPr lang="en-US" sz="2800" dirty="0">
                <a:latin typeface="Calibri" panose="020F0502020204030204" pitchFamily="34" charset="0"/>
                <a:ea typeface="Human Sans" charset="0"/>
                <a:cs typeface="Calibri" panose="020F0502020204030204" pitchFamily="34" charset="0"/>
              </a:rPr>
              <a:t>Khan;</a:t>
            </a:r>
          </a:p>
          <a:p>
            <a:pPr>
              <a:lnSpc>
                <a:spcPct val="110000"/>
              </a:lnSpc>
              <a:spcBef>
                <a:spcPts val="600"/>
              </a:spcBef>
            </a:pPr>
            <a:r>
              <a:rPr lang="en-US" sz="2800" dirty="0">
                <a:latin typeface="Calibri" panose="020F0502020204030204" pitchFamily="34" charset="0"/>
                <a:ea typeface="Human Sans" charset="0"/>
                <a:cs typeface="Calibri" panose="020F0502020204030204" pitchFamily="34" charset="0"/>
              </a:rPr>
              <a:t>Emperor.</a:t>
            </a:r>
          </a:p>
          <a:p>
            <a:pPr>
              <a:lnSpc>
                <a:spcPct val="110000"/>
              </a:lnSpc>
              <a:spcBef>
                <a:spcPts val="600"/>
              </a:spcBef>
            </a:pPr>
            <a:endParaRPr lang="en-US" sz="2800" dirty="0">
              <a:latin typeface="Calibri" panose="020F0502020204030204" pitchFamily="34" charset="0"/>
              <a:ea typeface="Human Sans" charset="0"/>
              <a:cs typeface="Calibri" panose="020F0502020204030204" pitchFamily="34" charset="0"/>
            </a:endParaRPr>
          </a:p>
          <a:p>
            <a:pPr>
              <a:lnSpc>
                <a:spcPct val="110000"/>
              </a:lnSpc>
              <a:spcBef>
                <a:spcPts val="600"/>
              </a:spcBef>
            </a:pPr>
            <a:endParaRPr lang="en-US" sz="2800" dirty="0">
              <a:latin typeface="Calibri" panose="020F0502020204030204" pitchFamily="34" charset="0"/>
              <a:ea typeface="Human Sans" charset="0"/>
              <a:cs typeface="Calibri" panose="020F0502020204030204" pitchFamily="34" charset="0"/>
            </a:endParaRPr>
          </a:p>
          <a:p>
            <a:endParaRPr lang="en-US" dirty="0"/>
          </a:p>
        </p:txBody>
      </p:sp>
    </p:spTree>
    <p:extLst>
      <p:ext uri="{BB962C8B-B14F-4D97-AF65-F5344CB8AC3E}">
        <p14:creationId xmlns:p14="http://schemas.microsoft.com/office/powerpoint/2010/main" val="1674351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583ED-0B95-CE81-081C-8795AC1BE684}"/>
              </a:ext>
            </a:extLst>
          </p:cNvPr>
          <p:cNvSpPr>
            <a:spLocks noGrp="1"/>
          </p:cNvSpPr>
          <p:nvPr>
            <p:ph type="title"/>
          </p:nvPr>
        </p:nvSpPr>
        <p:spPr/>
        <p:txBody>
          <a:bodyPr/>
          <a:lstStyle/>
          <a:p>
            <a:r>
              <a:rPr lang="en-US" sz="4400" dirty="0">
                <a:latin typeface="Calibri" panose="020F0502020204030204" pitchFamily="34" charset="0"/>
              </a:rPr>
              <a:t>Medieval age statehood history</a:t>
            </a:r>
            <a:endParaRPr lang="en-US" dirty="0"/>
          </a:p>
        </p:txBody>
      </p:sp>
      <p:sp>
        <p:nvSpPr>
          <p:cNvPr id="3" name="Content Placeholder 2">
            <a:extLst>
              <a:ext uri="{FF2B5EF4-FFF2-40B4-BE49-F238E27FC236}">
                <a16:creationId xmlns:a16="http://schemas.microsoft.com/office/drawing/2014/main" id="{E3445C91-4EBC-92CE-8E62-2BBFA4AD09D2}"/>
              </a:ext>
            </a:extLst>
          </p:cNvPr>
          <p:cNvSpPr>
            <a:spLocks noGrp="1"/>
          </p:cNvSpPr>
          <p:nvPr>
            <p:ph idx="1"/>
          </p:nvPr>
        </p:nvSpPr>
        <p:spPr/>
        <p:txBody>
          <a:bodyPr>
            <a:normAutofit fontScale="70000" lnSpcReduction="20000"/>
          </a:bodyPr>
          <a:lstStyle/>
          <a:p>
            <a:pPr>
              <a:lnSpc>
                <a:spcPct val="110000"/>
              </a:lnSpc>
              <a:spcBef>
                <a:spcPts val="600"/>
              </a:spcBef>
            </a:pPr>
            <a:r>
              <a:rPr lang="en-US" sz="2800" dirty="0">
                <a:latin typeface="Calibri" panose="020F0502020204030204" pitchFamily="34" charset="0"/>
                <a:ea typeface="Human Sans" charset="0"/>
                <a:cs typeface="Calibri" panose="020F0502020204030204" pitchFamily="34" charset="0"/>
              </a:rPr>
              <a:t>IV-VI centuries – penetration of Turkic people, migrations;</a:t>
            </a:r>
          </a:p>
          <a:p>
            <a:pPr>
              <a:lnSpc>
                <a:spcPct val="110000"/>
              </a:lnSpc>
              <a:spcBef>
                <a:spcPts val="600"/>
              </a:spcBef>
            </a:pPr>
            <a:r>
              <a:rPr lang="en-US" sz="2800" dirty="0">
                <a:latin typeface="Calibri" panose="020F0502020204030204" pitchFamily="34" charset="0"/>
                <a:ea typeface="Human Sans" charset="0"/>
                <a:cs typeface="Calibri" panose="020F0502020204030204" pitchFamily="34" charset="0"/>
              </a:rPr>
              <a:t>Military raids of </a:t>
            </a:r>
            <a:r>
              <a:rPr lang="en-US" sz="2800" dirty="0" err="1">
                <a:latin typeface="Calibri" panose="020F0502020204030204" pitchFamily="34" charset="0"/>
                <a:ea typeface="Human Sans" charset="0"/>
                <a:cs typeface="Calibri" panose="020F0502020204030204" pitchFamily="34" charset="0"/>
              </a:rPr>
              <a:t>Chionits</a:t>
            </a:r>
            <a:r>
              <a:rPr lang="en-US" sz="2800" dirty="0">
                <a:latin typeface="Calibri" panose="020F0502020204030204" pitchFamily="34" charset="0"/>
                <a:ea typeface="Human Sans" charset="0"/>
                <a:cs typeface="Calibri" panose="020F0502020204030204" pitchFamily="34" charset="0"/>
              </a:rPr>
              <a:t> under </a:t>
            </a:r>
            <a:r>
              <a:rPr lang="en-US" sz="2800" dirty="0" err="1">
                <a:latin typeface="Calibri" panose="020F0502020204030204" pitchFamily="34" charset="0"/>
                <a:ea typeface="Human Sans" charset="0"/>
                <a:cs typeface="Calibri" panose="020F0502020204030204" pitchFamily="34" charset="0"/>
              </a:rPr>
              <a:t>Grumbates</a:t>
            </a:r>
            <a:r>
              <a:rPr lang="en-US" sz="2800" dirty="0">
                <a:latin typeface="Calibri" panose="020F0502020204030204" pitchFamily="34" charset="0"/>
                <a:ea typeface="Human Sans" charset="0"/>
                <a:cs typeface="Calibri" panose="020F0502020204030204" pitchFamily="34" charset="0"/>
              </a:rPr>
              <a:t>;</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Sogdian coins with the image of an archer on the reverse and the word </a:t>
            </a:r>
            <a:r>
              <a:rPr lang="en-GB" sz="28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kydr</a:t>
            </a: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GB" sz="28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Kidara</a:t>
            </a: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in the obverse legend;</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Hephthalites</a:t>
            </a:r>
            <a:r>
              <a:rPr lang="en-GB" sz="28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From the mid-fifth to the mid-sixth century in Central Asia;</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Hephthalites of Central Asia found themselves squeezed between Sasanian Iran and the </a:t>
            </a:r>
            <a:r>
              <a:rPr lang="en-GB" sz="28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Türks</a:t>
            </a: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nSpc>
                <a:spcPct val="110000"/>
              </a:lnSpc>
              <a:spcBef>
                <a:spcPts val="600"/>
              </a:spcBef>
            </a:pPr>
            <a:r>
              <a:rPr lang="en-GB" sz="2800" dirty="0">
                <a:solidFill>
                  <a:srgbClr val="000000"/>
                </a:solidFill>
                <a:latin typeface="Calibri" panose="020F0502020204030204" pitchFamily="34" charset="0"/>
                <a:ea typeface="Human Sans" charset="0"/>
                <a:cs typeface="Calibri" panose="020F0502020204030204" pitchFamily="34" charset="0"/>
              </a:rPr>
              <a:t>Assassination of Turkic ambassador in Hephthalite territory;</a:t>
            </a:r>
          </a:p>
          <a:p>
            <a:pPr>
              <a:lnSpc>
                <a:spcPct val="110000"/>
              </a:lnSpc>
              <a:spcBef>
                <a:spcPts val="600"/>
              </a:spcBef>
            </a:pPr>
            <a:r>
              <a:rPr lang="en-GB" sz="2800" dirty="0">
                <a:solidFill>
                  <a:srgbClr val="000000"/>
                </a:solidFill>
                <a:latin typeface="Calibri" panose="020F0502020204030204" pitchFamily="34" charset="0"/>
                <a:ea typeface="Human Sans" charset="0"/>
                <a:cs typeface="Calibri" panose="020F0502020204030204" pitchFamily="34" charset="0"/>
              </a:rPr>
              <a:t>Joint attacks of Turkic khaganate and Sasanians on Hephthalites and the liquidation of their power;</a:t>
            </a:r>
          </a:p>
          <a:p>
            <a:pPr>
              <a:lnSpc>
                <a:spcPct val="110000"/>
              </a:lnSpc>
              <a:spcBef>
                <a:spcPts val="600"/>
              </a:spcBef>
            </a:pPr>
            <a:r>
              <a:rPr lang="en-GB" sz="2800" dirty="0">
                <a:solidFill>
                  <a:srgbClr val="000000"/>
                </a:solidFill>
                <a:latin typeface="Calibri" panose="020F0502020204030204" pitchFamily="34" charset="0"/>
                <a:ea typeface="Human Sans" charset="0"/>
                <a:cs typeface="Calibri" panose="020F0502020204030204" pitchFamily="34" charset="0"/>
              </a:rPr>
              <a:t>Formation of Khwarazm as an independent country by </a:t>
            </a:r>
            <a:r>
              <a:rPr lang="en-GB" sz="2800" dirty="0" err="1">
                <a:solidFill>
                  <a:srgbClr val="000000"/>
                </a:solidFill>
                <a:latin typeface="Calibri" panose="020F0502020204030204" pitchFamily="34" charset="0"/>
                <a:ea typeface="Human Sans" charset="0"/>
                <a:cs typeface="Calibri" panose="020F0502020204030204" pitchFamily="34" charset="0"/>
              </a:rPr>
              <a:t>Afrigh</a:t>
            </a:r>
            <a:r>
              <a:rPr lang="en-GB" sz="2800" dirty="0">
                <a:solidFill>
                  <a:srgbClr val="000000"/>
                </a:solidFill>
                <a:latin typeface="Calibri" panose="020F0502020204030204" pitchFamily="34" charset="0"/>
                <a:ea typeface="Human Sans" charset="0"/>
                <a:cs typeface="Calibri" panose="020F0502020204030204" pitchFamily="34" charset="0"/>
              </a:rPr>
              <a:t> in the IV century;</a:t>
            </a:r>
          </a:p>
          <a:p>
            <a:pPr>
              <a:lnSpc>
                <a:spcPct val="110000"/>
              </a:lnSpc>
              <a:spcBef>
                <a:spcPts val="600"/>
              </a:spcBef>
            </a:pPr>
            <a:r>
              <a:rPr lang="en-GB" sz="2800" dirty="0">
                <a:solidFill>
                  <a:srgbClr val="000000"/>
                </a:solidFill>
                <a:latin typeface="Calibri" panose="020F0502020204030204" pitchFamily="34" charset="0"/>
                <a:ea typeface="Human Sans" charset="0"/>
                <a:cs typeface="Calibri" panose="020F0502020204030204" pitchFamily="34" charset="0"/>
              </a:rPr>
              <a:t>VI- early VIII centuries – Period under Turkic khaganate;</a:t>
            </a:r>
          </a:p>
          <a:p>
            <a:pPr>
              <a:lnSpc>
                <a:spcPct val="110000"/>
              </a:lnSpc>
              <a:spcBef>
                <a:spcPts val="600"/>
              </a:spcBef>
            </a:pPr>
            <a:r>
              <a:rPr lang="en-GB" sz="2800" dirty="0">
                <a:solidFill>
                  <a:srgbClr val="000000"/>
                </a:solidFill>
                <a:latin typeface="Calibri" panose="020F0502020204030204" pitchFamily="34" charset="0"/>
                <a:ea typeface="Human Sans" charset="0"/>
                <a:cs typeface="Calibri" panose="020F0502020204030204" pitchFamily="34" charset="0"/>
              </a:rPr>
              <a:t>704. The start of Arabic attacks on Central Asia and subjugation under Arabic Caliphate.</a:t>
            </a:r>
          </a:p>
          <a:p>
            <a:pPr>
              <a:lnSpc>
                <a:spcPct val="110000"/>
              </a:lnSpc>
              <a:spcBef>
                <a:spcPts val="600"/>
              </a:spcBef>
            </a:pPr>
            <a:endParaRPr lang="en-GB" sz="2800" dirty="0">
              <a:solidFill>
                <a:srgbClr val="000000"/>
              </a:solidFill>
              <a:latin typeface="Calibri" panose="020F0502020204030204" pitchFamily="34" charset="0"/>
              <a:ea typeface="Human Sans" charset="0"/>
              <a:cs typeface="Calibri" panose="020F0502020204030204" pitchFamily="34" charset="0"/>
            </a:endParaRPr>
          </a:p>
          <a:p>
            <a:pPr>
              <a:lnSpc>
                <a:spcPct val="110000"/>
              </a:lnSpc>
              <a:spcBef>
                <a:spcPts val="600"/>
              </a:spcBef>
            </a:pPr>
            <a:endParaRPr lang="en-GB" sz="2800" dirty="0">
              <a:solidFill>
                <a:srgbClr val="000000"/>
              </a:solidFill>
              <a:latin typeface="Calibri" panose="020F0502020204030204" pitchFamily="34" charset="0"/>
              <a:ea typeface="Human Sans" charset="0"/>
              <a:cs typeface="Calibri" panose="020F0502020204030204" pitchFamily="34" charset="0"/>
            </a:endParaRPr>
          </a:p>
          <a:p>
            <a:pPr>
              <a:lnSpc>
                <a:spcPct val="110000"/>
              </a:lnSpc>
              <a:spcBef>
                <a:spcPts val="600"/>
              </a:spcBef>
            </a:pPr>
            <a:endParaRPr lang="en-US" sz="2800" dirty="0">
              <a:latin typeface="Calibri" panose="020F0502020204030204" pitchFamily="34" charset="0"/>
              <a:ea typeface="Human Sans" charset="0"/>
              <a:cs typeface="Calibri" panose="020F0502020204030204" pitchFamily="34" charset="0"/>
            </a:endParaRPr>
          </a:p>
          <a:p>
            <a:pPr>
              <a:lnSpc>
                <a:spcPct val="110000"/>
              </a:lnSpc>
              <a:spcBef>
                <a:spcPts val="600"/>
              </a:spcBef>
            </a:pPr>
            <a:endParaRPr lang="en-US" sz="2800" dirty="0">
              <a:latin typeface="Calibri" panose="020F0502020204030204" pitchFamily="34" charset="0"/>
              <a:ea typeface="Human Sans" charset="0"/>
              <a:cs typeface="Calibri" panose="020F0502020204030204" pitchFamily="34" charset="0"/>
            </a:endParaRPr>
          </a:p>
          <a:p>
            <a:endParaRPr lang="en-US" dirty="0"/>
          </a:p>
        </p:txBody>
      </p:sp>
    </p:spTree>
    <p:extLst>
      <p:ext uri="{BB962C8B-B14F-4D97-AF65-F5344CB8AC3E}">
        <p14:creationId xmlns:p14="http://schemas.microsoft.com/office/powerpoint/2010/main" val="1581155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AAF0E-D9BE-DF94-2F3E-FD4455558B2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1491E0-8417-8939-2394-32958199F98A}"/>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9F6AEF8A-D722-7C47-B8EC-3B3B27CE1CAF}"/>
              </a:ext>
            </a:extLst>
          </p:cNvPr>
          <p:cNvPicPr>
            <a:picLocks noChangeAspect="1"/>
          </p:cNvPicPr>
          <p:nvPr/>
        </p:nvPicPr>
        <p:blipFill>
          <a:blip r:embed="rId2"/>
          <a:stretch>
            <a:fillRect/>
          </a:stretch>
        </p:blipFill>
        <p:spPr>
          <a:xfrm>
            <a:off x="2021388" y="411962"/>
            <a:ext cx="8149223" cy="6034076"/>
          </a:xfrm>
          <a:prstGeom prst="rect">
            <a:avLst/>
          </a:prstGeom>
        </p:spPr>
      </p:pic>
    </p:spTree>
    <p:extLst>
      <p:ext uri="{BB962C8B-B14F-4D97-AF65-F5344CB8AC3E}">
        <p14:creationId xmlns:p14="http://schemas.microsoft.com/office/powerpoint/2010/main" val="3908193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097AE-06D2-DB36-BA45-5C94041E573A}"/>
              </a:ext>
            </a:extLst>
          </p:cNvPr>
          <p:cNvSpPr>
            <a:spLocks noGrp="1"/>
          </p:cNvSpPr>
          <p:nvPr>
            <p:ph type="title"/>
          </p:nvPr>
        </p:nvSpPr>
        <p:spPr/>
        <p:txBody>
          <a:bodyPr/>
          <a:lstStyle/>
          <a:p>
            <a:r>
              <a:rPr lang="en-US" sz="4400" dirty="0" err="1">
                <a:latin typeface="Calibri" panose="020F0502020204030204" pitchFamily="34" charset="0"/>
              </a:rPr>
              <a:t>Samanid</a:t>
            </a:r>
            <a:r>
              <a:rPr lang="en-US" sz="4400" dirty="0">
                <a:latin typeface="Calibri" panose="020F0502020204030204" pitchFamily="34" charset="0"/>
              </a:rPr>
              <a:t> governance system</a:t>
            </a:r>
            <a:endParaRPr lang="en-US" dirty="0"/>
          </a:p>
        </p:txBody>
      </p:sp>
      <p:sp>
        <p:nvSpPr>
          <p:cNvPr id="3" name="Content Placeholder 2">
            <a:extLst>
              <a:ext uri="{FF2B5EF4-FFF2-40B4-BE49-F238E27FC236}">
                <a16:creationId xmlns:a16="http://schemas.microsoft.com/office/drawing/2014/main" id="{BDAB9361-887E-9BFB-61FF-7FC847F05F1D}"/>
              </a:ext>
            </a:extLst>
          </p:cNvPr>
          <p:cNvSpPr>
            <a:spLocks noGrp="1"/>
          </p:cNvSpPr>
          <p:nvPr>
            <p:ph idx="1"/>
          </p:nvPr>
        </p:nvSpPr>
        <p:spPr>
          <a:xfrm>
            <a:off x="838200" y="1825625"/>
            <a:ext cx="10978662" cy="4912800"/>
          </a:xfrm>
        </p:spPr>
        <p:txBody>
          <a:bodyPr>
            <a:normAutofit fontScale="70000" lnSpcReduction="20000"/>
          </a:bodyPr>
          <a:lstStyle/>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head of state - The Amir;</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Provinces were governed by his appointed governors;</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Together with the royal court (dargah – responsible for legislation and judicial system), ten centralized military and civilian bureaux (diwans);</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main diwan (the diwan of the vizier) controlled all administrative, political and economic institutions;</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Diwan of the </a:t>
            </a:r>
            <a:r>
              <a:rPr lang="en-GB" sz="28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mustawfi</a:t>
            </a:r>
            <a:r>
              <a:rPr lang="en-GB" sz="28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financial affairs;</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Diwan of amid al-</a:t>
            </a:r>
            <a:r>
              <a:rPr lang="en-GB" sz="28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mulk</a:t>
            </a: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diplomatic relations and important state papers </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Diwan of the sahib al-</a:t>
            </a:r>
            <a:r>
              <a:rPr lang="en-GB" sz="28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shurta</a:t>
            </a: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the royal guard and military affairs </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Diwan of the sahib al-</a:t>
            </a:r>
            <a:r>
              <a:rPr lang="en-GB" sz="28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barid</a:t>
            </a: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state mail and the clandestine surveillance of local rulers and officials</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Diwan of the </a:t>
            </a:r>
            <a:r>
              <a:rPr lang="en-GB" sz="28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muhtasib</a:t>
            </a:r>
            <a:r>
              <a:rPr lang="en-GB" sz="28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markets, weights and measures and trade generally, and, later, public morals</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Diwan of the </a:t>
            </a:r>
            <a:r>
              <a:rPr lang="en-GB" sz="28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mushrif</a:t>
            </a: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control over revenue and expenditure and over other state matters</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Diwans for juridical affairs, state lands and waqf (pious endowment) lands</a:t>
            </a:r>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Local organs of all the diwans.</a:t>
            </a:r>
            <a:endParaRPr lang="en-US" sz="2800" dirty="0">
              <a:latin typeface="Calibri" panose="020F0502020204030204" pitchFamily="34" charset="0"/>
              <a:ea typeface="Human Sans" charset="0"/>
              <a:cs typeface="Calibri" panose="020F0502020204030204" pitchFamily="34" charset="0"/>
            </a:endParaRPr>
          </a:p>
          <a:p>
            <a:endParaRPr lang="en-US" dirty="0"/>
          </a:p>
        </p:txBody>
      </p:sp>
    </p:spTree>
    <p:extLst>
      <p:ext uri="{BB962C8B-B14F-4D97-AF65-F5344CB8AC3E}">
        <p14:creationId xmlns:p14="http://schemas.microsoft.com/office/powerpoint/2010/main" val="3946105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4E18A-7E52-D6C1-B48C-890CFFB078B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F8F3F81-316F-117E-DDFB-7E979531CB51}"/>
              </a:ext>
            </a:extLst>
          </p:cNvPr>
          <p:cNvSpPr>
            <a:spLocks noGrp="1"/>
          </p:cNvSpPr>
          <p:nvPr>
            <p:ph idx="1"/>
          </p:nvPr>
        </p:nvSpPr>
        <p:spPr/>
        <p:txBody>
          <a:bodyPr>
            <a:normAutofit fontScale="62500" lnSpcReduction="20000"/>
          </a:bodyPr>
          <a:lstStyle/>
          <a:p>
            <a:r>
              <a:rPr lang="en-US" dirty="0" err="1"/>
              <a:t>Karakhanids</a:t>
            </a:r>
            <a:endParaRPr lang="en-US" dirty="0"/>
          </a:p>
          <a:p>
            <a:r>
              <a:rPr lang="en-US" dirty="0"/>
              <a:t>Ghaznavids</a:t>
            </a:r>
          </a:p>
          <a:p>
            <a:r>
              <a:rPr lang="en-US" dirty="0"/>
              <a:t>Seljuks</a:t>
            </a:r>
          </a:p>
          <a:p>
            <a:r>
              <a:rPr lang="en-US" dirty="0" err="1"/>
              <a:t>Khwarazmshahs</a:t>
            </a:r>
            <a:endParaRPr lang="en-US" dirty="0"/>
          </a:p>
          <a:p>
            <a:r>
              <a:rPr lang="en-US" dirty="0" err="1"/>
              <a:t>Temurids</a:t>
            </a:r>
            <a:endParaRPr lang="en-US" dirty="0"/>
          </a:p>
          <a:p>
            <a:pPr>
              <a:lnSpc>
                <a:spcPct val="110000"/>
              </a:lnSpc>
              <a:spcBef>
                <a:spcPts val="600"/>
              </a:spcBef>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Timur besieged Balkh: the fortifications were breached, Amir Husain was defeated and rose to the power on 10 April 1370;</a:t>
            </a:r>
          </a:p>
          <a:p>
            <a:pPr>
              <a:lnSpc>
                <a:spcPct val="110000"/>
              </a:lnSpc>
              <a:spcBef>
                <a:spcPts val="600"/>
              </a:spcBef>
            </a:pPr>
            <a:r>
              <a:rPr lang="en-GB" sz="2800" kern="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Proclaimation</a:t>
            </a:r>
            <a:r>
              <a:rPr lang="en-GB" sz="2800" kern="0" dirty="0">
                <a:solidFill>
                  <a:srgbClr val="000000"/>
                </a:solidFill>
                <a:latin typeface="Calibri" panose="020F0502020204030204" pitchFamily="34" charset="0"/>
                <a:ea typeface="Times New Roman" panose="02020603050405020304" pitchFamily="18" charset="0"/>
                <a:cs typeface="Calibri" panose="020F0502020204030204" pitchFamily="34" charset="0"/>
              </a:rPr>
              <a:t> of </a:t>
            </a:r>
            <a:r>
              <a:rPr lang="en-GB" sz="2800" kern="0" dirty="0" err="1">
                <a:solidFill>
                  <a:srgbClr val="000000"/>
                </a:solidFill>
                <a:latin typeface="Calibri" panose="020F0502020204030204" pitchFamily="34" charset="0"/>
                <a:ea typeface="Times New Roman" panose="02020603050405020304" pitchFamily="18" charset="0"/>
                <a:cs typeface="Calibri" panose="020F0502020204030204" pitchFamily="34" charset="0"/>
              </a:rPr>
              <a:t>Chinggisid</a:t>
            </a:r>
            <a:r>
              <a:rPr lang="en-GB" sz="2800" kern="0" dirty="0">
                <a:solidFill>
                  <a:srgbClr val="000000"/>
                </a:solidFill>
                <a:latin typeface="Calibri" panose="020F0502020204030204" pitchFamily="34" charset="0"/>
                <a:ea typeface="Times New Roman" panose="02020603050405020304" pitchFamily="18" charset="0"/>
                <a:cs typeface="Calibri" panose="020F0502020204030204" pitchFamily="34" charset="0"/>
              </a:rPr>
              <a:t> </a:t>
            </a:r>
            <a:r>
              <a:rPr lang="en-GB" sz="2800" kern="0" dirty="0" err="1">
                <a:solidFill>
                  <a:srgbClr val="000000"/>
                </a:solidFill>
                <a:latin typeface="Calibri" panose="020F0502020204030204" pitchFamily="34" charset="0"/>
                <a:ea typeface="Times New Roman" panose="02020603050405020304" pitchFamily="18" charset="0"/>
                <a:cs typeface="Calibri" panose="020F0502020204030204" pitchFamily="34" charset="0"/>
              </a:rPr>
              <a:t>Soyurghatmish</a:t>
            </a:r>
            <a:r>
              <a:rPr lang="en-GB" sz="2800" kern="0" dirty="0">
                <a:solidFill>
                  <a:srgbClr val="000000"/>
                </a:solidFill>
                <a:latin typeface="Calibri" panose="020F0502020204030204" pitchFamily="34" charset="0"/>
                <a:ea typeface="Times New Roman" panose="02020603050405020304" pitchFamily="18" charset="0"/>
                <a:cs typeface="Calibri" panose="020F0502020204030204" pitchFamily="34" charset="0"/>
              </a:rPr>
              <a:t> and </a:t>
            </a:r>
            <a:r>
              <a:rPr lang="en-GB" sz="28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Sultan Mahmud of titular Khan;</a:t>
            </a:r>
          </a:p>
          <a:p>
            <a:pPr>
              <a:lnSpc>
                <a:spcPct val="110000"/>
              </a:lnSpc>
              <a:spcBef>
                <a:spcPts val="600"/>
              </a:spcBef>
            </a:pPr>
            <a:r>
              <a:rPr lang="en-GB" sz="28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This experience shows the use of limited monarchy, or monarch as a symbol of the unity of the nation;</a:t>
            </a:r>
          </a:p>
          <a:p>
            <a:pPr>
              <a:lnSpc>
                <a:spcPct val="110000"/>
              </a:lnSpc>
              <a:spcBef>
                <a:spcPts val="600"/>
              </a:spcBef>
            </a:pPr>
            <a:r>
              <a:rPr lang="en-GB" sz="2800" dirty="0">
                <a:solidFill>
                  <a:srgbClr val="1A1A1A"/>
                </a:solidFill>
                <a:effectLst/>
                <a:latin typeface="Calibri" panose="020F0502020204030204" pitchFamily="34" charset="0"/>
                <a:ea typeface="Calibri" panose="020F0502020204030204" pitchFamily="34" charset="0"/>
                <a:cs typeface="Calibri" panose="020F0502020204030204" pitchFamily="34" charset="0"/>
              </a:rPr>
              <a:t>Emir Temur led military campaigns in order to strengthen his empire. His army occupied 10 million sq.km. It reached from eastern Turkestan to the Mediterranean Sea to the west, from Siberia to the Indian Ocean. </a:t>
            </a:r>
          </a:p>
          <a:p>
            <a:pPr>
              <a:lnSpc>
                <a:spcPct val="110000"/>
              </a:lnSpc>
              <a:spcBef>
                <a:spcPts val="600"/>
              </a:spcBef>
            </a:pPr>
            <a:r>
              <a:rPr lang="en-GB"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Timur’s last great military undertaking was to have been his projected campaign against China, but this was interrupted by the death of the ‘conqueror of the world’ in 1405, aged 70.</a:t>
            </a:r>
            <a:endParaRPr lang="en-US" sz="2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0000"/>
              </a:lnSpc>
              <a:spcBef>
                <a:spcPts val="600"/>
              </a:spcBef>
            </a:pPr>
            <a:endPar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3634090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475F0-78A8-F7FB-1C42-5BA464509ACF}"/>
              </a:ext>
            </a:extLst>
          </p:cNvPr>
          <p:cNvSpPr>
            <a:spLocks noGrp="1"/>
          </p:cNvSpPr>
          <p:nvPr>
            <p:ph type="title"/>
          </p:nvPr>
        </p:nvSpPr>
        <p:spPr>
          <a:xfrm>
            <a:off x="457200" y="239151"/>
            <a:ext cx="11274552" cy="675249"/>
          </a:xfrm>
        </p:spPr>
        <p:txBody>
          <a:bodyPr>
            <a:normAutofit fontScale="90000"/>
          </a:bodyPr>
          <a:lstStyle/>
          <a:p>
            <a:endParaRPr lang="en-US" sz="4800" dirty="0">
              <a:latin typeface="Calibri" panose="020F0502020204030204" pitchFamily="34" charset="0"/>
            </a:endParaRPr>
          </a:p>
        </p:txBody>
      </p:sp>
      <p:sp>
        <p:nvSpPr>
          <p:cNvPr id="3" name="TextBox 2">
            <a:extLst>
              <a:ext uri="{FF2B5EF4-FFF2-40B4-BE49-F238E27FC236}">
                <a16:creationId xmlns:a16="http://schemas.microsoft.com/office/drawing/2014/main" id="{FEAD502B-1861-D47F-DF6D-0E8697A14EE9}"/>
              </a:ext>
            </a:extLst>
          </p:cNvPr>
          <p:cNvSpPr txBox="1"/>
          <p:nvPr/>
        </p:nvSpPr>
        <p:spPr>
          <a:xfrm>
            <a:off x="533869" y="1252025"/>
            <a:ext cx="11197883" cy="4670473"/>
          </a:xfrm>
          <a:prstGeom prst="rect">
            <a:avLst/>
          </a:prstGeom>
          <a:noFill/>
        </p:spPr>
        <p:txBody>
          <a:bodyPr wrap="square" lIns="0" tIns="0" rIns="0" bIns="0" rtlCol="0">
            <a:noAutofit/>
          </a:bodyPr>
          <a:lstStyle/>
          <a:p>
            <a:pPr>
              <a:lnSpc>
                <a:spcPct val="110000"/>
              </a:lnSpc>
              <a:spcBef>
                <a:spcPts val="600"/>
              </a:spcBef>
            </a:pPr>
            <a:endParaRPr lang="en-US" sz="2000" dirty="0" err="1">
              <a:latin typeface="Calibri" panose="020F0502020204030204" pitchFamily="34" charset="0"/>
              <a:ea typeface="Human Sans" charset="0"/>
              <a:cs typeface="Calibri" panose="020F0502020204030204" pitchFamily="34" charset="0"/>
            </a:endParaRPr>
          </a:p>
        </p:txBody>
      </p:sp>
      <p:pic>
        <p:nvPicPr>
          <p:cNvPr id="5" name="Picture 4">
            <a:extLst>
              <a:ext uri="{FF2B5EF4-FFF2-40B4-BE49-F238E27FC236}">
                <a16:creationId xmlns:a16="http://schemas.microsoft.com/office/drawing/2014/main" id="{CAB98357-BD16-74A0-F7A0-541EFB8E84DD}"/>
              </a:ext>
            </a:extLst>
          </p:cNvPr>
          <p:cNvPicPr>
            <a:picLocks noChangeAspect="1"/>
          </p:cNvPicPr>
          <p:nvPr/>
        </p:nvPicPr>
        <p:blipFill>
          <a:blip r:embed="rId2"/>
          <a:stretch>
            <a:fillRect/>
          </a:stretch>
        </p:blipFill>
        <p:spPr>
          <a:xfrm>
            <a:off x="281354" y="1"/>
            <a:ext cx="11718388" cy="6414868"/>
          </a:xfrm>
          <a:prstGeom prst="rect">
            <a:avLst/>
          </a:prstGeom>
        </p:spPr>
      </p:pic>
    </p:spTree>
    <p:extLst>
      <p:ext uri="{BB962C8B-B14F-4D97-AF65-F5344CB8AC3E}">
        <p14:creationId xmlns:p14="http://schemas.microsoft.com/office/powerpoint/2010/main" val="1726187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528EA-42DB-1C02-DE25-610F342FFDC5}"/>
              </a:ext>
            </a:extLst>
          </p:cNvPr>
          <p:cNvSpPr>
            <a:spLocks noGrp="1"/>
          </p:cNvSpPr>
          <p:nvPr>
            <p:ph type="title"/>
          </p:nvPr>
        </p:nvSpPr>
        <p:spPr/>
        <p:txBody>
          <a:bodyPr>
            <a:normAutofit fontScale="90000"/>
          </a:bodyPr>
          <a:lstStyle/>
          <a:p>
            <a:endParaRPr lang="en-US"/>
          </a:p>
        </p:txBody>
      </p:sp>
      <p:pic>
        <p:nvPicPr>
          <p:cNvPr id="3" name="Picture 2">
            <a:extLst>
              <a:ext uri="{FF2B5EF4-FFF2-40B4-BE49-F238E27FC236}">
                <a16:creationId xmlns:a16="http://schemas.microsoft.com/office/drawing/2014/main" id="{406E0D48-47E1-9A53-48E3-154211FB1CF5}"/>
              </a:ext>
            </a:extLst>
          </p:cNvPr>
          <p:cNvPicPr>
            <a:picLocks noChangeAspect="1"/>
          </p:cNvPicPr>
          <p:nvPr/>
        </p:nvPicPr>
        <p:blipFill>
          <a:blip r:embed="rId2"/>
          <a:stretch>
            <a:fillRect/>
          </a:stretch>
        </p:blipFill>
        <p:spPr>
          <a:xfrm>
            <a:off x="279010" y="334286"/>
            <a:ext cx="11633981" cy="6189428"/>
          </a:xfrm>
          <a:prstGeom prst="rect">
            <a:avLst/>
          </a:prstGeom>
        </p:spPr>
      </p:pic>
    </p:spTree>
    <p:extLst>
      <p:ext uri="{BB962C8B-B14F-4D97-AF65-F5344CB8AC3E}">
        <p14:creationId xmlns:p14="http://schemas.microsoft.com/office/powerpoint/2010/main" val="3925155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5FE45-73AC-EBFB-F71E-E7BE3BCE4410}"/>
              </a:ext>
            </a:extLst>
          </p:cNvPr>
          <p:cNvSpPr>
            <a:spLocks noGrp="1"/>
          </p:cNvSpPr>
          <p:nvPr>
            <p:ph type="title"/>
          </p:nvPr>
        </p:nvSpPr>
        <p:spPr/>
        <p:txBody>
          <a:bodyPr>
            <a:normAutofit fontScale="90000"/>
          </a:bodyPr>
          <a:lstStyle/>
          <a:p>
            <a:endParaRPr lang="en-US"/>
          </a:p>
        </p:txBody>
      </p:sp>
      <p:pic>
        <p:nvPicPr>
          <p:cNvPr id="3" name="Picture 2">
            <a:extLst>
              <a:ext uri="{FF2B5EF4-FFF2-40B4-BE49-F238E27FC236}">
                <a16:creationId xmlns:a16="http://schemas.microsoft.com/office/drawing/2014/main" id="{F90D8E0B-C56D-9959-8B2F-6C8D2BEAAC60}"/>
              </a:ext>
            </a:extLst>
          </p:cNvPr>
          <p:cNvPicPr>
            <a:picLocks noChangeAspect="1"/>
          </p:cNvPicPr>
          <p:nvPr/>
        </p:nvPicPr>
        <p:blipFill>
          <a:blip r:embed="rId2"/>
          <a:stretch>
            <a:fillRect/>
          </a:stretch>
        </p:blipFill>
        <p:spPr>
          <a:xfrm>
            <a:off x="119576" y="378399"/>
            <a:ext cx="11952849" cy="6129337"/>
          </a:xfrm>
          <a:prstGeom prst="rect">
            <a:avLst/>
          </a:prstGeom>
        </p:spPr>
      </p:pic>
    </p:spTree>
    <p:extLst>
      <p:ext uri="{BB962C8B-B14F-4D97-AF65-F5344CB8AC3E}">
        <p14:creationId xmlns:p14="http://schemas.microsoft.com/office/powerpoint/2010/main" val="523765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DC139-80BD-881F-CAD1-125A737D9639}"/>
              </a:ext>
            </a:extLst>
          </p:cNvPr>
          <p:cNvSpPr>
            <a:spLocks noGrp="1"/>
          </p:cNvSpPr>
          <p:nvPr>
            <p:ph type="title"/>
          </p:nvPr>
        </p:nvSpPr>
        <p:spPr>
          <a:xfrm>
            <a:off x="457200" y="457200"/>
            <a:ext cx="11274552" cy="457200"/>
          </a:xfrm>
        </p:spPr>
        <p:txBody>
          <a:bodyPr>
            <a:normAutofit fontScale="90000"/>
          </a:bodyPr>
          <a:lstStyle/>
          <a:p>
            <a:r>
              <a:rPr lang="en-US" dirty="0"/>
              <a:t>The state of </a:t>
            </a:r>
            <a:r>
              <a:rPr lang="en-US" dirty="0" err="1"/>
              <a:t>Khwarazmshahs</a:t>
            </a:r>
            <a:endParaRPr lang="en-US" dirty="0"/>
          </a:p>
        </p:txBody>
      </p:sp>
      <p:pic>
        <p:nvPicPr>
          <p:cNvPr id="3" name="Picture 2">
            <a:extLst>
              <a:ext uri="{FF2B5EF4-FFF2-40B4-BE49-F238E27FC236}">
                <a16:creationId xmlns:a16="http://schemas.microsoft.com/office/drawing/2014/main" id="{12A81A66-15DC-782F-1AEF-F9D63091DC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1405" y="1038610"/>
            <a:ext cx="9869190" cy="5849926"/>
          </a:xfrm>
          <a:prstGeom prst="rect">
            <a:avLst/>
          </a:prstGeom>
        </p:spPr>
      </p:pic>
    </p:spTree>
    <p:extLst>
      <p:ext uri="{BB962C8B-B14F-4D97-AF65-F5344CB8AC3E}">
        <p14:creationId xmlns:p14="http://schemas.microsoft.com/office/powerpoint/2010/main" val="4222549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3B934-CF7D-39D6-3156-9B77DDF46240}"/>
              </a:ext>
            </a:extLst>
          </p:cNvPr>
          <p:cNvSpPr>
            <a:spLocks noGrp="1"/>
          </p:cNvSpPr>
          <p:nvPr>
            <p:ph type="title"/>
          </p:nvPr>
        </p:nvSpPr>
        <p:spPr/>
        <p:txBody>
          <a:bodyPr/>
          <a:lstStyle/>
          <a:p>
            <a:r>
              <a:rPr lang="en-US" dirty="0"/>
              <a:t>Division of into small states</a:t>
            </a:r>
          </a:p>
        </p:txBody>
      </p:sp>
      <p:sp>
        <p:nvSpPr>
          <p:cNvPr id="3" name="Content Placeholder 2">
            <a:extLst>
              <a:ext uri="{FF2B5EF4-FFF2-40B4-BE49-F238E27FC236}">
                <a16:creationId xmlns:a16="http://schemas.microsoft.com/office/drawing/2014/main" id="{65180026-B24B-AA39-4AA0-59197BCD8260}"/>
              </a:ext>
            </a:extLst>
          </p:cNvPr>
          <p:cNvSpPr>
            <a:spLocks noGrp="1"/>
          </p:cNvSpPr>
          <p:nvPr>
            <p:ph idx="1"/>
          </p:nvPr>
        </p:nvSpPr>
        <p:spPr/>
        <p:txBody>
          <a:bodyPr/>
          <a:lstStyle/>
          <a:p>
            <a:r>
              <a:rPr lang="en-US" dirty="0" err="1"/>
              <a:t>Shaybanids</a:t>
            </a:r>
            <a:endParaRPr lang="en-US" dirty="0"/>
          </a:p>
          <a:p>
            <a:r>
              <a:rPr lang="en-US" dirty="0" err="1"/>
              <a:t>Ashtarkhanids</a:t>
            </a:r>
            <a:endParaRPr lang="en-US" dirty="0"/>
          </a:p>
          <a:p>
            <a:r>
              <a:rPr lang="en-US" dirty="0"/>
              <a:t>Bukhara Emirate</a:t>
            </a:r>
          </a:p>
          <a:p>
            <a:r>
              <a:rPr lang="en-US" dirty="0"/>
              <a:t>Khiva Khanate</a:t>
            </a:r>
          </a:p>
          <a:p>
            <a:r>
              <a:rPr lang="en-US" dirty="0"/>
              <a:t>Kokand Khanate</a:t>
            </a:r>
          </a:p>
          <a:p>
            <a:endParaRPr lang="en-US" dirty="0"/>
          </a:p>
        </p:txBody>
      </p:sp>
    </p:spTree>
    <p:extLst>
      <p:ext uri="{BB962C8B-B14F-4D97-AF65-F5344CB8AC3E}">
        <p14:creationId xmlns:p14="http://schemas.microsoft.com/office/powerpoint/2010/main" val="3824726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A390C-A3CC-F4D9-32F9-04EF1F313CE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9B347A-C474-6E31-9191-9DE30214FFCD}"/>
              </a:ext>
            </a:extLst>
          </p:cNvPr>
          <p:cNvSpPr>
            <a:spLocks noGrp="1"/>
          </p:cNvSpPr>
          <p:nvPr>
            <p:ph idx="1"/>
          </p:nvPr>
        </p:nvSpPr>
        <p:spPr/>
        <p:txBody>
          <a:bodyPr/>
          <a:lstStyle/>
          <a:p>
            <a:endParaRPr lang="en-US"/>
          </a:p>
        </p:txBody>
      </p:sp>
      <p:pic>
        <p:nvPicPr>
          <p:cNvPr id="4" name="Picture 3" descr="The Khanate of Bukhara (green), c. 1600.">
            <a:extLst>
              <a:ext uri="{FF2B5EF4-FFF2-40B4-BE49-F238E27FC236}">
                <a16:creationId xmlns:a16="http://schemas.microsoft.com/office/drawing/2014/main" id="{0A26E599-C0F3-6389-D44D-56A0411DA5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80" y="350464"/>
            <a:ext cx="10058400" cy="6392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8056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3F62A-BE77-8FAB-3C6B-43D165F5FF2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26B1FA-FA39-A242-C8B8-B50A6633DBCE}"/>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785B1CA8-198D-1D23-E2CE-F15846FF3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566" y="203705"/>
            <a:ext cx="10986867" cy="6450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5430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05351-DEE8-2466-8433-FEBF7A03EC21}"/>
              </a:ext>
            </a:extLst>
          </p:cNvPr>
          <p:cNvSpPr>
            <a:spLocks noGrp="1"/>
          </p:cNvSpPr>
          <p:nvPr>
            <p:ph type="title"/>
          </p:nvPr>
        </p:nvSpPr>
        <p:spPr/>
        <p:txBody>
          <a:bodyPr/>
          <a:lstStyle/>
          <a:p>
            <a:r>
              <a:rPr lang="en-US" sz="4400" dirty="0"/>
              <a:t>Nation-building states</a:t>
            </a:r>
            <a:endParaRPr lang="en-US" dirty="0"/>
          </a:p>
        </p:txBody>
      </p:sp>
      <p:sp>
        <p:nvSpPr>
          <p:cNvPr id="3" name="Content Placeholder 2">
            <a:extLst>
              <a:ext uri="{FF2B5EF4-FFF2-40B4-BE49-F238E27FC236}">
                <a16:creationId xmlns:a16="http://schemas.microsoft.com/office/drawing/2014/main" id="{803303CA-4AA7-A028-C368-A52571F347B5}"/>
              </a:ext>
            </a:extLst>
          </p:cNvPr>
          <p:cNvSpPr>
            <a:spLocks noGrp="1"/>
          </p:cNvSpPr>
          <p:nvPr>
            <p:ph idx="1"/>
          </p:nvPr>
        </p:nvSpPr>
        <p:spPr/>
        <p:txBody>
          <a:bodyPr>
            <a:normAutofit fontScale="70000" lnSpcReduction="20000"/>
          </a:bodyPr>
          <a:lstStyle/>
          <a:p>
            <a:pPr>
              <a:lnSpc>
                <a:spcPct val="100000"/>
              </a:lnSpc>
            </a:pPr>
            <a:r>
              <a:rPr lang="en-US" sz="2800" dirty="0">
                <a:effectLst/>
                <a:latin typeface="Calibri" panose="020F0502020204030204" pitchFamily="34" charset="0"/>
              </a:rPr>
              <a:t>The set of circumstances altered dramatically in the 1920s in the wake of the world war, revolutions and nationalist movements. It was now the epoch not merely of defining and strategizing, but of deliberate action by states and national movements in nation-building in the whole region. </a:t>
            </a:r>
          </a:p>
          <a:p>
            <a:pPr>
              <a:lnSpc>
                <a:spcPct val="100000"/>
              </a:lnSpc>
            </a:pPr>
            <a:r>
              <a:rPr lang="en-US" sz="2800" dirty="0">
                <a:effectLst/>
                <a:latin typeface="Calibri" panose="020F0502020204030204" pitchFamily="34" charset="0"/>
              </a:rPr>
              <a:t>Soviet state created in stages the five republics of Kazakhstan, Kyrgyzstan, Uzbekistan, Tajikistan and Turkmenistan</a:t>
            </a:r>
            <a:r>
              <a:rPr lang="en-US" sz="2800" dirty="0">
                <a:latin typeface="Calibri" panose="020F0502020204030204" pitchFamily="34" charset="0"/>
              </a:rPr>
              <a:t>.</a:t>
            </a:r>
          </a:p>
          <a:p>
            <a:pPr>
              <a:lnSpc>
                <a:spcPct val="100000"/>
              </a:lnSpc>
            </a:pPr>
            <a:r>
              <a:rPr lang="en-US" sz="2800" dirty="0">
                <a:effectLst/>
                <a:latin typeface="Calibri" panose="020F0502020204030204" pitchFamily="34" charset="0"/>
              </a:rPr>
              <a:t>The </a:t>
            </a:r>
            <a:r>
              <a:rPr lang="en-US" sz="2800" dirty="0" err="1">
                <a:effectLst/>
                <a:latin typeface="Calibri" panose="020F0502020204030204" pitchFamily="34" charset="0"/>
              </a:rPr>
              <a:t>Jadid</a:t>
            </a:r>
            <a:r>
              <a:rPr lang="en-US" sz="2800" dirty="0">
                <a:effectLst/>
                <a:latin typeface="Calibri" panose="020F0502020204030204" pitchFamily="34" charset="0"/>
              </a:rPr>
              <a:t> Pan-Turkic dream of a single </a:t>
            </a:r>
            <a:r>
              <a:rPr lang="en-US" sz="2800" dirty="0" err="1">
                <a:effectLst/>
                <a:latin typeface="Calibri" panose="020F0502020204030204" pitchFamily="34" charset="0"/>
              </a:rPr>
              <a:t>Turkistani</a:t>
            </a:r>
            <a:r>
              <a:rPr lang="en-US" sz="2800" dirty="0">
                <a:effectLst/>
                <a:latin typeface="Calibri" panose="020F0502020204030204" pitchFamily="34" charset="0"/>
              </a:rPr>
              <a:t> state with a single language was fractured into five national states of which four were Turkic-speaking – and one (Tajikistan) Persian-speaking. But the principles of linguistic nationalism were applied, those of defining a territory by language and a supposed common history, and calling the population in it a single people and granting them a single state. </a:t>
            </a:r>
          </a:p>
          <a:p>
            <a:pPr>
              <a:lnSpc>
                <a:spcPct val="100000"/>
              </a:lnSpc>
            </a:pPr>
            <a:r>
              <a:rPr lang="en-US" sz="2800" dirty="0">
                <a:effectLst/>
                <a:latin typeface="Calibri" panose="020F0502020204030204" pitchFamily="34" charset="0"/>
              </a:rPr>
              <a:t>This was the exercise carried out in what is known as national territorial delimitation in 1924.</a:t>
            </a:r>
            <a:endParaRPr lang="en-US" sz="2800" dirty="0">
              <a:latin typeface="Calibri" panose="020F0502020204030204" pitchFamily="34" charset="0"/>
            </a:endParaRPr>
          </a:p>
          <a:p>
            <a:pPr>
              <a:lnSpc>
                <a:spcPct val="100000"/>
              </a:lnSpc>
            </a:pPr>
            <a:r>
              <a:rPr lang="en-US" sz="2800" dirty="0">
                <a:effectLst/>
                <a:latin typeface="Calibri" panose="020F0502020204030204" pitchFamily="34" charset="0"/>
              </a:rPr>
              <a:t>Either solution would have been unsatisfactory by purely nationalist logic, and it is a measure of how inadequate such nationalist logic necessarily.</a:t>
            </a:r>
            <a:endParaRPr lang="en-US" sz="2800" dirty="0">
              <a:latin typeface="Calibri" panose="020F0502020204030204" pitchFamily="34" charset="0"/>
            </a:endParaRPr>
          </a:p>
          <a:p>
            <a:endParaRPr lang="en-US" dirty="0"/>
          </a:p>
        </p:txBody>
      </p:sp>
    </p:spTree>
    <p:extLst>
      <p:ext uri="{BB962C8B-B14F-4D97-AF65-F5344CB8AC3E}">
        <p14:creationId xmlns:p14="http://schemas.microsoft.com/office/powerpoint/2010/main" val="25036608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Заголовок 1">
            <a:extLst>
              <a:ext uri="{FF2B5EF4-FFF2-40B4-BE49-F238E27FC236}">
                <a16:creationId xmlns:a16="http://schemas.microsoft.com/office/drawing/2014/main" id="{001D046B-8BAB-E967-54B6-D57E5C8CDD54}"/>
              </a:ext>
            </a:extLst>
          </p:cNvPr>
          <p:cNvSpPr>
            <a:spLocks noGrp="1" noChangeArrowheads="1"/>
          </p:cNvSpPr>
          <p:nvPr>
            <p:ph type="title"/>
          </p:nvPr>
        </p:nvSpPr>
        <p:spPr>
          <a:xfrm>
            <a:off x="596900" y="330200"/>
            <a:ext cx="10515600" cy="1054100"/>
          </a:xfrm>
        </p:spPr>
        <p:txBody>
          <a:bodyPr>
            <a:normAutofit fontScale="90000"/>
          </a:bodyPr>
          <a:lstStyle/>
          <a:p>
            <a:pPr algn="ctr"/>
            <a:r>
              <a:rPr lang="en-US" altLang="ru-RU" dirty="0"/>
              <a:t>Terms commonly used for boundary making - </a:t>
            </a:r>
            <a:r>
              <a:rPr lang="en-US" altLang="ru-RU" i="1" dirty="0"/>
              <a:t>treaty</a:t>
            </a:r>
            <a:r>
              <a:rPr lang="en-US" altLang="ru-RU" dirty="0"/>
              <a:t>, </a:t>
            </a:r>
            <a:r>
              <a:rPr lang="en-US" altLang="ru-RU" i="1" dirty="0"/>
              <a:t>delimitation</a:t>
            </a:r>
            <a:r>
              <a:rPr lang="en-US" altLang="ru-RU" dirty="0"/>
              <a:t>, </a:t>
            </a:r>
            <a:r>
              <a:rPr lang="en-US" altLang="ru-RU" i="1" dirty="0"/>
              <a:t>demarcation</a:t>
            </a:r>
            <a:r>
              <a:rPr lang="en-US" altLang="ru-RU" dirty="0"/>
              <a:t>, </a:t>
            </a:r>
            <a:r>
              <a:rPr lang="en-US" altLang="ru-RU" i="1" dirty="0"/>
              <a:t>delineation.</a:t>
            </a:r>
            <a:endParaRPr lang="ru-RU" altLang="ru-RU" dirty="0"/>
          </a:p>
        </p:txBody>
      </p:sp>
      <p:sp>
        <p:nvSpPr>
          <p:cNvPr id="5123" name="Объект 2">
            <a:extLst>
              <a:ext uri="{FF2B5EF4-FFF2-40B4-BE49-F238E27FC236}">
                <a16:creationId xmlns:a16="http://schemas.microsoft.com/office/drawing/2014/main" id="{890D26CD-7734-FB73-18B6-A9C272878113}"/>
              </a:ext>
            </a:extLst>
          </p:cNvPr>
          <p:cNvSpPr>
            <a:spLocks noGrp="1" noChangeArrowheads="1"/>
          </p:cNvSpPr>
          <p:nvPr>
            <p:ph idx="1"/>
          </p:nvPr>
        </p:nvSpPr>
        <p:spPr/>
        <p:txBody>
          <a:bodyPr>
            <a:normAutofit fontScale="92500" lnSpcReduction="20000"/>
          </a:bodyPr>
          <a:lstStyle/>
          <a:p>
            <a:r>
              <a:rPr lang="en-US" altLang="ru-RU"/>
              <a:t>The meaning of </a:t>
            </a:r>
            <a:r>
              <a:rPr lang="en-US" altLang="ru-RU" i="1"/>
              <a:t>treaty and international agreement </a:t>
            </a:r>
            <a:r>
              <a:rPr lang="en-US" altLang="ru-RU"/>
              <a:t>under Article 102 of the charter of the United Nations is defined as: “Treaty is a generic term embracing all instruments binding under international law, regardless of their formal designation, concluded between two or more international juridical persons”.</a:t>
            </a:r>
            <a:br>
              <a:rPr lang="en-US" altLang="ru-RU"/>
            </a:br>
            <a:r>
              <a:rPr lang="en-US" altLang="ru-RU"/>
              <a:t>The Vienna Convention (1969) defines a treaty as “an  international agreement concluded between States in written form and governed by international law, whether embodied in a single instrument or in two or more related instruments and whatever its particular</a:t>
            </a:r>
            <a:br>
              <a:rPr lang="en-US" altLang="ru-RU"/>
            </a:br>
            <a:r>
              <a:rPr lang="en-US" altLang="ru-RU"/>
              <a:t>designation”</a:t>
            </a:r>
            <a:br>
              <a:rPr lang="en-US" altLang="ru-RU"/>
            </a:br>
            <a:br>
              <a:rPr lang="en-US" altLang="ru-RU"/>
            </a:br>
            <a:br>
              <a:rPr lang="en-US" altLang="ru-RU"/>
            </a:br>
            <a:br>
              <a:rPr lang="en-US" altLang="ru-RU"/>
            </a:br>
            <a:endParaRPr lang="ru-RU" altLang="ru-RU"/>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Объект 2">
            <a:extLst>
              <a:ext uri="{FF2B5EF4-FFF2-40B4-BE49-F238E27FC236}">
                <a16:creationId xmlns:a16="http://schemas.microsoft.com/office/drawing/2014/main" id="{B42875B1-C254-B9A4-E852-A606EE7DA58B}"/>
              </a:ext>
            </a:extLst>
          </p:cNvPr>
          <p:cNvSpPr>
            <a:spLocks noGrp="1" noChangeArrowheads="1"/>
          </p:cNvSpPr>
          <p:nvPr>
            <p:ph idx="1"/>
          </p:nvPr>
        </p:nvSpPr>
        <p:spPr>
          <a:xfrm>
            <a:off x="304800" y="800100"/>
            <a:ext cx="11049000" cy="5753100"/>
          </a:xfrm>
        </p:spPr>
        <p:txBody>
          <a:bodyPr>
            <a:normAutofit lnSpcReduction="10000"/>
          </a:bodyPr>
          <a:lstStyle/>
          <a:p>
            <a:r>
              <a:rPr lang="en-US" altLang="ru-RU" i="1"/>
              <a:t>Delimitation </a:t>
            </a:r>
            <a:r>
              <a:rPr lang="en-US" altLang="ru-RU"/>
              <a:t>is the legal process by which two sovereign nations establish and describe in writing the location of their common boundary, mainly as the output of the decision making on the negotiation table;</a:t>
            </a:r>
          </a:p>
          <a:p>
            <a:r>
              <a:rPr lang="en-US" altLang="ru-RU" i="1"/>
              <a:t>Demarcation </a:t>
            </a:r>
            <a:r>
              <a:rPr lang="en-US" altLang="ru-RU"/>
              <a:t>is a field operation. Its purpose is to mark the position of the boundary on the ground so it is visible to all, and this normally starts by surveying which is the initial stage of demarcation. The objective</a:t>
            </a:r>
            <a:br>
              <a:rPr lang="en-US" altLang="ru-RU"/>
            </a:br>
            <a:r>
              <a:rPr lang="en-US" altLang="ru-RU"/>
              <a:t>of demarcation is to place or adopt physical marks that accurately represent the location of a delimited boundary;</a:t>
            </a:r>
          </a:p>
          <a:p>
            <a:r>
              <a:rPr lang="en-US" altLang="ru-RU" i="1"/>
              <a:t>Delineation </a:t>
            </a:r>
            <a:r>
              <a:rPr lang="en-US" altLang="ru-RU"/>
              <a:t>is the graphical or mathematical representation of the boundary. Frequently, a joint commission undertakes both demarcation and delineation.</a:t>
            </a:r>
            <a:br>
              <a:rPr lang="en-US" altLang="ru-RU"/>
            </a:br>
            <a:br>
              <a:rPr lang="en-US" altLang="ru-RU"/>
            </a:br>
            <a:br>
              <a:rPr lang="en-US" altLang="ru-RU"/>
            </a:br>
            <a:br>
              <a:rPr lang="en-US" altLang="ru-RU"/>
            </a:br>
            <a:endParaRPr lang="ru-RU" altLang="ru-RU"/>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D2AF70BC-764D-27D6-C5E0-119F3E20E046}"/>
              </a:ext>
            </a:extLst>
          </p:cNvPr>
          <p:cNvSpPr>
            <a:spLocks noGrp="1" noChangeArrowheads="1"/>
          </p:cNvSpPr>
          <p:nvPr>
            <p:ph type="title"/>
          </p:nvPr>
        </p:nvSpPr>
        <p:spPr/>
        <p:txBody>
          <a:bodyPr/>
          <a:lstStyle/>
          <a:p>
            <a:endParaRPr lang="en-US" altLang="en-US"/>
          </a:p>
        </p:txBody>
      </p:sp>
      <p:sp>
        <p:nvSpPr>
          <p:cNvPr id="7171" name="Content Placeholder 2">
            <a:extLst>
              <a:ext uri="{FF2B5EF4-FFF2-40B4-BE49-F238E27FC236}">
                <a16:creationId xmlns:a16="http://schemas.microsoft.com/office/drawing/2014/main" id="{FC67309A-9281-4B2F-DCD4-15E0DD2ECC64}"/>
              </a:ext>
            </a:extLst>
          </p:cNvPr>
          <p:cNvSpPr>
            <a:spLocks noGrp="1" noChangeArrowheads="1"/>
          </p:cNvSpPr>
          <p:nvPr>
            <p:ph idx="1"/>
          </p:nvPr>
        </p:nvSpPr>
        <p:spPr/>
        <p:txBody>
          <a:bodyPr/>
          <a:lstStyle/>
          <a:p>
            <a:endParaRPr lang="en-US" altLang="en-US"/>
          </a:p>
        </p:txBody>
      </p:sp>
      <p:pic>
        <p:nvPicPr>
          <p:cNvPr id="7172" name="Picture 2">
            <a:extLst>
              <a:ext uri="{FF2B5EF4-FFF2-40B4-BE49-F238E27FC236}">
                <a16:creationId xmlns:a16="http://schemas.microsoft.com/office/drawing/2014/main" id="{7C3F32A2-5470-1E36-054D-5E50B40B62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52400"/>
            <a:ext cx="9753600"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8C837B0C-FB22-376D-80DB-42C23DC3E054}"/>
              </a:ext>
            </a:extLst>
          </p:cNvPr>
          <p:cNvSpPr>
            <a:spLocks noGrp="1" noChangeArrowheads="1"/>
          </p:cNvSpPr>
          <p:nvPr>
            <p:ph type="title"/>
          </p:nvPr>
        </p:nvSpPr>
        <p:spPr/>
        <p:txBody>
          <a:bodyPr/>
          <a:lstStyle/>
          <a:p>
            <a:endParaRPr lang="en-US" altLang="en-US"/>
          </a:p>
        </p:txBody>
      </p:sp>
      <p:pic>
        <p:nvPicPr>
          <p:cNvPr id="8195" name="Picture 2" descr="1. &#10;Blank map Republic of Kazakhstan. High quality map of Kazakhstan  with provinces on transparent background for your web site design, logo, app, UI. EPS10. ">
            <a:extLst>
              <a:ext uri="{FF2B5EF4-FFF2-40B4-BE49-F238E27FC236}">
                <a16:creationId xmlns:a16="http://schemas.microsoft.com/office/drawing/2014/main" id="{AD80BDEB-A9A8-F840-B622-F8FE1B080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919538" cy="309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16" descr="Grey Map of Kyrgyzstan with Regions">
            <a:extLst>
              <a:ext uri="{FF2B5EF4-FFF2-40B4-BE49-F238E27FC236}">
                <a16:creationId xmlns:a16="http://schemas.microsoft.com/office/drawing/2014/main" id="{C5CED081-A485-D716-0CD0-2A7A298A7F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2775" y="215900"/>
            <a:ext cx="3836988"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18" descr="Tajikistan map vector">
            <a:extLst>
              <a:ext uri="{FF2B5EF4-FFF2-40B4-BE49-F238E27FC236}">
                <a16:creationId xmlns:a16="http://schemas.microsoft.com/office/drawing/2014/main" id="{D9481A7A-6CC1-7893-9904-241E91AD11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388" y="3648075"/>
            <a:ext cx="3579812" cy="263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Picture 24" descr="Blank map of Turkmenistan. High quality map of Turkmenistan with provinces on transparent background for your web site design, logo, app, UI. Asia. EPS10. ">
            <a:extLst>
              <a:ext uri="{FF2B5EF4-FFF2-40B4-BE49-F238E27FC236}">
                <a16:creationId xmlns:a16="http://schemas.microsoft.com/office/drawing/2014/main" id="{DCC7F95D-4371-0CB9-5A7E-8D57A086A4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4050" y="3565525"/>
            <a:ext cx="3263900" cy="337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9" name="Picture 26" descr="Afghanistan Blank Map">
            <a:extLst>
              <a:ext uri="{FF2B5EF4-FFF2-40B4-BE49-F238E27FC236}">
                <a16:creationId xmlns:a16="http://schemas.microsoft.com/office/drawing/2014/main" id="{E6252F00-DA9C-A521-013B-619A269CB40F}"/>
              </a:ext>
            </a:extLst>
          </p:cNvPr>
          <p:cNvPicPr>
            <a:picLocks noGrp="1" noChangeAspect="1" noChangeArrowheads="1"/>
          </p:cNvPicPr>
          <p:nvPr>
            <p:ph idx="1"/>
          </p:nvPr>
        </p:nvPicPr>
        <p:blipFill>
          <a:blip r:embed="rId6">
            <a:extLst>
              <a:ext uri="{28A0092B-C50C-407E-A947-70E740481C1C}">
                <a14:useLocalDpi xmlns:a14="http://schemas.microsoft.com/office/drawing/2010/main" val="0"/>
              </a:ext>
            </a:extLst>
          </a:blip>
          <a:srcRect/>
          <a:stretch>
            <a:fillRect/>
          </a:stretch>
        </p:blipFill>
        <p:spPr>
          <a:xfrm>
            <a:off x="8418513" y="3349625"/>
            <a:ext cx="3467100" cy="3074988"/>
          </a:xfrm>
          <a:noFill/>
        </p:spPr>
      </p:pic>
      <p:pic>
        <p:nvPicPr>
          <p:cNvPr id="8200" name="Picture 30" descr="Outline Map of Uzbekistan">
            <a:extLst>
              <a:ext uri="{FF2B5EF4-FFF2-40B4-BE49-F238E27FC236}">
                <a16:creationId xmlns:a16="http://schemas.microsoft.com/office/drawing/2014/main" id="{22922FE8-2BE3-EA0D-23EC-A001080550C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97375" y="215900"/>
            <a:ext cx="3835400"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Заголовок 1">
            <a:extLst>
              <a:ext uri="{FF2B5EF4-FFF2-40B4-BE49-F238E27FC236}">
                <a16:creationId xmlns:a16="http://schemas.microsoft.com/office/drawing/2014/main" id="{6EAA534A-156A-5614-1CA6-027DBDBE61DF}"/>
              </a:ext>
            </a:extLst>
          </p:cNvPr>
          <p:cNvSpPr>
            <a:spLocks noGrp="1" noChangeArrowheads="1"/>
          </p:cNvSpPr>
          <p:nvPr>
            <p:ph type="title"/>
          </p:nvPr>
        </p:nvSpPr>
        <p:spPr/>
        <p:txBody>
          <a:bodyPr/>
          <a:lstStyle/>
          <a:p>
            <a:r>
              <a:rPr lang="en-US" altLang="ru-RU"/>
              <a:t>Maps of Uzbekistan in 1927 and 1938</a:t>
            </a:r>
            <a:endParaRPr lang="ru-RU" altLang="ru-RU"/>
          </a:p>
        </p:txBody>
      </p:sp>
      <p:sp>
        <p:nvSpPr>
          <p:cNvPr id="9219" name="Объект 2">
            <a:extLst>
              <a:ext uri="{FF2B5EF4-FFF2-40B4-BE49-F238E27FC236}">
                <a16:creationId xmlns:a16="http://schemas.microsoft.com/office/drawing/2014/main" id="{8B345CFC-2D9F-B318-D397-B74CA31B5C3E}"/>
              </a:ext>
            </a:extLst>
          </p:cNvPr>
          <p:cNvSpPr>
            <a:spLocks noGrp="1" noChangeArrowheads="1"/>
          </p:cNvSpPr>
          <p:nvPr>
            <p:ph sz="half" idx="1"/>
          </p:nvPr>
        </p:nvSpPr>
        <p:spPr/>
        <p:txBody>
          <a:bodyPr/>
          <a:lstStyle/>
          <a:p>
            <a:endParaRPr lang="ru-RU" altLang="ru-RU"/>
          </a:p>
        </p:txBody>
      </p:sp>
      <p:pic>
        <p:nvPicPr>
          <p:cNvPr id="9220" name="Picture 2" descr="Image result for the map of SSR of uzbekistan">
            <a:extLst>
              <a:ext uri="{FF2B5EF4-FFF2-40B4-BE49-F238E27FC236}">
                <a16:creationId xmlns:a16="http://schemas.microsoft.com/office/drawing/2014/main" id="{51A1DD64-3E4E-588A-9443-9B27137852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429000"/>
            <a:ext cx="7815263"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4" descr="Image result for the map of SSR of uzbekistan">
            <a:extLst>
              <a:ext uri="{FF2B5EF4-FFF2-40B4-BE49-F238E27FC236}">
                <a16:creationId xmlns:a16="http://schemas.microsoft.com/office/drawing/2014/main" id="{2396E64D-6626-EE1F-C81F-63850448215D}"/>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858000" y="1350963"/>
            <a:ext cx="5181600" cy="3497262"/>
          </a:xfr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Заголовок 1">
            <a:extLst>
              <a:ext uri="{FF2B5EF4-FFF2-40B4-BE49-F238E27FC236}">
                <a16:creationId xmlns:a16="http://schemas.microsoft.com/office/drawing/2014/main" id="{3727B0CB-8F8D-376A-7610-D4BEA56FEF7A}"/>
              </a:ext>
            </a:extLst>
          </p:cNvPr>
          <p:cNvSpPr>
            <a:spLocks noGrp="1" noChangeArrowheads="1"/>
          </p:cNvSpPr>
          <p:nvPr>
            <p:ph type="title"/>
          </p:nvPr>
        </p:nvSpPr>
        <p:spPr>
          <a:xfrm>
            <a:off x="838200" y="365125"/>
            <a:ext cx="10515600" cy="904875"/>
          </a:xfrm>
        </p:spPr>
        <p:txBody>
          <a:bodyPr/>
          <a:lstStyle/>
          <a:p>
            <a:pPr algn="ctr"/>
            <a:r>
              <a:rPr lang="en-US" altLang="ru-RU"/>
              <a:t>Contemporary map of Uzbekistan</a:t>
            </a:r>
            <a:endParaRPr lang="ru-RU" altLang="ru-RU"/>
          </a:p>
        </p:txBody>
      </p:sp>
      <p:sp>
        <p:nvSpPr>
          <p:cNvPr id="10243" name="Объект 2">
            <a:extLst>
              <a:ext uri="{FF2B5EF4-FFF2-40B4-BE49-F238E27FC236}">
                <a16:creationId xmlns:a16="http://schemas.microsoft.com/office/drawing/2014/main" id="{ABEF7665-4D81-E963-2830-80BD630C36FA}"/>
              </a:ext>
            </a:extLst>
          </p:cNvPr>
          <p:cNvSpPr>
            <a:spLocks noGrp="1" noChangeArrowheads="1"/>
          </p:cNvSpPr>
          <p:nvPr>
            <p:ph idx="1"/>
          </p:nvPr>
        </p:nvSpPr>
        <p:spPr/>
        <p:txBody>
          <a:bodyPr/>
          <a:lstStyle/>
          <a:p>
            <a:endParaRPr lang="ru-RU" altLang="ru-RU"/>
          </a:p>
        </p:txBody>
      </p:sp>
      <p:pic>
        <p:nvPicPr>
          <p:cNvPr id="10244" name="Picture 2" descr="Image result for the map of SSR of uzbekistan">
            <a:extLst>
              <a:ext uri="{FF2B5EF4-FFF2-40B4-BE49-F238E27FC236}">
                <a16:creationId xmlns:a16="http://schemas.microsoft.com/office/drawing/2014/main" id="{6D4A423B-705A-E66A-2F43-C3D383F6D9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800" y="1231900"/>
            <a:ext cx="9817100" cy="544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Заголовок 1">
            <a:extLst>
              <a:ext uri="{FF2B5EF4-FFF2-40B4-BE49-F238E27FC236}">
                <a16:creationId xmlns:a16="http://schemas.microsoft.com/office/drawing/2014/main" id="{BE78D70D-736D-20F2-8899-263F46D1B070}"/>
              </a:ext>
            </a:extLst>
          </p:cNvPr>
          <p:cNvSpPr>
            <a:spLocks noGrp="1" noChangeArrowheads="1"/>
          </p:cNvSpPr>
          <p:nvPr>
            <p:ph type="title"/>
          </p:nvPr>
        </p:nvSpPr>
        <p:spPr/>
        <p:txBody>
          <a:bodyPr>
            <a:normAutofit fontScale="90000"/>
          </a:bodyPr>
          <a:lstStyle/>
          <a:p>
            <a:pPr eaLnBrk="1" hangingPunct="1"/>
            <a:r>
              <a:rPr lang="en-US" altLang="de-DE" b="1"/>
              <a:t>Delimitation talks between Uzbekistan and Kazakhstan</a:t>
            </a:r>
            <a:endParaRPr lang="ru-RU" altLang="de-DE" b="1"/>
          </a:p>
        </p:txBody>
      </p:sp>
      <p:sp>
        <p:nvSpPr>
          <p:cNvPr id="11267" name="Прямоугольник 4">
            <a:extLst>
              <a:ext uri="{FF2B5EF4-FFF2-40B4-BE49-F238E27FC236}">
                <a16:creationId xmlns:a16="http://schemas.microsoft.com/office/drawing/2014/main" id="{CD4778AC-AD31-AE3D-5287-90E2A2AF5674}"/>
              </a:ext>
            </a:extLst>
          </p:cNvPr>
          <p:cNvSpPr>
            <a:spLocks noChangeArrowheads="1"/>
          </p:cNvSpPr>
          <p:nvPr/>
        </p:nvSpPr>
        <p:spPr bwMode="auto">
          <a:xfrm>
            <a:off x="728663" y="1417638"/>
            <a:ext cx="9555162"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42950" indent="-7429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 typeface="Calibri Light" panose="020F0302020204030204" pitchFamily="34" charset="0"/>
              <a:buAutoNum type="arabicPeriod"/>
            </a:pPr>
            <a:r>
              <a:rPr lang="en-US" altLang="de-DE" sz="3600"/>
              <a:t>The longest borders between Uzbekistan and other neighbours. </a:t>
            </a:r>
          </a:p>
          <a:p>
            <a:pPr algn="just" eaLnBrk="1" hangingPunct="1">
              <a:lnSpc>
                <a:spcPct val="100000"/>
              </a:lnSpc>
              <a:spcBef>
                <a:spcPct val="0"/>
              </a:spcBef>
              <a:buFont typeface="Calibri Light" panose="020F0302020204030204" pitchFamily="34" charset="0"/>
              <a:buAutoNum type="arabicPeriod"/>
            </a:pPr>
            <a:r>
              <a:rPr lang="en-US" altLang="de-DE" sz="3600"/>
              <a:t>Crossed populated areas having no inviolable area in the north of Tashkent and Syrdarya regions. </a:t>
            </a:r>
          </a:p>
          <a:p>
            <a:pPr algn="just" eaLnBrk="1" hangingPunct="1">
              <a:lnSpc>
                <a:spcPct val="100000"/>
              </a:lnSpc>
              <a:spcBef>
                <a:spcPct val="0"/>
              </a:spcBef>
              <a:buFont typeface="Calibri Light" panose="020F0302020204030204" pitchFamily="34" charset="0"/>
              <a:buAutoNum type="arabicPeriod"/>
            </a:pPr>
            <a:r>
              <a:rPr lang="en-US" altLang="de-DE" sz="3600"/>
              <a:t>Different chosen ways of development (Protectionism (Uzb) and Liberalization (Kaz)</a:t>
            </a:r>
          </a:p>
          <a:p>
            <a:pPr eaLnBrk="1" hangingPunct="1">
              <a:lnSpc>
                <a:spcPct val="100000"/>
              </a:lnSpc>
              <a:spcBef>
                <a:spcPct val="0"/>
              </a:spcBef>
              <a:buFontTx/>
              <a:buNone/>
            </a:pPr>
            <a:r>
              <a:rPr lang="en-US" altLang="de-DE" sz="1800"/>
              <a:t> </a:t>
            </a:r>
          </a:p>
          <a:p>
            <a:pPr eaLnBrk="1" hangingPunct="1">
              <a:lnSpc>
                <a:spcPct val="100000"/>
              </a:lnSpc>
              <a:spcBef>
                <a:spcPct val="0"/>
              </a:spcBef>
              <a:buFontTx/>
              <a:buNone/>
            </a:pPr>
            <a:r>
              <a:rPr lang="en-US" altLang="de-DE" sz="1800"/>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Заголовок 1">
            <a:extLst>
              <a:ext uri="{FF2B5EF4-FFF2-40B4-BE49-F238E27FC236}">
                <a16:creationId xmlns:a16="http://schemas.microsoft.com/office/drawing/2014/main" id="{191DD3E6-5B89-CC08-46D4-11FF240C58B0}"/>
              </a:ext>
            </a:extLst>
          </p:cNvPr>
          <p:cNvSpPr>
            <a:spLocks noGrp="1" noChangeArrowheads="1"/>
          </p:cNvSpPr>
          <p:nvPr>
            <p:ph type="title"/>
          </p:nvPr>
        </p:nvSpPr>
        <p:spPr/>
        <p:txBody>
          <a:bodyPr/>
          <a:lstStyle/>
          <a:p>
            <a:endParaRPr lang="ru-RU" altLang="ru-RU"/>
          </a:p>
        </p:txBody>
      </p:sp>
      <p:sp>
        <p:nvSpPr>
          <p:cNvPr id="12291" name="Рисунок SmartArt 2">
            <a:extLst>
              <a:ext uri="{FF2B5EF4-FFF2-40B4-BE49-F238E27FC236}">
                <a16:creationId xmlns:a16="http://schemas.microsoft.com/office/drawing/2014/main" id="{97949577-F83F-18B5-C637-61B6002A2DC0}"/>
              </a:ext>
            </a:extLst>
          </p:cNvPr>
          <p:cNvSpPr>
            <a:spLocks noGrp="1" noChangeArrowheads="1" noTextEdit="1"/>
          </p:cNvSpPr>
          <p:nvPr>
            <p:ph type="dgm" idx="1"/>
          </p:nvPr>
        </p:nvSpPr>
        <p:spPr>
          <a:xfrm>
            <a:off x="609600" y="1600200"/>
            <a:ext cx="10972800" cy="4525963"/>
          </a:xfrm>
        </p:spPr>
      </p:sp>
      <p:pic>
        <p:nvPicPr>
          <p:cNvPr id="12292" name="Рисунок 3" descr="Динамика границ Казахстана и Узбекистана">
            <a:extLst>
              <a:ext uri="{FF2B5EF4-FFF2-40B4-BE49-F238E27FC236}">
                <a16:creationId xmlns:a16="http://schemas.microsoft.com/office/drawing/2014/main" id="{014A9CC3-CECE-F74D-1E8A-965BCA13E1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198438"/>
            <a:ext cx="11811000" cy="595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AF316156-B89F-ED01-CEF4-5680EEC2EB76}"/>
              </a:ext>
            </a:extLst>
          </p:cNvPr>
          <p:cNvSpPr>
            <a:spLocks noGrp="1" noChangeArrowheads="1"/>
          </p:cNvSpPr>
          <p:nvPr>
            <p:ph type="title"/>
          </p:nvPr>
        </p:nvSpPr>
        <p:spPr>
          <a:xfrm>
            <a:off x="838200" y="177800"/>
            <a:ext cx="10515600" cy="952500"/>
          </a:xfrm>
        </p:spPr>
        <p:txBody>
          <a:bodyPr/>
          <a:lstStyle/>
          <a:p>
            <a:pPr eaLnBrk="1" hangingPunct="1"/>
            <a:r>
              <a:rPr lang="en-US" altLang="de-DE" sz="4000" b="1"/>
              <a:t>Delimitation discussions with Kyrgyzstan</a:t>
            </a:r>
            <a:endParaRPr lang="ru-RU" altLang="ru-RU" sz="4000" b="1"/>
          </a:p>
        </p:txBody>
      </p:sp>
      <p:sp>
        <p:nvSpPr>
          <p:cNvPr id="13315" name="Rectangle 3">
            <a:extLst>
              <a:ext uri="{FF2B5EF4-FFF2-40B4-BE49-F238E27FC236}">
                <a16:creationId xmlns:a16="http://schemas.microsoft.com/office/drawing/2014/main" id="{E3236CCA-7F05-BECF-0848-276D2236F0B6}"/>
              </a:ext>
            </a:extLst>
          </p:cNvPr>
          <p:cNvSpPr>
            <a:spLocks noGrp="1" noChangeArrowheads="1"/>
          </p:cNvSpPr>
          <p:nvPr>
            <p:ph type="body" sz="half" idx="1"/>
          </p:nvPr>
        </p:nvSpPr>
        <p:spPr>
          <a:xfrm>
            <a:off x="838200" y="1825625"/>
            <a:ext cx="9918700" cy="4351338"/>
          </a:xfrm>
        </p:spPr>
        <p:txBody>
          <a:bodyPr/>
          <a:lstStyle/>
          <a:p>
            <a:pPr eaLnBrk="1" hangingPunct="1"/>
            <a:r>
              <a:rPr lang="en-US" altLang="ru-RU"/>
              <a:t>Borders with most-densly populated areas - Tashkent, Namangan, Andijan and Ferghana regions.</a:t>
            </a:r>
          </a:p>
          <a:p>
            <a:pPr eaLnBrk="1" hangingPunct="1"/>
            <a:r>
              <a:rPr lang="en-US" altLang="de-DE"/>
              <a:t>Covers three enclave areas of Uzbekistan. </a:t>
            </a:r>
          </a:p>
          <a:p>
            <a:pPr eaLnBrk="1" hangingPunct="1"/>
            <a:r>
              <a:rPr lang="en-US" altLang="de-DE"/>
              <a:t>Disputes and confrontations in the field of water an.</a:t>
            </a:r>
          </a:p>
          <a:p>
            <a:pPr eaLnBrk="1" hangingPunct="1"/>
            <a:endParaRPr lang="en-US" altLang="de-DE"/>
          </a:p>
          <a:p>
            <a:pPr eaLnBrk="1" hangingPunct="1"/>
            <a:endParaRPr lang="en-US" altLang="ru-RU"/>
          </a:p>
          <a:p>
            <a:pPr eaLnBrk="1" hangingPunct="1"/>
            <a:endParaRPr lang="en-US" altLang="ru-RU"/>
          </a:p>
          <a:p>
            <a:pPr eaLnBrk="1" hangingPunct="1"/>
            <a:endParaRPr lang="en-US" altLang="ru-RU"/>
          </a:p>
          <a:p>
            <a:pPr eaLnBrk="1" hangingPunct="1"/>
            <a:endParaRPr lang="en-US" altLang="ru-RU"/>
          </a:p>
          <a:p>
            <a:pPr eaLnBrk="1" hangingPunct="1"/>
            <a:endParaRPr lang="ru-RU" altLang="ru-RU"/>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Заголовок 1">
            <a:extLst>
              <a:ext uri="{FF2B5EF4-FFF2-40B4-BE49-F238E27FC236}">
                <a16:creationId xmlns:a16="http://schemas.microsoft.com/office/drawing/2014/main" id="{18946146-DD0F-E435-0A2B-2CDB60C0095B}"/>
              </a:ext>
            </a:extLst>
          </p:cNvPr>
          <p:cNvSpPr>
            <a:spLocks noGrp="1" noChangeArrowheads="1"/>
          </p:cNvSpPr>
          <p:nvPr>
            <p:ph type="title"/>
          </p:nvPr>
        </p:nvSpPr>
        <p:spPr/>
        <p:txBody>
          <a:bodyPr/>
          <a:lstStyle/>
          <a:p>
            <a:r>
              <a:rPr lang="en-US" altLang="ru-RU"/>
              <a:t>4</a:t>
            </a:r>
            <a:endParaRPr lang="ru-RU" altLang="ru-RU"/>
          </a:p>
        </p:txBody>
      </p:sp>
      <p:sp>
        <p:nvSpPr>
          <p:cNvPr id="14339" name="Объект 2">
            <a:extLst>
              <a:ext uri="{FF2B5EF4-FFF2-40B4-BE49-F238E27FC236}">
                <a16:creationId xmlns:a16="http://schemas.microsoft.com/office/drawing/2014/main" id="{54C1CFB1-CC24-3760-60D8-FE48CD147D8C}"/>
              </a:ext>
            </a:extLst>
          </p:cNvPr>
          <p:cNvSpPr>
            <a:spLocks noGrp="1" noChangeArrowheads="1"/>
          </p:cNvSpPr>
          <p:nvPr>
            <p:ph idx="1"/>
          </p:nvPr>
        </p:nvSpPr>
        <p:spPr/>
        <p:txBody>
          <a:bodyPr/>
          <a:lstStyle/>
          <a:p>
            <a:endParaRPr lang="ru-RU" altLang="ru-RU"/>
          </a:p>
        </p:txBody>
      </p:sp>
      <p:sp>
        <p:nvSpPr>
          <p:cNvPr id="14340" name="AutoShape 2" descr="Related image">
            <a:extLst>
              <a:ext uri="{FF2B5EF4-FFF2-40B4-BE49-F238E27FC236}">
                <a16:creationId xmlns:a16="http://schemas.microsoft.com/office/drawing/2014/main" id="{F4F0F834-C5D8-774C-E3B6-D2C760BDCC38}"/>
              </a:ext>
            </a:extLst>
          </p:cNvPr>
          <p:cNvSpPr>
            <a:spLocks noChangeAspect="1" noChangeArrowheads="1"/>
          </p:cNvSpPr>
          <p:nvPr/>
        </p:nvSpPr>
        <p:spPr bwMode="auto">
          <a:xfrm>
            <a:off x="1444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ru-RU" altLang="ru-RU" sz="1800"/>
          </a:p>
        </p:txBody>
      </p:sp>
      <p:sp>
        <p:nvSpPr>
          <p:cNvPr id="14341" name="AutoShape 4" descr="Related image">
            <a:extLst>
              <a:ext uri="{FF2B5EF4-FFF2-40B4-BE49-F238E27FC236}">
                <a16:creationId xmlns:a16="http://schemas.microsoft.com/office/drawing/2014/main" id="{A43B2326-53E0-ECEC-0D8B-274E52897CC4}"/>
              </a:ext>
            </a:extLst>
          </p:cNvPr>
          <p:cNvSpPr>
            <a:spLocks noChangeAspect="1" noChangeArrowheads="1"/>
          </p:cNvSpPr>
          <p:nvPr/>
        </p:nvSpPr>
        <p:spPr bwMode="auto">
          <a:xfrm>
            <a:off x="296863"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ru-RU" altLang="ru-RU" sz="1800"/>
          </a:p>
        </p:txBody>
      </p:sp>
      <p:sp>
        <p:nvSpPr>
          <p:cNvPr id="14342" name="AutoShape 6" descr="Related image">
            <a:extLst>
              <a:ext uri="{FF2B5EF4-FFF2-40B4-BE49-F238E27FC236}">
                <a16:creationId xmlns:a16="http://schemas.microsoft.com/office/drawing/2014/main" id="{9EBCD06E-E83F-CE5D-A516-73625D515DE8}"/>
              </a:ext>
            </a:extLst>
          </p:cNvPr>
          <p:cNvSpPr>
            <a:spLocks noChangeAspect="1" noChangeArrowheads="1"/>
          </p:cNvSpPr>
          <p:nvPr/>
        </p:nvSpPr>
        <p:spPr bwMode="auto">
          <a:xfrm>
            <a:off x="449263" y="1603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ru-RU" altLang="ru-RU" sz="1800"/>
          </a:p>
        </p:txBody>
      </p:sp>
      <p:sp>
        <p:nvSpPr>
          <p:cNvPr id="14343" name="AutoShape 8" descr="Related image">
            <a:extLst>
              <a:ext uri="{FF2B5EF4-FFF2-40B4-BE49-F238E27FC236}">
                <a16:creationId xmlns:a16="http://schemas.microsoft.com/office/drawing/2014/main" id="{6C115F88-3F32-42EB-245B-0A3B8AAF01CA}"/>
              </a:ext>
            </a:extLst>
          </p:cNvPr>
          <p:cNvSpPr>
            <a:spLocks noChangeAspect="1" noChangeArrowheads="1"/>
          </p:cNvSpPr>
          <p:nvPr/>
        </p:nvSpPr>
        <p:spPr bwMode="auto">
          <a:xfrm>
            <a:off x="601663" y="3127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ru-RU" altLang="ru-RU" sz="1800"/>
          </a:p>
        </p:txBody>
      </p:sp>
      <p:sp>
        <p:nvSpPr>
          <p:cNvPr id="14344" name="AutoShape 12" descr="Image result for example of an enclave">
            <a:extLst>
              <a:ext uri="{FF2B5EF4-FFF2-40B4-BE49-F238E27FC236}">
                <a16:creationId xmlns:a16="http://schemas.microsoft.com/office/drawing/2014/main" id="{1D8AFE0B-1D79-2EFE-42CD-47CF0EAD7289}"/>
              </a:ext>
            </a:extLst>
          </p:cNvPr>
          <p:cNvSpPr>
            <a:spLocks noChangeAspect="1" noChangeArrowheads="1"/>
          </p:cNvSpPr>
          <p:nvPr/>
        </p:nvSpPr>
        <p:spPr bwMode="auto">
          <a:xfrm>
            <a:off x="754063" y="465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ru-RU" altLang="ru-RU" sz="1800"/>
          </a:p>
        </p:txBody>
      </p:sp>
      <p:pic>
        <p:nvPicPr>
          <p:cNvPr id="14345" name="Picture 13" descr="C:\Users\HP\Desktop\download.jpg">
            <a:extLst>
              <a:ext uri="{FF2B5EF4-FFF2-40B4-BE49-F238E27FC236}">
                <a16:creationId xmlns:a16="http://schemas.microsoft.com/office/drawing/2014/main" id="{14FA8E4C-E139-1EB4-C722-B6D88B9E70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063" y="465138"/>
            <a:ext cx="9901237" cy="608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Заголовок 1">
            <a:extLst>
              <a:ext uri="{FF2B5EF4-FFF2-40B4-BE49-F238E27FC236}">
                <a16:creationId xmlns:a16="http://schemas.microsoft.com/office/drawing/2014/main" id="{75ECE6D4-8FE3-DDBD-4C5E-C88EFD392EDA}"/>
              </a:ext>
            </a:extLst>
          </p:cNvPr>
          <p:cNvSpPr>
            <a:spLocks noGrp="1" noChangeArrowheads="1"/>
          </p:cNvSpPr>
          <p:nvPr>
            <p:ph type="title"/>
          </p:nvPr>
        </p:nvSpPr>
        <p:spPr/>
        <p:txBody>
          <a:bodyPr/>
          <a:lstStyle/>
          <a:p>
            <a:pPr eaLnBrk="1" hangingPunct="1"/>
            <a:r>
              <a:rPr lang="en-US" altLang="ru-RU" b="1"/>
              <a:t>Concept.</a:t>
            </a:r>
            <a:r>
              <a:rPr lang="ru-RU" altLang="ru-RU" b="1"/>
              <a:t> </a:t>
            </a:r>
            <a:r>
              <a:rPr lang="en-US" altLang="de-DE" b="1"/>
              <a:t>The benefits of the Solution of Delimitation issues </a:t>
            </a:r>
            <a:endParaRPr lang="ru-RU" altLang="de-DE" b="1"/>
          </a:p>
        </p:txBody>
      </p:sp>
      <p:sp>
        <p:nvSpPr>
          <p:cNvPr id="15363" name="Объект 2">
            <a:extLst>
              <a:ext uri="{FF2B5EF4-FFF2-40B4-BE49-F238E27FC236}">
                <a16:creationId xmlns:a16="http://schemas.microsoft.com/office/drawing/2014/main" id="{FAB57B79-4758-8983-413A-0D0EBDB29217}"/>
              </a:ext>
            </a:extLst>
          </p:cNvPr>
          <p:cNvSpPr>
            <a:spLocks noGrp="1" noChangeArrowheads="1"/>
          </p:cNvSpPr>
          <p:nvPr>
            <p:ph idx="1"/>
          </p:nvPr>
        </p:nvSpPr>
        <p:spPr/>
        <p:txBody>
          <a:bodyPr/>
          <a:lstStyle/>
          <a:p>
            <a:pPr eaLnBrk="1" hangingPunct="1"/>
            <a:r>
              <a:rPr lang="en-US" altLang="de-DE" sz="3200" b="1"/>
              <a:t>The benefits of the Solution of Delimitation issues for Uzbekistan  </a:t>
            </a:r>
            <a:r>
              <a:rPr lang="en-US" altLang="de-DE" sz="3200"/>
              <a:t>- to have </a:t>
            </a:r>
            <a:r>
              <a:rPr lang="en-US" altLang="ru-RU" sz="3200"/>
              <a:t>stable and mutually agreed boundaries with other countries basing on international norms and regulations, development of transiting, partnership in </a:t>
            </a:r>
            <a:r>
              <a:rPr lang="en-US" altLang="de-DE" sz="3200"/>
              <a:t>strategic economic sectors, such as the energy sector, agriculture and industry.</a:t>
            </a:r>
            <a:endParaRPr lang="ru-RU" altLang="de-DE" sz="3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Заголовок 1">
            <a:extLst>
              <a:ext uri="{FF2B5EF4-FFF2-40B4-BE49-F238E27FC236}">
                <a16:creationId xmlns:a16="http://schemas.microsoft.com/office/drawing/2014/main" id="{D5746982-A328-6E3A-6006-04A675DD1AD1}"/>
              </a:ext>
            </a:extLst>
          </p:cNvPr>
          <p:cNvSpPr>
            <a:spLocks noGrp="1" noChangeArrowheads="1"/>
          </p:cNvSpPr>
          <p:nvPr>
            <p:ph type="title"/>
          </p:nvPr>
        </p:nvSpPr>
        <p:spPr/>
        <p:txBody>
          <a:bodyPr/>
          <a:lstStyle/>
          <a:p>
            <a:pPr eaLnBrk="1" hangingPunct="1"/>
            <a:r>
              <a:rPr lang="en-US" altLang="de-DE" b="1"/>
              <a:t>Hypotheses</a:t>
            </a:r>
            <a:br>
              <a:rPr lang="en-US" altLang="de-DE"/>
            </a:br>
            <a:endParaRPr lang="ru-RU" altLang="de-DE"/>
          </a:p>
        </p:txBody>
      </p:sp>
      <p:sp>
        <p:nvSpPr>
          <p:cNvPr id="16387" name="Объект 2">
            <a:extLst>
              <a:ext uri="{FF2B5EF4-FFF2-40B4-BE49-F238E27FC236}">
                <a16:creationId xmlns:a16="http://schemas.microsoft.com/office/drawing/2014/main" id="{C6616767-BBC4-7D60-4568-91BC81784AFE}"/>
              </a:ext>
            </a:extLst>
          </p:cNvPr>
          <p:cNvSpPr>
            <a:spLocks noGrp="1" noChangeArrowheads="1"/>
          </p:cNvSpPr>
          <p:nvPr>
            <p:ph idx="1"/>
          </p:nvPr>
        </p:nvSpPr>
        <p:spPr/>
        <p:txBody>
          <a:bodyPr/>
          <a:lstStyle/>
          <a:p>
            <a:pPr marL="0" indent="0" eaLnBrk="1" hangingPunct="1">
              <a:buFont typeface="Arial" panose="020B0604020202020204" pitchFamily="34" charset="0"/>
              <a:buNone/>
            </a:pPr>
            <a:r>
              <a:rPr lang="en-US" altLang="de-DE" sz="3200" b="1"/>
              <a:t>H1</a:t>
            </a:r>
            <a:r>
              <a:rPr lang="en-US" altLang="de-DE" sz="3200"/>
              <a:t>: Win – win. Having </a:t>
            </a:r>
            <a:r>
              <a:rPr lang="en-US" altLang="ru-RU" sz="3200"/>
              <a:t>stable and mutually agreed boundaries with other countries serves for the prosperity of mutual relations. </a:t>
            </a:r>
            <a:r>
              <a:rPr lang="en-US" altLang="de-DE" sz="3200"/>
              <a:t> </a:t>
            </a:r>
            <a:endParaRPr lang="ru-RU" altLang="de-DE" sz="3200"/>
          </a:p>
          <a:p>
            <a:pPr marL="0" indent="0" eaLnBrk="1" hangingPunct="1">
              <a:buFont typeface="Arial" panose="020B0604020202020204" pitchFamily="34" charset="0"/>
              <a:buNone/>
            </a:pPr>
            <a:r>
              <a:rPr lang="en-US" altLang="de-DE" sz="3200" b="1"/>
              <a:t>H2</a:t>
            </a:r>
            <a:r>
              <a:rPr lang="en-US" altLang="de-DE" sz="3200"/>
              <a:t>: Reliable boundary policy can make the country to be a centre of discussing problems in international level.</a:t>
            </a:r>
          </a:p>
          <a:p>
            <a:pPr marL="0" indent="0" eaLnBrk="1" hangingPunct="1">
              <a:buFont typeface="Arial" panose="020B0604020202020204" pitchFamily="34" charset="0"/>
              <a:buNone/>
            </a:pPr>
            <a:endParaRPr lang="en-US" altLang="de-DE" sz="32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Заголовок 1">
            <a:extLst>
              <a:ext uri="{FF2B5EF4-FFF2-40B4-BE49-F238E27FC236}">
                <a16:creationId xmlns:a16="http://schemas.microsoft.com/office/drawing/2014/main" id="{70CB30EC-8FD2-08BD-6A4C-C425856B91D1}"/>
              </a:ext>
            </a:extLst>
          </p:cNvPr>
          <p:cNvSpPr>
            <a:spLocks noGrp="1" noChangeArrowheads="1"/>
          </p:cNvSpPr>
          <p:nvPr>
            <p:ph type="title"/>
          </p:nvPr>
        </p:nvSpPr>
        <p:spPr/>
        <p:txBody>
          <a:bodyPr/>
          <a:lstStyle/>
          <a:p>
            <a:pPr eaLnBrk="1" hangingPunct="1"/>
            <a:r>
              <a:rPr lang="en-US" altLang="de-DE"/>
              <a:t>Methods and Data</a:t>
            </a:r>
            <a:br>
              <a:rPr lang="en-US" altLang="de-DE"/>
            </a:br>
            <a:endParaRPr lang="ru-RU" altLang="de-DE"/>
          </a:p>
        </p:txBody>
      </p:sp>
      <p:sp>
        <p:nvSpPr>
          <p:cNvPr id="17411" name="Объект 2">
            <a:extLst>
              <a:ext uri="{FF2B5EF4-FFF2-40B4-BE49-F238E27FC236}">
                <a16:creationId xmlns:a16="http://schemas.microsoft.com/office/drawing/2014/main" id="{26093B0A-96A6-FE80-7F94-44847675E551}"/>
              </a:ext>
            </a:extLst>
          </p:cNvPr>
          <p:cNvSpPr>
            <a:spLocks noGrp="1" noChangeArrowheads="1"/>
          </p:cNvSpPr>
          <p:nvPr>
            <p:ph idx="1"/>
          </p:nvPr>
        </p:nvSpPr>
        <p:spPr>
          <a:xfrm>
            <a:off x="838200" y="1450975"/>
            <a:ext cx="10515600" cy="4725988"/>
          </a:xfrm>
        </p:spPr>
        <p:txBody>
          <a:bodyPr/>
          <a:lstStyle/>
          <a:p>
            <a:pPr eaLnBrk="1" hangingPunct="1"/>
            <a:r>
              <a:rPr lang="en-GB" altLang="de-DE" b="1"/>
              <a:t>Methods:</a:t>
            </a:r>
            <a:r>
              <a:rPr lang="en-GB" altLang="de-DE"/>
              <a:t> </a:t>
            </a:r>
            <a:r>
              <a:rPr lang="en-US" altLang="de-DE"/>
              <a:t>policy analysis,</a:t>
            </a:r>
            <a:r>
              <a:rPr lang="ky-KG" altLang="de-DE"/>
              <a:t> </a:t>
            </a:r>
            <a:r>
              <a:rPr lang="en-US" altLang="de-DE"/>
              <a:t>discussions on social networks, surveying, comparative analysis, systematic approaches. </a:t>
            </a:r>
            <a:endParaRPr lang="en-GB" altLang="de-DE"/>
          </a:p>
          <a:p>
            <a:pPr eaLnBrk="1" hangingPunct="1"/>
            <a:endParaRPr lang="en-GB" altLang="de-DE"/>
          </a:p>
          <a:p>
            <a:pPr eaLnBrk="1" hangingPunct="1"/>
            <a:r>
              <a:rPr lang="en-GB" altLang="de-DE"/>
              <a:t>The </a:t>
            </a:r>
            <a:r>
              <a:rPr lang="en-GB" altLang="de-DE" b="1"/>
              <a:t>qualitative data </a:t>
            </a:r>
            <a:r>
              <a:rPr lang="en-GB" altLang="de-DE"/>
              <a:t>come from  </a:t>
            </a:r>
            <a:r>
              <a:rPr lang="en-US" altLang="de-DE"/>
              <a:t>data distributed by different public bodies and organizations of the republics. </a:t>
            </a:r>
            <a:endParaRPr lang="ru-RU" altLang="de-DE"/>
          </a:p>
          <a:p>
            <a:pPr eaLnBrk="1" hangingPunct="1"/>
            <a:endParaRPr lang="ru-RU" altLang="de-D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56" name="Group 24">
            <a:extLst>
              <a:ext uri="{FF2B5EF4-FFF2-40B4-BE49-F238E27FC236}">
                <a16:creationId xmlns:a16="http://schemas.microsoft.com/office/drawing/2014/main" id="{0A550B57-1817-1BF8-1C4B-9C23CC4B62A6}"/>
              </a:ext>
            </a:extLst>
          </p:cNvPr>
          <p:cNvGraphicFramePr>
            <a:graphicFrameLocks noGrp="1"/>
          </p:cNvGraphicFramePr>
          <p:nvPr>
            <p:ph idx="1"/>
          </p:nvPr>
        </p:nvGraphicFramePr>
        <p:xfrm>
          <a:off x="874713" y="1173163"/>
          <a:ext cx="10479087" cy="5675312"/>
        </p:xfrm>
        <a:graphic>
          <a:graphicData uri="http://schemas.openxmlformats.org/drawingml/2006/table">
            <a:tbl>
              <a:tblPr/>
              <a:tblGrid>
                <a:gridCol w="5208587">
                  <a:extLst>
                    <a:ext uri="{9D8B030D-6E8A-4147-A177-3AD203B41FA5}">
                      <a16:colId xmlns:a16="http://schemas.microsoft.com/office/drawing/2014/main" val="20000"/>
                    </a:ext>
                  </a:extLst>
                </a:gridCol>
                <a:gridCol w="5270500">
                  <a:extLst>
                    <a:ext uri="{9D8B030D-6E8A-4147-A177-3AD203B41FA5}">
                      <a16:colId xmlns:a16="http://schemas.microsoft.com/office/drawing/2014/main" val="20001"/>
                    </a:ext>
                  </a:extLst>
                </a:gridCol>
              </a:tblGrid>
              <a:tr h="822948">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de-DE" sz="2400" b="1" i="0" u="none" strike="noStrike" cap="none" normalizeH="0" baseline="0" dirty="0">
                          <a:ln>
                            <a:noFill/>
                          </a:ln>
                          <a:solidFill>
                            <a:srgbClr val="FFFFFF"/>
                          </a:solidFill>
                          <a:effectLst/>
                          <a:latin typeface="Calibri" panose="020F0502020204030204" pitchFamily="34" charset="0"/>
                        </a:rPr>
                        <a:t>Benefits</a:t>
                      </a:r>
                      <a:endParaRPr kumimoji="0" lang="ru-RU" altLang="de-DE" sz="2400" b="1" i="0" u="none" strike="noStrike" cap="none" normalizeH="0" baseline="0" dirty="0">
                        <a:ln>
                          <a:noFill/>
                        </a:ln>
                        <a:solidFill>
                          <a:srgbClr val="FFFFFF"/>
                        </a:solidFill>
                        <a:effectLst/>
                        <a:latin typeface="Calibri" panose="020F0502020204030204" pitchFamily="34" charset="0"/>
                      </a:endParaRPr>
                    </a:p>
                  </a:txBody>
                  <a:tcPr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de-DE" sz="2400" b="1" i="0" u="none" strike="noStrike" cap="none" normalizeH="0" baseline="0" dirty="0">
                          <a:ln>
                            <a:noFill/>
                          </a:ln>
                          <a:solidFill>
                            <a:srgbClr val="FFFFFF"/>
                          </a:solidFill>
                          <a:effectLst/>
                          <a:latin typeface="Calibri" panose="020F0502020204030204" pitchFamily="34" charset="0"/>
                        </a:rPr>
                        <a:t>Obstacles to conducting the research more broadly</a:t>
                      </a:r>
                      <a:endParaRPr kumimoji="0" lang="ru-RU" altLang="de-DE" sz="2400" b="1" i="0" u="none" strike="noStrike" cap="none" normalizeH="0" baseline="0" dirty="0">
                        <a:ln>
                          <a:noFill/>
                        </a:ln>
                        <a:solidFill>
                          <a:srgbClr val="FFFFFF"/>
                        </a:solidFill>
                        <a:effectLst/>
                        <a:latin typeface="Calibri" panose="020F0502020204030204" pitchFamily="34" charset="0"/>
                      </a:endParaRPr>
                    </a:p>
                  </a:txBody>
                  <a:tcPr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554467">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de-DE" sz="2400" b="0" i="0" u="none" strike="noStrike" cap="none" normalizeH="0" baseline="0" dirty="0">
                          <a:ln>
                            <a:noFill/>
                          </a:ln>
                          <a:solidFill>
                            <a:srgbClr val="000000"/>
                          </a:solidFill>
                          <a:effectLst/>
                          <a:latin typeface="Calibri" panose="020F0502020204030204" pitchFamily="34" charset="0"/>
                        </a:rPr>
                        <a:t>Sustainable and reliable relations. </a:t>
                      </a:r>
                      <a:endParaRPr kumimoji="0" lang="ru-RU" altLang="de-DE" sz="1800" b="0" i="0" u="none" strike="noStrike" cap="none" normalizeH="0" baseline="0" dirty="0">
                        <a:ln>
                          <a:noFill/>
                        </a:ln>
                        <a:solidFill>
                          <a:srgbClr val="000000"/>
                        </a:solidFill>
                        <a:effectLst/>
                        <a:latin typeface="Calibri" panose="020F0502020204030204" pitchFamily="34" charset="0"/>
                      </a:endParaRPr>
                    </a:p>
                  </a:txBody>
                  <a:tcPr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D5EA"/>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de-DE" sz="2400" b="0" i="0" u="none" strike="noStrike" cap="none" normalizeH="0" baseline="0" dirty="0">
                          <a:ln>
                            <a:noFill/>
                          </a:ln>
                          <a:solidFill>
                            <a:srgbClr val="000000"/>
                          </a:solidFill>
                          <a:effectLst/>
                          <a:latin typeface="Calibri" panose="020F0502020204030204" pitchFamily="34" charset="0"/>
                        </a:rPr>
                        <a:t>Having problems to </a:t>
                      </a:r>
                      <a:r>
                        <a:rPr kumimoji="0" lang="en-US" altLang="de-DE" sz="2400" b="0" i="0" u="none" strike="noStrike" cap="none" normalizeH="0" baseline="0">
                          <a:ln>
                            <a:noFill/>
                          </a:ln>
                          <a:solidFill>
                            <a:srgbClr val="000000"/>
                          </a:solidFill>
                          <a:effectLst/>
                          <a:latin typeface="Calibri" panose="020F0502020204030204" pitchFamily="34" charset="0"/>
                        </a:rPr>
                        <a:t>use some archive </a:t>
                      </a:r>
                      <a:r>
                        <a:rPr kumimoji="0" lang="en-US" altLang="de-DE" sz="2400" b="0" i="0" u="none" strike="noStrike" cap="none" normalizeH="0" baseline="0" dirty="0">
                          <a:ln>
                            <a:noFill/>
                          </a:ln>
                          <a:solidFill>
                            <a:srgbClr val="000000"/>
                          </a:solidFill>
                          <a:effectLst/>
                          <a:latin typeface="Calibri" panose="020F0502020204030204" pitchFamily="34" charset="0"/>
                        </a:rPr>
                        <a:t>materials since they are considered top secret.</a:t>
                      </a:r>
                      <a:br>
                        <a:rPr kumimoji="0" lang="ru-RU" altLang="de-DE" sz="2400" b="0" i="0" u="none" strike="noStrike" cap="none" normalizeH="0" baseline="0" dirty="0">
                          <a:ln>
                            <a:noFill/>
                          </a:ln>
                          <a:solidFill>
                            <a:srgbClr val="000000"/>
                          </a:solidFill>
                          <a:effectLst/>
                          <a:latin typeface="Calibri" panose="020F0502020204030204" pitchFamily="34" charset="0"/>
                        </a:rPr>
                      </a:br>
                      <a:endParaRPr kumimoji="0" lang="ru-RU" altLang="de-DE" sz="2400" b="0" i="0" u="none" strike="noStrike" cap="none" normalizeH="0" baseline="0" dirty="0">
                        <a:ln>
                          <a:noFill/>
                        </a:ln>
                        <a:solidFill>
                          <a:srgbClr val="000000"/>
                        </a:solidFill>
                        <a:effectLst/>
                        <a:latin typeface="Calibri" panose="020F0502020204030204" pitchFamily="34" charset="0"/>
                      </a:endParaRPr>
                    </a:p>
                  </a:txBody>
                  <a:tcPr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D5EA"/>
                    </a:solidFill>
                  </a:tcPr>
                </a:tc>
                <a:extLst>
                  <a:ext uri="{0D108BD9-81ED-4DB2-BD59-A6C34878D82A}">
                    <a16:rowId xmlns:a16="http://schemas.microsoft.com/office/drawing/2014/main" val="10001"/>
                  </a:ext>
                </a:extLst>
              </a:tr>
              <a:tr h="1742638">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de-DE" sz="2400" b="0" i="0" u="none" strike="noStrike" cap="none" normalizeH="0" baseline="0" dirty="0">
                          <a:ln>
                            <a:noFill/>
                          </a:ln>
                          <a:solidFill>
                            <a:srgbClr val="000000"/>
                          </a:solidFill>
                          <a:effectLst/>
                          <a:latin typeface="Calibri" panose="020F0502020204030204" pitchFamily="34" charset="0"/>
                        </a:rPr>
                        <a:t>To fight together against different threats. </a:t>
                      </a:r>
                      <a:endParaRPr kumimoji="0" lang="ru-RU" altLang="de-DE" sz="2400" b="0" i="0" u="none" strike="noStrike" cap="none" normalizeH="0" baseline="0" dirty="0">
                        <a:ln>
                          <a:noFill/>
                        </a:ln>
                        <a:solidFill>
                          <a:srgbClr val="000000"/>
                        </a:solidFill>
                        <a:effectLst/>
                        <a:latin typeface="Calibri" panose="020F0502020204030204" pitchFamily="34" charset="0"/>
                      </a:endParaRPr>
                    </a:p>
                  </a:txBody>
                  <a:tcPr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BF5"/>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ru-RU" altLang="de-DE" sz="1800" b="0" i="0" u="none" strike="noStrike" cap="none" normalizeH="0" baseline="0" dirty="0">
                        <a:ln>
                          <a:noFill/>
                        </a:ln>
                        <a:solidFill>
                          <a:srgbClr val="000000"/>
                        </a:solidFill>
                        <a:effectLst/>
                        <a:latin typeface="Calibri" panose="020F0502020204030204" pitchFamily="34" charset="0"/>
                      </a:endParaRPr>
                    </a:p>
                  </a:txBody>
                  <a:tcPr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BF5"/>
                    </a:solidFill>
                  </a:tcPr>
                </a:tc>
                <a:extLst>
                  <a:ext uri="{0D108BD9-81ED-4DB2-BD59-A6C34878D82A}">
                    <a16:rowId xmlns:a16="http://schemas.microsoft.com/office/drawing/2014/main" val="10002"/>
                  </a:ext>
                </a:extLst>
              </a:tr>
              <a:tr h="1555258">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de-DE" sz="2400" b="0" i="0" u="none" strike="noStrike" cap="none" normalizeH="0" baseline="0" dirty="0">
                          <a:ln>
                            <a:noFill/>
                          </a:ln>
                          <a:solidFill>
                            <a:srgbClr val="000000"/>
                          </a:solidFill>
                          <a:effectLst/>
                          <a:latin typeface="Calibri" panose="020F0502020204030204" pitchFamily="34" charset="0"/>
                        </a:rPr>
                        <a:t>The solutions of energy </a:t>
                      </a:r>
                      <a:r>
                        <a:rPr kumimoji="0" lang="en-US" altLang="de-DE" sz="2400" b="0" i="0" u="none" strike="noStrike" cap="none" normalizeH="0" baseline="0" dirty="0" err="1">
                          <a:ln>
                            <a:noFill/>
                          </a:ln>
                          <a:solidFill>
                            <a:srgbClr val="000000"/>
                          </a:solidFill>
                          <a:effectLst/>
                          <a:latin typeface="Calibri" panose="020F0502020204030204" pitchFamily="34" charset="0"/>
                        </a:rPr>
                        <a:t>peroblems</a:t>
                      </a:r>
                      <a:r>
                        <a:rPr kumimoji="0" lang="en-US" altLang="de-DE" sz="2400" b="0" i="0" u="none" strike="noStrike" cap="none" normalizeH="0" baseline="0" dirty="0">
                          <a:ln>
                            <a:noFill/>
                          </a:ln>
                          <a:solidFill>
                            <a:srgbClr val="000000"/>
                          </a:solidFill>
                          <a:effectLst/>
                          <a:latin typeface="Calibri" panose="020F0502020204030204" pitchFamily="34" charset="0"/>
                        </a:rPr>
                        <a:t> and water disputes.</a:t>
                      </a:r>
                      <a:endParaRPr kumimoji="0" lang="ru-RU" altLang="de-DE" sz="2400" b="0" i="0" u="none" strike="noStrike" cap="none" normalizeH="0" baseline="0" dirty="0">
                        <a:ln>
                          <a:noFill/>
                        </a:ln>
                        <a:solidFill>
                          <a:srgbClr val="000000"/>
                        </a:solidFill>
                        <a:effectLst/>
                        <a:latin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ru-RU" altLang="de-DE" sz="2400" b="0" i="0" u="none" strike="noStrike" cap="none" normalizeH="0" baseline="0" dirty="0">
                        <a:ln>
                          <a:noFill/>
                        </a:ln>
                        <a:solidFill>
                          <a:srgbClr val="000000"/>
                        </a:solidFill>
                        <a:effectLst/>
                        <a:latin typeface="Calibri" panose="020F0502020204030204" pitchFamily="34" charset="0"/>
                      </a:endParaRPr>
                    </a:p>
                  </a:txBody>
                  <a:tcPr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D5EA"/>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ru-RU" altLang="de-DE" sz="2400" b="0" i="0" u="none" strike="noStrike" cap="none" normalizeH="0" baseline="0" dirty="0">
                        <a:ln>
                          <a:noFill/>
                        </a:ln>
                        <a:solidFill>
                          <a:srgbClr val="000000"/>
                        </a:solidFill>
                        <a:effectLst/>
                        <a:latin typeface="Calibri" panose="020F0502020204030204" pitchFamily="34" charset="0"/>
                      </a:endParaRPr>
                    </a:p>
                  </a:txBody>
                  <a:tcPr marT="45714" marB="4571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D5EA"/>
                    </a:solidFill>
                  </a:tcPr>
                </a:tc>
                <a:extLst>
                  <a:ext uri="{0D108BD9-81ED-4DB2-BD59-A6C34878D82A}">
                    <a16:rowId xmlns:a16="http://schemas.microsoft.com/office/drawing/2014/main" val="10003"/>
                  </a:ext>
                </a:extLst>
              </a:tr>
            </a:tbl>
          </a:graphicData>
        </a:graphic>
      </p:graphicFrame>
      <p:sp>
        <p:nvSpPr>
          <p:cNvPr id="18451" name="Заголовок 1">
            <a:extLst>
              <a:ext uri="{FF2B5EF4-FFF2-40B4-BE49-F238E27FC236}">
                <a16:creationId xmlns:a16="http://schemas.microsoft.com/office/drawing/2014/main" id="{B7D37233-1EC2-D126-75A7-C7818536517F}"/>
              </a:ext>
            </a:extLst>
          </p:cNvPr>
          <p:cNvSpPr>
            <a:spLocks noGrp="1" noChangeArrowheads="1"/>
          </p:cNvSpPr>
          <p:nvPr>
            <p:ph type="title"/>
          </p:nvPr>
        </p:nvSpPr>
        <p:spPr>
          <a:xfrm>
            <a:off x="533400" y="365125"/>
            <a:ext cx="10515600" cy="615950"/>
          </a:xfrm>
        </p:spPr>
        <p:txBody>
          <a:bodyPr/>
          <a:lstStyle/>
          <a:p>
            <a:pPr eaLnBrk="1" hangingPunct="1"/>
            <a:r>
              <a:rPr lang="en-US" altLang="de-DE" sz="3200" b="1"/>
              <a:t>Finding 1: Benefits for not having delimitation issues</a:t>
            </a:r>
            <a:endParaRPr lang="ru-RU" altLang="de-DE" sz="3200" b="1"/>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Заголовок 1">
            <a:extLst>
              <a:ext uri="{FF2B5EF4-FFF2-40B4-BE49-F238E27FC236}">
                <a16:creationId xmlns:a16="http://schemas.microsoft.com/office/drawing/2014/main" id="{5BFC2BAC-FC1F-11E0-64D0-CD2C14DD37AE}"/>
              </a:ext>
            </a:extLst>
          </p:cNvPr>
          <p:cNvSpPr>
            <a:spLocks noGrp="1" noChangeArrowheads="1"/>
          </p:cNvSpPr>
          <p:nvPr>
            <p:ph type="title"/>
          </p:nvPr>
        </p:nvSpPr>
        <p:spPr/>
        <p:txBody>
          <a:bodyPr/>
          <a:lstStyle/>
          <a:p>
            <a:pPr eaLnBrk="1" hangingPunct="1"/>
            <a:r>
              <a:rPr lang="en-US" altLang="de-DE" b="1"/>
              <a:t>Suggestions</a:t>
            </a:r>
            <a:endParaRPr lang="ru-RU" altLang="de-DE" b="1"/>
          </a:p>
        </p:txBody>
      </p:sp>
      <p:sp>
        <p:nvSpPr>
          <p:cNvPr id="19459" name="Объект 2">
            <a:extLst>
              <a:ext uri="{FF2B5EF4-FFF2-40B4-BE49-F238E27FC236}">
                <a16:creationId xmlns:a16="http://schemas.microsoft.com/office/drawing/2014/main" id="{DFDF0F80-4389-1E3A-4BB0-569E10555964}"/>
              </a:ext>
            </a:extLst>
          </p:cNvPr>
          <p:cNvSpPr>
            <a:spLocks noGrp="1" noChangeArrowheads="1"/>
          </p:cNvSpPr>
          <p:nvPr>
            <p:ph idx="1"/>
          </p:nvPr>
        </p:nvSpPr>
        <p:spPr/>
        <p:txBody>
          <a:bodyPr/>
          <a:lstStyle/>
          <a:p>
            <a:pPr marL="514350" indent="-514350" eaLnBrk="1" hangingPunct="1">
              <a:lnSpc>
                <a:spcPct val="80000"/>
              </a:lnSpc>
              <a:buFont typeface="Calibri Light" panose="020F0302020204030204" pitchFamily="34" charset="0"/>
              <a:buAutoNum type="arabicPeriod"/>
            </a:pPr>
            <a:r>
              <a:rPr lang="en-US" altLang="de-DE"/>
              <a:t>Establishing joint strategic studies institutions between CAC. </a:t>
            </a:r>
          </a:p>
          <a:p>
            <a:pPr marL="514350" indent="-514350" eaLnBrk="1" hangingPunct="1">
              <a:lnSpc>
                <a:spcPct val="80000"/>
              </a:lnSpc>
              <a:buFont typeface="Calibri Light" panose="020F0302020204030204" pitchFamily="34" charset="0"/>
              <a:buAutoNum type="arabicPeriod"/>
            </a:pPr>
            <a:r>
              <a:rPr lang="en-US" altLang="de-DE"/>
              <a:t>Providing exemptions for the entrepreneurs of other countries joint.</a:t>
            </a:r>
          </a:p>
          <a:p>
            <a:pPr marL="514350" indent="-514350" eaLnBrk="1" hangingPunct="1">
              <a:lnSpc>
                <a:spcPct val="80000"/>
              </a:lnSpc>
              <a:buFont typeface="Calibri Light" panose="020F0302020204030204" pitchFamily="34" charset="0"/>
              <a:buAutoNum type="arabicPeriod"/>
            </a:pPr>
            <a:r>
              <a:rPr lang="en-US" altLang="de-DE"/>
              <a:t>Forming new methods of delimitation policy that could be applied for the solution of much tinier issues related to the problem.</a:t>
            </a:r>
          </a:p>
          <a:p>
            <a:pPr marL="514350" indent="-514350" eaLnBrk="1" hangingPunct="1">
              <a:lnSpc>
                <a:spcPct val="80000"/>
              </a:lnSpc>
              <a:buFont typeface="Calibri Light" panose="020F0302020204030204" pitchFamily="34" charset="0"/>
              <a:buAutoNum type="arabicPeriod"/>
            </a:pPr>
            <a:r>
              <a:rPr lang="en-US" altLang="de-DE"/>
              <a:t>Opening transport corridors. </a:t>
            </a:r>
          </a:p>
          <a:p>
            <a:pPr marL="514350" indent="-514350" eaLnBrk="1" hangingPunct="1">
              <a:lnSpc>
                <a:spcPct val="80000"/>
              </a:lnSpc>
              <a:buFont typeface="Calibri Light" panose="020F0302020204030204" pitchFamily="34" charset="0"/>
              <a:buAutoNum type="arabicPeriod"/>
            </a:pPr>
            <a:r>
              <a:rPr lang="en-US" altLang="de-DE"/>
              <a:t>Supporting one another to provide inviolability of the borders.</a:t>
            </a:r>
          </a:p>
          <a:p>
            <a:pPr marL="514350" indent="-514350" eaLnBrk="1" hangingPunct="1">
              <a:lnSpc>
                <a:spcPct val="80000"/>
              </a:lnSpc>
              <a:buFont typeface="Calibri Light" panose="020F0302020204030204" pitchFamily="34" charset="0"/>
              <a:buAutoNum type="arabicPeriod"/>
            </a:pPr>
            <a:r>
              <a:rPr lang="en-US" altLang="de-DE"/>
              <a:t>Forming funds to promote scientific joint projects in public level to integrate larger number of scholars.</a:t>
            </a:r>
          </a:p>
          <a:p>
            <a:pPr marL="514350" indent="-514350" eaLnBrk="1" hangingPunct="1">
              <a:lnSpc>
                <a:spcPct val="80000"/>
              </a:lnSpc>
            </a:pPr>
            <a:endParaRPr lang="en-US" altLang="de-DE"/>
          </a:p>
          <a:p>
            <a:pPr marL="514350" indent="-514350" eaLnBrk="1" hangingPunct="1">
              <a:lnSpc>
                <a:spcPct val="80000"/>
              </a:lnSpc>
            </a:pPr>
            <a:endParaRPr lang="ru-RU" altLang="de-D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2408</Words>
  <Application>Microsoft Office PowerPoint</Application>
  <PresentationFormat>Широкоэкранный</PresentationFormat>
  <Paragraphs>217</Paragraphs>
  <Slides>41</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41</vt:i4>
      </vt:variant>
    </vt:vector>
  </HeadingPairs>
  <TitlesOfParts>
    <vt:vector size="46" baseType="lpstr">
      <vt:lpstr>Arial</vt:lpstr>
      <vt:lpstr>Calibri</vt:lpstr>
      <vt:lpstr>Calibri Light</vt:lpstr>
      <vt:lpstr>Times New Roman</vt:lpstr>
      <vt:lpstr>Office Theme</vt:lpstr>
      <vt:lpstr>Презентация PowerPoint</vt:lpstr>
      <vt:lpstr>Formation of Uzbekistan as a republic</vt:lpstr>
      <vt:lpstr>Презентация PowerPoint</vt:lpstr>
      <vt:lpstr>Plan</vt:lpstr>
      <vt:lpstr>Questions</vt:lpstr>
      <vt:lpstr>Introduction</vt:lpstr>
      <vt:lpstr>Презентация PowerPoint</vt:lpstr>
      <vt:lpstr>The concept of statehood</vt:lpstr>
      <vt:lpstr>Презентация PowerPoint</vt:lpstr>
      <vt:lpstr>  Forms of states and state rulers.  </vt:lpstr>
      <vt:lpstr>History of ancient statehood</vt:lpstr>
      <vt:lpstr>Primary states</vt:lpstr>
      <vt:lpstr>Презентация PowerPoint</vt:lpstr>
      <vt:lpstr>Titles of rulers</vt:lpstr>
      <vt:lpstr>Medieval age statehood history</vt:lpstr>
      <vt:lpstr>Презентация PowerPoint</vt:lpstr>
      <vt:lpstr>Samanid governance system</vt:lpstr>
      <vt:lpstr>Презентация PowerPoint</vt:lpstr>
      <vt:lpstr>Презентация PowerPoint</vt:lpstr>
      <vt:lpstr>Презентация PowerPoint</vt:lpstr>
      <vt:lpstr>Презентация PowerPoint</vt:lpstr>
      <vt:lpstr>The state of Khwarazmshahs</vt:lpstr>
      <vt:lpstr>Division of into small states</vt:lpstr>
      <vt:lpstr>Презентация PowerPoint</vt:lpstr>
      <vt:lpstr>Презентация PowerPoint</vt:lpstr>
      <vt:lpstr>Nation-building states</vt:lpstr>
      <vt:lpstr>Terms commonly used for boundary making - treaty, delimitation, demarcation, delineation.</vt:lpstr>
      <vt:lpstr>Презентация PowerPoint</vt:lpstr>
      <vt:lpstr>Презентация PowerPoint</vt:lpstr>
      <vt:lpstr>Презентация PowerPoint</vt:lpstr>
      <vt:lpstr>Maps of Uzbekistan in 1927 and 1938</vt:lpstr>
      <vt:lpstr>Contemporary map of Uzbekistan</vt:lpstr>
      <vt:lpstr>Delimitation talks between Uzbekistan and Kazakhstan</vt:lpstr>
      <vt:lpstr>Презентация PowerPoint</vt:lpstr>
      <vt:lpstr>Delimitation discussions with Kyrgyzstan</vt:lpstr>
      <vt:lpstr>4</vt:lpstr>
      <vt:lpstr>Concept. The benefits of the Solution of Delimitation issues </vt:lpstr>
      <vt:lpstr>Hypotheses </vt:lpstr>
      <vt:lpstr>Methods and Data </vt:lpstr>
      <vt:lpstr>Finding 1: Benefits for not having delimitation issues</vt:lpstr>
      <vt:lpstr>Suggestions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of Uzbekistan as a republic</dc:title>
  <dc:creator>v.kholov@outlook.com</dc:creator>
  <cp:lastModifiedBy>Vohid</cp:lastModifiedBy>
  <cp:revision>2</cp:revision>
  <dcterms:created xsi:type="dcterms:W3CDTF">2023-02-13T05:58:51Z</dcterms:created>
  <dcterms:modified xsi:type="dcterms:W3CDTF">2025-01-28T09:59:38Z</dcterms:modified>
</cp:coreProperties>
</file>