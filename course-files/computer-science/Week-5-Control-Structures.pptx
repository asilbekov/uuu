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71" r:id="rId3"/>
    <p:sldId id="272" r:id="rId4"/>
    <p:sldId id="273"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716"/>
  </p:normalViewPr>
  <p:slideViewPr>
    <p:cSldViewPr snapToGrid="0">
      <p:cViewPr varScale="1">
        <p:scale>
          <a:sx n="55" d="100"/>
          <a:sy n="55" d="100"/>
        </p:scale>
        <p:origin x="224"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a:t>
            </a:r>
          </a:p>
          <a:p>
            <a:r>
              <a:t>Chapter 6 · Control structures</a:t>
            </a:r>
          </a:p>
          <a:p>
            <a:endParaRPr/>
          </a:p>
          <a:p>
            <a:r>
              <a:t>Use the cover while students join Slido. Begin with the next three ungraded polls, allowing about five minutes including joining and discussion. Then introduce control structures. The illustration suggests selection among paths; it is not a technical flowchart. Use the book Melody example and CS50 string-length demonstration with prediction, running and explanation. The supporting illustration was generated for this revision.</a:t>
            </a:r>
          </a:p>
          <a:p>
            <a:endParaRPr/>
          </a:p>
          <a:p>
            <a:r>
              <a:t>SOURCE</a:t>
            </a:r>
          </a:p>
          <a:p>
            <a:r>
              <a:t>Book Chapter 6, printed pp.135–148. Original 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Selection · live coding</a:t>
            </a:r>
          </a:p>
          <a:p>
            <a:r>
              <a:t>§6.1.1 · Selection</a:t>
            </a:r>
          </a:p>
          <a:p>
            <a:endParaRPr/>
          </a:p>
          <a:p>
            <a:r>
              <a:t>Begin with only the if/else-if column visible. The teacher types grade_if.c live using cs50.h, stdio.h, int main(void) and char grade = get_char("Grade: "). Test B and W. Press Next once to reveal the switch column on the same slide. Rewrite the selection in grade_switch.c while keeping the same input and messages. Map each equality check to a case label, else to default, and explain that break exits the switch. Test all A/B/C/D/F grades and W; both programs give identical messages. These are video-inspired illustrations, not numbered book examples. C switch accepts an integer expression (including char); case labels are distinct integer constant expressions. Use if for ranges or compound conditions. Do not claim switch is always faster or that else-if is inherently bad practice. Save fall-through troubleshooting for the subsequent book Melody example, the only debug50 demonstration. Both complete source files and the live sequence are in the teacher guide. PowerPoint: use Slide Show mode; the switch column appears on one click. HTML: press Right or Next once.</a:t>
            </a:r>
          </a:p>
          <a:p>
            <a:endParaRPr/>
          </a:p>
          <a:p>
            <a:r>
              <a:t>SOURCE</a:t>
            </a:r>
          </a:p>
          <a:p>
            <a:r>
              <a:t>Ceri, Mandrioli and Sbattella, The Art and Craft of Computing, supplied PDF, printed pp. 137–138. PDF viewer pages = printed + 22 for Chapter 6. Bro Code, C switch statements, https://www.youtube.com/watch?v=tjd8fQw5HTA . Transcript and user-supplied screenshots reviewed 12 October 2026; CS50 input adaptation.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Selection · same grade example</a:t>
            </a:r>
          </a:p>
          <a:p>
            <a:r>
              <a:t>§6.1.1 · Same grade example</a:t>
            </a:r>
          </a:p>
          <a:p>
            <a:endParaRPr/>
          </a:p>
          <a:p>
            <a:r>
              <a:t>Continue immediately from the grade comparison. Point to case B: printf runs, then break exits the switch. Execution continues after the closing brace; break does not end the whole program. Without this break, execution falls through into later cases without testing the grade again. The comparison slide and complete grade_switch.c already show the correct breaks. Trace B manually and run the correct grade program normally. Keep the actual missing-break troubleshooting for the following Melody example, using debug50 only there.</a:t>
            </a:r>
          </a:p>
          <a:p>
            <a:endParaRPr/>
          </a:p>
          <a:p>
            <a:r>
              <a:t>SOURCE</a:t>
            </a:r>
          </a:p>
          <a:p>
            <a:r>
              <a:t>Ceri, Mandrioli and Sbattella, The Art and Craft of Computing, supplied PDF, printed pp. 137–138; 146. PDF viewer pages = printed + 22 for Chapter 6. Grade illustration adapted from Bro Code, https://www.youtube.com/watch?v=tjd8fQw5HTA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Selection demonstration</a:t>
            </a:r>
          </a:p>
          <a:p>
            <a:r>
              <a:t>§6.1.1 · Book Example 6.1</a:t>
            </a:r>
          </a:p>
          <a:p>
            <a:endParaRPr/>
          </a:p>
          <a:p>
            <a:r>
              <a:t>Book Example 6.1 reads one character at a time, computes its ASCII code modulo 7, and prints a note name. It does not play audio. For A, 65 % 7 = 2, so the intended note is C. Open 01_melody_buggy.c and run A# live. It prints C then D. The missing break is our deliberate teaching fault; the original book has the break. The runnable adaptation uses int main(void), checks scanf(" %c", &amp;C), skips whitespace, and documents ASCII input. Full code stays in the guide and editor. Set a breakpoint at the case 2 printf on line 24 of the fresh source. Run debug50 with A#, inspect C and remainder = 2, then Step Over into the case 3 print on line 26. Ask why the next case executes without a new test. Then stop the debugger, add break after the case 2 print, save, rebuild and rerun A#. Confirm one C note, then test B# and immediate #. The fixed program is the recovery reference. Exact commands and working-copy steps are in the teacher guide.</a:t>
            </a:r>
          </a:p>
          <a:p>
            <a:endParaRPr/>
          </a:p>
          <a:p>
            <a:r>
              <a:t>EDITOR</a:t>
            </a:r>
          </a:p>
          <a:p>
            <a:r>
              <a:t>chapter06_lab/walkthrough/01_melody_buggy.c</a:t>
            </a:r>
          </a:p>
          <a:p>
            <a:r>
              <a:t>PRACTICE</a:t>
            </a:r>
          </a:p>
          <a:p>
            <a:r>
              <a:t>chapter06_lab/starters/01_melody_buggy.c</a:t>
            </a:r>
          </a:p>
          <a:p>
            <a:r>
              <a:t>Run A# first and observe the mismatch before opening the debugger.</a:t>
            </a:r>
          </a:p>
          <a:p>
            <a:endParaRPr/>
          </a:p>
          <a:p>
            <a:r>
              <a:t>SOURCE</a:t>
            </a:r>
          </a:p>
          <a:p>
            <a:r>
              <a:t>Ceri, Mandrioli and Sbattella, The Art and Craft of Computing, supplied PDF, printed pp. 138–139. PDF viewer pages = printed + 22 for Chapter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Selection demonstration</a:t>
            </a:r>
          </a:p>
          <a:p>
            <a:r>
              <a:t>§6.1.1 · Example 6.1 · input loop</a:t>
            </a:r>
          </a:p>
          <a:p>
            <a:endParaRPr/>
          </a:p>
          <a:p>
            <a:r>
              <a:t>The corrected loop reads a character, checks successful input and the # sentinel, selects and prints a note, then reads again. EOF and # end the loop. A break within a note case leaves the switch, so another read can occur. Run AB# live: note C, then note D. The diagram abstracts the combined checked scanf and condition. Input mechanics stay in the guide.</a:t>
            </a:r>
          </a:p>
          <a:p>
            <a:endParaRPr/>
          </a:p>
          <a:p>
            <a:r>
              <a:t>EDITOR</a:t>
            </a:r>
          </a:p>
          <a:p>
            <a:r>
              <a:t>chapter06_lab/walkthrough/02_melody_fixed.c</a:t>
            </a:r>
          </a:p>
          <a:p>
            <a:r>
              <a:t>PRACTICE</a:t>
            </a:r>
          </a:p>
          <a:p>
            <a:r>
              <a:t>chapter06_lab/starters/01_melody_buggy.c</a:t>
            </a:r>
          </a:p>
          <a:p>
            <a:r>
              <a:t>Run AB# to see a new selection on each character. Input checks skip whitespace.</a:t>
            </a:r>
          </a:p>
          <a:p>
            <a:endParaRPr/>
          </a:p>
          <a:p>
            <a:r>
              <a:t>SOURCE</a:t>
            </a:r>
          </a:p>
          <a:p>
            <a:r>
              <a:t>Ceri, Mandrioli and Sbattella, The Art and Craft of Computing, supplied PDF, printed pp. 138–139. PDF viewer pages = printed + 22 for Chapter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Repetition</a:t>
            </a:r>
          </a:p>
          <a:p>
            <a:r>
              <a:t>§6.2 · Repetition</a:t>
            </a:r>
          </a:p>
          <a:p>
            <a:endParaRPr/>
          </a:p>
          <a:p>
            <a:r>
              <a:t>Use this generated loop illustration as a brief transition. It is not a technical control-flow diagram. We now follow repetition through the for loop, compare while and for, then count characters in a string.</a:t>
            </a:r>
          </a:p>
          <a:p>
            <a:endParaRPr/>
          </a:p>
          <a:p>
            <a:r>
              <a:t>SOURCE</a:t>
            </a:r>
          </a:p>
          <a:p>
            <a:r>
              <a:t>Book §6.2, printed pp.141–145. Original generated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Repetition</a:t>
            </a:r>
          </a:p>
          <a:p>
            <a:r>
              <a:t>§6.2.1 · for</a:t>
            </a:r>
          </a:p>
          <a:p>
            <a:endParaRPr/>
          </a:p>
          <a:p>
            <a:r>
              <a:t>Trace initialization once, the condition before each body, the body, the update, and the return to the condition. The false path leaves the loop; following program statements can still run. This diagram models the simple for form without early break or return. Relate it to while: for collects initialization, test and update into its header. The update does not run before the first test.</a:t>
            </a:r>
          </a:p>
          <a:p>
            <a:endParaRPr/>
          </a:p>
          <a:p>
            <a:r>
              <a:t>SOURCE</a:t>
            </a:r>
          </a:p>
          <a:p>
            <a:r>
              <a:t>Ceri, Mandrioli and Sbattella, The Art and Craft of Computing, supplied PDF, printed pp. 142–143. PDF viewer pages = printed + 22 for Chapter 6. CS50x current C notes https://cs50.harvard.edu/x/notes/1/ and Arrays notes, Debugging section https://cs50.harvard.edu/x/notes/2/#debugging . Accessed 11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Repetition</a:t>
            </a:r>
          </a:p>
          <a:p>
            <a:r>
              <a:t>§6.2.1 · while and for · small illustration</a:t>
            </a:r>
          </a:p>
          <a:p>
            <a:endParaRPr/>
          </a:p>
          <a:p>
            <a:r>
              <a:t>Book section 6.2.1, printed p. 142, compares a counter-controlled while loop with its for form. This is an original concrete 1-to-3 illustration of that structure. Each excerpt declares its own counter near its use. The while version declares int i = 1; immediately before the loop. The for version declares int i = 1 in its header, so that counter is in scope only within the for loop. In each, initialize i to 1, test i &lt;= 3 before the body, print i, then increment i. Both print 1 2 3. The next increment produces 4, making the test false. The counter declared by for is no longer in scope after that loop; do not refer to it afterwards. The for header collects initialization, test and update. This comparison is limited to these snippets; moving an update mechanically can change behavior when a body contains continue. Use teaching-support/00_while_for_demo.c if running the comparison. It adds while/for labels and line breaks around the shown output.</a:t>
            </a:r>
          </a:p>
          <a:p>
            <a:endParaRPr/>
          </a:p>
          <a:p>
            <a:r>
              <a:t>SOURCE</a:t>
            </a:r>
          </a:p>
          <a:p>
            <a:r>
              <a:t>Ceri, Mandrioli and Sbattella, The Art and Craft of Computing, supplied PDF, printed pp. 142. PDF viewer pages = printed + 22 for Chapter 6. Original concrete syntax illustration. CS50x current C notes https://cs50.harvard.edu/x/notes/1/ and Arrays notes, Debugging section https://cs50.harvard.edu/x/notes/2/#debugging . Accessed 11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CS50 supplement</a:t>
            </a:r>
          </a:p>
          <a:p>
            <a:r>
              <a:t>CS50 supplement · string length</a:t>
            </a:r>
          </a:p>
          <a:p>
            <a:endParaRPr/>
          </a:p>
          <a:p>
            <a:r>
              <a:t>This is the manual length.c example from CS50x, not a numbered textbook example. The full program includes cs50.h and stdio.h, then obtains name with string name = get_string("Name: "), including the trailing semicolon. Use normal ASCII input HI! for this trace. The string stores H, I and !, followed by the NUL terminator '\0'. Initialize n to 0. While name[n] is not '\0', increment n. At n = 3 the test is false, so the terminator is not counted and printf prints 3. The slide shows the string and counting idea only. Show the full runnable source teaching-support/length.c in the IDE. Open length.c already in chapter06_lab/walkthrough. Use make length and ./length, then enter HI!. Trace the values manually: n = 0 reads H, n = 1 reads I, n = 2 reads !, and n = 3 reaches the NUL terminator. The condition becomes false before another increment, so the final output is 3. This demonstration stays with normal entered text, including an empty line, and does not introduce pointer mechanics, a helper function or strlen.</a:t>
            </a:r>
          </a:p>
          <a:p>
            <a:endParaRPr/>
          </a:p>
          <a:p>
            <a:r>
              <a:t>SOURCE</a:t>
            </a:r>
          </a:p>
          <a:p>
            <a:r>
              <a:t>CS50x 2026, Lecture 2, String Length, https://cs50.harvard.edu/x/notes/2/#string-length . Accessed 12 October 2026. David J. Malan / Harvard University. Teaching excerpt and original diagram, CC BY-NC-SA 4.0; https://cs50.harvard.edu/x/license/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a:t>
            </a:r>
          </a:p>
          <a:p>
            <a:r>
              <a:t>§6.2.2 · Optional book excerpt</a:t>
            </a:r>
          </a:p>
          <a:p>
            <a:endParaRPr/>
          </a:p>
          <a:p>
            <a:r>
              <a:t>Optional short trace from the unnumbered excerpt in book section 6.2.2. The file 05_text_do_while.c reads non-newline characters and stores the % sentinel too. Input % stores one character before the condition becomes false. The full version checks input and capacity 8, then prints only the stored count. Text is not a C string. The diagram shows the normal successful-input path; EOF returns through the supplied guard before storage. The loop condition tests both Datum != % and Counter &lt; MaxLength. Full safe input stays in the guide.</a:t>
            </a:r>
          </a:p>
          <a:p>
            <a:endParaRPr/>
          </a:p>
          <a:p>
            <a:r>
              <a:t>EDITOR</a:t>
            </a:r>
          </a:p>
          <a:p>
            <a:r>
              <a:t>chapter06_lab/walkthrough/05_text_do_while.c</a:t>
            </a:r>
          </a:p>
          <a:p>
            <a:r>
              <a:t>PRACTICE</a:t>
            </a:r>
          </a:p>
          <a:p>
            <a:r>
              <a:t>chapter06_lab/starters/05_text_do_while.c</a:t>
            </a:r>
          </a:p>
          <a:p>
            <a:r>
              <a:t>Optional trace: input %, then ABC%. Keep full input and capacity checks in the editor.</a:t>
            </a:r>
          </a:p>
          <a:p>
            <a:endParaRPr/>
          </a:p>
          <a:p>
            <a:r>
              <a:t>SOURCE</a:t>
            </a:r>
          </a:p>
          <a:p>
            <a:r>
              <a:t>Ceri, Mandrioli and Sbattella, The Art and Craft of Computing, supplied PDF, printed pp. 144–145. PDF viewer pages = printed + 22 for Chapter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a:t>
            </a:r>
          </a:p>
          <a:p>
            <a:r>
              <a:t>§6.4 · Optional book excerpt</a:t>
            </a:r>
          </a:p>
          <a:p>
            <a:endParaRPr/>
          </a:p>
          <a:p>
            <a:r>
              <a:t>Optional second excerpt from book section 6.4. The file 06_skip_letters.c reads five non-newline ASCII characters and skips processing letters. For A, continue bypasses printf and reaches the for update i++. For 1, printf processes the character, then reaches the same update. The loop condition runs after the update. Input A1b2! keeps 1, 2 and !. The letter test, checked input and concrete printf replacing the book processing placeholder remain in the full program.</a:t>
            </a:r>
          </a:p>
          <a:p>
            <a:endParaRPr/>
          </a:p>
          <a:p>
            <a:r>
              <a:t>EDITOR</a:t>
            </a:r>
          </a:p>
          <a:p>
            <a:r>
              <a:t>chapter06_lab/walkthrough/06_skip_letters.c</a:t>
            </a:r>
          </a:p>
          <a:p>
            <a:r>
              <a:t>PRACTICE</a:t>
            </a:r>
          </a:p>
          <a:p>
            <a:r>
              <a:t>chapter06_lab/starters/06_skip_letters.c</a:t>
            </a:r>
          </a:p>
          <a:p>
            <a:r>
              <a:t>Optional: restore continue in the starter. It reaches update, then condition.</a:t>
            </a:r>
          </a:p>
          <a:p>
            <a:endParaRPr/>
          </a:p>
          <a:p>
            <a:r>
              <a:t>SOURCE</a:t>
            </a:r>
          </a:p>
          <a:p>
            <a:r>
              <a:t>Ceri, Mandrioli and Sbattella, The Art and Craft of Computing, supplied PDF, printed pp. 146. PDF viewer pages = printed + 22 for Chapter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Exit</a:t>
            </a:r>
          </a:p>
          <a:p>
            <a:r>
              <a:t>Chapter 6 · Explain execution</a:t>
            </a:r>
          </a:p>
          <a:p>
            <a:endParaRPr/>
          </a:p>
          <a:p>
            <a:r>
              <a:t>Ask a student to choose an execution point from Melody or the string-length demonstration, identify the next statement, and name the value or condition controlling the transition. Accept a causal explanation. Examples: remainder 2 selects the case 2 entry; break leaves the switch; the string terminator makes the length loop condition false. Sources and full procedures are in the guide. Teaching adaptation of CS50 materials by David J. Malan / Harvard University, CC BY-NC-SA 4.0. https://cs50.harvard.edu/x/license/ . Original values, wording and TashTech layouts; no endorsement implied. Adapted CS50 material retains CC BY-NC-SA 4.0; university marks are excluded.</a:t>
            </a:r>
          </a:p>
          <a:p>
            <a:endParaRPr/>
          </a:p>
          <a:p>
            <a:r>
              <a:t>SOURCE</a:t>
            </a:r>
          </a:p>
          <a:p>
            <a:r>
              <a:t>Ceri, Mandrioli and Sbattella, The Art and Craft of Computing, supplied PDF, printed pp. 137–146. PDF viewer pages = printed + 22 for Chapter 6. CS50x current C notes https://cs50.harvard.edu/x/notes/1/ and Arrays notes, Debugging section https://cs50.harvard.edu/x/notes/2/#debugging . Accessed 11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3222E4B-45ED-4276-827F-3B2DA78BA961}"/>
              </a:ext>
            </a:extLst>
          </p:cNvPr>
          <p:cNvSpPr>
            <a:spLocks noGrp="1"/>
          </p:cNvSpPr>
          <p:nvPr>
            <p:ph type="title"/>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67EF0B4E-0DE9-4A85-8688-8D1D64491EF8}"/>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BD8501C-45AD-423E-980A-AD42FB84BC23}"/>
              </a:ext>
            </a:extLst>
          </p:cNvPr>
          <p:cNvSpPr>
            <a:spLocks noGrp="1"/>
          </p:cNvSpPr>
          <p:nvPr>
            <p:ph type="title"/>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C592C75-8B12-447C-8FA8-F29BDF736EF5}"/>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C1C33680-B966-44E7-B9B1-8714D1068E60}"/>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BD69FC8-2E24-4956-9EDE-6C0FF7A6271B}"/>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874FD0C-31CB-4DC2-BDFE-54A71E13450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
        <p:nvSpPr>
          <p:cNvPr id="3" name="Right column">
            <a:extLst>
              <a:ext uri="{FF2B5EF4-FFF2-40B4-BE49-F238E27FC236}">
                <a16:creationId xmlns:a16="http://schemas.microsoft.com/office/drawing/2014/main" id="{95742CAB-1AA7-43F9-A5A9-D15749755895}"/>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DA23A9-07F9-4AAB-A84D-AE2064C2FF62}"/>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202087B-1D13-4B2A-9E15-E1E5905DA87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4.xml"/><Relationship Id="rId7" Type="http://schemas.openxmlformats.org/officeDocument/2006/relationships/image" Target="../media/image3.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6.xml"/><Relationship Id="rId11" Type="http://schemas.openxmlformats.org/officeDocument/2006/relationships/image" Target="../media/image5.svg"/><Relationship Id="rId5" Type="http://schemas.openxmlformats.org/officeDocument/2006/relationships/tags" Target="../tags/tag6.xml"/><Relationship Id="rId10" Type="http://schemas.openxmlformats.org/officeDocument/2006/relationships/hyperlink" Target="https://www.slido.com/support/ppi/how-to-change-the-design" TargetMode="External"/><Relationship Id="rId4" Type="http://schemas.openxmlformats.org/officeDocument/2006/relationships/tags" Target="../tags/tag5.xml"/><Relationship Id="rId9"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9.xml"/><Relationship Id="rId7" Type="http://schemas.openxmlformats.org/officeDocument/2006/relationships/image" Target="../media/image3.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6.xml"/><Relationship Id="rId11" Type="http://schemas.openxmlformats.org/officeDocument/2006/relationships/image" Target="../media/image5.svg"/><Relationship Id="rId5" Type="http://schemas.openxmlformats.org/officeDocument/2006/relationships/tags" Target="../tags/tag11.xml"/><Relationship Id="rId10" Type="http://schemas.openxmlformats.org/officeDocument/2006/relationships/hyperlink" Target="https://www.slido.com/support/ppi/how-to-change-the-design" TargetMode="External"/><Relationship Id="rId4" Type="http://schemas.openxmlformats.org/officeDocument/2006/relationships/tags" Target="../tags/tag10.xml"/><Relationship Id="rId9"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3" Type="http://schemas.openxmlformats.org/officeDocument/2006/relationships/tags" Target="../tags/tag14.xml"/><Relationship Id="rId7" Type="http://schemas.openxmlformats.org/officeDocument/2006/relationships/image" Target="../media/image3.sv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6.xml"/><Relationship Id="rId11" Type="http://schemas.openxmlformats.org/officeDocument/2006/relationships/image" Target="../media/image5.svg"/><Relationship Id="rId5" Type="http://schemas.openxmlformats.org/officeDocument/2006/relationships/tags" Target="../tags/tag16.xml"/><Relationship Id="rId10" Type="http://schemas.openxmlformats.org/officeDocument/2006/relationships/hyperlink" Target="https://www.slido.com/support/ppi/how-to-change-the-design" TargetMode="External"/><Relationship Id="rId4" Type="http://schemas.openxmlformats.org/officeDocument/2006/relationships/tags" Target="../tags/tag15.xml"/><Relationship Id="rId9"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Brand accent">
            <a:extLst>
              <a:ext uri="{FF2B5EF4-FFF2-40B4-BE49-F238E27FC236}">
                <a16:creationId xmlns:a16="http://schemas.microsoft.com/office/drawing/2014/main" id="{F1543B1B-4DD5-4B1F-9FAC-AB350AE71C5B}"/>
              </a:ext>
            </a:extLst>
          </p:cNvPr>
          <p:cNvSpPr>
            <a:spLocks noGrp="1"/>
          </p:cNvSpPr>
          <p:nvPr/>
        </p:nvSpPr>
        <p:spPr>
          <a:xfrm>
            <a:off x="0" y="0"/>
            <a:ext cx="114300" cy="10287000"/>
          </a:xfrm>
          <a:prstGeom prst="rect">
            <a:avLst/>
          </a:prstGeom>
          <a:solidFill>
            <a:srgbClr val="DF4214"/>
          </a:solidFill>
          <a:ln w="0">
            <a:noFill/>
          </a:ln>
        </p:spPr>
      </p:sp>
      <p:sp>
        <p:nvSpPr>
          <p:cNvPr id="2" name="Chapter 6 · Control structures">
            <a:extLst>
              <a:ext uri="{FF2B5EF4-FFF2-40B4-BE49-F238E27FC236}">
                <a16:creationId xmlns:a16="http://schemas.microsoft.com/office/drawing/2014/main" id="{514A0664-9E0C-4FDC-B1DE-3493B19D68E8}"/>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Chapter 6 · Control structures</a:t>
            </a:r>
          </a:p>
        </p:txBody>
      </p:sp>
      <p:sp>
        <p:nvSpPr>
          <p:cNvPr id="3" name="Making decisions&#10;and repeating&#10;tasks">
            <a:extLst>
              <a:ext uri="{FF2B5EF4-FFF2-40B4-BE49-F238E27FC236}">
                <a16:creationId xmlns:a16="http://schemas.microsoft.com/office/drawing/2014/main" id="{B0F858AE-6292-4EBC-8A47-8F617173EF31}"/>
              </a:ext>
            </a:extLst>
          </p:cNvPr>
          <p:cNvSpPr>
            <a:spLocks noGrp="1"/>
          </p:cNvSpPr>
          <p:nvPr/>
        </p:nvSpPr>
        <p:spPr>
          <a:xfrm>
            <a:off x="1143000" y="2571750"/>
            <a:ext cx="8572500" cy="3714750"/>
          </a:xfrm>
          <a:prstGeom prst="rect">
            <a:avLst/>
          </a:prstGeom>
          <a:noFill/>
          <a:ln w="0">
            <a:noFill/>
          </a:ln>
        </p:spPr>
        <p:txBody>
          <a:bodyPr lIns="0" tIns="0" rIns="0" bIns="0" anchor="ctr">
            <a:noAutofit/>
          </a:bodyPr>
          <a:lstStyle>
            <a:defPPr algn="l">
              <a:defRPr sz="6150" b="1">
                <a:solidFill>
                  <a:srgbClr val="202426"/>
                </a:solidFill>
                <a:latin typeface="Arimo"/>
                <a:ea typeface="Arimo"/>
                <a:cs typeface="Arimo"/>
              </a:defRPr>
            </a:defPPr>
          </a:lstStyle>
          <a:p>
            <a:pPr algn="l">
              <a:defRPr sz="6150" b="1">
                <a:solidFill>
                  <a:srgbClr val="202426"/>
                </a:solidFill>
                <a:latin typeface="Arimo"/>
                <a:ea typeface="Arimo"/>
                <a:cs typeface="Arimo"/>
              </a:defRPr>
            </a:pPr>
            <a:r>
              <a:rPr sz="6150" b="1">
                <a:solidFill>
                  <a:srgbClr val="202426"/>
                </a:solidFill>
                <a:latin typeface="Arimo"/>
                <a:ea typeface="Arimo"/>
                <a:cs typeface="Arimo"/>
              </a:rPr>
              <a:t>Making decisions</a:t>
            </a:r>
          </a:p>
          <a:p>
            <a:pPr algn="l">
              <a:defRPr sz="6150" b="1">
                <a:solidFill>
                  <a:srgbClr val="202426"/>
                </a:solidFill>
                <a:latin typeface="Arimo"/>
                <a:ea typeface="Arimo"/>
                <a:cs typeface="Arimo"/>
              </a:defRPr>
            </a:pPr>
            <a:r>
              <a:rPr sz="6150" b="1">
                <a:solidFill>
                  <a:srgbClr val="202426"/>
                </a:solidFill>
                <a:latin typeface="Arimo"/>
                <a:ea typeface="Arimo"/>
                <a:cs typeface="Arimo"/>
              </a:rPr>
              <a:t>and repeating</a:t>
            </a:r>
          </a:p>
          <a:p>
            <a:pPr algn="l">
              <a:defRPr sz="6150" b="1">
                <a:solidFill>
                  <a:srgbClr val="202426"/>
                </a:solidFill>
                <a:latin typeface="Arimo"/>
                <a:ea typeface="Arimo"/>
                <a:cs typeface="Arimo"/>
              </a:defRPr>
            </a:pPr>
            <a:r>
              <a:rPr sz="6150" b="1">
                <a:solidFill>
                  <a:srgbClr val="202426"/>
                </a:solidFill>
                <a:latin typeface="Arimo"/>
                <a:ea typeface="Arimo"/>
                <a:cs typeface="Arimo"/>
              </a:rPr>
              <a:t>tasks</a:t>
            </a:r>
          </a:p>
        </p:txBody>
      </p:sp>
      <p:pic>
        <p:nvPicPr>
          <p:cNvPr id="4" name="Picture 3">
            <a:extLst>
              <a:ext uri="{FF2B5EF4-FFF2-40B4-BE49-F238E27FC236}">
                <a16:creationId xmlns:a16="http://schemas.microsoft.com/office/drawing/2014/main" id="{59B8B796-3429-4017-A72A-3C14025B7748}"/>
              </a:ext>
            </a:extLst>
          </p:cNvPr>
          <p:cNvPicPr>
            <a:picLocks noChangeAspect="1"/>
          </p:cNvPicPr>
          <p:nvPr/>
        </p:nvPicPr>
        <p:blipFill>
          <a:blip r:embed="rId3"/>
          <a:stretch/>
        </p:blipFill>
        <p:spPr>
          <a:xfrm>
            <a:off x="7905750" y="2079625"/>
            <a:ext cx="9906000" cy="6604000"/>
          </a:xfrm>
          <a:prstGeom prst="rect">
            <a:avLst/>
          </a:prstGeom>
        </p:spPr>
      </p:pic>
      <p:sp>
        <p:nvSpPr>
          <p:cNvPr id="5" name="Week 5 lab · Chapter 6">
            <a:extLst>
              <a:ext uri="{FF2B5EF4-FFF2-40B4-BE49-F238E27FC236}">
                <a16:creationId xmlns:a16="http://schemas.microsoft.com/office/drawing/2014/main" id="{9700CC04-76DC-4B2C-9603-AF34EC40EC63}"/>
              </a:ext>
            </a:extLst>
          </p:cNvPr>
          <p:cNvSpPr>
            <a:spLocks noGrp="1"/>
          </p:cNvSpPr>
          <p:nvPr/>
        </p:nvSpPr>
        <p:spPr>
          <a:xfrm>
            <a:off x="1190625" y="7524750"/>
            <a:ext cx="8572500" cy="666750"/>
          </a:xfrm>
          <a:prstGeom prst="rect">
            <a:avLst/>
          </a:prstGeom>
          <a:noFill/>
          <a:ln w="0">
            <a:noFill/>
          </a:ln>
        </p:spPr>
        <p:txBody>
          <a:bodyPr lIns="0" tIns="0" rIns="0" bIns="0" anchor="ctr">
            <a:noAutofit/>
          </a:bodyPr>
          <a:lstStyle>
            <a:defPPr algn="l">
              <a:defRPr sz="3300" b="0">
                <a:solidFill>
                  <a:srgbClr val="596167"/>
                </a:solidFill>
                <a:latin typeface="Arimo"/>
                <a:ea typeface="Arimo"/>
                <a:cs typeface="Arimo"/>
              </a:defRPr>
            </a:defPPr>
          </a:lstStyle>
          <a:p>
            <a:pPr algn="l">
              <a:defRPr sz="3300" b="0">
                <a:solidFill>
                  <a:srgbClr val="596167"/>
                </a:solidFill>
                <a:latin typeface="Arimo"/>
                <a:ea typeface="Arimo"/>
                <a:cs typeface="Arimo"/>
              </a:defRPr>
            </a:pPr>
            <a:r>
              <a:rPr sz="3300" b="0">
                <a:solidFill>
                  <a:srgbClr val="596167"/>
                </a:solidFill>
                <a:latin typeface="Arimo"/>
                <a:ea typeface="Arimo"/>
                <a:cs typeface="Arimo"/>
              </a:rPr>
              <a:t>Week 5 lab · Chapter 6</a:t>
            </a:r>
          </a:p>
        </p:txBody>
      </p:sp>
      <p:pic>
        <p:nvPicPr>
          <p:cNvPr id="6" name="Picture 5">
            <a:extLst>
              <a:ext uri="{FF2B5EF4-FFF2-40B4-BE49-F238E27FC236}">
                <a16:creationId xmlns:a16="http://schemas.microsoft.com/office/drawing/2014/main" id="{CC33A01A-2649-4F28-8742-361E9D1A5A80}"/>
              </a:ext>
            </a:extLst>
          </p:cNvPr>
          <p:cNvPicPr>
            <a:picLocks noChangeAspect="1"/>
          </p:cNvPicPr>
          <p:nvPr/>
        </p:nvPicPr>
        <p:blipFill>
          <a:blip r:embed="rId4"/>
          <a:stretch/>
        </p:blipFill>
        <p:spPr>
          <a:xfrm>
            <a:off x="1143000" y="1054900"/>
            <a:ext cx="6858000" cy="890576"/>
          </a:xfrm>
          <a:prstGeom prst="rect">
            <a:avLst/>
          </a:prstGeom>
        </p:spPr>
      </p:pic>
      <p:sp>
        <p:nvSpPr>
          <p:cNvPr id="7" name="Chapter 6  /  01">
            <a:extLst>
              <a:ext uri="{FF2B5EF4-FFF2-40B4-BE49-F238E27FC236}">
                <a16:creationId xmlns:a16="http://schemas.microsoft.com/office/drawing/2014/main" id="{64990F85-B8E1-4AB1-84FE-D72B8FF68758}"/>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01</a:t>
            </a:r>
          </a:p>
        </p:txBody>
      </p:sp>
    </p:spTree>
    <p:extLst>
      <p:ext uri="{BB962C8B-B14F-4D97-AF65-F5344CB8AC3E}">
        <p14:creationId xmlns:p14="http://schemas.microsoft.com/office/powerpoint/2010/main" val="1946265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A78FD8-985A-DE2D-95C5-A936E35A6FC5}"/>
              </a:ext>
            </a:extLst>
          </p:cNvPr>
          <p:cNvSpPr/>
          <p:nvPr>
            <p:custDataLst>
              <p:tags r:id="rId2"/>
            </p:custDataLst>
          </p:nvPr>
        </p:nvSpPr>
        <p:spPr>
          <a:xfrm>
            <a:off x="667040" y="2614055"/>
            <a:ext cx="3557544" cy="3557544"/>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361F5BF-245D-D6AD-7BDB-F8B7EAE3D5C8}"/>
              </a:ext>
            </a:extLst>
          </p:cNvPr>
          <p:cNvSpPr/>
          <p:nvPr>
            <p:custDataLst>
              <p:tags r:id="rId3"/>
            </p:custDataLst>
          </p:nvPr>
        </p:nvSpPr>
        <p:spPr>
          <a:xfrm>
            <a:off x="4669277" y="1501346"/>
            <a:ext cx="12729337" cy="5782962"/>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FFFFFF"/>
                </a:solidFill>
              </a:rPr>
              <a:t>Have you started watching any CS50 lectures?</a:t>
            </a:r>
          </a:p>
        </p:txBody>
      </p:sp>
      <p:sp>
        <p:nvSpPr>
          <p:cNvPr id="4" name="Rectangle 3">
            <a:extLst>
              <a:ext uri="{FF2B5EF4-FFF2-40B4-BE49-F238E27FC236}">
                <a16:creationId xmlns:a16="http://schemas.microsoft.com/office/drawing/2014/main" id="{38A60641-4316-9DC9-9305-D9C5960CCE09}"/>
              </a:ext>
            </a:extLst>
          </p:cNvPr>
          <p:cNvSpPr/>
          <p:nvPr>
            <p:custDataLst>
              <p:tags r:id="rId4"/>
            </p:custDataLst>
          </p:nvPr>
        </p:nvSpPr>
        <p:spPr>
          <a:xfrm>
            <a:off x="0" y="8730049"/>
            <a:ext cx="18288000" cy="1556951"/>
          </a:xfrm>
          <a:prstGeom prst="rect">
            <a:avLst/>
          </a:prstGeom>
          <a:solidFill>
            <a:srgbClr val="198038"/>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1111733" tIns="389238" rIns="2779331" bIns="305830" rtlCol="0" anchor="ctr">
            <a:normAutofit/>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30D321D5-21CA-77B9-0C0F-F61D160A0EC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444693" y="9286177"/>
            <a:ext cx="444693" cy="444693"/>
          </a:xfrm>
          <a:prstGeom prst="rect">
            <a:avLst/>
          </a:prstGeom>
        </p:spPr>
      </p:pic>
      <p:sp>
        <p:nvSpPr>
          <p:cNvPr id="7" name="Trapezoid 6">
            <a:extLst>
              <a:ext uri="{FF2B5EF4-FFF2-40B4-BE49-F238E27FC236}">
                <a16:creationId xmlns:a16="http://schemas.microsoft.com/office/drawing/2014/main" id="{A5494B26-0561-8052-57B9-CA38FB0DC1B6}"/>
              </a:ext>
            </a:extLst>
          </p:cNvPr>
          <p:cNvSpPr/>
          <p:nvPr>
            <p:custDataLst>
              <p:tags r:id="rId5"/>
            </p:custDataLst>
          </p:nvPr>
        </p:nvSpPr>
        <p:spPr>
          <a:xfrm rot="2700000">
            <a:off x="14430556" y="772386"/>
            <a:ext cx="5002797" cy="1167319"/>
          </a:xfrm>
          <a:prstGeom prst="trapezoid">
            <a:avLst>
              <a:gd name="adj" fmla="val 100000"/>
            </a:avLst>
          </a:prstGeom>
          <a:solidFill>
            <a:srgbClr val="0A3316"/>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US" sz="2600" b="1">
                <a:solidFill>
                  <a:srgbClr val="42A65F"/>
                </a:solidFill>
              </a:rPr>
              <a:t>Do not edit
</a:t>
            </a:r>
            <a:r>
              <a:rPr lang="en-US" sz="2200">
                <a:solidFill>
                  <a:srgbClr val="42A65F"/>
                </a:solidFill>
                <a:hlinkClick r:id="rId10">
                  <a:extLst>
                    <a:ext uri="{A12FA001-AC4F-418D-AE19-62706E023703}">
                      <ahyp:hlinkClr xmlns:ahyp="http://schemas.microsoft.com/office/drawing/2018/hyperlinkcolor" val="tx"/>
                    </a:ext>
                  </a:extLst>
                </a:hlinkClick>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3A1D727E-81A2-0A38-2740-D28115213814}"/>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6120123" y="9230591"/>
            <a:ext cx="1667599" cy="555866"/>
          </a:xfrm>
          <a:prstGeom prst="rect">
            <a:avLst/>
          </a:prstGeom>
        </p:spPr>
      </p:pic>
    </p:spTree>
    <p:custDataLst>
      <p:tags r:id="rId1"/>
    </p:custDataLst>
    <p:extLst>
      <p:ext uri="{BB962C8B-B14F-4D97-AF65-F5344CB8AC3E}">
        <p14:creationId xmlns:p14="http://schemas.microsoft.com/office/powerpoint/2010/main" val="240478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618E64-6B6F-3BF1-F2C7-D50F1E79FD43}"/>
              </a:ext>
            </a:extLst>
          </p:cNvPr>
          <p:cNvSpPr/>
          <p:nvPr>
            <p:custDataLst>
              <p:tags r:id="rId2"/>
            </p:custDataLst>
          </p:nvPr>
        </p:nvSpPr>
        <p:spPr>
          <a:xfrm>
            <a:off x="667040" y="2614055"/>
            <a:ext cx="3557544" cy="3557544"/>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D5ABA9-76A4-B086-6912-2D9C98145DD0}"/>
              </a:ext>
            </a:extLst>
          </p:cNvPr>
          <p:cNvSpPr/>
          <p:nvPr>
            <p:custDataLst>
              <p:tags r:id="rId3"/>
            </p:custDataLst>
          </p:nvPr>
        </p:nvSpPr>
        <p:spPr>
          <a:xfrm>
            <a:off x="4669277" y="1501346"/>
            <a:ext cx="12729337" cy="5782962"/>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FFFFFF"/>
                </a:solidFill>
              </a:rPr>
              <a:t>What is the role of main in the C programs we write?</a:t>
            </a:r>
          </a:p>
        </p:txBody>
      </p:sp>
      <p:sp>
        <p:nvSpPr>
          <p:cNvPr id="4" name="Rectangle 3">
            <a:extLst>
              <a:ext uri="{FF2B5EF4-FFF2-40B4-BE49-F238E27FC236}">
                <a16:creationId xmlns:a16="http://schemas.microsoft.com/office/drawing/2014/main" id="{965AADCF-C45C-074C-684B-D37113FD9A73}"/>
              </a:ext>
            </a:extLst>
          </p:cNvPr>
          <p:cNvSpPr/>
          <p:nvPr>
            <p:custDataLst>
              <p:tags r:id="rId4"/>
            </p:custDataLst>
          </p:nvPr>
        </p:nvSpPr>
        <p:spPr>
          <a:xfrm>
            <a:off x="0" y="8730049"/>
            <a:ext cx="18288000" cy="1556951"/>
          </a:xfrm>
          <a:prstGeom prst="rect">
            <a:avLst/>
          </a:prstGeom>
          <a:solidFill>
            <a:srgbClr val="198038"/>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1111733" tIns="389238" rIns="2779331" bIns="305830" rtlCol="0" anchor="ctr">
            <a:normAutofit/>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0B87081E-44EA-165B-05FA-484E5DE4CA4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444693" y="9286177"/>
            <a:ext cx="444693" cy="444693"/>
          </a:xfrm>
          <a:prstGeom prst="rect">
            <a:avLst/>
          </a:prstGeom>
        </p:spPr>
      </p:pic>
      <p:sp>
        <p:nvSpPr>
          <p:cNvPr id="7" name="Trapezoid 6">
            <a:extLst>
              <a:ext uri="{FF2B5EF4-FFF2-40B4-BE49-F238E27FC236}">
                <a16:creationId xmlns:a16="http://schemas.microsoft.com/office/drawing/2014/main" id="{149D4935-E846-ED8F-9B58-109D853BAECE}"/>
              </a:ext>
            </a:extLst>
          </p:cNvPr>
          <p:cNvSpPr/>
          <p:nvPr>
            <p:custDataLst>
              <p:tags r:id="rId5"/>
            </p:custDataLst>
          </p:nvPr>
        </p:nvSpPr>
        <p:spPr>
          <a:xfrm rot="2700000">
            <a:off x="14430556" y="772386"/>
            <a:ext cx="5002797" cy="1167319"/>
          </a:xfrm>
          <a:prstGeom prst="trapezoid">
            <a:avLst>
              <a:gd name="adj" fmla="val 100000"/>
            </a:avLst>
          </a:prstGeom>
          <a:solidFill>
            <a:srgbClr val="0A3316"/>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US" sz="2600" b="1">
                <a:solidFill>
                  <a:srgbClr val="42A65F"/>
                </a:solidFill>
              </a:rPr>
              <a:t>Do not edit
</a:t>
            </a:r>
            <a:r>
              <a:rPr lang="en-US" sz="2200">
                <a:solidFill>
                  <a:srgbClr val="42A65F"/>
                </a:solidFill>
                <a:hlinkClick r:id="rId10">
                  <a:extLst>
                    <a:ext uri="{A12FA001-AC4F-418D-AE19-62706E023703}">
                      <ahyp:hlinkClr xmlns:ahyp="http://schemas.microsoft.com/office/drawing/2018/hyperlinkcolor" val="tx"/>
                    </a:ext>
                  </a:extLst>
                </a:hlinkClick>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E6402732-9973-721C-72AD-8244DA90757E}"/>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6120123" y="9230591"/>
            <a:ext cx="1667599" cy="555866"/>
          </a:xfrm>
          <a:prstGeom prst="rect">
            <a:avLst/>
          </a:prstGeom>
        </p:spPr>
      </p:pic>
    </p:spTree>
    <p:custDataLst>
      <p:tags r:id="rId1"/>
    </p:custDataLst>
    <p:extLst>
      <p:ext uri="{BB962C8B-B14F-4D97-AF65-F5344CB8AC3E}">
        <p14:creationId xmlns:p14="http://schemas.microsoft.com/office/powerpoint/2010/main" val="387922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B5F03E-3025-7B8B-C62F-FBDCECC44F2C}"/>
              </a:ext>
            </a:extLst>
          </p:cNvPr>
          <p:cNvSpPr/>
          <p:nvPr>
            <p:custDataLst>
              <p:tags r:id="rId2"/>
            </p:custDataLst>
          </p:nvPr>
        </p:nvSpPr>
        <p:spPr>
          <a:xfrm>
            <a:off x="667040" y="2614055"/>
            <a:ext cx="3557544" cy="3557544"/>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DED96E3-57ED-DD8C-FD50-4AEC34F4EED9}"/>
              </a:ext>
            </a:extLst>
          </p:cNvPr>
          <p:cNvSpPr/>
          <p:nvPr>
            <p:custDataLst>
              <p:tags r:id="rId3"/>
            </p:custDataLst>
          </p:nvPr>
        </p:nvSpPr>
        <p:spPr>
          <a:xfrm>
            <a:off x="4669277" y="1501346"/>
            <a:ext cx="12729337" cy="5782962"/>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FFFFFF"/>
                </a:solidFill>
              </a:rPr>
              <a:t>We need to calculate with temperatures such as 21.75°C and -3.5°C. Which type is most suitable for each temperature?</a:t>
            </a:r>
          </a:p>
        </p:txBody>
      </p:sp>
      <p:sp>
        <p:nvSpPr>
          <p:cNvPr id="4" name="Rectangle 3">
            <a:extLst>
              <a:ext uri="{FF2B5EF4-FFF2-40B4-BE49-F238E27FC236}">
                <a16:creationId xmlns:a16="http://schemas.microsoft.com/office/drawing/2014/main" id="{3B430E89-D071-E103-E2E1-E998672CA6A2}"/>
              </a:ext>
            </a:extLst>
          </p:cNvPr>
          <p:cNvSpPr/>
          <p:nvPr>
            <p:custDataLst>
              <p:tags r:id="rId4"/>
            </p:custDataLst>
          </p:nvPr>
        </p:nvSpPr>
        <p:spPr>
          <a:xfrm>
            <a:off x="0" y="8730049"/>
            <a:ext cx="18288000" cy="1556951"/>
          </a:xfrm>
          <a:prstGeom prst="rect">
            <a:avLst/>
          </a:prstGeom>
          <a:solidFill>
            <a:srgbClr val="198038"/>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1111733" tIns="389238" rIns="2779331" bIns="305830" rtlCol="0" anchor="ctr">
            <a:normAutofit/>
          </a:bodyPr>
          <a:lstStyle/>
          <a:p>
            <a:r>
              <a:rPr lang="en-US" sz="2600">
                <a:solidFill>
                  <a:srgbClr val="FFFFFF"/>
                </a:solidFill>
              </a:rPr>
              <a:t>The </a:t>
            </a:r>
            <a:r>
              <a:rPr lang="en-US" sz="2600">
                <a:solidFill>
                  <a:srgbClr val="FFFFFF"/>
                </a:solidFill>
                <a:hlinkClick r:id="rId8">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A7E79658-05B7-5CE8-B2C5-C58943B701F7}"/>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444693" y="9286177"/>
            <a:ext cx="444693" cy="444693"/>
          </a:xfrm>
          <a:prstGeom prst="rect">
            <a:avLst/>
          </a:prstGeom>
        </p:spPr>
      </p:pic>
      <p:sp>
        <p:nvSpPr>
          <p:cNvPr id="7" name="Trapezoid 6">
            <a:extLst>
              <a:ext uri="{FF2B5EF4-FFF2-40B4-BE49-F238E27FC236}">
                <a16:creationId xmlns:a16="http://schemas.microsoft.com/office/drawing/2014/main" id="{39CB2A56-DCE4-5FB2-511C-F80EA20B0775}"/>
              </a:ext>
            </a:extLst>
          </p:cNvPr>
          <p:cNvSpPr/>
          <p:nvPr>
            <p:custDataLst>
              <p:tags r:id="rId5"/>
            </p:custDataLst>
          </p:nvPr>
        </p:nvSpPr>
        <p:spPr>
          <a:xfrm rot="2700000">
            <a:off x="14430556" y="772386"/>
            <a:ext cx="5002797" cy="1167319"/>
          </a:xfrm>
          <a:prstGeom prst="trapezoid">
            <a:avLst>
              <a:gd name="adj" fmla="val 100000"/>
            </a:avLst>
          </a:prstGeom>
          <a:solidFill>
            <a:srgbClr val="0A3316"/>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US" sz="2600" b="1">
                <a:solidFill>
                  <a:srgbClr val="42A65F"/>
                </a:solidFill>
              </a:rPr>
              <a:t>Do not edit
</a:t>
            </a:r>
            <a:r>
              <a:rPr lang="en-US" sz="2200">
                <a:solidFill>
                  <a:srgbClr val="42A65F"/>
                </a:solidFill>
                <a:hlinkClick r:id="rId10">
                  <a:extLst>
                    <a:ext uri="{A12FA001-AC4F-418D-AE19-62706E023703}">
                      <ahyp:hlinkClr xmlns:ahyp="http://schemas.microsoft.com/office/drawing/2018/hyperlinkcolor" val="tx"/>
                    </a:ext>
                  </a:extLst>
                </a:hlinkClick>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1769D437-08B3-A9C9-F62A-9BDEBF211E6F}"/>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6120123" y="9230591"/>
            <a:ext cx="1667599" cy="555866"/>
          </a:xfrm>
          <a:prstGeom prst="rect">
            <a:avLst/>
          </a:prstGeom>
        </p:spPr>
      </p:pic>
    </p:spTree>
    <p:custDataLst>
      <p:tags r:id="rId1"/>
    </p:custDataLst>
    <p:extLst>
      <p:ext uri="{BB962C8B-B14F-4D97-AF65-F5344CB8AC3E}">
        <p14:creationId xmlns:p14="http://schemas.microsoft.com/office/powerpoint/2010/main" val="296824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rand accent">
            <a:extLst>
              <a:ext uri="{FF2B5EF4-FFF2-40B4-BE49-F238E27FC236}">
                <a16:creationId xmlns:a16="http://schemas.microsoft.com/office/drawing/2014/main" id="{D3E7D939-2250-4EAC-9C57-46FD060BCF25}"/>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6F4AC993-1660-4587-8993-F05A7490F8B7}"/>
              </a:ext>
            </a:extLst>
          </p:cNvPr>
          <p:cNvPicPr>
            <a:picLocks noChangeAspect="1"/>
          </p:cNvPicPr>
          <p:nvPr/>
        </p:nvPicPr>
        <p:blipFill>
          <a:blip r:embed="rId3"/>
          <a:stretch/>
        </p:blipFill>
        <p:spPr>
          <a:xfrm>
            <a:off x="16479803" y="381000"/>
            <a:ext cx="1092269" cy="714375"/>
          </a:xfrm>
          <a:prstGeom prst="rect">
            <a:avLst/>
          </a:prstGeom>
        </p:spPr>
      </p:pic>
      <p:sp>
        <p:nvSpPr>
          <p:cNvPr id="3" name="From if to switch">
            <a:extLst>
              <a:ext uri="{FF2B5EF4-FFF2-40B4-BE49-F238E27FC236}">
                <a16:creationId xmlns:a16="http://schemas.microsoft.com/office/drawing/2014/main" id="{3535DEC3-B29B-494C-A335-19FB0EAF4C19}"/>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From if to switch</a:t>
            </a:r>
          </a:p>
        </p:txBody>
      </p:sp>
      <p:sp>
        <p:nvSpPr>
          <p:cNvPr id="4" name="§6.1.1 · Selection">
            <a:extLst>
              <a:ext uri="{FF2B5EF4-FFF2-40B4-BE49-F238E27FC236}">
                <a16:creationId xmlns:a16="http://schemas.microsoft.com/office/drawing/2014/main" id="{EE816DDB-BB1F-469D-91C8-E0B65CE6A916}"/>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§6.1.1 · Selection</a:t>
            </a:r>
          </a:p>
        </p:txBody>
      </p:sp>
      <p:sp>
        <p:nvSpPr>
          <p:cNvPr id="5" name="if / else if">
            <a:extLst>
              <a:ext uri="{FF2B5EF4-FFF2-40B4-BE49-F238E27FC236}">
                <a16:creationId xmlns:a16="http://schemas.microsoft.com/office/drawing/2014/main" id="{C0B1FD78-87E9-400B-8E23-C0886910DB0E}"/>
              </a:ext>
            </a:extLst>
          </p:cNvPr>
          <p:cNvSpPr>
            <a:spLocks noGrp="1"/>
          </p:cNvSpPr>
          <p:nvPr/>
        </p:nvSpPr>
        <p:spPr>
          <a:xfrm>
            <a:off x="1190625" y="2238375"/>
            <a:ext cx="7810500" cy="523875"/>
          </a:xfrm>
          <a:prstGeom prst="rect">
            <a:avLst/>
          </a:prstGeom>
          <a:noFill/>
          <a:ln w="0">
            <a:noFill/>
          </a:ln>
        </p:spPr>
        <p:txBody>
          <a:bodyPr lIns="0" tIns="0" rIns="0" bIns="0" anchor="ctr">
            <a:noAutofit/>
          </a:bodyPr>
          <a:lstStyle>
            <a:defPPr algn="l">
              <a:defRPr sz="3000" b="1">
                <a:solidFill>
                  <a:srgbClr val="202426"/>
                </a:solidFill>
                <a:latin typeface="Arimo"/>
                <a:ea typeface="Arimo"/>
                <a:cs typeface="Arimo"/>
              </a:defRPr>
            </a:defPPr>
          </a:lstStyle>
          <a:p>
            <a:pPr algn="l">
              <a:defRPr sz="3000" b="1">
                <a:solidFill>
                  <a:srgbClr val="202426"/>
                </a:solidFill>
                <a:latin typeface="Arimo"/>
                <a:ea typeface="Arimo"/>
                <a:cs typeface="Arimo"/>
              </a:defRPr>
            </a:pPr>
            <a:r>
              <a:rPr sz="3000" b="1">
                <a:solidFill>
                  <a:srgbClr val="202426"/>
                </a:solidFill>
                <a:latin typeface="Arimo"/>
                <a:ea typeface="Arimo"/>
                <a:cs typeface="Arimo"/>
              </a:rPr>
              <a:t>if / else if</a:t>
            </a:r>
          </a:p>
        </p:txBody>
      </p:sp>
      <p:sp>
        <p:nvSpPr>
          <p:cNvPr id="6" name="if (grade == 'A') {&#10;    printf(&quot;Perfect!\n&quot;);&#10;} el">
            <a:extLst>
              <a:ext uri="{FF2B5EF4-FFF2-40B4-BE49-F238E27FC236}">
                <a16:creationId xmlns:a16="http://schemas.microsoft.com/office/drawing/2014/main" id="{1924E86B-A9B2-49D3-A778-D8092182C5FC}"/>
              </a:ext>
            </a:extLst>
          </p:cNvPr>
          <p:cNvSpPr>
            <a:spLocks noGrp="1"/>
          </p:cNvSpPr>
          <p:nvPr/>
        </p:nvSpPr>
        <p:spPr>
          <a:xfrm>
            <a:off x="1190625" y="3000375"/>
            <a:ext cx="8001000" cy="6286500"/>
          </a:xfrm>
          <a:prstGeom prst="rect">
            <a:avLst/>
          </a:prstGeom>
          <a:noFill/>
          <a:ln w="0">
            <a:noFill/>
          </a:ln>
        </p:spPr>
        <p:txBody>
          <a:bodyPr lIns="0" tIns="0" rIns="0" bIns="0" anchor="t">
            <a:noAutofit/>
          </a:bodyPr>
          <a:lstStyle>
            <a:defPPr algn="l">
              <a:defRPr sz="2175" b="0">
                <a:solidFill>
                  <a:srgbClr val="005A9C"/>
                </a:solidFill>
                <a:latin typeface="Menlo"/>
                <a:ea typeface="Menlo"/>
                <a:cs typeface="Menlo"/>
              </a:defRPr>
            </a:defPPr>
          </a:lstStyle>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if (grade == 'A') {</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printf("Perfect!\n");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else if (grade == 'B') {</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printf("You did good!\n");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else if (grade == 'C') {</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printf("You did okay!\n");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else if (grade == 'D') {</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printf("At least it's not an F!\n");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else if (grade == 'F') {</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printf("YOU FAILED!\n");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else {</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printf("That's not a valid grade!\n");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a:t>
            </a:r>
          </a:p>
        </p:txBody>
      </p:sp>
      <p:sp>
        <p:nvSpPr>
          <p:cNvPr id="7" name="reveal-switch-label">
            <a:extLst>
              <a:ext uri="{FF2B5EF4-FFF2-40B4-BE49-F238E27FC236}">
                <a16:creationId xmlns:a16="http://schemas.microsoft.com/office/drawing/2014/main" id="{6C4754B2-2825-4D64-ABA2-0474D56273F8}"/>
              </a:ext>
            </a:extLst>
          </p:cNvPr>
          <p:cNvSpPr>
            <a:spLocks noGrp="1"/>
          </p:cNvSpPr>
          <p:nvPr/>
        </p:nvSpPr>
        <p:spPr>
          <a:xfrm>
            <a:off x="9715500" y="2238375"/>
            <a:ext cx="7715250" cy="523875"/>
          </a:xfrm>
          <a:prstGeom prst="rect">
            <a:avLst/>
          </a:prstGeom>
          <a:noFill/>
          <a:ln w="0">
            <a:noFill/>
          </a:ln>
        </p:spPr>
        <p:txBody>
          <a:bodyPr lIns="0" tIns="0" rIns="0" bIns="0" anchor="ctr">
            <a:noAutofit/>
          </a:bodyPr>
          <a:lstStyle>
            <a:defPPr algn="l">
              <a:defRPr sz="3000" b="1">
                <a:solidFill>
                  <a:srgbClr val="202426"/>
                </a:solidFill>
                <a:latin typeface="Arimo"/>
                <a:ea typeface="Arimo"/>
                <a:cs typeface="Arimo"/>
              </a:defRPr>
            </a:defPPr>
          </a:lstStyle>
          <a:p>
            <a:pPr algn="l">
              <a:defRPr sz="3000" b="1">
                <a:solidFill>
                  <a:srgbClr val="202426"/>
                </a:solidFill>
                <a:latin typeface="Arimo"/>
                <a:ea typeface="Arimo"/>
                <a:cs typeface="Arimo"/>
              </a:defRPr>
            </a:pPr>
            <a:r>
              <a:rPr sz="3000" b="1">
                <a:solidFill>
                  <a:srgbClr val="202426"/>
                </a:solidFill>
                <a:latin typeface="Arimo"/>
                <a:ea typeface="Arimo"/>
                <a:cs typeface="Arimo"/>
              </a:rPr>
              <a:t>switch</a:t>
            </a:r>
          </a:p>
        </p:txBody>
      </p:sp>
      <p:sp>
        <p:nvSpPr>
          <p:cNvPr id="8" name="reveal-switch-code">
            <a:extLst>
              <a:ext uri="{FF2B5EF4-FFF2-40B4-BE49-F238E27FC236}">
                <a16:creationId xmlns:a16="http://schemas.microsoft.com/office/drawing/2014/main" id="{DFD1F1EB-D378-4AFA-96A9-B06CE097CC06}"/>
              </a:ext>
            </a:extLst>
          </p:cNvPr>
          <p:cNvSpPr>
            <a:spLocks noGrp="1"/>
          </p:cNvSpPr>
          <p:nvPr/>
        </p:nvSpPr>
        <p:spPr>
          <a:xfrm>
            <a:off x="9715500" y="3000375"/>
            <a:ext cx="7715250" cy="6286500"/>
          </a:xfrm>
          <a:prstGeom prst="rect">
            <a:avLst/>
          </a:prstGeom>
          <a:noFill/>
          <a:ln w="0">
            <a:noFill/>
          </a:ln>
        </p:spPr>
        <p:txBody>
          <a:bodyPr lIns="0" tIns="0" rIns="0" bIns="0" anchor="t">
            <a:noAutofit/>
          </a:bodyPr>
          <a:lstStyle>
            <a:defPPr algn="l">
              <a:defRPr sz="2175" b="0">
                <a:solidFill>
                  <a:srgbClr val="005A9C"/>
                </a:solidFill>
                <a:latin typeface="Menlo"/>
                <a:ea typeface="Menlo"/>
                <a:cs typeface="Menlo"/>
              </a:defRPr>
            </a:defPPr>
          </a:lstStyle>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switch (grade) {</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case 'A':</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printf("Perfect!\n");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break;</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case 'B':</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printf("You did good!\n");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break;</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case 'C':</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printf("You did okay!\n");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break;</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case 'D':</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printf("At least it's not an F!\n");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break;</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case 'F':</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printf("YOU FAILED!\n");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break;</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default:</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    printf("That's not a valid grade!\n");</a:t>
            </a:r>
          </a:p>
          <a:p>
            <a:pPr algn="l">
              <a:lnSpc>
                <a:spcPct val="100000"/>
              </a:lnSpc>
              <a:buNone/>
              <a:defRPr sz="2175" b="0">
                <a:solidFill>
                  <a:srgbClr val="005A9C"/>
                </a:solidFill>
                <a:latin typeface="Menlo"/>
                <a:ea typeface="Menlo"/>
                <a:cs typeface="Menlo"/>
              </a:defRPr>
            </a:pPr>
            <a:r>
              <a:rPr sz="2175" b="0">
                <a:solidFill>
                  <a:srgbClr val="005A9C"/>
                </a:solidFill>
                <a:latin typeface="Menlo"/>
                <a:ea typeface="Menlo"/>
                <a:cs typeface="Menlo"/>
              </a:rPr>
              <a:t>}</a:t>
            </a:r>
          </a:p>
        </p:txBody>
      </p:sp>
      <p:sp>
        <p:nvSpPr>
          <p:cNvPr id="9" name="Chapter 6  /  05">
            <a:extLst>
              <a:ext uri="{FF2B5EF4-FFF2-40B4-BE49-F238E27FC236}">
                <a16:creationId xmlns:a16="http://schemas.microsoft.com/office/drawing/2014/main" id="{B9DE040F-84AA-476D-9D21-7E2C6A931A16}"/>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05</a:t>
            </a:r>
          </a:p>
        </p:txBody>
      </p:sp>
    </p:spTree>
    <p:extLst>
      <p:ext uri="{BB962C8B-B14F-4D97-AF65-F5344CB8AC3E}">
        <p14:creationId xmlns:p14="http://schemas.microsoft.com/office/powerpoint/2010/main" val="202068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Brand accent">
            <a:extLst>
              <a:ext uri="{FF2B5EF4-FFF2-40B4-BE49-F238E27FC236}">
                <a16:creationId xmlns:a16="http://schemas.microsoft.com/office/drawing/2014/main" id="{368F4646-8032-45E7-914B-AF429AFB0747}"/>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DDF8A2B3-2EB4-4BE5-BD94-758BD7BE20E1}"/>
              </a:ext>
            </a:extLst>
          </p:cNvPr>
          <p:cNvPicPr>
            <a:picLocks noChangeAspect="1"/>
          </p:cNvPicPr>
          <p:nvPr/>
        </p:nvPicPr>
        <p:blipFill>
          <a:blip r:embed="rId3"/>
          <a:stretch/>
        </p:blipFill>
        <p:spPr>
          <a:xfrm>
            <a:off x="16479803" y="381000"/>
            <a:ext cx="1092269" cy="714375"/>
          </a:xfrm>
          <a:prstGeom prst="rect">
            <a:avLst/>
          </a:prstGeom>
        </p:spPr>
      </p:pic>
      <p:sp>
        <p:nvSpPr>
          <p:cNvPr id="3" name="break leaves the switch">
            <a:extLst>
              <a:ext uri="{FF2B5EF4-FFF2-40B4-BE49-F238E27FC236}">
                <a16:creationId xmlns:a16="http://schemas.microsoft.com/office/drawing/2014/main" id="{CF9A41FF-7DF6-407C-B547-EBFAC5BA3141}"/>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break leaves the switch</a:t>
            </a:r>
          </a:p>
        </p:txBody>
      </p:sp>
      <p:sp>
        <p:nvSpPr>
          <p:cNvPr id="4" name="§6.1.1 · Same grade example">
            <a:extLst>
              <a:ext uri="{FF2B5EF4-FFF2-40B4-BE49-F238E27FC236}">
                <a16:creationId xmlns:a16="http://schemas.microsoft.com/office/drawing/2014/main" id="{849E3FF9-022A-4567-BE9A-CB96C258F064}"/>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§6.1.1 · Same grade example</a:t>
            </a:r>
          </a:p>
        </p:txBody>
      </p:sp>
      <p:sp>
        <p:nvSpPr>
          <p:cNvPr id="5" name="case 'B':&#10;    printf(&quot;You did good!\n&quot;);&#10;    break">
            <a:extLst>
              <a:ext uri="{FF2B5EF4-FFF2-40B4-BE49-F238E27FC236}">
                <a16:creationId xmlns:a16="http://schemas.microsoft.com/office/drawing/2014/main" id="{69B47352-55AF-4CC4-97B6-76F970948009}"/>
              </a:ext>
            </a:extLst>
          </p:cNvPr>
          <p:cNvSpPr>
            <a:spLocks noGrp="1"/>
          </p:cNvSpPr>
          <p:nvPr/>
        </p:nvSpPr>
        <p:spPr>
          <a:xfrm>
            <a:off x="1238250" y="3190875"/>
            <a:ext cx="11239500" cy="3429000"/>
          </a:xfrm>
          <a:prstGeom prst="rect">
            <a:avLst/>
          </a:prstGeom>
          <a:noFill/>
          <a:ln w="0">
            <a:noFill/>
          </a:ln>
        </p:spPr>
        <p:txBody>
          <a:bodyPr lIns="0" tIns="0" rIns="0" bIns="0" anchor="ctr">
            <a:noAutofit/>
          </a:bodyPr>
          <a:lstStyle>
            <a:defPPr algn="l">
              <a:defRPr sz="3900" b="0">
                <a:solidFill>
                  <a:srgbClr val="005A9C"/>
                </a:solidFill>
                <a:latin typeface="Menlo"/>
                <a:ea typeface="Menlo"/>
                <a:cs typeface="Menlo"/>
              </a:defRPr>
            </a:defPPr>
          </a:lstStyle>
          <a:p>
            <a:pPr algn="l">
              <a:defRPr sz="3900" b="0">
                <a:solidFill>
                  <a:srgbClr val="005A9C"/>
                </a:solidFill>
                <a:latin typeface="Menlo"/>
                <a:ea typeface="Menlo"/>
                <a:cs typeface="Menlo"/>
              </a:defRPr>
            </a:pPr>
            <a:r>
              <a:rPr sz="3900" b="0">
                <a:solidFill>
                  <a:srgbClr val="005A9C"/>
                </a:solidFill>
                <a:latin typeface="Menlo"/>
                <a:ea typeface="Menlo"/>
                <a:cs typeface="Menlo"/>
              </a:rPr>
              <a:t>case 'B':</a:t>
            </a:r>
          </a:p>
          <a:p>
            <a:pPr algn="l">
              <a:defRPr sz="3900" b="0">
                <a:solidFill>
                  <a:srgbClr val="005A9C"/>
                </a:solidFill>
                <a:latin typeface="Menlo"/>
                <a:ea typeface="Menlo"/>
                <a:cs typeface="Menlo"/>
              </a:defRPr>
            </a:pPr>
            <a:r>
              <a:rPr sz="3900" b="0">
                <a:solidFill>
                  <a:srgbClr val="005A9C"/>
                </a:solidFill>
                <a:latin typeface="Menlo"/>
                <a:ea typeface="Menlo"/>
                <a:cs typeface="Menlo"/>
              </a:rPr>
              <a:t>    printf("You did good!\n");</a:t>
            </a:r>
          </a:p>
          <a:p>
            <a:pPr algn="l">
              <a:defRPr sz="3900" b="0">
                <a:solidFill>
                  <a:srgbClr val="005A9C"/>
                </a:solidFill>
                <a:latin typeface="Menlo"/>
                <a:ea typeface="Menlo"/>
                <a:cs typeface="Menlo"/>
              </a:defRPr>
            </a:pPr>
            <a:r>
              <a:rPr sz="3900" b="0">
                <a:solidFill>
                  <a:srgbClr val="005A9C"/>
                </a:solidFill>
                <a:latin typeface="Menlo"/>
                <a:ea typeface="Menlo"/>
                <a:cs typeface="Menlo"/>
              </a:rPr>
              <a:t>    break;</a:t>
            </a:r>
          </a:p>
        </p:txBody>
      </p:sp>
      <p:cxnSp>
        <p:nvCxnSpPr>
          <p:cNvPr id="6" name="Straight Arrow Connector 5">
            <a:extLst>
              <a:ext uri="{FF2B5EF4-FFF2-40B4-BE49-F238E27FC236}">
                <a16:creationId xmlns:a16="http://schemas.microsoft.com/office/drawing/2014/main" id="{21C3B4E6-0EA4-4970-99D5-C9D108165835}"/>
              </a:ext>
            </a:extLst>
          </p:cNvPr>
          <p:cNvCxnSpPr/>
          <p:nvPr/>
        </p:nvCxnSpPr>
        <p:spPr>
          <a:xfrm>
            <a:off x="6477000" y="5857875"/>
            <a:ext cx="4286250" cy="0"/>
          </a:xfrm>
          <a:prstGeom prst="straightConnector1">
            <a:avLst/>
          </a:prstGeom>
          <a:ln w="23813">
            <a:solidFill>
              <a:srgbClr val="202426"/>
            </a:solidFill>
            <a:tailEnd type="none" w="med" len="med"/>
          </a:ln>
        </p:spPr>
      </p:cxnSp>
      <p:cxnSp>
        <p:nvCxnSpPr>
          <p:cNvPr id="7" name="Straight Arrow Connector 6">
            <a:extLst>
              <a:ext uri="{FF2B5EF4-FFF2-40B4-BE49-F238E27FC236}">
                <a16:creationId xmlns:a16="http://schemas.microsoft.com/office/drawing/2014/main" id="{BBA9FE51-B2EB-4DED-9BA6-4314864190FC}"/>
              </a:ext>
            </a:extLst>
          </p:cNvPr>
          <p:cNvCxnSpPr/>
          <p:nvPr/>
        </p:nvCxnSpPr>
        <p:spPr>
          <a:xfrm>
            <a:off x="10763250" y="5857875"/>
            <a:ext cx="0" cy="1095375"/>
          </a:xfrm>
          <a:prstGeom prst="straightConnector1">
            <a:avLst/>
          </a:prstGeom>
          <a:ln w="23813">
            <a:solidFill>
              <a:srgbClr val="202426"/>
            </a:solidFill>
            <a:tailEnd type="none" w="med" len="med"/>
          </a:ln>
        </p:spPr>
      </p:cxnSp>
      <p:cxnSp>
        <p:nvCxnSpPr>
          <p:cNvPr id="8" name="Straight Arrow Connector 7">
            <a:extLst>
              <a:ext uri="{FF2B5EF4-FFF2-40B4-BE49-F238E27FC236}">
                <a16:creationId xmlns:a16="http://schemas.microsoft.com/office/drawing/2014/main" id="{20B878FD-E9F1-4461-BCEB-C024FEEE51C9}"/>
              </a:ext>
            </a:extLst>
          </p:cNvPr>
          <p:cNvCxnSpPr/>
          <p:nvPr/>
        </p:nvCxnSpPr>
        <p:spPr>
          <a:xfrm>
            <a:off x="10763250" y="6953250"/>
            <a:ext cx="1238250" cy="0"/>
          </a:xfrm>
          <a:prstGeom prst="straightConnector1">
            <a:avLst/>
          </a:prstGeom>
          <a:ln w="23813">
            <a:solidFill>
              <a:srgbClr val="202426"/>
            </a:solidFill>
            <a:tailEnd type="arrow" w="med" len="med"/>
          </a:ln>
        </p:spPr>
      </p:cxnSp>
      <p:sp>
        <p:nvSpPr>
          <p:cNvPr id="9" name="after the switch">
            <a:extLst>
              <a:ext uri="{FF2B5EF4-FFF2-40B4-BE49-F238E27FC236}">
                <a16:creationId xmlns:a16="http://schemas.microsoft.com/office/drawing/2014/main" id="{6D89F13A-502D-4E45-9AF7-C728499839E3}"/>
              </a:ext>
            </a:extLst>
          </p:cNvPr>
          <p:cNvSpPr>
            <a:spLocks noGrp="1"/>
          </p:cNvSpPr>
          <p:nvPr/>
        </p:nvSpPr>
        <p:spPr>
          <a:xfrm>
            <a:off x="12001500" y="6286500"/>
            <a:ext cx="4667250" cy="1333500"/>
          </a:xfrm>
          <a:prstGeom prst="roundRect">
            <a:avLst>
              <a:gd name="adj" fmla="val 5714"/>
            </a:avLst>
          </a:prstGeom>
          <a:solidFill>
            <a:srgbClr val="FFFFFF"/>
          </a:solidFill>
          <a:ln w="23813">
            <a:solidFill>
              <a:srgbClr val="DF4214"/>
            </a:solidFill>
          </a:ln>
        </p:spPr>
      </p:sp>
      <p:sp>
        <p:nvSpPr>
          <p:cNvPr id="10" name="after the switch">
            <a:extLst>
              <a:ext uri="{FF2B5EF4-FFF2-40B4-BE49-F238E27FC236}">
                <a16:creationId xmlns:a16="http://schemas.microsoft.com/office/drawing/2014/main" id="{0A1C1811-080A-44CB-B0EA-695CBCC936A4}"/>
              </a:ext>
            </a:extLst>
          </p:cNvPr>
          <p:cNvSpPr>
            <a:spLocks noGrp="1"/>
          </p:cNvSpPr>
          <p:nvPr/>
        </p:nvSpPr>
        <p:spPr>
          <a:xfrm>
            <a:off x="12144375" y="6381750"/>
            <a:ext cx="4381500" cy="1143000"/>
          </a:xfrm>
          <a:prstGeom prst="rect">
            <a:avLst/>
          </a:prstGeom>
          <a:noFill/>
          <a:ln w="0">
            <a:noFill/>
          </a:ln>
        </p:spPr>
        <p:txBody>
          <a:bodyPr lIns="0" tIns="0" rIns="0" bIns="0" anchor="ctr">
            <a:noAutofit/>
          </a:bodyPr>
          <a:lstStyle>
            <a:defPPr algn="ctr">
              <a:defRPr sz="3225" b="0">
                <a:solidFill>
                  <a:srgbClr val="202426"/>
                </a:solidFill>
                <a:latin typeface="Arimo"/>
                <a:ea typeface="Arimo"/>
                <a:cs typeface="Arimo"/>
              </a:defRPr>
            </a:defPPr>
          </a:lstStyle>
          <a:p>
            <a:pPr algn="ctr">
              <a:defRPr sz="3225" b="0">
                <a:solidFill>
                  <a:srgbClr val="202426"/>
                </a:solidFill>
                <a:latin typeface="Arimo"/>
                <a:ea typeface="Arimo"/>
                <a:cs typeface="Arimo"/>
              </a:defRPr>
            </a:pPr>
            <a:r>
              <a:rPr sz="3225" b="0">
                <a:solidFill>
                  <a:srgbClr val="202426"/>
                </a:solidFill>
                <a:latin typeface="Arimo"/>
                <a:ea typeface="Arimo"/>
                <a:cs typeface="Arimo"/>
              </a:rPr>
              <a:t>after the switch</a:t>
            </a:r>
          </a:p>
        </p:txBody>
      </p:sp>
      <p:sp>
        <p:nvSpPr>
          <p:cNvPr id="11" name="Without break, execution continues into the next c">
            <a:extLst>
              <a:ext uri="{FF2B5EF4-FFF2-40B4-BE49-F238E27FC236}">
                <a16:creationId xmlns:a16="http://schemas.microsoft.com/office/drawing/2014/main" id="{0BC3AAF6-A126-4A2B-BB22-D41EE39F4F39}"/>
              </a:ext>
            </a:extLst>
          </p:cNvPr>
          <p:cNvSpPr>
            <a:spLocks noGrp="1"/>
          </p:cNvSpPr>
          <p:nvPr/>
        </p:nvSpPr>
        <p:spPr>
          <a:xfrm>
            <a:off x="1143000" y="8572500"/>
            <a:ext cx="15716250" cy="619125"/>
          </a:xfrm>
          <a:prstGeom prst="rect">
            <a:avLst/>
          </a:prstGeom>
          <a:noFill/>
          <a:ln w="0">
            <a:noFill/>
          </a:ln>
        </p:spPr>
        <p:txBody>
          <a:bodyPr lIns="0" tIns="0" rIns="0" bIns="0" anchor="ctr">
            <a:noAutofit/>
          </a:bodyPr>
          <a:lstStyle>
            <a:defPPr algn="l">
              <a:defRPr sz="2550" b="0">
                <a:solidFill>
                  <a:srgbClr val="596167"/>
                </a:solidFill>
                <a:latin typeface="Arimo"/>
                <a:ea typeface="Arimo"/>
                <a:cs typeface="Arimo"/>
              </a:defRPr>
            </a:defPPr>
          </a:lstStyle>
          <a:p>
            <a:pPr algn="l">
              <a:defRPr sz="2550" b="0">
                <a:solidFill>
                  <a:srgbClr val="596167"/>
                </a:solidFill>
                <a:latin typeface="Arimo"/>
                <a:ea typeface="Arimo"/>
                <a:cs typeface="Arimo"/>
              </a:defRPr>
            </a:pPr>
            <a:r>
              <a:rPr sz="2550" b="0">
                <a:solidFill>
                  <a:srgbClr val="596167"/>
                </a:solidFill>
                <a:latin typeface="Arimo"/>
                <a:ea typeface="Arimo"/>
                <a:cs typeface="Arimo"/>
              </a:rPr>
              <a:t>Without break, execution continues into the next case.</a:t>
            </a:r>
          </a:p>
        </p:txBody>
      </p:sp>
      <p:sp>
        <p:nvSpPr>
          <p:cNvPr id="12" name="Chapter 6  /  06">
            <a:extLst>
              <a:ext uri="{FF2B5EF4-FFF2-40B4-BE49-F238E27FC236}">
                <a16:creationId xmlns:a16="http://schemas.microsoft.com/office/drawing/2014/main" id="{77DD3AA4-D890-406D-A3FE-BF8FCE85B6CA}"/>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06</a:t>
            </a:r>
          </a:p>
        </p:txBody>
      </p:sp>
    </p:spTree>
    <p:extLst>
      <p:ext uri="{BB962C8B-B14F-4D97-AF65-F5344CB8AC3E}">
        <p14:creationId xmlns:p14="http://schemas.microsoft.com/office/powerpoint/2010/main" val="362121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Brand accent">
            <a:extLst>
              <a:ext uri="{FF2B5EF4-FFF2-40B4-BE49-F238E27FC236}">
                <a16:creationId xmlns:a16="http://schemas.microsoft.com/office/drawing/2014/main" id="{C9B144D0-21DD-48D6-9893-A6B9EC4218C2}"/>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F3E655C0-9AF4-46D7-A42B-B371C6A9FCCC}"/>
              </a:ext>
            </a:extLst>
          </p:cNvPr>
          <p:cNvPicPr>
            <a:picLocks noChangeAspect="1"/>
          </p:cNvPicPr>
          <p:nvPr/>
        </p:nvPicPr>
        <p:blipFill>
          <a:blip r:embed="rId3"/>
          <a:stretch/>
        </p:blipFill>
        <p:spPr>
          <a:xfrm>
            <a:off x="16479803" y="381000"/>
            <a:ext cx="1092269" cy="714375"/>
          </a:xfrm>
          <a:prstGeom prst="rect">
            <a:avLst/>
          </a:prstGeom>
        </p:spPr>
      </p:pic>
      <p:sp>
        <p:nvSpPr>
          <p:cNvPr id="3" name="A melody from your name">
            <a:extLst>
              <a:ext uri="{FF2B5EF4-FFF2-40B4-BE49-F238E27FC236}">
                <a16:creationId xmlns:a16="http://schemas.microsoft.com/office/drawing/2014/main" id="{9779F808-D04A-4118-84EC-CB17C528A6CF}"/>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A melody from your name</a:t>
            </a:r>
          </a:p>
        </p:txBody>
      </p:sp>
      <p:sp>
        <p:nvSpPr>
          <p:cNvPr id="4" name="§6.1.1 · Book Example 6.1">
            <a:extLst>
              <a:ext uri="{FF2B5EF4-FFF2-40B4-BE49-F238E27FC236}">
                <a16:creationId xmlns:a16="http://schemas.microsoft.com/office/drawing/2014/main" id="{AB473AD7-A5EA-468C-A4D4-7A5164BB2266}"/>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§6.1.1 · Book Example 6.1</a:t>
            </a:r>
          </a:p>
        </p:txBody>
      </p:sp>
      <p:cxnSp>
        <p:nvCxnSpPr>
          <p:cNvPr id="5" name="Straight Arrow Connector 4">
            <a:extLst>
              <a:ext uri="{FF2B5EF4-FFF2-40B4-BE49-F238E27FC236}">
                <a16:creationId xmlns:a16="http://schemas.microsoft.com/office/drawing/2014/main" id="{703EE9A8-2DC3-4740-B265-D3F1C80CAC1E}"/>
              </a:ext>
            </a:extLst>
          </p:cNvPr>
          <p:cNvCxnSpPr/>
          <p:nvPr/>
        </p:nvCxnSpPr>
        <p:spPr>
          <a:xfrm>
            <a:off x="4143375" y="5048250"/>
            <a:ext cx="1428750" cy="0"/>
          </a:xfrm>
          <a:prstGeom prst="straightConnector1">
            <a:avLst/>
          </a:prstGeom>
          <a:ln w="23813">
            <a:solidFill>
              <a:srgbClr val="202426"/>
            </a:solidFill>
            <a:tailEnd type="arrow" w="med" len="med"/>
          </a:ln>
        </p:spPr>
      </p:cxnSp>
      <p:cxnSp>
        <p:nvCxnSpPr>
          <p:cNvPr id="6" name="Straight Arrow Connector 5">
            <a:extLst>
              <a:ext uri="{FF2B5EF4-FFF2-40B4-BE49-F238E27FC236}">
                <a16:creationId xmlns:a16="http://schemas.microsoft.com/office/drawing/2014/main" id="{FF874ECD-D6A0-46FB-8138-66B84F1628D1}"/>
              </a:ext>
            </a:extLst>
          </p:cNvPr>
          <p:cNvCxnSpPr/>
          <p:nvPr/>
        </p:nvCxnSpPr>
        <p:spPr>
          <a:xfrm>
            <a:off x="8429625" y="5048250"/>
            <a:ext cx="1428750" cy="0"/>
          </a:xfrm>
          <a:prstGeom prst="straightConnector1">
            <a:avLst/>
          </a:prstGeom>
          <a:ln w="23813">
            <a:solidFill>
              <a:srgbClr val="202426"/>
            </a:solidFill>
            <a:tailEnd type="arrow" w="med" len="med"/>
          </a:ln>
        </p:spPr>
      </p:cxnSp>
      <p:cxnSp>
        <p:nvCxnSpPr>
          <p:cNvPr id="7" name="Straight Arrow Connector 6">
            <a:extLst>
              <a:ext uri="{FF2B5EF4-FFF2-40B4-BE49-F238E27FC236}">
                <a16:creationId xmlns:a16="http://schemas.microsoft.com/office/drawing/2014/main" id="{1B91E97C-E9AA-4C97-9214-38CE6DDE2187}"/>
              </a:ext>
            </a:extLst>
          </p:cNvPr>
          <p:cNvCxnSpPr/>
          <p:nvPr/>
        </p:nvCxnSpPr>
        <p:spPr>
          <a:xfrm>
            <a:off x="12715875" y="5048250"/>
            <a:ext cx="1428750" cy="0"/>
          </a:xfrm>
          <a:prstGeom prst="straightConnector1">
            <a:avLst/>
          </a:prstGeom>
          <a:ln w="23813">
            <a:solidFill>
              <a:srgbClr val="202426"/>
            </a:solidFill>
            <a:tailEnd type="arrow" w="med" len="med"/>
          </a:ln>
        </p:spPr>
      </p:cxnSp>
      <p:sp>
        <p:nvSpPr>
          <p:cNvPr id="8" name="A">
            <a:extLst>
              <a:ext uri="{FF2B5EF4-FFF2-40B4-BE49-F238E27FC236}">
                <a16:creationId xmlns:a16="http://schemas.microsoft.com/office/drawing/2014/main" id="{3154D676-06F3-4629-B635-60ECBBECDBFA}"/>
              </a:ext>
            </a:extLst>
          </p:cNvPr>
          <p:cNvSpPr>
            <a:spLocks noGrp="1"/>
          </p:cNvSpPr>
          <p:nvPr/>
        </p:nvSpPr>
        <p:spPr>
          <a:xfrm>
            <a:off x="1285875" y="4095750"/>
            <a:ext cx="2857500" cy="1905000"/>
          </a:xfrm>
          <a:prstGeom prst="roundRect">
            <a:avLst>
              <a:gd name="adj" fmla="val 4000"/>
            </a:avLst>
          </a:prstGeom>
          <a:solidFill>
            <a:srgbClr val="FFFFFF"/>
          </a:solidFill>
          <a:ln w="23813">
            <a:solidFill>
              <a:srgbClr val="D9DEDF"/>
            </a:solidFill>
          </a:ln>
        </p:spPr>
      </p:sp>
      <p:sp>
        <p:nvSpPr>
          <p:cNvPr id="9" name="A">
            <a:extLst>
              <a:ext uri="{FF2B5EF4-FFF2-40B4-BE49-F238E27FC236}">
                <a16:creationId xmlns:a16="http://schemas.microsoft.com/office/drawing/2014/main" id="{ADA5E2D9-24BD-4213-BD72-23A96D3810B4}"/>
              </a:ext>
            </a:extLst>
          </p:cNvPr>
          <p:cNvSpPr>
            <a:spLocks noGrp="1"/>
          </p:cNvSpPr>
          <p:nvPr/>
        </p:nvSpPr>
        <p:spPr>
          <a:xfrm>
            <a:off x="1428750" y="4191000"/>
            <a:ext cx="2571750" cy="1714500"/>
          </a:xfrm>
          <a:prstGeom prst="rect">
            <a:avLst/>
          </a:prstGeom>
          <a:noFill/>
          <a:ln w="0">
            <a:noFill/>
          </a:ln>
        </p:spPr>
        <p:txBody>
          <a:bodyPr lIns="0" tIns="0" rIns="0" bIns="0" anchor="ctr">
            <a:noAutofit/>
          </a:bodyPr>
          <a:lstStyle>
            <a:defPPr algn="ctr">
              <a:defRPr sz="7500" b="0">
                <a:solidFill>
                  <a:srgbClr val="202426"/>
                </a:solidFill>
                <a:latin typeface="Arimo"/>
                <a:ea typeface="Arimo"/>
                <a:cs typeface="Arimo"/>
              </a:defRPr>
            </a:defPPr>
          </a:lstStyle>
          <a:p>
            <a:pPr algn="ctr">
              <a:defRPr sz="7500" b="0">
                <a:solidFill>
                  <a:srgbClr val="202426"/>
                </a:solidFill>
                <a:latin typeface="Arimo"/>
                <a:ea typeface="Arimo"/>
                <a:cs typeface="Arimo"/>
              </a:defRPr>
            </a:pPr>
            <a:r>
              <a:rPr sz="7500" b="0">
                <a:solidFill>
                  <a:srgbClr val="202426"/>
                </a:solidFill>
                <a:latin typeface="Arimo"/>
                <a:ea typeface="Arimo"/>
                <a:cs typeface="Arimo"/>
              </a:rPr>
              <a:t>A</a:t>
            </a:r>
          </a:p>
        </p:txBody>
      </p:sp>
      <p:sp>
        <p:nvSpPr>
          <p:cNvPr id="10" name="65">
            <a:extLst>
              <a:ext uri="{FF2B5EF4-FFF2-40B4-BE49-F238E27FC236}">
                <a16:creationId xmlns:a16="http://schemas.microsoft.com/office/drawing/2014/main" id="{C2ED8395-1884-419A-82E8-FD32D78ABB32}"/>
              </a:ext>
            </a:extLst>
          </p:cNvPr>
          <p:cNvSpPr>
            <a:spLocks noGrp="1"/>
          </p:cNvSpPr>
          <p:nvPr/>
        </p:nvSpPr>
        <p:spPr>
          <a:xfrm>
            <a:off x="5572125" y="4095750"/>
            <a:ext cx="2857500" cy="1905000"/>
          </a:xfrm>
          <a:prstGeom prst="roundRect">
            <a:avLst>
              <a:gd name="adj" fmla="val 4000"/>
            </a:avLst>
          </a:prstGeom>
          <a:solidFill>
            <a:srgbClr val="FFFFFF"/>
          </a:solidFill>
          <a:ln w="23813">
            <a:solidFill>
              <a:srgbClr val="D9DEDF"/>
            </a:solidFill>
          </a:ln>
        </p:spPr>
      </p:sp>
      <p:sp>
        <p:nvSpPr>
          <p:cNvPr id="11" name="65">
            <a:extLst>
              <a:ext uri="{FF2B5EF4-FFF2-40B4-BE49-F238E27FC236}">
                <a16:creationId xmlns:a16="http://schemas.microsoft.com/office/drawing/2014/main" id="{788C050F-83A8-447B-A75E-BBD75DC7E7B8}"/>
              </a:ext>
            </a:extLst>
          </p:cNvPr>
          <p:cNvSpPr>
            <a:spLocks noGrp="1"/>
          </p:cNvSpPr>
          <p:nvPr/>
        </p:nvSpPr>
        <p:spPr>
          <a:xfrm>
            <a:off x="5715000" y="4191000"/>
            <a:ext cx="2571750" cy="1714500"/>
          </a:xfrm>
          <a:prstGeom prst="rect">
            <a:avLst/>
          </a:prstGeom>
          <a:noFill/>
          <a:ln w="0">
            <a:noFill/>
          </a:ln>
        </p:spPr>
        <p:txBody>
          <a:bodyPr lIns="0" tIns="0" rIns="0" bIns="0" anchor="ctr">
            <a:noAutofit/>
          </a:bodyPr>
          <a:lstStyle>
            <a:defPPr algn="ctr">
              <a:defRPr sz="7500" b="0">
                <a:solidFill>
                  <a:srgbClr val="202426"/>
                </a:solidFill>
                <a:latin typeface="Arimo"/>
                <a:ea typeface="Arimo"/>
                <a:cs typeface="Arimo"/>
              </a:defRPr>
            </a:defPPr>
          </a:lstStyle>
          <a:p>
            <a:pPr algn="ctr">
              <a:defRPr sz="7500" b="0">
                <a:solidFill>
                  <a:srgbClr val="202426"/>
                </a:solidFill>
                <a:latin typeface="Arimo"/>
                <a:ea typeface="Arimo"/>
                <a:cs typeface="Arimo"/>
              </a:defRPr>
            </a:pPr>
            <a:r>
              <a:rPr sz="7500" b="0">
                <a:solidFill>
                  <a:srgbClr val="202426"/>
                </a:solidFill>
                <a:latin typeface="Arimo"/>
                <a:ea typeface="Arimo"/>
                <a:cs typeface="Arimo"/>
              </a:rPr>
              <a:t>65</a:t>
            </a:r>
          </a:p>
        </p:txBody>
      </p:sp>
      <p:sp>
        <p:nvSpPr>
          <p:cNvPr id="12" name="2">
            <a:extLst>
              <a:ext uri="{FF2B5EF4-FFF2-40B4-BE49-F238E27FC236}">
                <a16:creationId xmlns:a16="http://schemas.microsoft.com/office/drawing/2014/main" id="{ABA7EACF-4195-4DC4-8417-5974A6BAE38E}"/>
              </a:ext>
            </a:extLst>
          </p:cNvPr>
          <p:cNvSpPr>
            <a:spLocks noGrp="1"/>
          </p:cNvSpPr>
          <p:nvPr/>
        </p:nvSpPr>
        <p:spPr>
          <a:xfrm>
            <a:off x="9858375" y="4095750"/>
            <a:ext cx="2857500" cy="1905000"/>
          </a:xfrm>
          <a:prstGeom prst="roundRect">
            <a:avLst>
              <a:gd name="adj" fmla="val 4000"/>
            </a:avLst>
          </a:prstGeom>
          <a:solidFill>
            <a:srgbClr val="FFFFFF"/>
          </a:solidFill>
          <a:ln w="23813">
            <a:solidFill>
              <a:srgbClr val="D9DEDF"/>
            </a:solidFill>
          </a:ln>
        </p:spPr>
      </p:sp>
      <p:sp>
        <p:nvSpPr>
          <p:cNvPr id="13" name="2">
            <a:extLst>
              <a:ext uri="{FF2B5EF4-FFF2-40B4-BE49-F238E27FC236}">
                <a16:creationId xmlns:a16="http://schemas.microsoft.com/office/drawing/2014/main" id="{C1F9B9DA-C276-44D0-B368-7AD10EB98FF1}"/>
              </a:ext>
            </a:extLst>
          </p:cNvPr>
          <p:cNvSpPr>
            <a:spLocks noGrp="1"/>
          </p:cNvSpPr>
          <p:nvPr/>
        </p:nvSpPr>
        <p:spPr>
          <a:xfrm>
            <a:off x="10001250" y="4191000"/>
            <a:ext cx="2571750" cy="1714500"/>
          </a:xfrm>
          <a:prstGeom prst="rect">
            <a:avLst/>
          </a:prstGeom>
          <a:noFill/>
          <a:ln w="0">
            <a:noFill/>
          </a:ln>
        </p:spPr>
        <p:txBody>
          <a:bodyPr lIns="0" tIns="0" rIns="0" bIns="0" anchor="ctr">
            <a:noAutofit/>
          </a:bodyPr>
          <a:lstStyle>
            <a:defPPr algn="ctr">
              <a:defRPr sz="7500" b="0">
                <a:solidFill>
                  <a:srgbClr val="202426"/>
                </a:solidFill>
                <a:latin typeface="Arimo"/>
                <a:ea typeface="Arimo"/>
                <a:cs typeface="Arimo"/>
              </a:defRPr>
            </a:defPPr>
          </a:lstStyle>
          <a:p>
            <a:pPr algn="ctr">
              <a:defRPr sz="7500" b="0">
                <a:solidFill>
                  <a:srgbClr val="202426"/>
                </a:solidFill>
                <a:latin typeface="Arimo"/>
                <a:ea typeface="Arimo"/>
                <a:cs typeface="Arimo"/>
              </a:defRPr>
            </a:pPr>
            <a:r>
              <a:rPr sz="7500" b="0">
                <a:solidFill>
                  <a:srgbClr val="202426"/>
                </a:solidFill>
                <a:latin typeface="Arimo"/>
                <a:ea typeface="Arimo"/>
                <a:cs typeface="Arimo"/>
              </a:rPr>
              <a:t>2</a:t>
            </a:r>
          </a:p>
        </p:txBody>
      </p:sp>
      <p:sp>
        <p:nvSpPr>
          <p:cNvPr id="14" name="C">
            <a:extLst>
              <a:ext uri="{FF2B5EF4-FFF2-40B4-BE49-F238E27FC236}">
                <a16:creationId xmlns:a16="http://schemas.microsoft.com/office/drawing/2014/main" id="{21965808-A11D-4372-900F-A006D3F84681}"/>
              </a:ext>
            </a:extLst>
          </p:cNvPr>
          <p:cNvSpPr>
            <a:spLocks noGrp="1"/>
          </p:cNvSpPr>
          <p:nvPr/>
        </p:nvSpPr>
        <p:spPr>
          <a:xfrm>
            <a:off x="14144625" y="4095750"/>
            <a:ext cx="2857500" cy="1905000"/>
          </a:xfrm>
          <a:prstGeom prst="roundRect">
            <a:avLst>
              <a:gd name="adj" fmla="val 4000"/>
            </a:avLst>
          </a:prstGeom>
          <a:solidFill>
            <a:srgbClr val="FFF2EB"/>
          </a:solidFill>
          <a:ln w="28575">
            <a:solidFill>
              <a:srgbClr val="DF4214"/>
            </a:solidFill>
          </a:ln>
        </p:spPr>
      </p:sp>
      <p:sp>
        <p:nvSpPr>
          <p:cNvPr id="15" name="C">
            <a:extLst>
              <a:ext uri="{FF2B5EF4-FFF2-40B4-BE49-F238E27FC236}">
                <a16:creationId xmlns:a16="http://schemas.microsoft.com/office/drawing/2014/main" id="{7605C8F9-BF74-4B9B-936C-A57C85151EF6}"/>
              </a:ext>
            </a:extLst>
          </p:cNvPr>
          <p:cNvSpPr>
            <a:spLocks noGrp="1"/>
          </p:cNvSpPr>
          <p:nvPr/>
        </p:nvSpPr>
        <p:spPr>
          <a:xfrm>
            <a:off x="14287500" y="4191000"/>
            <a:ext cx="2571750" cy="1714500"/>
          </a:xfrm>
          <a:prstGeom prst="rect">
            <a:avLst/>
          </a:prstGeom>
          <a:noFill/>
          <a:ln w="0">
            <a:noFill/>
          </a:ln>
        </p:spPr>
        <p:txBody>
          <a:bodyPr lIns="0" tIns="0" rIns="0" bIns="0" anchor="ctr">
            <a:noAutofit/>
          </a:bodyPr>
          <a:lstStyle>
            <a:defPPr algn="ctr">
              <a:defRPr sz="7500" b="0">
                <a:solidFill>
                  <a:srgbClr val="202426"/>
                </a:solidFill>
                <a:latin typeface="Arimo"/>
                <a:ea typeface="Arimo"/>
                <a:cs typeface="Arimo"/>
              </a:defRPr>
            </a:defPPr>
          </a:lstStyle>
          <a:p>
            <a:pPr algn="ctr">
              <a:defRPr sz="7500" b="0">
                <a:solidFill>
                  <a:srgbClr val="202426"/>
                </a:solidFill>
                <a:latin typeface="Arimo"/>
                <a:ea typeface="Arimo"/>
                <a:cs typeface="Arimo"/>
              </a:defRPr>
            </a:pPr>
            <a:r>
              <a:rPr sz="7500" b="0">
                <a:solidFill>
                  <a:srgbClr val="202426"/>
                </a:solidFill>
                <a:latin typeface="Arimo"/>
                <a:ea typeface="Arimo"/>
                <a:cs typeface="Arimo"/>
              </a:rPr>
              <a:t>C</a:t>
            </a:r>
          </a:p>
        </p:txBody>
      </p:sp>
      <p:sp>
        <p:nvSpPr>
          <p:cNvPr id="16" name="character">
            <a:extLst>
              <a:ext uri="{FF2B5EF4-FFF2-40B4-BE49-F238E27FC236}">
                <a16:creationId xmlns:a16="http://schemas.microsoft.com/office/drawing/2014/main" id="{63EA4A19-6D4C-4127-B799-25B73F81C7E9}"/>
              </a:ext>
            </a:extLst>
          </p:cNvPr>
          <p:cNvSpPr>
            <a:spLocks noGrp="1"/>
          </p:cNvSpPr>
          <p:nvPr/>
        </p:nvSpPr>
        <p:spPr>
          <a:xfrm>
            <a:off x="1285875" y="3238500"/>
            <a:ext cx="2857500" cy="523875"/>
          </a:xfrm>
          <a:prstGeom prst="rect">
            <a:avLst/>
          </a:prstGeom>
          <a:noFill/>
          <a:ln w="0">
            <a:noFill/>
          </a:ln>
        </p:spPr>
        <p:txBody>
          <a:bodyPr lIns="0" tIns="0" rIns="0" bIns="0" anchor="ctr">
            <a:noAutofit/>
          </a:bodyPr>
          <a:lstStyle>
            <a:defPPr algn="ctr">
              <a:defRPr sz="2400" b="0">
                <a:solidFill>
                  <a:srgbClr val="596167"/>
                </a:solidFill>
                <a:latin typeface="Arimo"/>
                <a:ea typeface="Arimo"/>
                <a:cs typeface="Arimo"/>
              </a:defRPr>
            </a:defPPr>
          </a:lstStyle>
          <a:p>
            <a:pPr algn="ctr">
              <a:defRPr sz="2400" b="0">
                <a:solidFill>
                  <a:srgbClr val="596167"/>
                </a:solidFill>
                <a:latin typeface="Arimo"/>
                <a:ea typeface="Arimo"/>
                <a:cs typeface="Arimo"/>
              </a:defRPr>
            </a:pPr>
            <a:r>
              <a:rPr sz="2400" b="0">
                <a:solidFill>
                  <a:srgbClr val="596167"/>
                </a:solidFill>
                <a:latin typeface="Arimo"/>
                <a:ea typeface="Arimo"/>
                <a:cs typeface="Arimo"/>
              </a:rPr>
              <a:t>character</a:t>
            </a:r>
          </a:p>
        </p:txBody>
      </p:sp>
      <p:sp>
        <p:nvSpPr>
          <p:cNvPr id="17" name="ASCII code">
            <a:extLst>
              <a:ext uri="{FF2B5EF4-FFF2-40B4-BE49-F238E27FC236}">
                <a16:creationId xmlns:a16="http://schemas.microsoft.com/office/drawing/2014/main" id="{E0E54E4C-2726-4470-91E4-01C64B93B3FE}"/>
              </a:ext>
            </a:extLst>
          </p:cNvPr>
          <p:cNvSpPr>
            <a:spLocks noGrp="1"/>
          </p:cNvSpPr>
          <p:nvPr/>
        </p:nvSpPr>
        <p:spPr>
          <a:xfrm>
            <a:off x="5572125" y="3238500"/>
            <a:ext cx="2857500" cy="523875"/>
          </a:xfrm>
          <a:prstGeom prst="rect">
            <a:avLst/>
          </a:prstGeom>
          <a:noFill/>
          <a:ln w="0">
            <a:noFill/>
          </a:ln>
        </p:spPr>
        <p:txBody>
          <a:bodyPr lIns="0" tIns="0" rIns="0" bIns="0" anchor="ctr">
            <a:noAutofit/>
          </a:bodyPr>
          <a:lstStyle>
            <a:defPPr algn="ctr">
              <a:defRPr sz="2400" b="0">
                <a:solidFill>
                  <a:srgbClr val="596167"/>
                </a:solidFill>
                <a:latin typeface="Arimo"/>
                <a:ea typeface="Arimo"/>
                <a:cs typeface="Arimo"/>
              </a:defRPr>
            </a:defPPr>
          </a:lstStyle>
          <a:p>
            <a:pPr algn="ctr">
              <a:defRPr sz="2400" b="0">
                <a:solidFill>
                  <a:srgbClr val="596167"/>
                </a:solidFill>
                <a:latin typeface="Arimo"/>
                <a:ea typeface="Arimo"/>
                <a:cs typeface="Arimo"/>
              </a:defRPr>
            </a:pPr>
            <a:r>
              <a:rPr sz="2400" b="0">
                <a:solidFill>
                  <a:srgbClr val="596167"/>
                </a:solidFill>
                <a:latin typeface="Arimo"/>
                <a:ea typeface="Arimo"/>
                <a:cs typeface="Arimo"/>
              </a:rPr>
              <a:t>ASCII code</a:t>
            </a:r>
          </a:p>
        </p:txBody>
      </p:sp>
      <p:sp>
        <p:nvSpPr>
          <p:cNvPr id="18" name="65 % 7">
            <a:extLst>
              <a:ext uri="{FF2B5EF4-FFF2-40B4-BE49-F238E27FC236}">
                <a16:creationId xmlns:a16="http://schemas.microsoft.com/office/drawing/2014/main" id="{77C090CD-08BD-49B2-A0CF-DFFE2C50FD77}"/>
              </a:ext>
            </a:extLst>
          </p:cNvPr>
          <p:cNvSpPr>
            <a:spLocks noGrp="1"/>
          </p:cNvSpPr>
          <p:nvPr/>
        </p:nvSpPr>
        <p:spPr>
          <a:xfrm>
            <a:off x="9858375" y="3238500"/>
            <a:ext cx="2857500" cy="523875"/>
          </a:xfrm>
          <a:prstGeom prst="rect">
            <a:avLst/>
          </a:prstGeom>
          <a:noFill/>
          <a:ln w="0">
            <a:noFill/>
          </a:ln>
        </p:spPr>
        <p:txBody>
          <a:bodyPr lIns="0" tIns="0" rIns="0" bIns="0" anchor="ctr">
            <a:noAutofit/>
          </a:bodyPr>
          <a:lstStyle>
            <a:defPPr algn="ctr">
              <a:defRPr sz="2400" b="0">
                <a:solidFill>
                  <a:srgbClr val="596167"/>
                </a:solidFill>
                <a:latin typeface="Menlo"/>
                <a:ea typeface="Menlo"/>
                <a:cs typeface="Menlo"/>
              </a:defRPr>
            </a:defPPr>
          </a:lstStyle>
          <a:p>
            <a:pPr algn="ctr">
              <a:defRPr sz="2400" b="0">
                <a:solidFill>
                  <a:srgbClr val="596167"/>
                </a:solidFill>
                <a:latin typeface="Menlo"/>
                <a:ea typeface="Menlo"/>
                <a:cs typeface="Menlo"/>
              </a:defRPr>
            </a:pPr>
            <a:r>
              <a:rPr sz="2400" b="0">
                <a:solidFill>
                  <a:srgbClr val="596167"/>
                </a:solidFill>
                <a:latin typeface="Menlo"/>
                <a:ea typeface="Menlo"/>
                <a:cs typeface="Menlo"/>
              </a:rPr>
              <a:t>65 % 7</a:t>
            </a:r>
          </a:p>
        </p:txBody>
      </p:sp>
      <p:sp>
        <p:nvSpPr>
          <p:cNvPr id="19" name="expected note">
            <a:extLst>
              <a:ext uri="{FF2B5EF4-FFF2-40B4-BE49-F238E27FC236}">
                <a16:creationId xmlns:a16="http://schemas.microsoft.com/office/drawing/2014/main" id="{13E399DA-E190-4F24-B2D7-6CC07C0DE365}"/>
              </a:ext>
            </a:extLst>
          </p:cNvPr>
          <p:cNvSpPr>
            <a:spLocks noGrp="1"/>
          </p:cNvSpPr>
          <p:nvPr/>
        </p:nvSpPr>
        <p:spPr>
          <a:xfrm>
            <a:off x="14144625" y="3238500"/>
            <a:ext cx="2857500" cy="523875"/>
          </a:xfrm>
          <a:prstGeom prst="rect">
            <a:avLst/>
          </a:prstGeom>
          <a:noFill/>
          <a:ln w="0">
            <a:noFill/>
          </a:ln>
        </p:spPr>
        <p:txBody>
          <a:bodyPr lIns="0" tIns="0" rIns="0" bIns="0" anchor="ctr">
            <a:noAutofit/>
          </a:bodyPr>
          <a:lstStyle>
            <a:defPPr algn="ctr">
              <a:defRPr sz="2400" b="0">
                <a:solidFill>
                  <a:srgbClr val="596167"/>
                </a:solidFill>
                <a:latin typeface="Arimo"/>
                <a:ea typeface="Arimo"/>
                <a:cs typeface="Arimo"/>
              </a:defRPr>
            </a:defPPr>
          </a:lstStyle>
          <a:p>
            <a:pPr algn="ctr">
              <a:defRPr sz="2400" b="0">
                <a:solidFill>
                  <a:srgbClr val="596167"/>
                </a:solidFill>
                <a:latin typeface="Arimo"/>
                <a:ea typeface="Arimo"/>
                <a:cs typeface="Arimo"/>
              </a:defRPr>
            </a:pPr>
            <a:r>
              <a:rPr sz="2400" b="0">
                <a:solidFill>
                  <a:srgbClr val="596167"/>
                </a:solidFill>
                <a:latin typeface="Arimo"/>
                <a:ea typeface="Arimo"/>
                <a:cs typeface="Arimo"/>
              </a:rPr>
              <a:t>expected note</a:t>
            </a:r>
          </a:p>
        </p:txBody>
      </p:sp>
      <p:sp>
        <p:nvSpPr>
          <p:cNvPr id="20" name="Try A# in the program.">
            <a:extLst>
              <a:ext uri="{FF2B5EF4-FFF2-40B4-BE49-F238E27FC236}">
                <a16:creationId xmlns:a16="http://schemas.microsoft.com/office/drawing/2014/main" id="{F46A8CF1-53E5-4BEC-9215-0607A2B38822}"/>
              </a:ext>
            </a:extLst>
          </p:cNvPr>
          <p:cNvSpPr>
            <a:spLocks noGrp="1"/>
          </p:cNvSpPr>
          <p:nvPr/>
        </p:nvSpPr>
        <p:spPr>
          <a:xfrm>
            <a:off x="1285875" y="7715250"/>
            <a:ext cx="15240000" cy="714375"/>
          </a:xfrm>
          <a:prstGeom prst="rect">
            <a:avLst/>
          </a:prstGeom>
          <a:noFill/>
          <a:ln w="0">
            <a:noFill/>
          </a:ln>
        </p:spPr>
        <p:txBody>
          <a:bodyPr lIns="0" tIns="0" rIns="0" bIns="0" anchor="ctr">
            <a:noAutofit/>
          </a:bodyPr>
          <a:lstStyle>
            <a:defPPr algn="l">
              <a:defRPr sz="3450" b="0">
                <a:solidFill>
                  <a:srgbClr val="596167"/>
                </a:solidFill>
                <a:latin typeface="Arimo"/>
                <a:ea typeface="Arimo"/>
                <a:cs typeface="Arimo"/>
              </a:defRPr>
            </a:defPPr>
          </a:lstStyle>
          <a:p>
            <a:pPr algn="l">
              <a:defRPr sz="3450" b="0">
                <a:solidFill>
                  <a:srgbClr val="596167"/>
                </a:solidFill>
                <a:latin typeface="Arimo"/>
                <a:ea typeface="Arimo"/>
                <a:cs typeface="Arimo"/>
              </a:defRPr>
            </a:pPr>
            <a:r>
              <a:rPr sz="3450" b="0">
                <a:solidFill>
                  <a:srgbClr val="596167"/>
                </a:solidFill>
                <a:latin typeface="Arimo"/>
                <a:ea typeface="Arimo"/>
                <a:cs typeface="Arimo"/>
              </a:rPr>
              <a:t>Try A# in the program.</a:t>
            </a:r>
          </a:p>
        </p:txBody>
      </p:sp>
      <p:sp>
        <p:nvSpPr>
          <p:cNvPr id="21" name="Chapter 6  /  07">
            <a:extLst>
              <a:ext uri="{FF2B5EF4-FFF2-40B4-BE49-F238E27FC236}">
                <a16:creationId xmlns:a16="http://schemas.microsoft.com/office/drawing/2014/main" id="{8A23BF3C-F5AB-4588-A636-FBD68F519303}"/>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07</a:t>
            </a:r>
          </a:p>
        </p:txBody>
      </p:sp>
    </p:spTree>
    <p:extLst>
      <p:ext uri="{BB962C8B-B14F-4D97-AF65-F5344CB8AC3E}">
        <p14:creationId xmlns:p14="http://schemas.microsoft.com/office/powerpoint/2010/main" val="938906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Brand accent">
            <a:extLst>
              <a:ext uri="{FF2B5EF4-FFF2-40B4-BE49-F238E27FC236}">
                <a16:creationId xmlns:a16="http://schemas.microsoft.com/office/drawing/2014/main" id="{8160B4AD-00C8-4522-AA0D-4A48DF4398CD}"/>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9E2CF6FD-D2BA-4ECC-B34F-B99985680250}"/>
              </a:ext>
            </a:extLst>
          </p:cNvPr>
          <p:cNvPicPr>
            <a:picLocks noChangeAspect="1"/>
          </p:cNvPicPr>
          <p:nvPr/>
        </p:nvPicPr>
        <p:blipFill>
          <a:blip r:embed="rId3"/>
          <a:stretch/>
        </p:blipFill>
        <p:spPr>
          <a:xfrm>
            <a:off x="16479803" y="381000"/>
            <a:ext cx="1092269" cy="714375"/>
          </a:xfrm>
          <a:prstGeom prst="rect">
            <a:avLst/>
          </a:prstGeom>
        </p:spPr>
      </p:pic>
      <p:sp>
        <p:nvSpPr>
          <p:cNvPr id="3" name="The next character starts another selection">
            <a:extLst>
              <a:ext uri="{FF2B5EF4-FFF2-40B4-BE49-F238E27FC236}">
                <a16:creationId xmlns:a16="http://schemas.microsoft.com/office/drawing/2014/main" id="{2EE3E114-7677-4953-9209-A07C7B6FCAA7}"/>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The next character starts another selection</a:t>
            </a:r>
          </a:p>
        </p:txBody>
      </p:sp>
      <p:sp>
        <p:nvSpPr>
          <p:cNvPr id="4" name="§6.1.1 · Example 6.1 · input loop">
            <a:extLst>
              <a:ext uri="{FF2B5EF4-FFF2-40B4-BE49-F238E27FC236}">
                <a16:creationId xmlns:a16="http://schemas.microsoft.com/office/drawing/2014/main" id="{24702BCA-F478-4423-98CD-87A70616B20E}"/>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§6.1.1 · Example 6.1 · input loop</a:t>
            </a:r>
          </a:p>
        </p:txBody>
      </p:sp>
      <p:cxnSp>
        <p:nvCxnSpPr>
          <p:cNvPr id="5" name="Straight Arrow Connector 4">
            <a:extLst>
              <a:ext uri="{FF2B5EF4-FFF2-40B4-BE49-F238E27FC236}">
                <a16:creationId xmlns:a16="http://schemas.microsoft.com/office/drawing/2014/main" id="{C7F3182B-EC1B-4270-8019-4B06949B89F7}"/>
              </a:ext>
            </a:extLst>
          </p:cNvPr>
          <p:cNvCxnSpPr/>
          <p:nvPr/>
        </p:nvCxnSpPr>
        <p:spPr>
          <a:xfrm>
            <a:off x="9144000" y="3286125"/>
            <a:ext cx="0" cy="904875"/>
          </a:xfrm>
          <a:prstGeom prst="straightConnector1">
            <a:avLst/>
          </a:prstGeom>
          <a:ln w="23813">
            <a:solidFill>
              <a:srgbClr val="202426"/>
            </a:solidFill>
            <a:tailEnd type="arrow" w="med" len="med"/>
          </a:ln>
        </p:spPr>
      </p:cxnSp>
      <p:cxnSp>
        <p:nvCxnSpPr>
          <p:cNvPr id="6" name="Straight Arrow Connector 5">
            <a:extLst>
              <a:ext uri="{FF2B5EF4-FFF2-40B4-BE49-F238E27FC236}">
                <a16:creationId xmlns:a16="http://schemas.microsoft.com/office/drawing/2014/main" id="{08EE6055-A9AE-49E7-9A04-86091BF7DE69}"/>
              </a:ext>
            </a:extLst>
          </p:cNvPr>
          <p:cNvCxnSpPr/>
          <p:nvPr/>
        </p:nvCxnSpPr>
        <p:spPr>
          <a:xfrm>
            <a:off x="9144000" y="5905500"/>
            <a:ext cx="0" cy="1143000"/>
          </a:xfrm>
          <a:prstGeom prst="straightConnector1">
            <a:avLst/>
          </a:prstGeom>
          <a:ln w="23813">
            <a:solidFill>
              <a:srgbClr val="202426"/>
            </a:solidFill>
            <a:tailEnd type="arrow" w="med" len="med"/>
          </a:ln>
        </p:spPr>
      </p:cxnSp>
      <p:cxnSp>
        <p:nvCxnSpPr>
          <p:cNvPr id="7" name="Straight Arrow Connector 6">
            <a:extLst>
              <a:ext uri="{FF2B5EF4-FFF2-40B4-BE49-F238E27FC236}">
                <a16:creationId xmlns:a16="http://schemas.microsoft.com/office/drawing/2014/main" id="{A2ECDB0D-C345-4714-B3E2-C4FEC41C97E7}"/>
              </a:ext>
            </a:extLst>
          </p:cNvPr>
          <p:cNvCxnSpPr/>
          <p:nvPr/>
        </p:nvCxnSpPr>
        <p:spPr>
          <a:xfrm flipH="1">
            <a:off x="3333750" y="7572375"/>
            <a:ext cx="2714625" cy="0"/>
          </a:xfrm>
          <a:prstGeom prst="straightConnector1">
            <a:avLst/>
          </a:prstGeom>
          <a:ln w="23813">
            <a:solidFill>
              <a:srgbClr val="202426"/>
            </a:solidFill>
            <a:tailEnd type="none" w="med" len="med"/>
          </a:ln>
        </p:spPr>
      </p:cxnSp>
      <p:cxnSp>
        <p:nvCxnSpPr>
          <p:cNvPr id="8" name="Straight Arrow Connector 7">
            <a:extLst>
              <a:ext uri="{FF2B5EF4-FFF2-40B4-BE49-F238E27FC236}">
                <a16:creationId xmlns:a16="http://schemas.microsoft.com/office/drawing/2014/main" id="{17F59436-2D52-4A3C-8C9B-24A75970089D}"/>
              </a:ext>
            </a:extLst>
          </p:cNvPr>
          <p:cNvCxnSpPr/>
          <p:nvPr/>
        </p:nvCxnSpPr>
        <p:spPr>
          <a:xfrm flipV="1">
            <a:off x="3333750" y="2809875"/>
            <a:ext cx="0" cy="4762500"/>
          </a:xfrm>
          <a:prstGeom prst="straightConnector1">
            <a:avLst/>
          </a:prstGeom>
          <a:ln w="23813">
            <a:solidFill>
              <a:srgbClr val="202426"/>
            </a:solidFill>
            <a:tailEnd type="none" w="med" len="med"/>
          </a:ln>
        </p:spPr>
      </p:cxnSp>
      <p:cxnSp>
        <p:nvCxnSpPr>
          <p:cNvPr id="9" name="Straight Arrow Connector 8">
            <a:extLst>
              <a:ext uri="{FF2B5EF4-FFF2-40B4-BE49-F238E27FC236}">
                <a16:creationId xmlns:a16="http://schemas.microsoft.com/office/drawing/2014/main" id="{408575BF-A7FD-4925-97E5-20A233EE1E6F}"/>
              </a:ext>
            </a:extLst>
          </p:cNvPr>
          <p:cNvCxnSpPr/>
          <p:nvPr/>
        </p:nvCxnSpPr>
        <p:spPr>
          <a:xfrm>
            <a:off x="3333750" y="2809875"/>
            <a:ext cx="2714625" cy="0"/>
          </a:xfrm>
          <a:prstGeom prst="straightConnector1">
            <a:avLst/>
          </a:prstGeom>
          <a:ln w="23813">
            <a:solidFill>
              <a:srgbClr val="202426"/>
            </a:solidFill>
            <a:tailEnd type="arrow" w="med" len="med"/>
          </a:ln>
        </p:spPr>
      </p:cxnSp>
      <p:cxnSp>
        <p:nvCxnSpPr>
          <p:cNvPr id="10" name="Straight Arrow Connector 9">
            <a:extLst>
              <a:ext uri="{FF2B5EF4-FFF2-40B4-BE49-F238E27FC236}">
                <a16:creationId xmlns:a16="http://schemas.microsoft.com/office/drawing/2014/main" id="{76B446CD-E1E9-44B1-AD33-8083BB71C7B1}"/>
              </a:ext>
            </a:extLst>
          </p:cNvPr>
          <p:cNvCxnSpPr/>
          <p:nvPr/>
        </p:nvCxnSpPr>
        <p:spPr>
          <a:xfrm>
            <a:off x="11668125" y="5048250"/>
            <a:ext cx="2619375" cy="0"/>
          </a:xfrm>
          <a:prstGeom prst="straightConnector1">
            <a:avLst/>
          </a:prstGeom>
          <a:ln w="23813">
            <a:solidFill>
              <a:srgbClr val="202426"/>
            </a:solidFill>
            <a:tailEnd type="arrow" w="med" len="med"/>
          </a:ln>
        </p:spPr>
      </p:cxnSp>
      <p:sp>
        <p:nvSpPr>
          <p:cNvPr id="11" name="Read a character">
            <a:extLst>
              <a:ext uri="{FF2B5EF4-FFF2-40B4-BE49-F238E27FC236}">
                <a16:creationId xmlns:a16="http://schemas.microsoft.com/office/drawing/2014/main" id="{A9FF283E-3375-4D91-AB90-283180E5D6D1}"/>
              </a:ext>
            </a:extLst>
          </p:cNvPr>
          <p:cNvSpPr>
            <a:spLocks noGrp="1"/>
          </p:cNvSpPr>
          <p:nvPr/>
        </p:nvSpPr>
        <p:spPr>
          <a:xfrm>
            <a:off x="6048375" y="2333625"/>
            <a:ext cx="6191250" cy="952500"/>
          </a:xfrm>
          <a:prstGeom prst="roundRect">
            <a:avLst>
              <a:gd name="adj" fmla="val 8000"/>
            </a:avLst>
          </a:prstGeom>
          <a:solidFill>
            <a:srgbClr val="FFFFFF"/>
          </a:solidFill>
          <a:ln w="23813">
            <a:solidFill>
              <a:srgbClr val="202426"/>
            </a:solidFill>
          </a:ln>
        </p:spPr>
      </p:sp>
      <p:sp>
        <p:nvSpPr>
          <p:cNvPr id="12" name="Read a character">
            <a:extLst>
              <a:ext uri="{FF2B5EF4-FFF2-40B4-BE49-F238E27FC236}">
                <a16:creationId xmlns:a16="http://schemas.microsoft.com/office/drawing/2014/main" id="{B534F8CF-B86E-40E5-8376-3D27137D6278}"/>
              </a:ext>
            </a:extLst>
          </p:cNvPr>
          <p:cNvSpPr>
            <a:spLocks noGrp="1"/>
          </p:cNvSpPr>
          <p:nvPr/>
        </p:nvSpPr>
        <p:spPr>
          <a:xfrm>
            <a:off x="6191250" y="2428875"/>
            <a:ext cx="5905500" cy="762000"/>
          </a:xfrm>
          <a:prstGeom prst="rect">
            <a:avLst/>
          </a:prstGeom>
          <a:noFill/>
          <a:ln w="0">
            <a:noFill/>
          </a:ln>
        </p:spPr>
        <p:txBody>
          <a:bodyPr lIns="0" tIns="0" rIns="0" bIns="0" anchor="ctr">
            <a:noAutofit/>
          </a:bodyPr>
          <a:lstStyle>
            <a:defPPr algn="ctr">
              <a:defRPr sz="3225" b="0">
                <a:solidFill>
                  <a:srgbClr val="202426"/>
                </a:solidFill>
                <a:latin typeface="Arimo"/>
                <a:ea typeface="Arimo"/>
                <a:cs typeface="Arimo"/>
              </a:defRPr>
            </a:defPPr>
          </a:lstStyle>
          <a:p>
            <a:pPr algn="ctr">
              <a:defRPr sz="3225" b="0">
                <a:solidFill>
                  <a:srgbClr val="202426"/>
                </a:solidFill>
                <a:latin typeface="Arimo"/>
                <a:ea typeface="Arimo"/>
                <a:cs typeface="Arimo"/>
              </a:defRPr>
            </a:pPr>
            <a:r>
              <a:rPr sz="3225" b="0">
                <a:solidFill>
                  <a:srgbClr val="202426"/>
                </a:solidFill>
                <a:latin typeface="Arimo"/>
                <a:ea typeface="Arimo"/>
                <a:cs typeface="Arimo"/>
              </a:rPr>
              <a:t>Read a character</a:t>
            </a:r>
          </a:p>
        </p:txBody>
      </p:sp>
      <p:sp>
        <p:nvSpPr>
          <p:cNvPr id="13" name="Input exists&#10;and C != '#'?">
            <a:extLst>
              <a:ext uri="{FF2B5EF4-FFF2-40B4-BE49-F238E27FC236}">
                <a16:creationId xmlns:a16="http://schemas.microsoft.com/office/drawing/2014/main" id="{9CE54374-0BFE-47DE-8ED0-73D06C7D39BA}"/>
              </a:ext>
            </a:extLst>
          </p:cNvPr>
          <p:cNvSpPr>
            <a:spLocks noGrp="1"/>
          </p:cNvSpPr>
          <p:nvPr/>
        </p:nvSpPr>
        <p:spPr>
          <a:xfrm>
            <a:off x="6619875" y="4191000"/>
            <a:ext cx="5048250" cy="1714500"/>
          </a:xfrm>
          <a:prstGeom prst="diamond">
            <a:avLst/>
          </a:prstGeom>
          <a:solidFill>
            <a:srgbClr val="FFFFFF"/>
          </a:solidFill>
          <a:ln w="23813">
            <a:solidFill>
              <a:srgbClr val="202426"/>
            </a:solidFill>
          </a:ln>
        </p:spPr>
      </p:sp>
      <p:sp>
        <p:nvSpPr>
          <p:cNvPr id="14" name="Input exists&#10;and C != '#'?">
            <a:extLst>
              <a:ext uri="{FF2B5EF4-FFF2-40B4-BE49-F238E27FC236}">
                <a16:creationId xmlns:a16="http://schemas.microsoft.com/office/drawing/2014/main" id="{13E91332-C67A-48D3-81CF-713E047B3ADD}"/>
              </a:ext>
            </a:extLst>
          </p:cNvPr>
          <p:cNvSpPr>
            <a:spLocks noGrp="1"/>
          </p:cNvSpPr>
          <p:nvPr/>
        </p:nvSpPr>
        <p:spPr>
          <a:xfrm>
            <a:off x="6762750" y="4286250"/>
            <a:ext cx="4762500" cy="1524000"/>
          </a:xfrm>
          <a:prstGeom prst="rect">
            <a:avLst/>
          </a:prstGeom>
          <a:noFill/>
          <a:ln w="0">
            <a:noFill/>
          </a:ln>
        </p:spPr>
        <p:txBody>
          <a:bodyPr lIns="0" tIns="0" rIns="0" bIns="0" anchor="ctr">
            <a:noAutofit/>
          </a:bodyPr>
          <a:lstStyle>
            <a:defPPr algn="ctr">
              <a:defRPr sz="2925" b="0">
                <a:solidFill>
                  <a:srgbClr val="202426"/>
                </a:solidFill>
                <a:latin typeface="Arimo"/>
                <a:ea typeface="Arimo"/>
                <a:cs typeface="Arimo"/>
              </a:defRPr>
            </a:defPPr>
          </a:lstStyle>
          <a:p>
            <a:pPr algn="ctr">
              <a:defRPr sz="2925" b="0">
                <a:solidFill>
                  <a:srgbClr val="202426"/>
                </a:solidFill>
                <a:latin typeface="Arimo"/>
                <a:ea typeface="Arimo"/>
                <a:cs typeface="Arimo"/>
              </a:defRPr>
            </a:pPr>
            <a:r>
              <a:rPr sz="2925" b="0">
                <a:solidFill>
                  <a:srgbClr val="202426"/>
                </a:solidFill>
                <a:latin typeface="Arimo"/>
                <a:ea typeface="Arimo"/>
                <a:cs typeface="Arimo"/>
              </a:rPr>
              <a:t>Input exists</a:t>
            </a:r>
          </a:p>
          <a:p>
            <a:pPr algn="ctr">
              <a:defRPr sz="2925" b="0">
                <a:solidFill>
                  <a:srgbClr val="202426"/>
                </a:solidFill>
                <a:latin typeface="Arimo"/>
                <a:ea typeface="Arimo"/>
                <a:cs typeface="Arimo"/>
              </a:defRPr>
            </a:pPr>
            <a:r>
              <a:rPr sz="2925" b="0">
                <a:solidFill>
                  <a:srgbClr val="202426"/>
                </a:solidFill>
                <a:latin typeface="Arimo"/>
                <a:ea typeface="Arimo"/>
                <a:cs typeface="Arimo"/>
              </a:rPr>
              <a:t>and C != '#'?</a:t>
            </a:r>
          </a:p>
        </p:txBody>
      </p:sp>
      <p:sp>
        <p:nvSpPr>
          <p:cNvPr id="15" name="Select one note">
            <a:extLst>
              <a:ext uri="{FF2B5EF4-FFF2-40B4-BE49-F238E27FC236}">
                <a16:creationId xmlns:a16="http://schemas.microsoft.com/office/drawing/2014/main" id="{380BA964-6070-4ADB-8B85-911F8DD2FB5C}"/>
              </a:ext>
            </a:extLst>
          </p:cNvPr>
          <p:cNvSpPr>
            <a:spLocks noGrp="1"/>
          </p:cNvSpPr>
          <p:nvPr/>
        </p:nvSpPr>
        <p:spPr>
          <a:xfrm>
            <a:off x="6048375" y="7048500"/>
            <a:ext cx="6191250" cy="1047750"/>
          </a:xfrm>
          <a:prstGeom prst="roundRect">
            <a:avLst>
              <a:gd name="adj" fmla="val 7273"/>
            </a:avLst>
          </a:prstGeom>
          <a:solidFill>
            <a:srgbClr val="FFFFFF"/>
          </a:solidFill>
          <a:ln w="23813">
            <a:solidFill>
              <a:srgbClr val="202426"/>
            </a:solidFill>
          </a:ln>
        </p:spPr>
      </p:sp>
      <p:sp>
        <p:nvSpPr>
          <p:cNvPr id="16" name="Select one note">
            <a:extLst>
              <a:ext uri="{FF2B5EF4-FFF2-40B4-BE49-F238E27FC236}">
                <a16:creationId xmlns:a16="http://schemas.microsoft.com/office/drawing/2014/main" id="{ADC67049-1605-47AD-A5F1-6122FC6D258E}"/>
              </a:ext>
            </a:extLst>
          </p:cNvPr>
          <p:cNvSpPr>
            <a:spLocks noGrp="1"/>
          </p:cNvSpPr>
          <p:nvPr/>
        </p:nvSpPr>
        <p:spPr>
          <a:xfrm>
            <a:off x="6191250" y="7143750"/>
            <a:ext cx="5905500" cy="857250"/>
          </a:xfrm>
          <a:prstGeom prst="rect">
            <a:avLst/>
          </a:prstGeom>
          <a:noFill/>
          <a:ln w="0">
            <a:noFill/>
          </a:ln>
        </p:spPr>
        <p:txBody>
          <a:bodyPr lIns="0" tIns="0" rIns="0" bIns="0" anchor="ctr">
            <a:noAutofit/>
          </a:bodyPr>
          <a:lstStyle>
            <a:defPPr algn="ctr">
              <a:defRPr sz="3225" b="0">
                <a:solidFill>
                  <a:srgbClr val="202426"/>
                </a:solidFill>
                <a:latin typeface="Arimo"/>
                <a:ea typeface="Arimo"/>
                <a:cs typeface="Arimo"/>
              </a:defRPr>
            </a:defPPr>
          </a:lstStyle>
          <a:p>
            <a:pPr algn="ctr">
              <a:defRPr sz="3225" b="0">
                <a:solidFill>
                  <a:srgbClr val="202426"/>
                </a:solidFill>
                <a:latin typeface="Arimo"/>
                <a:ea typeface="Arimo"/>
                <a:cs typeface="Arimo"/>
              </a:defRPr>
            </a:pPr>
            <a:r>
              <a:rPr sz="3225" b="0">
                <a:solidFill>
                  <a:srgbClr val="202426"/>
                </a:solidFill>
                <a:latin typeface="Arimo"/>
                <a:ea typeface="Arimo"/>
                <a:cs typeface="Arimo"/>
              </a:rPr>
              <a:t>Select one note</a:t>
            </a:r>
          </a:p>
        </p:txBody>
      </p:sp>
      <p:sp>
        <p:nvSpPr>
          <p:cNvPr id="17" name="loop ends">
            <a:extLst>
              <a:ext uri="{FF2B5EF4-FFF2-40B4-BE49-F238E27FC236}">
                <a16:creationId xmlns:a16="http://schemas.microsoft.com/office/drawing/2014/main" id="{4BDB3013-C04F-447B-8718-7C13D404728F}"/>
              </a:ext>
            </a:extLst>
          </p:cNvPr>
          <p:cNvSpPr>
            <a:spLocks noGrp="1"/>
          </p:cNvSpPr>
          <p:nvPr/>
        </p:nvSpPr>
        <p:spPr>
          <a:xfrm>
            <a:off x="14287500" y="4572000"/>
            <a:ext cx="2762250" cy="952500"/>
          </a:xfrm>
          <a:prstGeom prst="roundRect">
            <a:avLst>
              <a:gd name="adj" fmla="val 8000"/>
            </a:avLst>
          </a:prstGeom>
          <a:solidFill>
            <a:srgbClr val="FFFFFF"/>
          </a:solidFill>
          <a:ln w="23813">
            <a:solidFill>
              <a:srgbClr val="202426"/>
            </a:solidFill>
          </a:ln>
        </p:spPr>
      </p:sp>
      <p:sp>
        <p:nvSpPr>
          <p:cNvPr id="18" name="loop ends">
            <a:extLst>
              <a:ext uri="{FF2B5EF4-FFF2-40B4-BE49-F238E27FC236}">
                <a16:creationId xmlns:a16="http://schemas.microsoft.com/office/drawing/2014/main" id="{3BF909D6-4E8E-437A-92C3-C9CA229A7787}"/>
              </a:ext>
            </a:extLst>
          </p:cNvPr>
          <p:cNvSpPr>
            <a:spLocks noGrp="1"/>
          </p:cNvSpPr>
          <p:nvPr/>
        </p:nvSpPr>
        <p:spPr>
          <a:xfrm>
            <a:off x="14430375" y="4667250"/>
            <a:ext cx="2476500" cy="762000"/>
          </a:xfrm>
          <a:prstGeom prst="rect">
            <a:avLst/>
          </a:prstGeom>
          <a:noFill/>
          <a:ln w="0">
            <a:noFill/>
          </a:ln>
        </p:spPr>
        <p:txBody>
          <a:bodyPr lIns="0" tIns="0" rIns="0" bIns="0" anchor="ctr">
            <a:noAutofit/>
          </a:bodyPr>
          <a:lstStyle>
            <a:defPPr algn="ctr">
              <a:defRPr sz="3000" b="0">
                <a:solidFill>
                  <a:srgbClr val="202426"/>
                </a:solidFill>
                <a:latin typeface="Arimo"/>
                <a:ea typeface="Arimo"/>
                <a:cs typeface="Arimo"/>
              </a:defRPr>
            </a:defPPr>
          </a:lstStyle>
          <a:p>
            <a:pPr algn="ctr">
              <a:defRPr sz="3000" b="0">
                <a:solidFill>
                  <a:srgbClr val="202426"/>
                </a:solidFill>
                <a:latin typeface="Arimo"/>
                <a:ea typeface="Arimo"/>
                <a:cs typeface="Arimo"/>
              </a:defRPr>
            </a:pPr>
            <a:r>
              <a:rPr sz="3000" b="0">
                <a:solidFill>
                  <a:srgbClr val="202426"/>
                </a:solidFill>
                <a:latin typeface="Arimo"/>
                <a:ea typeface="Arimo"/>
                <a:cs typeface="Arimo"/>
              </a:rPr>
              <a:t>loop ends</a:t>
            </a:r>
          </a:p>
        </p:txBody>
      </p:sp>
      <p:sp>
        <p:nvSpPr>
          <p:cNvPr id="19" name="yes">
            <a:extLst>
              <a:ext uri="{FF2B5EF4-FFF2-40B4-BE49-F238E27FC236}">
                <a16:creationId xmlns:a16="http://schemas.microsoft.com/office/drawing/2014/main" id="{000F2247-8EC1-4D73-8C12-3F31F5F06028}"/>
              </a:ext>
            </a:extLst>
          </p:cNvPr>
          <p:cNvSpPr>
            <a:spLocks noGrp="1"/>
          </p:cNvSpPr>
          <p:nvPr/>
        </p:nvSpPr>
        <p:spPr>
          <a:xfrm>
            <a:off x="9477375" y="6238875"/>
            <a:ext cx="1333500" cy="523875"/>
          </a:xfrm>
          <a:prstGeom prst="rect">
            <a:avLst/>
          </a:prstGeom>
          <a:noFill/>
          <a:ln w="0">
            <a:noFill/>
          </a:ln>
        </p:spPr>
        <p:txBody>
          <a:bodyPr lIns="0" tIns="0" rIns="0" bIns="0" anchor="ctr">
            <a:noAutofit/>
          </a:bodyPr>
          <a:lstStyle>
            <a:defPPr algn="ctr">
              <a:defRPr sz="2400" b="0">
                <a:solidFill>
                  <a:srgbClr val="DF4214"/>
                </a:solidFill>
                <a:latin typeface="Arimo"/>
                <a:ea typeface="Arimo"/>
                <a:cs typeface="Arimo"/>
              </a:defRPr>
            </a:defPPr>
          </a:lstStyle>
          <a:p>
            <a:pPr algn="ctr">
              <a:defRPr sz="2400" b="0">
                <a:solidFill>
                  <a:srgbClr val="DF4214"/>
                </a:solidFill>
                <a:latin typeface="Arimo"/>
                <a:ea typeface="Arimo"/>
                <a:cs typeface="Arimo"/>
              </a:defRPr>
            </a:pPr>
            <a:r>
              <a:rPr sz="2400" b="0">
                <a:solidFill>
                  <a:srgbClr val="DF4214"/>
                </a:solidFill>
                <a:latin typeface="Arimo"/>
                <a:ea typeface="Arimo"/>
                <a:cs typeface="Arimo"/>
              </a:rPr>
              <a:t>yes</a:t>
            </a:r>
          </a:p>
        </p:txBody>
      </p:sp>
      <p:sp>
        <p:nvSpPr>
          <p:cNvPr id="20" name="# / EOF">
            <a:extLst>
              <a:ext uri="{FF2B5EF4-FFF2-40B4-BE49-F238E27FC236}">
                <a16:creationId xmlns:a16="http://schemas.microsoft.com/office/drawing/2014/main" id="{8E1A5D08-CC72-4691-8F8D-A46222A61125}"/>
              </a:ext>
            </a:extLst>
          </p:cNvPr>
          <p:cNvSpPr>
            <a:spLocks noGrp="1"/>
          </p:cNvSpPr>
          <p:nvPr/>
        </p:nvSpPr>
        <p:spPr>
          <a:xfrm>
            <a:off x="12001500" y="4286250"/>
            <a:ext cx="2000250" cy="523875"/>
          </a:xfrm>
          <a:prstGeom prst="rect">
            <a:avLst/>
          </a:prstGeom>
          <a:noFill/>
          <a:ln w="0">
            <a:noFill/>
          </a:ln>
        </p:spPr>
        <p:txBody>
          <a:bodyPr lIns="0" tIns="0" rIns="0" bIns="0" anchor="ctr">
            <a:noAutofit/>
          </a:bodyPr>
          <a:lstStyle>
            <a:defPPr algn="ctr">
              <a:defRPr sz="2250" b="0">
                <a:solidFill>
                  <a:srgbClr val="596167"/>
                </a:solidFill>
                <a:latin typeface="Arimo"/>
                <a:ea typeface="Arimo"/>
                <a:cs typeface="Arimo"/>
              </a:defRPr>
            </a:defPPr>
          </a:lstStyle>
          <a:p>
            <a:pPr algn="ctr">
              <a:defRPr sz="2250" b="0">
                <a:solidFill>
                  <a:srgbClr val="596167"/>
                </a:solidFill>
                <a:latin typeface="Arimo"/>
                <a:ea typeface="Arimo"/>
                <a:cs typeface="Arimo"/>
              </a:defRPr>
            </a:pPr>
            <a:r>
              <a:rPr sz="2250" b="0">
                <a:solidFill>
                  <a:srgbClr val="596167"/>
                </a:solidFill>
                <a:latin typeface="Arimo"/>
                <a:ea typeface="Arimo"/>
                <a:cs typeface="Arimo"/>
              </a:rPr>
              <a:t># / EOF</a:t>
            </a:r>
          </a:p>
        </p:txBody>
      </p:sp>
      <p:sp>
        <p:nvSpPr>
          <p:cNvPr id="21" name="Chapter 6  /  08">
            <a:extLst>
              <a:ext uri="{FF2B5EF4-FFF2-40B4-BE49-F238E27FC236}">
                <a16:creationId xmlns:a16="http://schemas.microsoft.com/office/drawing/2014/main" id="{EFDE2654-CDD6-435C-9B31-1807B7CAF495}"/>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08</a:t>
            </a:r>
          </a:p>
        </p:txBody>
      </p:sp>
    </p:spTree>
    <p:extLst>
      <p:ext uri="{BB962C8B-B14F-4D97-AF65-F5344CB8AC3E}">
        <p14:creationId xmlns:p14="http://schemas.microsoft.com/office/powerpoint/2010/main" val="161785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Brand accent">
            <a:extLst>
              <a:ext uri="{FF2B5EF4-FFF2-40B4-BE49-F238E27FC236}">
                <a16:creationId xmlns:a16="http://schemas.microsoft.com/office/drawing/2014/main" id="{72A5CDF7-69A5-4FC8-9F20-12E19F76A8C1}"/>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4086C082-02D3-4B5E-B385-98C8F792AFB5}"/>
              </a:ext>
            </a:extLst>
          </p:cNvPr>
          <p:cNvPicPr>
            <a:picLocks noChangeAspect="1"/>
          </p:cNvPicPr>
          <p:nvPr/>
        </p:nvPicPr>
        <p:blipFill>
          <a:blip r:embed="rId3"/>
          <a:stretch/>
        </p:blipFill>
        <p:spPr>
          <a:xfrm>
            <a:off x="16479803" y="381000"/>
            <a:ext cx="1092269" cy="714375"/>
          </a:xfrm>
          <a:prstGeom prst="rect">
            <a:avLst/>
          </a:prstGeom>
        </p:spPr>
      </p:pic>
      <p:sp>
        <p:nvSpPr>
          <p:cNvPr id="3" name="Repeating a task">
            <a:extLst>
              <a:ext uri="{FF2B5EF4-FFF2-40B4-BE49-F238E27FC236}">
                <a16:creationId xmlns:a16="http://schemas.microsoft.com/office/drawing/2014/main" id="{0078E3B7-B751-4BF9-A5F9-BDED7C75DC7D}"/>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Repeating a task</a:t>
            </a:r>
          </a:p>
        </p:txBody>
      </p:sp>
      <p:sp>
        <p:nvSpPr>
          <p:cNvPr id="4" name="§6.2 · Repetition">
            <a:extLst>
              <a:ext uri="{FF2B5EF4-FFF2-40B4-BE49-F238E27FC236}">
                <a16:creationId xmlns:a16="http://schemas.microsoft.com/office/drawing/2014/main" id="{41A397D2-A064-4D96-B32C-95B276C47E33}"/>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§6.2 · Repetition</a:t>
            </a:r>
          </a:p>
        </p:txBody>
      </p:sp>
      <p:pic>
        <p:nvPicPr>
          <p:cNvPr id="5" name="Picture 4">
            <a:extLst>
              <a:ext uri="{FF2B5EF4-FFF2-40B4-BE49-F238E27FC236}">
                <a16:creationId xmlns:a16="http://schemas.microsoft.com/office/drawing/2014/main" id="{A941B52F-AC1B-4694-A108-C86657628A22}"/>
              </a:ext>
            </a:extLst>
          </p:cNvPr>
          <p:cNvPicPr>
            <a:picLocks noChangeAspect="1"/>
          </p:cNvPicPr>
          <p:nvPr/>
        </p:nvPicPr>
        <p:blipFill>
          <a:blip r:embed="rId4"/>
          <a:stretch/>
        </p:blipFill>
        <p:spPr>
          <a:xfrm>
            <a:off x="4953000" y="2032000"/>
            <a:ext cx="9048750" cy="6032500"/>
          </a:xfrm>
          <a:prstGeom prst="rect">
            <a:avLst/>
          </a:prstGeom>
        </p:spPr>
      </p:pic>
      <p:sp>
        <p:nvSpPr>
          <p:cNvPr id="6" name="A condition decides whether to repeat.">
            <a:extLst>
              <a:ext uri="{FF2B5EF4-FFF2-40B4-BE49-F238E27FC236}">
                <a16:creationId xmlns:a16="http://schemas.microsoft.com/office/drawing/2014/main" id="{6635CD64-22D1-476F-910D-01665EA26E05}"/>
              </a:ext>
            </a:extLst>
          </p:cNvPr>
          <p:cNvSpPr>
            <a:spLocks noGrp="1"/>
          </p:cNvSpPr>
          <p:nvPr/>
        </p:nvSpPr>
        <p:spPr>
          <a:xfrm>
            <a:off x="2190750" y="8286750"/>
            <a:ext cx="13811250" cy="857250"/>
          </a:xfrm>
          <a:prstGeom prst="rect">
            <a:avLst/>
          </a:prstGeom>
          <a:noFill/>
          <a:ln w="0">
            <a:noFill/>
          </a:ln>
        </p:spPr>
        <p:txBody>
          <a:bodyPr lIns="0" tIns="0" rIns="0" bIns="0" anchor="ctr">
            <a:noAutofit/>
          </a:bodyPr>
          <a:lstStyle>
            <a:defPPr algn="ctr">
              <a:defRPr sz="3900" b="0">
                <a:solidFill>
                  <a:srgbClr val="202426"/>
                </a:solidFill>
                <a:latin typeface="Arimo"/>
                <a:ea typeface="Arimo"/>
                <a:cs typeface="Arimo"/>
              </a:defRPr>
            </a:defPPr>
          </a:lstStyle>
          <a:p>
            <a:pPr algn="ctr">
              <a:defRPr sz="3900" b="0">
                <a:solidFill>
                  <a:srgbClr val="202426"/>
                </a:solidFill>
                <a:latin typeface="Arimo"/>
                <a:ea typeface="Arimo"/>
                <a:cs typeface="Arimo"/>
              </a:defRPr>
            </a:pPr>
            <a:r>
              <a:rPr sz="3900" b="0">
                <a:solidFill>
                  <a:srgbClr val="202426"/>
                </a:solidFill>
                <a:latin typeface="Arimo"/>
                <a:ea typeface="Arimo"/>
                <a:cs typeface="Arimo"/>
              </a:rPr>
              <a:t>A condition decides whether to repeat.</a:t>
            </a:r>
          </a:p>
        </p:txBody>
      </p:sp>
      <p:sp>
        <p:nvSpPr>
          <p:cNvPr id="7" name="Chapter 6  /  09">
            <a:extLst>
              <a:ext uri="{FF2B5EF4-FFF2-40B4-BE49-F238E27FC236}">
                <a16:creationId xmlns:a16="http://schemas.microsoft.com/office/drawing/2014/main" id="{60D7FF43-A338-4E14-84CE-6D679828E339}"/>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09</a:t>
            </a:r>
          </a:p>
        </p:txBody>
      </p:sp>
    </p:spTree>
    <p:extLst>
      <p:ext uri="{BB962C8B-B14F-4D97-AF65-F5344CB8AC3E}">
        <p14:creationId xmlns:p14="http://schemas.microsoft.com/office/powerpoint/2010/main" val="1226861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Brand accent">
            <a:extLst>
              <a:ext uri="{FF2B5EF4-FFF2-40B4-BE49-F238E27FC236}">
                <a16:creationId xmlns:a16="http://schemas.microsoft.com/office/drawing/2014/main" id="{3E85F0DF-AFE3-45BD-BB24-FDBC9857161A}"/>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960F31F6-8FAE-4969-BED3-248E9E4E9856}"/>
              </a:ext>
            </a:extLst>
          </p:cNvPr>
          <p:cNvPicPr>
            <a:picLocks noChangeAspect="1"/>
          </p:cNvPicPr>
          <p:nvPr/>
        </p:nvPicPr>
        <p:blipFill>
          <a:blip r:embed="rId3"/>
          <a:stretch/>
        </p:blipFill>
        <p:spPr>
          <a:xfrm>
            <a:off x="16479803" y="381000"/>
            <a:ext cx="1092269" cy="714375"/>
          </a:xfrm>
          <a:prstGeom prst="rect">
            <a:avLst/>
          </a:prstGeom>
        </p:spPr>
      </p:pic>
      <p:sp>
        <p:nvSpPr>
          <p:cNvPr id="3" name="The for loop">
            <a:extLst>
              <a:ext uri="{FF2B5EF4-FFF2-40B4-BE49-F238E27FC236}">
                <a16:creationId xmlns:a16="http://schemas.microsoft.com/office/drawing/2014/main" id="{1381B940-F66A-4215-BCA1-E9DD5501CB3D}"/>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The for loop</a:t>
            </a:r>
          </a:p>
        </p:txBody>
      </p:sp>
      <p:sp>
        <p:nvSpPr>
          <p:cNvPr id="4" name="§6.2.1 · for">
            <a:extLst>
              <a:ext uri="{FF2B5EF4-FFF2-40B4-BE49-F238E27FC236}">
                <a16:creationId xmlns:a16="http://schemas.microsoft.com/office/drawing/2014/main" id="{4381C362-8FD7-475D-8C5C-BD93517E374E}"/>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§6.2.1 · for</a:t>
            </a:r>
          </a:p>
        </p:txBody>
      </p:sp>
      <p:cxnSp>
        <p:nvCxnSpPr>
          <p:cNvPr id="5" name="Straight Arrow Connector 4">
            <a:extLst>
              <a:ext uri="{FF2B5EF4-FFF2-40B4-BE49-F238E27FC236}">
                <a16:creationId xmlns:a16="http://schemas.microsoft.com/office/drawing/2014/main" id="{3A47A481-45C9-4099-823B-645FEA7C5279}"/>
              </a:ext>
            </a:extLst>
          </p:cNvPr>
          <p:cNvCxnSpPr/>
          <p:nvPr/>
        </p:nvCxnSpPr>
        <p:spPr>
          <a:xfrm>
            <a:off x="3952875" y="4714875"/>
            <a:ext cx="2047875" cy="0"/>
          </a:xfrm>
          <a:prstGeom prst="straightConnector1">
            <a:avLst/>
          </a:prstGeom>
          <a:ln w="23813">
            <a:solidFill>
              <a:srgbClr val="202426"/>
            </a:solidFill>
            <a:tailEnd type="arrow" w="med" len="med"/>
          </a:ln>
        </p:spPr>
      </p:cxnSp>
      <p:cxnSp>
        <p:nvCxnSpPr>
          <p:cNvPr id="6" name="Straight Arrow Connector 5">
            <a:extLst>
              <a:ext uri="{FF2B5EF4-FFF2-40B4-BE49-F238E27FC236}">
                <a16:creationId xmlns:a16="http://schemas.microsoft.com/office/drawing/2014/main" id="{EC7B8C4C-9B03-46BC-9840-786C630FF735}"/>
              </a:ext>
            </a:extLst>
          </p:cNvPr>
          <p:cNvCxnSpPr/>
          <p:nvPr/>
        </p:nvCxnSpPr>
        <p:spPr>
          <a:xfrm>
            <a:off x="9239250" y="4714875"/>
            <a:ext cx="1857375" cy="0"/>
          </a:xfrm>
          <a:prstGeom prst="straightConnector1">
            <a:avLst/>
          </a:prstGeom>
          <a:ln w="23813">
            <a:solidFill>
              <a:srgbClr val="202426"/>
            </a:solidFill>
            <a:tailEnd type="arrow" w="med" len="med"/>
          </a:ln>
        </p:spPr>
      </p:cxnSp>
      <p:cxnSp>
        <p:nvCxnSpPr>
          <p:cNvPr id="7" name="Straight Arrow Connector 6">
            <a:extLst>
              <a:ext uri="{FF2B5EF4-FFF2-40B4-BE49-F238E27FC236}">
                <a16:creationId xmlns:a16="http://schemas.microsoft.com/office/drawing/2014/main" id="{0238F27D-9CE1-4CD0-BBDB-A836F52ABE11}"/>
              </a:ext>
            </a:extLst>
          </p:cNvPr>
          <p:cNvCxnSpPr/>
          <p:nvPr/>
        </p:nvCxnSpPr>
        <p:spPr>
          <a:xfrm>
            <a:off x="13668375" y="4714875"/>
            <a:ext cx="1190625" cy="0"/>
          </a:xfrm>
          <a:prstGeom prst="straightConnector1">
            <a:avLst/>
          </a:prstGeom>
          <a:ln w="23813">
            <a:solidFill>
              <a:srgbClr val="202426"/>
            </a:solidFill>
            <a:tailEnd type="arrow" w="med" len="med"/>
          </a:ln>
        </p:spPr>
      </p:cxnSp>
      <p:cxnSp>
        <p:nvCxnSpPr>
          <p:cNvPr id="8" name="Straight Arrow Connector 7">
            <a:extLst>
              <a:ext uri="{FF2B5EF4-FFF2-40B4-BE49-F238E27FC236}">
                <a16:creationId xmlns:a16="http://schemas.microsoft.com/office/drawing/2014/main" id="{CF921051-527E-4080-AE61-C010CE2C8796}"/>
              </a:ext>
            </a:extLst>
          </p:cNvPr>
          <p:cNvCxnSpPr/>
          <p:nvPr/>
        </p:nvCxnSpPr>
        <p:spPr>
          <a:xfrm flipV="1">
            <a:off x="16097250" y="2762250"/>
            <a:ext cx="0" cy="1381125"/>
          </a:xfrm>
          <a:prstGeom prst="straightConnector1">
            <a:avLst/>
          </a:prstGeom>
          <a:ln w="23813">
            <a:solidFill>
              <a:srgbClr val="202426"/>
            </a:solidFill>
            <a:tailEnd type="none" w="med" len="med"/>
          </a:ln>
        </p:spPr>
      </p:cxnSp>
      <p:cxnSp>
        <p:nvCxnSpPr>
          <p:cNvPr id="9" name="Straight Arrow Connector 8">
            <a:extLst>
              <a:ext uri="{FF2B5EF4-FFF2-40B4-BE49-F238E27FC236}">
                <a16:creationId xmlns:a16="http://schemas.microsoft.com/office/drawing/2014/main" id="{0E0E3B0D-05D2-46E8-8F16-5EEA012C31C2}"/>
              </a:ext>
            </a:extLst>
          </p:cNvPr>
          <p:cNvCxnSpPr/>
          <p:nvPr/>
        </p:nvCxnSpPr>
        <p:spPr>
          <a:xfrm flipH="1">
            <a:off x="7620000" y="2762250"/>
            <a:ext cx="8477250" cy="0"/>
          </a:xfrm>
          <a:prstGeom prst="straightConnector1">
            <a:avLst/>
          </a:prstGeom>
          <a:ln w="23813">
            <a:solidFill>
              <a:srgbClr val="202426"/>
            </a:solidFill>
            <a:tailEnd type="none" w="med" len="med"/>
          </a:ln>
        </p:spPr>
      </p:cxnSp>
      <p:cxnSp>
        <p:nvCxnSpPr>
          <p:cNvPr id="10" name="Straight Arrow Connector 9">
            <a:extLst>
              <a:ext uri="{FF2B5EF4-FFF2-40B4-BE49-F238E27FC236}">
                <a16:creationId xmlns:a16="http://schemas.microsoft.com/office/drawing/2014/main" id="{322C5FC9-FF4A-4F1C-9EC2-7E5D5C34AC0D}"/>
              </a:ext>
            </a:extLst>
          </p:cNvPr>
          <p:cNvCxnSpPr/>
          <p:nvPr/>
        </p:nvCxnSpPr>
        <p:spPr>
          <a:xfrm>
            <a:off x="7620000" y="2762250"/>
            <a:ext cx="0" cy="1143000"/>
          </a:xfrm>
          <a:prstGeom prst="straightConnector1">
            <a:avLst/>
          </a:prstGeom>
          <a:ln w="23813">
            <a:solidFill>
              <a:srgbClr val="202426"/>
            </a:solidFill>
            <a:tailEnd type="arrow" w="med" len="med"/>
          </a:ln>
        </p:spPr>
      </p:cxnSp>
      <p:cxnSp>
        <p:nvCxnSpPr>
          <p:cNvPr id="11" name="Straight Arrow Connector 10">
            <a:extLst>
              <a:ext uri="{FF2B5EF4-FFF2-40B4-BE49-F238E27FC236}">
                <a16:creationId xmlns:a16="http://schemas.microsoft.com/office/drawing/2014/main" id="{35AFF152-80C5-4101-975E-485E055498DB}"/>
              </a:ext>
            </a:extLst>
          </p:cNvPr>
          <p:cNvCxnSpPr/>
          <p:nvPr/>
        </p:nvCxnSpPr>
        <p:spPr>
          <a:xfrm>
            <a:off x="7620000" y="5524500"/>
            <a:ext cx="0" cy="2047875"/>
          </a:xfrm>
          <a:prstGeom prst="straightConnector1">
            <a:avLst/>
          </a:prstGeom>
          <a:ln w="23813">
            <a:solidFill>
              <a:srgbClr val="202426"/>
            </a:solidFill>
            <a:tailEnd type="arrow" w="med" len="med"/>
          </a:ln>
        </p:spPr>
      </p:cxnSp>
      <p:sp>
        <p:nvSpPr>
          <p:cNvPr id="12" name="start">
            <a:extLst>
              <a:ext uri="{FF2B5EF4-FFF2-40B4-BE49-F238E27FC236}">
                <a16:creationId xmlns:a16="http://schemas.microsoft.com/office/drawing/2014/main" id="{2C4DEBD0-5142-45DB-9EAF-C98AA6A7CD39}"/>
              </a:ext>
            </a:extLst>
          </p:cNvPr>
          <p:cNvSpPr>
            <a:spLocks noGrp="1"/>
          </p:cNvSpPr>
          <p:nvPr/>
        </p:nvSpPr>
        <p:spPr>
          <a:xfrm>
            <a:off x="1285875" y="4143375"/>
            <a:ext cx="2667000" cy="1143000"/>
          </a:xfrm>
          <a:prstGeom prst="roundRect">
            <a:avLst>
              <a:gd name="adj" fmla="val 6667"/>
            </a:avLst>
          </a:prstGeom>
          <a:solidFill>
            <a:srgbClr val="FFFFFF"/>
          </a:solidFill>
          <a:ln w="23813">
            <a:solidFill>
              <a:srgbClr val="202426"/>
            </a:solidFill>
          </a:ln>
        </p:spPr>
      </p:sp>
      <p:sp>
        <p:nvSpPr>
          <p:cNvPr id="13" name="start">
            <a:extLst>
              <a:ext uri="{FF2B5EF4-FFF2-40B4-BE49-F238E27FC236}">
                <a16:creationId xmlns:a16="http://schemas.microsoft.com/office/drawing/2014/main" id="{E346C7C0-391B-4BFE-8B11-74145F595702}"/>
              </a:ext>
            </a:extLst>
          </p:cNvPr>
          <p:cNvSpPr>
            <a:spLocks noGrp="1"/>
          </p:cNvSpPr>
          <p:nvPr/>
        </p:nvSpPr>
        <p:spPr>
          <a:xfrm>
            <a:off x="1428750" y="4238625"/>
            <a:ext cx="2381250" cy="952500"/>
          </a:xfrm>
          <a:prstGeom prst="rect">
            <a:avLst/>
          </a:prstGeom>
          <a:noFill/>
          <a:ln w="0">
            <a:noFill/>
          </a:ln>
        </p:spPr>
        <p:txBody>
          <a:bodyPr lIns="0" tIns="0" rIns="0" bIns="0" anchor="ctr">
            <a:noAutofit/>
          </a:bodyPr>
          <a:lstStyle>
            <a:defPPr algn="ctr">
              <a:defRPr sz="3600" b="0">
                <a:solidFill>
                  <a:srgbClr val="202426"/>
                </a:solidFill>
                <a:latin typeface="Arimo"/>
                <a:ea typeface="Arimo"/>
                <a:cs typeface="Arimo"/>
              </a:defRPr>
            </a:defPPr>
          </a:lstStyle>
          <a:p>
            <a:pPr algn="ctr">
              <a:defRPr sz="3600" b="0">
                <a:solidFill>
                  <a:srgbClr val="202426"/>
                </a:solidFill>
                <a:latin typeface="Arimo"/>
                <a:ea typeface="Arimo"/>
                <a:cs typeface="Arimo"/>
              </a:defRPr>
            </a:pPr>
            <a:r>
              <a:rPr sz="3600" b="0">
                <a:solidFill>
                  <a:srgbClr val="202426"/>
                </a:solidFill>
                <a:latin typeface="Arimo"/>
                <a:ea typeface="Arimo"/>
                <a:cs typeface="Arimo"/>
              </a:rPr>
              <a:t>start</a:t>
            </a:r>
          </a:p>
        </p:txBody>
      </p:sp>
      <p:sp>
        <p:nvSpPr>
          <p:cNvPr id="14" name="test">
            <a:extLst>
              <a:ext uri="{FF2B5EF4-FFF2-40B4-BE49-F238E27FC236}">
                <a16:creationId xmlns:a16="http://schemas.microsoft.com/office/drawing/2014/main" id="{CA0733F1-63F7-44E3-A15A-6D73ECBEC55E}"/>
              </a:ext>
            </a:extLst>
          </p:cNvPr>
          <p:cNvSpPr>
            <a:spLocks noGrp="1"/>
          </p:cNvSpPr>
          <p:nvPr/>
        </p:nvSpPr>
        <p:spPr>
          <a:xfrm>
            <a:off x="6000750" y="3905250"/>
            <a:ext cx="3238500" cy="1619250"/>
          </a:xfrm>
          <a:prstGeom prst="diamond">
            <a:avLst/>
          </a:prstGeom>
          <a:solidFill>
            <a:srgbClr val="FFFFFF"/>
          </a:solidFill>
          <a:ln w="23813">
            <a:solidFill>
              <a:srgbClr val="202426"/>
            </a:solidFill>
          </a:ln>
        </p:spPr>
      </p:sp>
      <p:sp>
        <p:nvSpPr>
          <p:cNvPr id="15" name="test">
            <a:extLst>
              <a:ext uri="{FF2B5EF4-FFF2-40B4-BE49-F238E27FC236}">
                <a16:creationId xmlns:a16="http://schemas.microsoft.com/office/drawing/2014/main" id="{AAB8B7AC-F89F-49DA-8E9B-611A12E94E81}"/>
              </a:ext>
            </a:extLst>
          </p:cNvPr>
          <p:cNvSpPr>
            <a:spLocks noGrp="1"/>
          </p:cNvSpPr>
          <p:nvPr/>
        </p:nvSpPr>
        <p:spPr>
          <a:xfrm>
            <a:off x="6143625" y="4000500"/>
            <a:ext cx="2952750" cy="1428750"/>
          </a:xfrm>
          <a:prstGeom prst="rect">
            <a:avLst/>
          </a:prstGeom>
          <a:noFill/>
          <a:ln w="0">
            <a:noFill/>
          </a:ln>
        </p:spPr>
        <p:txBody>
          <a:bodyPr lIns="0" tIns="0" rIns="0" bIns="0" anchor="ctr">
            <a:noAutofit/>
          </a:bodyPr>
          <a:lstStyle>
            <a:defPPr algn="ctr">
              <a:defRPr sz="3600" b="0">
                <a:solidFill>
                  <a:srgbClr val="202426"/>
                </a:solidFill>
                <a:latin typeface="Arimo"/>
                <a:ea typeface="Arimo"/>
                <a:cs typeface="Arimo"/>
              </a:defRPr>
            </a:defPPr>
          </a:lstStyle>
          <a:p>
            <a:pPr algn="ctr">
              <a:defRPr sz="3600" b="0">
                <a:solidFill>
                  <a:srgbClr val="202426"/>
                </a:solidFill>
                <a:latin typeface="Arimo"/>
                <a:ea typeface="Arimo"/>
                <a:cs typeface="Arimo"/>
              </a:defRPr>
            </a:pPr>
            <a:r>
              <a:rPr sz="3600" b="0">
                <a:solidFill>
                  <a:srgbClr val="202426"/>
                </a:solidFill>
                <a:latin typeface="Arimo"/>
                <a:ea typeface="Arimo"/>
                <a:cs typeface="Arimo"/>
              </a:rPr>
              <a:t>test</a:t>
            </a:r>
          </a:p>
        </p:txBody>
      </p:sp>
      <p:sp>
        <p:nvSpPr>
          <p:cNvPr id="16" name="body">
            <a:extLst>
              <a:ext uri="{FF2B5EF4-FFF2-40B4-BE49-F238E27FC236}">
                <a16:creationId xmlns:a16="http://schemas.microsoft.com/office/drawing/2014/main" id="{BDD0F6EC-3206-4F9A-A8F4-A84FCEFB89C3}"/>
              </a:ext>
            </a:extLst>
          </p:cNvPr>
          <p:cNvSpPr>
            <a:spLocks noGrp="1"/>
          </p:cNvSpPr>
          <p:nvPr/>
        </p:nvSpPr>
        <p:spPr>
          <a:xfrm>
            <a:off x="11096625" y="4143375"/>
            <a:ext cx="2571750" cy="1143000"/>
          </a:xfrm>
          <a:prstGeom prst="roundRect">
            <a:avLst>
              <a:gd name="adj" fmla="val 6667"/>
            </a:avLst>
          </a:prstGeom>
          <a:solidFill>
            <a:srgbClr val="FFFFFF"/>
          </a:solidFill>
          <a:ln w="23813">
            <a:solidFill>
              <a:srgbClr val="202426"/>
            </a:solidFill>
          </a:ln>
        </p:spPr>
      </p:sp>
      <p:sp>
        <p:nvSpPr>
          <p:cNvPr id="17" name="body">
            <a:extLst>
              <a:ext uri="{FF2B5EF4-FFF2-40B4-BE49-F238E27FC236}">
                <a16:creationId xmlns:a16="http://schemas.microsoft.com/office/drawing/2014/main" id="{31B4DB73-A30E-4B4B-8418-985128A57CAF}"/>
              </a:ext>
            </a:extLst>
          </p:cNvPr>
          <p:cNvSpPr>
            <a:spLocks noGrp="1"/>
          </p:cNvSpPr>
          <p:nvPr/>
        </p:nvSpPr>
        <p:spPr>
          <a:xfrm>
            <a:off x="11239500" y="4238625"/>
            <a:ext cx="2286000" cy="952500"/>
          </a:xfrm>
          <a:prstGeom prst="rect">
            <a:avLst/>
          </a:prstGeom>
          <a:noFill/>
          <a:ln w="0">
            <a:noFill/>
          </a:ln>
        </p:spPr>
        <p:txBody>
          <a:bodyPr lIns="0" tIns="0" rIns="0" bIns="0" anchor="ctr">
            <a:noAutofit/>
          </a:bodyPr>
          <a:lstStyle>
            <a:defPPr algn="ctr">
              <a:defRPr sz="3600" b="0">
                <a:solidFill>
                  <a:srgbClr val="202426"/>
                </a:solidFill>
                <a:latin typeface="Arimo"/>
                <a:ea typeface="Arimo"/>
                <a:cs typeface="Arimo"/>
              </a:defRPr>
            </a:defPPr>
          </a:lstStyle>
          <a:p>
            <a:pPr algn="ctr">
              <a:defRPr sz="3600" b="0">
                <a:solidFill>
                  <a:srgbClr val="202426"/>
                </a:solidFill>
                <a:latin typeface="Arimo"/>
                <a:ea typeface="Arimo"/>
                <a:cs typeface="Arimo"/>
              </a:defRPr>
            </a:pPr>
            <a:r>
              <a:rPr sz="3600" b="0">
                <a:solidFill>
                  <a:srgbClr val="202426"/>
                </a:solidFill>
                <a:latin typeface="Arimo"/>
                <a:ea typeface="Arimo"/>
                <a:cs typeface="Arimo"/>
              </a:rPr>
              <a:t>body</a:t>
            </a:r>
          </a:p>
        </p:txBody>
      </p:sp>
      <p:sp>
        <p:nvSpPr>
          <p:cNvPr id="18" name="update">
            <a:extLst>
              <a:ext uri="{FF2B5EF4-FFF2-40B4-BE49-F238E27FC236}">
                <a16:creationId xmlns:a16="http://schemas.microsoft.com/office/drawing/2014/main" id="{29A31810-1C7E-4B99-9911-0854D047F4D4}"/>
              </a:ext>
            </a:extLst>
          </p:cNvPr>
          <p:cNvSpPr>
            <a:spLocks noGrp="1"/>
          </p:cNvSpPr>
          <p:nvPr/>
        </p:nvSpPr>
        <p:spPr>
          <a:xfrm>
            <a:off x="14859000" y="4143375"/>
            <a:ext cx="2476500" cy="1143000"/>
          </a:xfrm>
          <a:prstGeom prst="roundRect">
            <a:avLst>
              <a:gd name="adj" fmla="val 6667"/>
            </a:avLst>
          </a:prstGeom>
          <a:solidFill>
            <a:srgbClr val="FFFFFF"/>
          </a:solidFill>
          <a:ln w="23813">
            <a:solidFill>
              <a:srgbClr val="202426"/>
            </a:solidFill>
          </a:ln>
        </p:spPr>
      </p:sp>
      <p:sp>
        <p:nvSpPr>
          <p:cNvPr id="19" name="update">
            <a:extLst>
              <a:ext uri="{FF2B5EF4-FFF2-40B4-BE49-F238E27FC236}">
                <a16:creationId xmlns:a16="http://schemas.microsoft.com/office/drawing/2014/main" id="{5F04FE5B-350A-42EF-8A05-143BED0C8F7B}"/>
              </a:ext>
            </a:extLst>
          </p:cNvPr>
          <p:cNvSpPr>
            <a:spLocks noGrp="1"/>
          </p:cNvSpPr>
          <p:nvPr/>
        </p:nvSpPr>
        <p:spPr>
          <a:xfrm>
            <a:off x="15001875" y="4238625"/>
            <a:ext cx="2190750" cy="952500"/>
          </a:xfrm>
          <a:prstGeom prst="rect">
            <a:avLst/>
          </a:prstGeom>
          <a:noFill/>
          <a:ln w="0">
            <a:noFill/>
          </a:ln>
        </p:spPr>
        <p:txBody>
          <a:bodyPr lIns="0" tIns="0" rIns="0" bIns="0" anchor="ctr">
            <a:noAutofit/>
          </a:bodyPr>
          <a:lstStyle>
            <a:defPPr algn="ctr">
              <a:defRPr sz="3375" b="0">
                <a:solidFill>
                  <a:srgbClr val="202426"/>
                </a:solidFill>
                <a:latin typeface="Arimo"/>
                <a:ea typeface="Arimo"/>
                <a:cs typeface="Arimo"/>
              </a:defRPr>
            </a:defPPr>
          </a:lstStyle>
          <a:p>
            <a:pPr algn="ctr">
              <a:defRPr sz="3375" b="0">
                <a:solidFill>
                  <a:srgbClr val="202426"/>
                </a:solidFill>
                <a:latin typeface="Arimo"/>
                <a:ea typeface="Arimo"/>
                <a:cs typeface="Arimo"/>
              </a:defRPr>
            </a:pPr>
            <a:r>
              <a:rPr sz="3375" b="0">
                <a:solidFill>
                  <a:srgbClr val="202426"/>
                </a:solidFill>
                <a:latin typeface="Arimo"/>
                <a:ea typeface="Arimo"/>
                <a:cs typeface="Arimo"/>
              </a:rPr>
              <a:t>update</a:t>
            </a:r>
          </a:p>
        </p:txBody>
      </p:sp>
      <p:sp>
        <p:nvSpPr>
          <p:cNvPr id="20" name="loop ends">
            <a:extLst>
              <a:ext uri="{FF2B5EF4-FFF2-40B4-BE49-F238E27FC236}">
                <a16:creationId xmlns:a16="http://schemas.microsoft.com/office/drawing/2014/main" id="{774C7BE9-7F49-405F-A350-8152425FD137}"/>
              </a:ext>
            </a:extLst>
          </p:cNvPr>
          <p:cNvSpPr>
            <a:spLocks noGrp="1"/>
          </p:cNvSpPr>
          <p:nvPr/>
        </p:nvSpPr>
        <p:spPr>
          <a:xfrm>
            <a:off x="6238875" y="7572375"/>
            <a:ext cx="2762250" cy="1047750"/>
          </a:xfrm>
          <a:prstGeom prst="roundRect">
            <a:avLst>
              <a:gd name="adj" fmla="val 7273"/>
            </a:avLst>
          </a:prstGeom>
          <a:solidFill>
            <a:srgbClr val="FFFFFF"/>
          </a:solidFill>
          <a:ln w="23813">
            <a:solidFill>
              <a:srgbClr val="202426"/>
            </a:solidFill>
          </a:ln>
        </p:spPr>
      </p:sp>
      <p:sp>
        <p:nvSpPr>
          <p:cNvPr id="21" name="loop ends">
            <a:extLst>
              <a:ext uri="{FF2B5EF4-FFF2-40B4-BE49-F238E27FC236}">
                <a16:creationId xmlns:a16="http://schemas.microsoft.com/office/drawing/2014/main" id="{B72AA709-2341-4BFA-923C-B05E1288F0C3}"/>
              </a:ext>
            </a:extLst>
          </p:cNvPr>
          <p:cNvSpPr>
            <a:spLocks noGrp="1"/>
          </p:cNvSpPr>
          <p:nvPr/>
        </p:nvSpPr>
        <p:spPr>
          <a:xfrm>
            <a:off x="6381750" y="7667625"/>
            <a:ext cx="2476500" cy="857250"/>
          </a:xfrm>
          <a:prstGeom prst="rect">
            <a:avLst/>
          </a:prstGeom>
          <a:noFill/>
          <a:ln w="0">
            <a:noFill/>
          </a:ln>
        </p:spPr>
        <p:txBody>
          <a:bodyPr lIns="0" tIns="0" rIns="0" bIns="0" anchor="ctr">
            <a:noAutofit/>
          </a:bodyPr>
          <a:lstStyle>
            <a:defPPr algn="ctr">
              <a:defRPr sz="3450" b="0">
                <a:solidFill>
                  <a:srgbClr val="202426"/>
                </a:solidFill>
                <a:latin typeface="Arimo"/>
                <a:ea typeface="Arimo"/>
                <a:cs typeface="Arimo"/>
              </a:defRPr>
            </a:defPPr>
          </a:lstStyle>
          <a:p>
            <a:pPr algn="ctr">
              <a:defRPr sz="3450" b="0">
                <a:solidFill>
                  <a:srgbClr val="202426"/>
                </a:solidFill>
                <a:latin typeface="Arimo"/>
                <a:ea typeface="Arimo"/>
                <a:cs typeface="Arimo"/>
              </a:defRPr>
            </a:pPr>
            <a:r>
              <a:rPr sz="3450" b="0">
                <a:solidFill>
                  <a:srgbClr val="202426"/>
                </a:solidFill>
                <a:latin typeface="Arimo"/>
                <a:ea typeface="Arimo"/>
                <a:cs typeface="Arimo"/>
              </a:rPr>
              <a:t>loop ends</a:t>
            </a:r>
          </a:p>
        </p:txBody>
      </p:sp>
      <p:sp>
        <p:nvSpPr>
          <p:cNvPr id="22" name="true">
            <a:extLst>
              <a:ext uri="{FF2B5EF4-FFF2-40B4-BE49-F238E27FC236}">
                <a16:creationId xmlns:a16="http://schemas.microsoft.com/office/drawing/2014/main" id="{DEBBA05E-9C51-4B64-95D5-A9631CC8C927}"/>
              </a:ext>
            </a:extLst>
          </p:cNvPr>
          <p:cNvSpPr>
            <a:spLocks noGrp="1"/>
          </p:cNvSpPr>
          <p:nvPr/>
        </p:nvSpPr>
        <p:spPr>
          <a:xfrm>
            <a:off x="9382125" y="4000500"/>
            <a:ext cx="1524000" cy="523875"/>
          </a:xfrm>
          <a:prstGeom prst="rect">
            <a:avLst/>
          </a:prstGeom>
          <a:noFill/>
          <a:ln w="0">
            <a:noFill/>
          </a:ln>
        </p:spPr>
        <p:txBody>
          <a:bodyPr lIns="0" tIns="0" rIns="0" bIns="0" anchor="ctr">
            <a:noAutofit/>
          </a:bodyPr>
          <a:lstStyle>
            <a:defPPr algn="ctr">
              <a:defRPr sz="2400" b="0">
                <a:solidFill>
                  <a:srgbClr val="DF4214"/>
                </a:solidFill>
                <a:latin typeface="Arimo"/>
                <a:ea typeface="Arimo"/>
                <a:cs typeface="Arimo"/>
              </a:defRPr>
            </a:defPPr>
          </a:lstStyle>
          <a:p>
            <a:pPr algn="ctr">
              <a:defRPr sz="2400" b="0">
                <a:solidFill>
                  <a:srgbClr val="DF4214"/>
                </a:solidFill>
                <a:latin typeface="Arimo"/>
                <a:ea typeface="Arimo"/>
                <a:cs typeface="Arimo"/>
              </a:defRPr>
            </a:pPr>
            <a:r>
              <a:rPr sz="2400" b="0">
                <a:solidFill>
                  <a:srgbClr val="DF4214"/>
                </a:solidFill>
                <a:latin typeface="Arimo"/>
                <a:ea typeface="Arimo"/>
                <a:cs typeface="Arimo"/>
              </a:rPr>
              <a:t>true</a:t>
            </a:r>
          </a:p>
        </p:txBody>
      </p:sp>
      <p:sp>
        <p:nvSpPr>
          <p:cNvPr id="23" name="false">
            <a:extLst>
              <a:ext uri="{FF2B5EF4-FFF2-40B4-BE49-F238E27FC236}">
                <a16:creationId xmlns:a16="http://schemas.microsoft.com/office/drawing/2014/main" id="{7EA668B0-8032-4737-8D2D-37A0F80E56ED}"/>
              </a:ext>
            </a:extLst>
          </p:cNvPr>
          <p:cNvSpPr>
            <a:spLocks noGrp="1"/>
          </p:cNvSpPr>
          <p:nvPr/>
        </p:nvSpPr>
        <p:spPr>
          <a:xfrm>
            <a:off x="7858125" y="6238875"/>
            <a:ext cx="1524000" cy="523875"/>
          </a:xfrm>
          <a:prstGeom prst="rect">
            <a:avLst/>
          </a:prstGeom>
          <a:noFill/>
          <a:ln w="0">
            <a:noFill/>
          </a:ln>
        </p:spPr>
        <p:txBody>
          <a:bodyPr lIns="0" tIns="0" rIns="0" bIns="0" anchor="ctr">
            <a:noAutofit/>
          </a:bodyPr>
          <a:lstStyle>
            <a:defPPr algn="ctr">
              <a:defRPr sz="2400" b="0">
                <a:solidFill>
                  <a:srgbClr val="596167"/>
                </a:solidFill>
                <a:latin typeface="Arimo"/>
                <a:ea typeface="Arimo"/>
                <a:cs typeface="Arimo"/>
              </a:defRPr>
            </a:defPPr>
          </a:lstStyle>
          <a:p>
            <a:pPr algn="ctr">
              <a:defRPr sz="2400" b="0">
                <a:solidFill>
                  <a:srgbClr val="596167"/>
                </a:solidFill>
                <a:latin typeface="Arimo"/>
                <a:ea typeface="Arimo"/>
                <a:cs typeface="Arimo"/>
              </a:defRPr>
            </a:pPr>
            <a:r>
              <a:rPr sz="2400" b="0">
                <a:solidFill>
                  <a:srgbClr val="596167"/>
                </a:solidFill>
                <a:latin typeface="Arimo"/>
                <a:ea typeface="Arimo"/>
                <a:cs typeface="Arimo"/>
              </a:rPr>
              <a:t>false</a:t>
            </a:r>
          </a:p>
        </p:txBody>
      </p:sp>
      <p:sp>
        <p:nvSpPr>
          <p:cNvPr id="24" name="Chapter 6  /  10">
            <a:extLst>
              <a:ext uri="{FF2B5EF4-FFF2-40B4-BE49-F238E27FC236}">
                <a16:creationId xmlns:a16="http://schemas.microsoft.com/office/drawing/2014/main" id="{27F4EC37-E239-4C87-BC05-C653BA2E3563}"/>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10</a:t>
            </a:r>
          </a:p>
        </p:txBody>
      </p:sp>
    </p:spTree>
    <p:extLst>
      <p:ext uri="{BB962C8B-B14F-4D97-AF65-F5344CB8AC3E}">
        <p14:creationId xmlns:p14="http://schemas.microsoft.com/office/powerpoint/2010/main" val="1726133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Brand accent">
            <a:extLst>
              <a:ext uri="{FF2B5EF4-FFF2-40B4-BE49-F238E27FC236}">
                <a16:creationId xmlns:a16="http://schemas.microsoft.com/office/drawing/2014/main" id="{ABC06B70-BFD9-4B2D-9EA7-8C988AC2747F}"/>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28A32CE7-9AA5-4CA3-B957-4B7238782585}"/>
              </a:ext>
            </a:extLst>
          </p:cNvPr>
          <p:cNvPicPr>
            <a:picLocks noChangeAspect="1"/>
          </p:cNvPicPr>
          <p:nvPr/>
        </p:nvPicPr>
        <p:blipFill>
          <a:blip r:embed="rId3"/>
          <a:stretch/>
        </p:blipFill>
        <p:spPr>
          <a:xfrm>
            <a:off x="16479803" y="381000"/>
            <a:ext cx="1092269" cy="714375"/>
          </a:xfrm>
          <a:prstGeom prst="rect">
            <a:avLst/>
          </a:prstGeom>
        </p:spPr>
      </p:pic>
      <p:sp>
        <p:nvSpPr>
          <p:cNvPr id="3" name="while and for">
            <a:extLst>
              <a:ext uri="{FF2B5EF4-FFF2-40B4-BE49-F238E27FC236}">
                <a16:creationId xmlns:a16="http://schemas.microsoft.com/office/drawing/2014/main" id="{8961B754-C6B9-4F6C-926F-75D47327C69C}"/>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while and for</a:t>
            </a:r>
          </a:p>
        </p:txBody>
      </p:sp>
      <p:sp>
        <p:nvSpPr>
          <p:cNvPr id="4" name="§6.2.1 · while and for · small illustration">
            <a:extLst>
              <a:ext uri="{FF2B5EF4-FFF2-40B4-BE49-F238E27FC236}">
                <a16:creationId xmlns:a16="http://schemas.microsoft.com/office/drawing/2014/main" id="{CEE6581C-BC98-428E-B2D8-CD3BA888692D}"/>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§6.2.1 · while and for · small illustration</a:t>
            </a:r>
          </a:p>
        </p:txBody>
      </p:sp>
      <p:sp>
        <p:nvSpPr>
          <p:cNvPr id="5" name="while">
            <a:extLst>
              <a:ext uri="{FF2B5EF4-FFF2-40B4-BE49-F238E27FC236}">
                <a16:creationId xmlns:a16="http://schemas.microsoft.com/office/drawing/2014/main" id="{16CAA3AD-AE3E-4F1E-AB43-E42508735140}"/>
              </a:ext>
            </a:extLst>
          </p:cNvPr>
          <p:cNvSpPr>
            <a:spLocks noGrp="1"/>
          </p:cNvSpPr>
          <p:nvPr/>
        </p:nvSpPr>
        <p:spPr>
          <a:xfrm>
            <a:off x="1333500" y="3381375"/>
            <a:ext cx="7143750" cy="619125"/>
          </a:xfrm>
          <a:prstGeom prst="rect">
            <a:avLst/>
          </a:prstGeom>
          <a:noFill/>
          <a:ln w="0">
            <a:noFill/>
          </a:ln>
        </p:spPr>
        <p:txBody>
          <a:bodyPr lIns="0" tIns="0" rIns="0" bIns="0" anchor="ctr">
            <a:noAutofit/>
          </a:bodyPr>
          <a:lstStyle>
            <a:defPPr algn="l">
              <a:defRPr sz="3300" b="1">
                <a:solidFill>
                  <a:srgbClr val="202426"/>
                </a:solidFill>
                <a:latin typeface="Arimo"/>
                <a:ea typeface="Arimo"/>
                <a:cs typeface="Arimo"/>
              </a:defRPr>
            </a:defPPr>
          </a:lstStyle>
          <a:p>
            <a:pPr algn="l">
              <a:defRPr sz="3300" b="1">
                <a:solidFill>
                  <a:srgbClr val="202426"/>
                </a:solidFill>
                <a:latin typeface="Arimo"/>
                <a:ea typeface="Arimo"/>
                <a:cs typeface="Arimo"/>
              </a:defRPr>
            </a:pPr>
            <a:r>
              <a:rPr sz="3300" b="1">
                <a:solidFill>
                  <a:srgbClr val="202426"/>
                </a:solidFill>
                <a:latin typeface="Arimo"/>
                <a:ea typeface="Arimo"/>
                <a:cs typeface="Arimo"/>
              </a:rPr>
              <a:t>while</a:t>
            </a:r>
          </a:p>
        </p:txBody>
      </p:sp>
      <p:sp>
        <p:nvSpPr>
          <p:cNvPr id="6" name="for">
            <a:extLst>
              <a:ext uri="{FF2B5EF4-FFF2-40B4-BE49-F238E27FC236}">
                <a16:creationId xmlns:a16="http://schemas.microsoft.com/office/drawing/2014/main" id="{8D5ADD58-62C8-4582-8376-ABB6117E6BC5}"/>
              </a:ext>
            </a:extLst>
          </p:cNvPr>
          <p:cNvSpPr>
            <a:spLocks noGrp="1"/>
          </p:cNvSpPr>
          <p:nvPr/>
        </p:nvSpPr>
        <p:spPr>
          <a:xfrm>
            <a:off x="9810750" y="3381375"/>
            <a:ext cx="7143750" cy="619125"/>
          </a:xfrm>
          <a:prstGeom prst="rect">
            <a:avLst/>
          </a:prstGeom>
          <a:noFill/>
          <a:ln w="0">
            <a:noFill/>
          </a:ln>
        </p:spPr>
        <p:txBody>
          <a:bodyPr lIns="0" tIns="0" rIns="0" bIns="0" anchor="ctr">
            <a:noAutofit/>
          </a:bodyPr>
          <a:lstStyle>
            <a:defPPr algn="l">
              <a:defRPr sz="3300" b="1">
                <a:solidFill>
                  <a:srgbClr val="202426"/>
                </a:solidFill>
                <a:latin typeface="Arimo"/>
                <a:ea typeface="Arimo"/>
                <a:cs typeface="Arimo"/>
              </a:defRPr>
            </a:defPPr>
          </a:lstStyle>
          <a:p>
            <a:pPr algn="l">
              <a:defRPr sz="3300" b="1">
                <a:solidFill>
                  <a:srgbClr val="202426"/>
                </a:solidFill>
                <a:latin typeface="Arimo"/>
                <a:ea typeface="Arimo"/>
                <a:cs typeface="Arimo"/>
              </a:defRPr>
            </a:pPr>
            <a:r>
              <a:rPr sz="3300" b="1">
                <a:solidFill>
                  <a:srgbClr val="202426"/>
                </a:solidFill>
                <a:latin typeface="Arimo"/>
                <a:ea typeface="Arimo"/>
                <a:cs typeface="Arimo"/>
              </a:rPr>
              <a:t>for</a:t>
            </a:r>
          </a:p>
        </p:txBody>
      </p:sp>
      <p:sp>
        <p:nvSpPr>
          <p:cNvPr id="7" name="int i = 1;&#10;while (i &lt;= 3)&#10;{&#10;    printf(&quot;%d &quot;, i);&#10;">
            <a:extLst>
              <a:ext uri="{FF2B5EF4-FFF2-40B4-BE49-F238E27FC236}">
                <a16:creationId xmlns:a16="http://schemas.microsoft.com/office/drawing/2014/main" id="{B7EF4565-5787-4805-B873-C8FF19DD96B1}"/>
              </a:ext>
            </a:extLst>
          </p:cNvPr>
          <p:cNvSpPr>
            <a:spLocks noGrp="1"/>
          </p:cNvSpPr>
          <p:nvPr/>
        </p:nvSpPr>
        <p:spPr>
          <a:xfrm>
            <a:off x="1333500" y="4143375"/>
            <a:ext cx="7143750" cy="3524250"/>
          </a:xfrm>
          <a:prstGeom prst="rect">
            <a:avLst/>
          </a:prstGeom>
          <a:noFill/>
          <a:ln w="0">
            <a:noFill/>
          </a:ln>
        </p:spPr>
        <p:txBody>
          <a:bodyPr lIns="0" tIns="0" rIns="0" bIns="0" anchor="t">
            <a:noAutofit/>
          </a:bodyPr>
          <a:lstStyle>
            <a:defPPr algn="l">
              <a:defRPr sz="3225" b="0">
                <a:solidFill>
                  <a:srgbClr val="005A9C"/>
                </a:solidFill>
                <a:latin typeface="Menlo"/>
                <a:ea typeface="Menlo"/>
                <a:cs typeface="Menlo"/>
              </a:defRPr>
            </a:defPPr>
          </a:lstStyle>
          <a:p>
            <a:pPr algn="l">
              <a:defRPr sz="3225" b="0">
                <a:solidFill>
                  <a:srgbClr val="005A9C"/>
                </a:solidFill>
                <a:latin typeface="Menlo"/>
                <a:ea typeface="Menlo"/>
                <a:cs typeface="Menlo"/>
              </a:defRPr>
            </a:pPr>
            <a:r>
              <a:rPr sz="3225" b="0">
                <a:solidFill>
                  <a:srgbClr val="005A9C"/>
                </a:solidFill>
                <a:latin typeface="Menlo"/>
                <a:ea typeface="Menlo"/>
                <a:cs typeface="Menlo"/>
              </a:rPr>
              <a:t>int i = 1;</a:t>
            </a:r>
          </a:p>
          <a:p>
            <a:pPr algn="l">
              <a:defRPr sz="3225" b="0">
                <a:solidFill>
                  <a:srgbClr val="005A9C"/>
                </a:solidFill>
                <a:latin typeface="Menlo"/>
                <a:ea typeface="Menlo"/>
                <a:cs typeface="Menlo"/>
              </a:defRPr>
            </a:pPr>
            <a:r>
              <a:rPr sz="3225" b="0">
                <a:solidFill>
                  <a:srgbClr val="005A9C"/>
                </a:solidFill>
                <a:latin typeface="Menlo"/>
                <a:ea typeface="Menlo"/>
                <a:cs typeface="Menlo"/>
              </a:rPr>
              <a:t>while (i &lt;= 3)</a:t>
            </a:r>
          </a:p>
          <a:p>
            <a:pPr algn="l">
              <a:defRPr sz="3225" b="0">
                <a:solidFill>
                  <a:srgbClr val="005A9C"/>
                </a:solidFill>
                <a:latin typeface="Menlo"/>
                <a:ea typeface="Menlo"/>
                <a:cs typeface="Menlo"/>
              </a:defRPr>
            </a:pPr>
            <a:r>
              <a:rPr sz="3225" b="0">
                <a:solidFill>
                  <a:srgbClr val="005A9C"/>
                </a:solidFill>
                <a:latin typeface="Menlo"/>
                <a:ea typeface="Menlo"/>
                <a:cs typeface="Menlo"/>
              </a:rPr>
              <a:t>{</a:t>
            </a:r>
          </a:p>
          <a:p>
            <a:pPr algn="l">
              <a:defRPr sz="3225" b="0">
                <a:solidFill>
                  <a:srgbClr val="005A9C"/>
                </a:solidFill>
                <a:latin typeface="Menlo"/>
                <a:ea typeface="Menlo"/>
                <a:cs typeface="Menlo"/>
              </a:defRPr>
            </a:pPr>
            <a:r>
              <a:rPr sz="3225" b="0">
                <a:solidFill>
                  <a:srgbClr val="005A9C"/>
                </a:solidFill>
                <a:latin typeface="Menlo"/>
                <a:ea typeface="Menlo"/>
                <a:cs typeface="Menlo"/>
              </a:rPr>
              <a:t>    printf("%d ", i);</a:t>
            </a:r>
          </a:p>
          <a:p>
            <a:pPr algn="l">
              <a:defRPr sz="3225" b="0">
                <a:solidFill>
                  <a:srgbClr val="005A9C"/>
                </a:solidFill>
                <a:latin typeface="Menlo"/>
                <a:ea typeface="Menlo"/>
                <a:cs typeface="Menlo"/>
              </a:defRPr>
            </a:pPr>
            <a:r>
              <a:rPr sz="3225" b="0">
                <a:solidFill>
                  <a:srgbClr val="005A9C"/>
                </a:solidFill>
                <a:latin typeface="Menlo"/>
                <a:ea typeface="Menlo"/>
                <a:cs typeface="Menlo"/>
              </a:rPr>
              <a:t>    i++;</a:t>
            </a:r>
          </a:p>
          <a:p>
            <a:pPr algn="l">
              <a:defRPr sz="3225" b="0">
                <a:solidFill>
                  <a:srgbClr val="005A9C"/>
                </a:solidFill>
                <a:latin typeface="Menlo"/>
                <a:ea typeface="Menlo"/>
                <a:cs typeface="Menlo"/>
              </a:defRPr>
            </a:pPr>
            <a:r>
              <a:rPr sz="3225" b="0">
                <a:solidFill>
                  <a:srgbClr val="005A9C"/>
                </a:solidFill>
                <a:latin typeface="Menlo"/>
                <a:ea typeface="Menlo"/>
                <a:cs typeface="Menlo"/>
              </a:rPr>
              <a:t>}</a:t>
            </a:r>
          </a:p>
        </p:txBody>
      </p:sp>
      <p:sp>
        <p:nvSpPr>
          <p:cNvPr id="8" name="for (int i = 1; i &lt;= 3; i++)&#10;{&#10;    printf(&quot;%d &quot;, i">
            <a:extLst>
              <a:ext uri="{FF2B5EF4-FFF2-40B4-BE49-F238E27FC236}">
                <a16:creationId xmlns:a16="http://schemas.microsoft.com/office/drawing/2014/main" id="{357849C7-193D-49FE-9ACD-44548E6A2395}"/>
              </a:ext>
            </a:extLst>
          </p:cNvPr>
          <p:cNvSpPr>
            <a:spLocks noGrp="1"/>
          </p:cNvSpPr>
          <p:nvPr/>
        </p:nvSpPr>
        <p:spPr>
          <a:xfrm>
            <a:off x="9810750" y="4143375"/>
            <a:ext cx="7143750" cy="3524250"/>
          </a:xfrm>
          <a:prstGeom prst="rect">
            <a:avLst/>
          </a:prstGeom>
          <a:noFill/>
          <a:ln w="0">
            <a:noFill/>
          </a:ln>
        </p:spPr>
        <p:txBody>
          <a:bodyPr lIns="0" tIns="0" rIns="0" bIns="0" anchor="t">
            <a:noAutofit/>
          </a:bodyPr>
          <a:lstStyle>
            <a:defPPr algn="l">
              <a:defRPr sz="3225" b="0">
                <a:solidFill>
                  <a:srgbClr val="005A9C"/>
                </a:solidFill>
                <a:latin typeface="Menlo"/>
                <a:ea typeface="Menlo"/>
                <a:cs typeface="Menlo"/>
              </a:defRPr>
            </a:defPPr>
          </a:lstStyle>
          <a:p>
            <a:pPr algn="l">
              <a:defRPr sz="3225" b="0">
                <a:solidFill>
                  <a:srgbClr val="005A9C"/>
                </a:solidFill>
                <a:latin typeface="Menlo"/>
                <a:ea typeface="Menlo"/>
                <a:cs typeface="Menlo"/>
              </a:defRPr>
            </a:pPr>
            <a:r>
              <a:rPr sz="3225" b="0">
                <a:solidFill>
                  <a:srgbClr val="005A9C"/>
                </a:solidFill>
                <a:latin typeface="Menlo"/>
                <a:ea typeface="Menlo"/>
                <a:cs typeface="Menlo"/>
              </a:rPr>
              <a:t>for (int i = 1; i &lt;= 3; i++)</a:t>
            </a:r>
          </a:p>
          <a:p>
            <a:pPr algn="l">
              <a:defRPr sz="3225" b="0">
                <a:solidFill>
                  <a:srgbClr val="005A9C"/>
                </a:solidFill>
                <a:latin typeface="Menlo"/>
                <a:ea typeface="Menlo"/>
                <a:cs typeface="Menlo"/>
              </a:defRPr>
            </a:pPr>
            <a:r>
              <a:rPr sz="3225" b="0">
                <a:solidFill>
                  <a:srgbClr val="005A9C"/>
                </a:solidFill>
                <a:latin typeface="Menlo"/>
                <a:ea typeface="Menlo"/>
                <a:cs typeface="Menlo"/>
              </a:rPr>
              <a:t>{</a:t>
            </a:r>
          </a:p>
          <a:p>
            <a:pPr algn="l">
              <a:defRPr sz="3225" b="0">
                <a:solidFill>
                  <a:srgbClr val="005A9C"/>
                </a:solidFill>
                <a:latin typeface="Menlo"/>
                <a:ea typeface="Menlo"/>
                <a:cs typeface="Menlo"/>
              </a:defRPr>
            </a:pPr>
            <a:r>
              <a:rPr sz="3225" b="0">
                <a:solidFill>
                  <a:srgbClr val="005A9C"/>
                </a:solidFill>
                <a:latin typeface="Menlo"/>
                <a:ea typeface="Menlo"/>
                <a:cs typeface="Menlo"/>
              </a:rPr>
              <a:t>    printf("%d ", i);</a:t>
            </a:r>
          </a:p>
          <a:p>
            <a:pPr algn="l">
              <a:defRPr sz="3225" b="0">
                <a:solidFill>
                  <a:srgbClr val="005A9C"/>
                </a:solidFill>
                <a:latin typeface="Menlo"/>
                <a:ea typeface="Menlo"/>
                <a:cs typeface="Menlo"/>
              </a:defRPr>
            </a:pPr>
            <a:r>
              <a:rPr sz="3225" b="0">
                <a:solidFill>
                  <a:srgbClr val="005A9C"/>
                </a:solidFill>
                <a:latin typeface="Menlo"/>
                <a:ea typeface="Menlo"/>
                <a:cs typeface="Menlo"/>
              </a:rPr>
              <a:t>}</a:t>
            </a:r>
          </a:p>
        </p:txBody>
      </p:sp>
      <p:sp>
        <p:nvSpPr>
          <p:cNvPr id="9" name="Both print">
            <a:extLst>
              <a:ext uri="{FF2B5EF4-FFF2-40B4-BE49-F238E27FC236}">
                <a16:creationId xmlns:a16="http://schemas.microsoft.com/office/drawing/2014/main" id="{D553A592-CCF8-4A5D-BCB3-8C4C8A81AC5F}"/>
              </a:ext>
            </a:extLst>
          </p:cNvPr>
          <p:cNvSpPr>
            <a:spLocks noGrp="1"/>
          </p:cNvSpPr>
          <p:nvPr/>
        </p:nvSpPr>
        <p:spPr>
          <a:xfrm>
            <a:off x="1333500" y="8239125"/>
            <a:ext cx="2952750" cy="714375"/>
          </a:xfrm>
          <a:prstGeom prst="rect">
            <a:avLst/>
          </a:prstGeom>
          <a:noFill/>
          <a:ln w="0">
            <a:noFill/>
          </a:ln>
        </p:spPr>
        <p:txBody>
          <a:bodyPr lIns="0" tIns="0" rIns="0" bIns="0" anchor="ctr">
            <a:noAutofit/>
          </a:bodyPr>
          <a:lstStyle>
            <a:defPPr algn="l">
              <a:defRPr sz="3000" b="0">
                <a:solidFill>
                  <a:srgbClr val="596167"/>
                </a:solidFill>
                <a:latin typeface="Arimo"/>
                <a:ea typeface="Arimo"/>
                <a:cs typeface="Arimo"/>
              </a:defRPr>
            </a:defPPr>
          </a:lstStyle>
          <a:p>
            <a:pPr algn="l">
              <a:defRPr sz="3000" b="0">
                <a:solidFill>
                  <a:srgbClr val="596167"/>
                </a:solidFill>
                <a:latin typeface="Arimo"/>
                <a:ea typeface="Arimo"/>
                <a:cs typeface="Arimo"/>
              </a:defRPr>
            </a:pPr>
            <a:r>
              <a:rPr sz="3000" b="0">
                <a:solidFill>
                  <a:srgbClr val="596167"/>
                </a:solidFill>
                <a:latin typeface="Arimo"/>
                <a:ea typeface="Arimo"/>
                <a:cs typeface="Arimo"/>
              </a:rPr>
              <a:t>Both print</a:t>
            </a:r>
          </a:p>
        </p:txBody>
      </p:sp>
      <p:sp>
        <p:nvSpPr>
          <p:cNvPr id="10" name="1  2  3">
            <a:extLst>
              <a:ext uri="{FF2B5EF4-FFF2-40B4-BE49-F238E27FC236}">
                <a16:creationId xmlns:a16="http://schemas.microsoft.com/office/drawing/2014/main" id="{D7C2BDCD-4C2F-4CC6-8932-24687AE0933A}"/>
              </a:ext>
            </a:extLst>
          </p:cNvPr>
          <p:cNvSpPr>
            <a:spLocks noGrp="1"/>
          </p:cNvSpPr>
          <p:nvPr/>
        </p:nvSpPr>
        <p:spPr>
          <a:xfrm>
            <a:off x="4667250" y="7953375"/>
            <a:ext cx="11430000" cy="1095375"/>
          </a:xfrm>
          <a:prstGeom prst="rect">
            <a:avLst/>
          </a:prstGeom>
          <a:noFill/>
          <a:ln w="0">
            <a:noFill/>
          </a:ln>
        </p:spPr>
        <p:txBody>
          <a:bodyPr lIns="0" tIns="0" rIns="0" bIns="0" anchor="ctr">
            <a:noAutofit/>
          </a:bodyPr>
          <a:lstStyle>
            <a:defPPr algn="l">
              <a:defRPr sz="5850" b="0">
                <a:solidFill>
                  <a:srgbClr val="DF4214"/>
                </a:solidFill>
                <a:latin typeface="Menlo"/>
                <a:ea typeface="Menlo"/>
                <a:cs typeface="Menlo"/>
              </a:defRPr>
            </a:defPPr>
          </a:lstStyle>
          <a:p>
            <a:pPr algn="l">
              <a:defRPr sz="5850" b="0">
                <a:solidFill>
                  <a:srgbClr val="DF4214"/>
                </a:solidFill>
                <a:latin typeface="Menlo"/>
                <a:ea typeface="Menlo"/>
                <a:cs typeface="Menlo"/>
              </a:defRPr>
            </a:pPr>
            <a:r>
              <a:rPr sz="5850" b="0">
                <a:solidFill>
                  <a:srgbClr val="DF4214"/>
                </a:solidFill>
                <a:latin typeface="Menlo"/>
                <a:ea typeface="Menlo"/>
                <a:cs typeface="Menlo"/>
              </a:rPr>
              <a:t>1  2  3</a:t>
            </a:r>
          </a:p>
        </p:txBody>
      </p:sp>
      <p:sp>
        <p:nvSpPr>
          <p:cNvPr id="11" name="Chapter 6  /  11">
            <a:extLst>
              <a:ext uri="{FF2B5EF4-FFF2-40B4-BE49-F238E27FC236}">
                <a16:creationId xmlns:a16="http://schemas.microsoft.com/office/drawing/2014/main" id="{230A39FA-02BF-4DE2-A8F7-131306AB7ED9}"/>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11</a:t>
            </a:r>
          </a:p>
        </p:txBody>
      </p:sp>
    </p:spTree>
    <p:extLst>
      <p:ext uri="{BB962C8B-B14F-4D97-AF65-F5344CB8AC3E}">
        <p14:creationId xmlns:p14="http://schemas.microsoft.com/office/powerpoint/2010/main" val="203053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Brand accent">
            <a:extLst>
              <a:ext uri="{FF2B5EF4-FFF2-40B4-BE49-F238E27FC236}">
                <a16:creationId xmlns:a16="http://schemas.microsoft.com/office/drawing/2014/main" id="{DB9AEA31-0BF5-4620-A5ED-A03991E1F128}"/>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648AA26C-37BE-421F-B7AA-6E0D11669CFF}"/>
              </a:ext>
            </a:extLst>
          </p:cNvPr>
          <p:cNvPicPr>
            <a:picLocks noChangeAspect="1"/>
          </p:cNvPicPr>
          <p:nvPr/>
        </p:nvPicPr>
        <p:blipFill>
          <a:blip r:embed="rId3"/>
          <a:stretch/>
        </p:blipFill>
        <p:spPr>
          <a:xfrm>
            <a:off x="16479803" y="381000"/>
            <a:ext cx="1092269" cy="714375"/>
          </a:xfrm>
          <a:prstGeom prst="rect">
            <a:avLst/>
          </a:prstGeom>
        </p:spPr>
      </p:pic>
      <p:sp>
        <p:nvSpPr>
          <p:cNvPr id="3" name="Find the length of a string">
            <a:extLst>
              <a:ext uri="{FF2B5EF4-FFF2-40B4-BE49-F238E27FC236}">
                <a16:creationId xmlns:a16="http://schemas.microsoft.com/office/drawing/2014/main" id="{435595D8-DFB6-43C2-B501-A31EB1B2145C}"/>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Find the length of a string</a:t>
            </a:r>
          </a:p>
        </p:txBody>
      </p:sp>
      <p:sp>
        <p:nvSpPr>
          <p:cNvPr id="4" name="CS50 supplement · string length">
            <a:extLst>
              <a:ext uri="{FF2B5EF4-FFF2-40B4-BE49-F238E27FC236}">
                <a16:creationId xmlns:a16="http://schemas.microsoft.com/office/drawing/2014/main" id="{EB53EB2D-EA0F-4695-8963-E0D1AFE37E7D}"/>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CS50 supplement · string length</a:t>
            </a:r>
          </a:p>
        </p:txBody>
      </p:sp>
      <p:sp>
        <p:nvSpPr>
          <p:cNvPr id="5" name="H">
            <a:extLst>
              <a:ext uri="{FF2B5EF4-FFF2-40B4-BE49-F238E27FC236}">
                <a16:creationId xmlns:a16="http://schemas.microsoft.com/office/drawing/2014/main" id="{3740AAD7-959F-4E14-B445-35857FD4FABD}"/>
              </a:ext>
            </a:extLst>
          </p:cNvPr>
          <p:cNvSpPr>
            <a:spLocks noGrp="1"/>
          </p:cNvSpPr>
          <p:nvPr/>
        </p:nvSpPr>
        <p:spPr>
          <a:xfrm>
            <a:off x="3619500" y="3333750"/>
            <a:ext cx="2286000" cy="1428750"/>
          </a:xfrm>
          <a:prstGeom prst="rect">
            <a:avLst/>
          </a:prstGeom>
          <a:solidFill>
            <a:srgbClr val="FFFFFF"/>
          </a:solidFill>
          <a:ln w="23813">
            <a:solidFill>
              <a:srgbClr val="D9DEDF"/>
            </a:solidFill>
          </a:ln>
        </p:spPr>
      </p:sp>
      <p:sp>
        <p:nvSpPr>
          <p:cNvPr id="6" name="H">
            <a:extLst>
              <a:ext uri="{FF2B5EF4-FFF2-40B4-BE49-F238E27FC236}">
                <a16:creationId xmlns:a16="http://schemas.microsoft.com/office/drawing/2014/main" id="{64A6AE29-6FFF-4BD5-9B17-8C10A578B43A}"/>
              </a:ext>
            </a:extLst>
          </p:cNvPr>
          <p:cNvSpPr>
            <a:spLocks noGrp="1"/>
          </p:cNvSpPr>
          <p:nvPr/>
        </p:nvSpPr>
        <p:spPr>
          <a:xfrm>
            <a:off x="3762375" y="3429000"/>
            <a:ext cx="2000250" cy="1238250"/>
          </a:xfrm>
          <a:prstGeom prst="rect">
            <a:avLst/>
          </a:prstGeom>
          <a:noFill/>
          <a:ln w="0">
            <a:noFill/>
          </a:ln>
        </p:spPr>
        <p:txBody>
          <a:bodyPr lIns="0" tIns="0" rIns="0" bIns="0" anchor="ctr">
            <a:noAutofit/>
          </a:bodyPr>
          <a:lstStyle>
            <a:defPPr algn="ctr">
              <a:defRPr sz="6000" b="0">
                <a:solidFill>
                  <a:srgbClr val="202426"/>
                </a:solidFill>
                <a:latin typeface="Menlo"/>
                <a:ea typeface="Menlo"/>
                <a:cs typeface="Menlo"/>
              </a:defRPr>
            </a:defPPr>
          </a:lstStyle>
          <a:p>
            <a:pPr algn="ctr">
              <a:defRPr sz="6000" b="0">
                <a:solidFill>
                  <a:srgbClr val="202426"/>
                </a:solidFill>
                <a:latin typeface="Menlo"/>
                <a:ea typeface="Menlo"/>
                <a:cs typeface="Menlo"/>
              </a:defRPr>
            </a:pPr>
            <a:r>
              <a:rPr sz="6000" b="0">
                <a:solidFill>
                  <a:srgbClr val="202426"/>
                </a:solidFill>
                <a:latin typeface="Menlo"/>
                <a:ea typeface="Menlo"/>
                <a:cs typeface="Menlo"/>
              </a:rPr>
              <a:t>H</a:t>
            </a:r>
          </a:p>
        </p:txBody>
      </p:sp>
      <p:sp>
        <p:nvSpPr>
          <p:cNvPr id="7" name="I">
            <a:extLst>
              <a:ext uri="{FF2B5EF4-FFF2-40B4-BE49-F238E27FC236}">
                <a16:creationId xmlns:a16="http://schemas.microsoft.com/office/drawing/2014/main" id="{34E88213-D7FC-4FD5-8159-2D67EAF61D07}"/>
              </a:ext>
            </a:extLst>
          </p:cNvPr>
          <p:cNvSpPr>
            <a:spLocks noGrp="1"/>
          </p:cNvSpPr>
          <p:nvPr/>
        </p:nvSpPr>
        <p:spPr>
          <a:xfrm>
            <a:off x="6477000" y="3333750"/>
            <a:ext cx="2286000" cy="1428750"/>
          </a:xfrm>
          <a:prstGeom prst="rect">
            <a:avLst/>
          </a:prstGeom>
          <a:solidFill>
            <a:srgbClr val="FFFFFF"/>
          </a:solidFill>
          <a:ln w="23813">
            <a:solidFill>
              <a:srgbClr val="D9DEDF"/>
            </a:solidFill>
          </a:ln>
        </p:spPr>
      </p:sp>
      <p:sp>
        <p:nvSpPr>
          <p:cNvPr id="8" name="I">
            <a:extLst>
              <a:ext uri="{FF2B5EF4-FFF2-40B4-BE49-F238E27FC236}">
                <a16:creationId xmlns:a16="http://schemas.microsoft.com/office/drawing/2014/main" id="{449249C7-8006-4F07-91FC-2DA1D18111C3}"/>
              </a:ext>
            </a:extLst>
          </p:cNvPr>
          <p:cNvSpPr>
            <a:spLocks noGrp="1"/>
          </p:cNvSpPr>
          <p:nvPr/>
        </p:nvSpPr>
        <p:spPr>
          <a:xfrm>
            <a:off x="6619875" y="3429000"/>
            <a:ext cx="2000250" cy="1238250"/>
          </a:xfrm>
          <a:prstGeom prst="rect">
            <a:avLst/>
          </a:prstGeom>
          <a:noFill/>
          <a:ln w="0">
            <a:noFill/>
          </a:ln>
        </p:spPr>
        <p:txBody>
          <a:bodyPr lIns="0" tIns="0" rIns="0" bIns="0" anchor="ctr">
            <a:noAutofit/>
          </a:bodyPr>
          <a:lstStyle>
            <a:defPPr algn="ctr">
              <a:defRPr sz="6000" b="0">
                <a:solidFill>
                  <a:srgbClr val="202426"/>
                </a:solidFill>
                <a:latin typeface="Menlo"/>
                <a:ea typeface="Menlo"/>
                <a:cs typeface="Menlo"/>
              </a:defRPr>
            </a:defPPr>
          </a:lstStyle>
          <a:p>
            <a:pPr algn="ctr">
              <a:defRPr sz="6000" b="0">
                <a:solidFill>
                  <a:srgbClr val="202426"/>
                </a:solidFill>
                <a:latin typeface="Menlo"/>
                <a:ea typeface="Menlo"/>
                <a:cs typeface="Menlo"/>
              </a:defRPr>
            </a:pPr>
            <a:r>
              <a:rPr sz="6000" b="0">
                <a:solidFill>
                  <a:srgbClr val="202426"/>
                </a:solidFill>
                <a:latin typeface="Menlo"/>
                <a:ea typeface="Menlo"/>
                <a:cs typeface="Menlo"/>
              </a:rPr>
              <a:t>I</a:t>
            </a:r>
          </a:p>
        </p:txBody>
      </p:sp>
      <p:sp>
        <p:nvSpPr>
          <p:cNvPr id="9" name="!">
            <a:extLst>
              <a:ext uri="{FF2B5EF4-FFF2-40B4-BE49-F238E27FC236}">
                <a16:creationId xmlns:a16="http://schemas.microsoft.com/office/drawing/2014/main" id="{B92F9899-7DCA-4420-814F-1100D84132D5}"/>
              </a:ext>
            </a:extLst>
          </p:cNvPr>
          <p:cNvSpPr>
            <a:spLocks noGrp="1"/>
          </p:cNvSpPr>
          <p:nvPr/>
        </p:nvSpPr>
        <p:spPr>
          <a:xfrm>
            <a:off x="9334500" y="3333750"/>
            <a:ext cx="2286000" cy="1428750"/>
          </a:xfrm>
          <a:prstGeom prst="rect">
            <a:avLst/>
          </a:prstGeom>
          <a:solidFill>
            <a:srgbClr val="FFFFFF"/>
          </a:solidFill>
          <a:ln w="23813">
            <a:solidFill>
              <a:srgbClr val="D9DEDF"/>
            </a:solidFill>
          </a:ln>
        </p:spPr>
      </p:sp>
      <p:sp>
        <p:nvSpPr>
          <p:cNvPr id="10" name="!">
            <a:extLst>
              <a:ext uri="{FF2B5EF4-FFF2-40B4-BE49-F238E27FC236}">
                <a16:creationId xmlns:a16="http://schemas.microsoft.com/office/drawing/2014/main" id="{B84D3CF4-4528-426E-B1A4-2D3A7B3526F8}"/>
              </a:ext>
            </a:extLst>
          </p:cNvPr>
          <p:cNvSpPr>
            <a:spLocks noGrp="1"/>
          </p:cNvSpPr>
          <p:nvPr/>
        </p:nvSpPr>
        <p:spPr>
          <a:xfrm>
            <a:off x="9477375" y="3429000"/>
            <a:ext cx="2000250" cy="1238250"/>
          </a:xfrm>
          <a:prstGeom prst="rect">
            <a:avLst/>
          </a:prstGeom>
          <a:noFill/>
          <a:ln w="0">
            <a:noFill/>
          </a:ln>
        </p:spPr>
        <p:txBody>
          <a:bodyPr lIns="0" tIns="0" rIns="0" bIns="0" anchor="ctr">
            <a:noAutofit/>
          </a:bodyPr>
          <a:lstStyle>
            <a:defPPr algn="ctr">
              <a:defRPr sz="6000" b="0">
                <a:solidFill>
                  <a:srgbClr val="202426"/>
                </a:solidFill>
                <a:latin typeface="Menlo"/>
                <a:ea typeface="Menlo"/>
                <a:cs typeface="Menlo"/>
              </a:defRPr>
            </a:defPPr>
          </a:lstStyle>
          <a:p>
            <a:pPr algn="ctr">
              <a:defRPr sz="6000" b="0">
                <a:solidFill>
                  <a:srgbClr val="202426"/>
                </a:solidFill>
                <a:latin typeface="Menlo"/>
                <a:ea typeface="Menlo"/>
                <a:cs typeface="Menlo"/>
              </a:defRPr>
            </a:pPr>
            <a:r>
              <a:rPr sz="6000" b="0">
                <a:solidFill>
                  <a:srgbClr val="202426"/>
                </a:solidFill>
                <a:latin typeface="Menlo"/>
                <a:ea typeface="Menlo"/>
                <a:cs typeface="Menlo"/>
              </a:rPr>
              <a:t>!</a:t>
            </a:r>
          </a:p>
        </p:txBody>
      </p:sp>
      <p:sp>
        <p:nvSpPr>
          <p:cNvPr id="11" name="'\0'">
            <a:extLst>
              <a:ext uri="{FF2B5EF4-FFF2-40B4-BE49-F238E27FC236}">
                <a16:creationId xmlns:a16="http://schemas.microsoft.com/office/drawing/2014/main" id="{204D417A-53D4-4B50-812D-6D107DA751C5}"/>
              </a:ext>
            </a:extLst>
          </p:cNvPr>
          <p:cNvSpPr>
            <a:spLocks noGrp="1"/>
          </p:cNvSpPr>
          <p:nvPr/>
        </p:nvSpPr>
        <p:spPr>
          <a:xfrm>
            <a:off x="12192000" y="3333750"/>
            <a:ext cx="2286000" cy="1428750"/>
          </a:xfrm>
          <a:prstGeom prst="rect">
            <a:avLst/>
          </a:prstGeom>
          <a:solidFill>
            <a:srgbClr val="FFFFFF"/>
          </a:solidFill>
          <a:ln w="23813">
            <a:solidFill>
              <a:srgbClr val="DF4214"/>
            </a:solidFill>
          </a:ln>
        </p:spPr>
      </p:sp>
      <p:sp>
        <p:nvSpPr>
          <p:cNvPr id="12" name="'\0'">
            <a:extLst>
              <a:ext uri="{FF2B5EF4-FFF2-40B4-BE49-F238E27FC236}">
                <a16:creationId xmlns:a16="http://schemas.microsoft.com/office/drawing/2014/main" id="{B2C2E2A5-052D-4950-9BE5-F92433C1E4F7}"/>
              </a:ext>
            </a:extLst>
          </p:cNvPr>
          <p:cNvSpPr>
            <a:spLocks noGrp="1"/>
          </p:cNvSpPr>
          <p:nvPr/>
        </p:nvSpPr>
        <p:spPr>
          <a:xfrm>
            <a:off x="12334875" y="3429000"/>
            <a:ext cx="2000250" cy="1238250"/>
          </a:xfrm>
          <a:prstGeom prst="rect">
            <a:avLst/>
          </a:prstGeom>
          <a:noFill/>
          <a:ln w="0">
            <a:noFill/>
          </a:ln>
        </p:spPr>
        <p:txBody>
          <a:bodyPr lIns="0" tIns="0" rIns="0" bIns="0" anchor="ctr">
            <a:noAutofit/>
          </a:bodyPr>
          <a:lstStyle>
            <a:defPPr algn="ctr">
              <a:defRPr sz="4500" b="0">
                <a:solidFill>
                  <a:srgbClr val="202426"/>
                </a:solidFill>
                <a:latin typeface="Menlo"/>
                <a:ea typeface="Menlo"/>
                <a:cs typeface="Menlo"/>
              </a:defRPr>
            </a:defPPr>
          </a:lstStyle>
          <a:p>
            <a:pPr algn="ctr">
              <a:defRPr sz="4500" b="0">
                <a:solidFill>
                  <a:srgbClr val="202426"/>
                </a:solidFill>
                <a:latin typeface="Menlo"/>
                <a:ea typeface="Menlo"/>
                <a:cs typeface="Menlo"/>
              </a:defRPr>
            </a:pPr>
            <a:r>
              <a:rPr sz="4500" b="0">
                <a:solidFill>
                  <a:srgbClr val="202426"/>
                </a:solidFill>
                <a:latin typeface="Menlo"/>
                <a:ea typeface="Menlo"/>
                <a:cs typeface="Menlo"/>
              </a:rPr>
              <a:t>'\0'</a:t>
            </a:r>
          </a:p>
        </p:txBody>
      </p:sp>
      <p:sp>
        <p:nvSpPr>
          <p:cNvPr id="13" name="0">
            <a:extLst>
              <a:ext uri="{FF2B5EF4-FFF2-40B4-BE49-F238E27FC236}">
                <a16:creationId xmlns:a16="http://schemas.microsoft.com/office/drawing/2014/main" id="{46BEDCA9-80EE-4BA1-B002-7F3A9FBEAF48}"/>
              </a:ext>
            </a:extLst>
          </p:cNvPr>
          <p:cNvSpPr>
            <a:spLocks noGrp="1"/>
          </p:cNvSpPr>
          <p:nvPr/>
        </p:nvSpPr>
        <p:spPr>
          <a:xfrm>
            <a:off x="3619500" y="2571750"/>
            <a:ext cx="2286000" cy="523875"/>
          </a:xfrm>
          <a:prstGeom prst="rect">
            <a:avLst/>
          </a:prstGeom>
          <a:noFill/>
          <a:ln w="0">
            <a:noFill/>
          </a:ln>
        </p:spPr>
        <p:txBody>
          <a:bodyPr lIns="0" tIns="0" rIns="0" bIns="0" anchor="ctr">
            <a:noAutofit/>
          </a:bodyPr>
          <a:lstStyle>
            <a:defPPr algn="ctr">
              <a:defRPr sz="2550" b="0">
                <a:solidFill>
                  <a:srgbClr val="596167"/>
                </a:solidFill>
                <a:latin typeface="Arimo"/>
                <a:ea typeface="Arimo"/>
                <a:cs typeface="Arimo"/>
              </a:defRPr>
            </a:defPPr>
          </a:lstStyle>
          <a:p>
            <a:pPr algn="ctr">
              <a:defRPr sz="2550" b="0">
                <a:solidFill>
                  <a:srgbClr val="596167"/>
                </a:solidFill>
                <a:latin typeface="Arimo"/>
                <a:ea typeface="Arimo"/>
                <a:cs typeface="Arimo"/>
              </a:defRPr>
            </a:pPr>
            <a:r>
              <a:rPr sz="2550" b="0">
                <a:solidFill>
                  <a:srgbClr val="596167"/>
                </a:solidFill>
                <a:latin typeface="Arimo"/>
                <a:ea typeface="Arimo"/>
                <a:cs typeface="Arimo"/>
              </a:rPr>
              <a:t>0</a:t>
            </a:r>
          </a:p>
        </p:txBody>
      </p:sp>
      <p:sp>
        <p:nvSpPr>
          <p:cNvPr id="14" name="1">
            <a:extLst>
              <a:ext uri="{FF2B5EF4-FFF2-40B4-BE49-F238E27FC236}">
                <a16:creationId xmlns:a16="http://schemas.microsoft.com/office/drawing/2014/main" id="{F6DF24D4-60C8-40E0-83AC-4184E583A2AD}"/>
              </a:ext>
            </a:extLst>
          </p:cNvPr>
          <p:cNvSpPr>
            <a:spLocks noGrp="1"/>
          </p:cNvSpPr>
          <p:nvPr/>
        </p:nvSpPr>
        <p:spPr>
          <a:xfrm>
            <a:off x="6477000" y="2571750"/>
            <a:ext cx="2286000" cy="523875"/>
          </a:xfrm>
          <a:prstGeom prst="rect">
            <a:avLst/>
          </a:prstGeom>
          <a:noFill/>
          <a:ln w="0">
            <a:noFill/>
          </a:ln>
        </p:spPr>
        <p:txBody>
          <a:bodyPr lIns="0" tIns="0" rIns="0" bIns="0" anchor="ctr">
            <a:noAutofit/>
          </a:bodyPr>
          <a:lstStyle>
            <a:defPPr algn="ctr">
              <a:defRPr sz="2550" b="0">
                <a:solidFill>
                  <a:srgbClr val="596167"/>
                </a:solidFill>
                <a:latin typeface="Arimo"/>
                <a:ea typeface="Arimo"/>
                <a:cs typeface="Arimo"/>
              </a:defRPr>
            </a:defPPr>
          </a:lstStyle>
          <a:p>
            <a:pPr algn="ctr">
              <a:defRPr sz="2550" b="0">
                <a:solidFill>
                  <a:srgbClr val="596167"/>
                </a:solidFill>
                <a:latin typeface="Arimo"/>
                <a:ea typeface="Arimo"/>
                <a:cs typeface="Arimo"/>
              </a:defRPr>
            </a:pPr>
            <a:r>
              <a:rPr sz="2550" b="0">
                <a:solidFill>
                  <a:srgbClr val="596167"/>
                </a:solidFill>
                <a:latin typeface="Arimo"/>
                <a:ea typeface="Arimo"/>
                <a:cs typeface="Arimo"/>
              </a:rPr>
              <a:t>1</a:t>
            </a:r>
          </a:p>
        </p:txBody>
      </p:sp>
      <p:sp>
        <p:nvSpPr>
          <p:cNvPr id="15" name="2">
            <a:extLst>
              <a:ext uri="{FF2B5EF4-FFF2-40B4-BE49-F238E27FC236}">
                <a16:creationId xmlns:a16="http://schemas.microsoft.com/office/drawing/2014/main" id="{65754A9E-1F00-4D5C-AAED-967B2AF1D050}"/>
              </a:ext>
            </a:extLst>
          </p:cNvPr>
          <p:cNvSpPr>
            <a:spLocks noGrp="1"/>
          </p:cNvSpPr>
          <p:nvPr/>
        </p:nvSpPr>
        <p:spPr>
          <a:xfrm>
            <a:off x="9334500" y="2571750"/>
            <a:ext cx="2286000" cy="523875"/>
          </a:xfrm>
          <a:prstGeom prst="rect">
            <a:avLst/>
          </a:prstGeom>
          <a:noFill/>
          <a:ln w="0">
            <a:noFill/>
          </a:ln>
        </p:spPr>
        <p:txBody>
          <a:bodyPr lIns="0" tIns="0" rIns="0" bIns="0" anchor="ctr">
            <a:noAutofit/>
          </a:bodyPr>
          <a:lstStyle>
            <a:defPPr algn="ctr">
              <a:defRPr sz="2550" b="0">
                <a:solidFill>
                  <a:srgbClr val="596167"/>
                </a:solidFill>
                <a:latin typeface="Arimo"/>
                <a:ea typeface="Arimo"/>
                <a:cs typeface="Arimo"/>
              </a:defRPr>
            </a:defPPr>
          </a:lstStyle>
          <a:p>
            <a:pPr algn="ctr">
              <a:defRPr sz="2550" b="0">
                <a:solidFill>
                  <a:srgbClr val="596167"/>
                </a:solidFill>
                <a:latin typeface="Arimo"/>
                <a:ea typeface="Arimo"/>
                <a:cs typeface="Arimo"/>
              </a:defRPr>
            </a:pPr>
            <a:r>
              <a:rPr sz="2550" b="0">
                <a:solidFill>
                  <a:srgbClr val="596167"/>
                </a:solidFill>
                <a:latin typeface="Arimo"/>
                <a:ea typeface="Arimo"/>
                <a:cs typeface="Arimo"/>
              </a:rPr>
              <a:t>2</a:t>
            </a:r>
          </a:p>
        </p:txBody>
      </p:sp>
      <p:sp>
        <p:nvSpPr>
          <p:cNvPr id="16" name="3">
            <a:extLst>
              <a:ext uri="{FF2B5EF4-FFF2-40B4-BE49-F238E27FC236}">
                <a16:creationId xmlns:a16="http://schemas.microsoft.com/office/drawing/2014/main" id="{7D3EC512-05F6-41D9-96FB-AA26729B791D}"/>
              </a:ext>
            </a:extLst>
          </p:cNvPr>
          <p:cNvSpPr>
            <a:spLocks noGrp="1"/>
          </p:cNvSpPr>
          <p:nvPr/>
        </p:nvSpPr>
        <p:spPr>
          <a:xfrm>
            <a:off x="12192000" y="2571750"/>
            <a:ext cx="2286000" cy="523875"/>
          </a:xfrm>
          <a:prstGeom prst="rect">
            <a:avLst/>
          </a:prstGeom>
          <a:noFill/>
          <a:ln w="0">
            <a:noFill/>
          </a:ln>
        </p:spPr>
        <p:txBody>
          <a:bodyPr lIns="0" tIns="0" rIns="0" bIns="0" anchor="ctr">
            <a:noAutofit/>
          </a:bodyPr>
          <a:lstStyle>
            <a:defPPr algn="ctr">
              <a:defRPr sz="2550" b="0">
                <a:solidFill>
                  <a:srgbClr val="596167"/>
                </a:solidFill>
                <a:latin typeface="Arimo"/>
                <a:ea typeface="Arimo"/>
                <a:cs typeface="Arimo"/>
              </a:defRPr>
            </a:defPPr>
          </a:lstStyle>
          <a:p>
            <a:pPr algn="ctr">
              <a:defRPr sz="2550" b="0">
                <a:solidFill>
                  <a:srgbClr val="596167"/>
                </a:solidFill>
                <a:latin typeface="Arimo"/>
                <a:ea typeface="Arimo"/>
                <a:cs typeface="Arimo"/>
              </a:defRPr>
            </a:pPr>
            <a:r>
              <a:rPr sz="2550" b="0">
                <a:solidFill>
                  <a:srgbClr val="596167"/>
                </a:solidFill>
                <a:latin typeface="Arimo"/>
                <a:ea typeface="Arimo"/>
                <a:cs typeface="Arimo"/>
              </a:rPr>
              <a:t>3</a:t>
            </a:r>
          </a:p>
        </p:txBody>
      </p:sp>
      <p:sp>
        <p:nvSpPr>
          <p:cNvPr id="17" name="name">
            <a:extLst>
              <a:ext uri="{FF2B5EF4-FFF2-40B4-BE49-F238E27FC236}">
                <a16:creationId xmlns:a16="http://schemas.microsoft.com/office/drawing/2014/main" id="{74BBAAFE-DAD5-496B-B688-E905D091A8F3}"/>
              </a:ext>
            </a:extLst>
          </p:cNvPr>
          <p:cNvSpPr>
            <a:spLocks noGrp="1"/>
          </p:cNvSpPr>
          <p:nvPr/>
        </p:nvSpPr>
        <p:spPr>
          <a:xfrm>
            <a:off x="1714500" y="3714750"/>
            <a:ext cx="1619250" cy="571500"/>
          </a:xfrm>
          <a:prstGeom prst="rect">
            <a:avLst/>
          </a:prstGeom>
          <a:noFill/>
          <a:ln w="0">
            <a:noFill/>
          </a:ln>
        </p:spPr>
        <p:txBody>
          <a:bodyPr lIns="0" tIns="0" rIns="0" bIns="0" anchor="ctr">
            <a:noAutofit/>
          </a:bodyPr>
          <a:lstStyle>
            <a:defPPr algn="l">
              <a:defRPr sz="2550" b="0">
                <a:solidFill>
                  <a:srgbClr val="596167"/>
                </a:solidFill>
                <a:latin typeface="Menlo"/>
                <a:ea typeface="Menlo"/>
                <a:cs typeface="Menlo"/>
              </a:defRPr>
            </a:defPPr>
          </a:lstStyle>
          <a:p>
            <a:pPr algn="l">
              <a:defRPr sz="2550" b="0">
                <a:solidFill>
                  <a:srgbClr val="596167"/>
                </a:solidFill>
                <a:latin typeface="Menlo"/>
                <a:ea typeface="Menlo"/>
                <a:cs typeface="Menlo"/>
              </a:defRPr>
            </a:pPr>
            <a:r>
              <a:rPr sz="2550" b="0">
                <a:solidFill>
                  <a:srgbClr val="596167"/>
                </a:solidFill>
                <a:latin typeface="Menlo"/>
                <a:ea typeface="Menlo"/>
                <a:cs typeface="Menlo"/>
              </a:rPr>
              <a:t>name</a:t>
            </a:r>
          </a:p>
        </p:txBody>
      </p:sp>
      <p:sp>
        <p:nvSpPr>
          <p:cNvPr id="18" name="• Start the count at zero.&#10;&#10;• Count each character">
            <a:extLst>
              <a:ext uri="{FF2B5EF4-FFF2-40B4-BE49-F238E27FC236}">
                <a16:creationId xmlns:a16="http://schemas.microsoft.com/office/drawing/2014/main" id="{D691CF38-8D62-480B-9105-FE525F913FF0}"/>
              </a:ext>
            </a:extLst>
          </p:cNvPr>
          <p:cNvSpPr>
            <a:spLocks noGrp="1"/>
          </p:cNvSpPr>
          <p:nvPr/>
        </p:nvSpPr>
        <p:spPr>
          <a:xfrm>
            <a:off x="1714500" y="5619750"/>
            <a:ext cx="8858250" cy="3000375"/>
          </a:xfrm>
          <a:prstGeom prst="rect">
            <a:avLst/>
          </a:prstGeom>
          <a:noFill/>
          <a:ln w="0">
            <a:noFill/>
          </a:ln>
        </p:spPr>
        <p:txBody>
          <a:bodyPr lIns="0" tIns="0" rIns="0" bIns="0" anchor="t">
            <a:noAutofit/>
          </a:bodyPr>
          <a:lstStyle>
            <a:defPPr algn="l">
              <a:defRPr sz="3300" b="0">
                <a:solidFill>
                  <a:srgbClr val="202426"/>
                </a:solidFill>
                <a:latin typeface="Arimo"/>
                <a:ea typeface="Arimo"/>
                <a:cs typeface="Arimo"/>
              </a:defRPr>
            </a:defPPr>
          </a:lstStyle>
          <a:p>
            <a:pPr algn="l">
              <a:defRPr sz="3300" b="0">
                <a:solidFill>
                  <a:srgbClr val="202426"/>
                </a:solidFill>
                <a:latin typeface="Arimo"/>
                <a:ea typeface="Arimo"/>
                <a:cs typeface="Arimo"/>
              </a:defRPr>
            </a:pPr>
            <a:r>
              <a:rPr sz="3300" b="0">
                <a:solidFill>
                  <a:srgbClr val="202426"/>
                </a:solidFill>
                <a:latin typeface="Arimo"/>
                <a:ea typeface="Arimo"/>
                <a:cs typeface="Arimo"/>
              </a:rPr>
              <a:t>• Start the count at zero.</a:t>
            </a:r>
          </a:p>
          <a:p>
            <a:endParaRPr sz="3300" b="0">
              <a:solidFill>
                <a:srgbClr val="202426"/>
              </a:solidFill>
              <a:latin typeface="Arimo"/>
              <a:ea typeface="Arimo"/>
              <a:cs typeface="Arimo"/>
            </a:endParaRPr>
          </a:p>
          <a:p>
            <a:pPr algn="l">
              <a:defRPr sz="3300" b="0">
                <a:solidFill>
                  <a:srgbClr val="202426"/>
                </a:solidFill>
                <a:latin typeface="Arimo"/>
                <a:ea typeface="Arimo"/>
                <a:cs typeface="Arimo"/>
              </a:defRPr>
            </a:pPr>
            <a:r>
              <a:rPr sz="3300" b="0">
                <a:solidFill>
                  <a:srgbClr val="202426"/>
                </a:solidFill>
                <a:latin typeface="Arimo"/>
                <a:ea typeface="Arimo"/>
                <a:cs typeface="Arimo"/>
              </a:rPr>
              <a:t>• Count each character.</a:t>
            </a:r>
          </a:p>
          <a:p>
            <a:endParaRPr sz="3300" b="0">
              <a:solidFill>
                <a:srgbClr val="202426"/>
              </a:solidFill>
              <a:latin typeface="Arimo"/>
              <a:ea typeface="Arimo"/>
              <a:cs typeface="Arimo"/>
            </a:endParaRPr>
          </a:p>
          <a:p>
            <a:pPr algn="l">
              <a:defRPr sz="3300" b="0">
                <a:solidFill>
                  <a:srgbClr val="202426"/>
                </a:solidFill>
                <a:latin typeface="Arimo"/>
                <a:ea typeface="Arimo"/>
                <a:cs typeface="Arimo"/>
              </a:defRPr>
            </a:pPr>
            <a:r>
              <a:rPr sz="3300" b="0">
                <a:solidFill>
                  <a:srgbClr val="202426"/>
                </a:solidFill>
                <a:latin typeface="Arimo"/>
                <a:ea typeface="Arimo"/>
                <a:cs typeface="Arimo"/>
              </a:rPr>
              <a:t>• Stop at the end marker.</a:t>
            </a:r>
          </a:p>
        </p:txBody>
      </p:sp>
      <p:sp>
        <p:nvSpPr>
          <p:cNvPr id="19" name="Length 3">
            <a:extLst>
              <a:ext uri="{FF2B5EF4-FFF2-40B4-BE49-F238E27FC236}">
                <a16:creationId xmlns:a16="http://schemas.microsoft.com/office/drawing/2014/main" id="{440ADBA0-29B1-4372-9588-30F263F6CFF0}"/>
              </a:ext>
            </a:extLst>
          </p:cNvPr>
          <p:cNvSpPr>
            <a:spLocks noGrp="1"/>
          </p:cNvSpPr>
          <p:nvPr/>
        </p:nvSpPr>
        <p:spPr>
          <a:xfrm>
            <a:off x="11144250" y="6000750"/>
            <a:ext cx="5715000" cy="1190625"/>
          </a:xfrm>
          <a:prstGeom prst="rect">
            <a:avLst/>
          </a:prstGeom>
          <a:noFill/>
          <a:ln w="0">
            <a:noFill/>
          </a:ln>
        </p:spPr>
        <p:txBody>
          <a:bodyPr lIns="0" tIns="0" rIns="0" bIns="0" anchor="ctr">
            <a:noAutofit/>
          </a:bodyPr>
          <a:lstStyle>
            <a:defPPr algn="l">
              <a:defRPr sz="5850" b="1">
                <a:solidFill>
                  <a:srgbClr val="DF4214"/>
                </a:solidFill>
                <a:latin typeface="Arimo"/>
                <a:ea typeface="Arimo"/>
                <a:cs typeface="Arimo"/>
              </a:defRPr>
            </a:defPPr>
          </a:lstStyle>
          <a:p>
            <a:pPr algn="l">
              <a:defRPr sz="5850" b="1">
                <a:solidFill>
                  <a:srgbClr val="DF4214"/>
                </a:solidFill>
                <a:latin typeface="Arimo"/>
                <a:ea typeface="Arimo"/>
                <a:cs typeface="Arimo"/>
              </a:defRPr>
            </a:pPr>
            <a:r>
              <a:rPr sz="5850" b="1">
                <a:solidFill>
                  <a:srgbClr val="DF4214"/>
                </a:solidFill>
                <a:latin typeface="Arimo"/>
                <a:ea typeface="Arimo"/>
                <a:cs typeface="Arimo"/>
              </a:rPr>
              <a:t>Length 3</a:t>
            </a:r>
          </a:p>
        </p:txBody>
      </p:sp>
      <p:sp>
        <p:nvSpPr>
          <p:cNvPr id="20" name="The terminator is not counted.">
            <a:extLst>
              <a:ext uri="{FF2B5EF4-FFF2-40B4-BE49-F238E27FC236}">
                <a16:creationId xmlns:a16="http://schemas.microsoft.com/office/drawing/2014/main" id="{4D91312F-26D3-45B6-A226-E695348D62BC}"/>
              </a:ext>
            </a:extLst>
          </p:cNvPr>
          <p:cNvSpPr>
            <a:spLocks noGrp="1"/>
          </p:cNvSpPr>
          <p:nvPr/>
        </p:nvSpPr>
        <p:spPr>
          <a:xfrm>
            <a:off x="10572750" y="7620000"/>
            <a:ext cx="6572250" cy="952500"/>
          </a:xfrm>
          <a:prstGeom prst="rect">
            <a:avLst/>
          </a:prstGeom>
          <a:noFill/>
          <a:ln w="0">
            <a:noFill/>
          </a:ln>
        </p:spPr>
        <p:txBody>
          <a:bodyPr lIns="0" tIns="0" rIns="0" bIns="0" anchor="ctr">
            <a:noAutofit/>
          </a:bodyPr>
          <a:lstStyle>
            <a:defPPr algn="l">
              <a:defRPr sz="2700" b="0">
                <a:solidFill>
                  <a:srgbClr val="596167"/>
                </a:solidFill>
                <a:latin typeface="Arimo"/>
                <a:ea typeface="Arimo"/>
                <a:cs typeface="Arimo"/>
              </a:defRPr>
            </a:defPPr>
          </a:lstStyle>
          <a:p>
            <a:pPr algn="l">
              <a:defRPr sz="2700" b="0">
                <a:solidFill>
                  <a:srgbClr val="596167"/>
                </a:solidFill>
                <a:latin typeface="Arimo"/>
                <a:ea typeface="Arimo"/>
                <a:cs typeface="Arimo"/>
              </a:defRPr>
            </a:pPr>
            <a:r>
              <a:rPr sz="2700" b="0">
                <a:solidFill>
                  <a:srgbClr val="596167"/>
                </a:solidFill>
                <a:latin typeface="Arimo"/>
                <a:ea typeface="Arimo"/>
                <a:cs typeface="Arimo"/>
              </a:rPr>
              <a:t>The terminator is not counted.</a:t>
            </a:r>
          </a:p>
        </p:txBody>
      </p:sp>
      <p:sp>
        <p:nvSpPr>
          <p:cNvPr id="21" name="Chapter 6  /  12">
            <a:extLst>
              <a:ext uri="{FF2B5EF4-FFF2-40B4-BE49-F238E27FC236}">
                <a16:creationId xmlns:a16="http://schemas.microsoft.com/office/drawing/2014/main" id="{6A1EC4D2-6A78-4E49-B32C-F9FAAA8AF41D}"/>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12</a:t>
            </a:r>
          </a:p>
        </p:txBody>
      </p:sp>
    </p:spTree>
    <p:extLst>
      <p:ext uri="{BB962C8B-B14F-4D97-AF65-F5344CB8AC3E}">
        <p14:creationId xmlns:p14="http://schemas.microsoft.com/office/powerpoint/2010/main" val="385649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Brand accent">
            <a:extLst>
              <a:ext uri="{FF2B5EF4-FFF2-40B4-BE49-F238E27FC236}">
                <a16:creationId xmlns:a16="http://schemas.microsoft.com/office/drawing/2014/main" id="{12255C27-7ED4-42A7-8BAF-DD60856E5869}"/>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D7EEEC42-FC85-4DEB-B8C1-4BBED3AF0220}"/>
              </a:ext>
            </a:extLst>
          </p:cNvPr>
          <p:cNvPicPr>
            <a:picLocks noChangeAspect="1"/>
          </p:cNvPicPr>
          <p:nvPr/>
        </p:nvPicPr>
        <p:blipFill>
          <a:blip r:embed="rId3"/>
          <a:stretch/>
        </p:blipFill>
        <p:spPr>
          <a:xfrm>
            <a:off x="16479803" y="381000"/>
            <a:ext cx="1092269" cy="714375"/>
          </a:xfrm>
          <a:prstGeom prst="rect">
            <a:avLst/>
          </a:prstGeom>
        </p:spPr>
      </p:pic>
      <p:sp>
        <p:nvSpPr>
          <p:cNvPr id="3" name="do-while checks after the body">
            <a:extLst>
              <a:ext uri="{FF2B5EF4-FFF2-40B4-BE49-F238E27FC236}">
                <a16:creationId xmlns:a16="http://schemas.microsoft.com/office/drawing/2014/main" id="{977BBE96-2532-4D54-91DA-A0AD2C3FFE72}"/>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do-while checks after the body</a:t>
            </a:r>
          </a:p>
        </p:txBody>
      </p:sp>
      <p:sp>
        <p:nvSpPr>
          <p:cNvPr id="4" name="§6.2.2 · Optional book excerpt">
            <a:extLst>
              <a:ext uri="{FF2B5EF4-FFF2-40B4-BE49-F238E27FC236}">
                <a16:creationId xmlns:a16="http://schemas.microsoft.com/office/drawing/2014/main" id="{5B5248D4-631F-4629-9E23-B62581D57FA8}"/>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§6.2.2 · Optional book excerpt</a:t>
            </a:r>
          </a:p>
        </p:txBody>
      </p:sp>
      <p:cxnSp>
        <p:nvCxnSpPr>
          <p:cNvPr id="5" name="Straight Arrow Connector 4">
            <a:extLst>
              <a:ext uri="{FF2B5EF4-FFF2-40B4-BE49-F238E27FC236}">
                <a16:creationId xmlns:a16="http://schemas.microsoft.com/office/drawing/2014/main" id="{DACC76D6-EA70-436B-ABB8-C6264ACF5236}"/>
              </a:ext>
            </a:extLst>
          </p:cNvPr>
          <p:cNvCxnSpPr/>
          <p:nvPr/>
        </p:nvCxnSpPr>
        <p:spPr>
          <a:xfrm>
            <a:off x="9096375" y="3667125"/>
            <a:ext cx="0" cy="1666875"/>
          </a:xfrm>
          <a:prstGeom prst="straightConnector1">
            <a:avLst/>
          </a:prstGeom>
          <a:ln w="23813">
            <a:solidFill>
              <a:srgbClr val="202426"/>
            </a:solidFill>
            <a:tailEnd type="arrow" w="med" len="med"/>
          </a:ln>
        </p:spPr>
      </p:cxnSp>
      <p:cxnSp>
        <p:nvCxnSpPr>
          <p:cNvPr id="6" name="Straight Arrow Connector 5">
            <a:extLst>
              <a:ext uri="{FF2B5EF4-FFF2-40B4-BE49-F238E27FC236}">
                <a16:creationId xmlns:a16="http://schemas.microsoft.com/office/drawing/2014/main" id="{63721490-E06B-42D7-82C4-8A450EDEA1F5}"/>
              </a:ext>
            </a:extLst>
          </p:cNvPr>
          <p:cNvCxnSpPr/>
          <p:nvPr/>
        </p:nvCxnSpPr>
        <p:spPr>
          <a:xfrm flipH="1">
            <a:off x="3429000" y="6257925"/>
            <a:ext cx="3238500" cy="0"/>
          </a:xfrm>
          <a:prstGeom prst="straightConnector1">
            <a:avLst/>
          </a:prstGeom>
          <a:ln w="23813">
            <a:solidFill>
              <a:srgbClr val="202426"/>
            </a:solidFill>
            <a:tailEnd type="none" w="med" len="med"/>
          </a:ln>
        </p:spPr>
      </p:cxnSp>
      <p:cxnSp>
        <p:nvCxnSpPr>
          <p:cNvPr id="7" name="Straight Arrow Connector 6">
            <a:extLst>
              <a:ext uri="{FF2B5EF4-FFF2-40B4-BE49-F238E27FC236}">
                <a16:creationId xmlns:a16="http://schemas.microsoft.com/office/drawing/2014/main" id="{4DE35B51-C7F3-48EF-8E55-1B435196FFF1}"/>
              </a:ext>
            </a:extLst>
          </p:cNvPr>
          <p:cNvCxnSpPr/>
          <p:nvPr/>
        </p:nvCxnSpPr>
        <p:spPr>
          <a:xfrm flipV="1">
            <a:off x="3429000" y="3019425"/>
            <a:ext cx="0" cy="3238500"/>
          </a:xfrm>
          <a:prstGeom prst="straightConnector1">
            <a:avLst/>
          </a:prstGeom>
          <a:ln w="23813">
            <a:solidFill>
              <a:srgbClr val="202426"/>
            </a:solidFill>
            <a:tailEnd type="none" w="med" len="med"/>
          </a:ln>
        </p:spPr>
      </p:cxnSp>
      <p:cxnSp>
        <p:nvCxnSpPr>
          <p:cNvPr id="8" name="Straight Arrow Connector 7">
            <a:extLst>
              <a:ext uri="{FF2B5EF4-FFF2-40B4-BE49-F238E27FC236}">
                <a16:creationId xmlns:a16="http://schemas.microsoft.com/office/drawing/2014/main" id="{6386B2E0-1451-4ADA-93AF-B0DF97725E5A}"/>
              </a:ext>
            </a:extLst>
          </p:cNvPr>
          <p:cNvCxnSpPr/>
          <p:nvPr/>
        </p:nvCxnSpPr>
        <p:spPr>
          <a:xfrm>
            <a:off x="3429000" y="3019425"/>
            <a:ext cx="2524125" cy="0"/>
          </a:xfrm>
          <a:prstGeom prst="straightConnector1">
            <a:avLst/>
          </a:prstGeom>
          <a:ln w="23813">
            <a:solidFill>
              <a:srgbClr val="202426"/>
            </a:solidFill>
            <a:tailEnd type="arrow" w="med" len="med"/>
          </a:ln>
        </p:spPr>
      </p:cxnSp>
      <p:cxnSp>
        <p:nvCxnSpPr>
          <p:cNvPr id="9" name="Straight Arrow Connector 8">
            <a:extLst>
              <a:ext uri="{FF2B5EF4-FFF2-40B4-BE49-F238E27FC236}">
                <a16:creationId xmlns:a16="http://schemas.microsoft.com/office/drawing/2014/main" id="{921693E8-442E-4E3C-AB40-570A952F527E}"/>
              </a:ext>
            </a:extLst>
          </p:cNvPr>
          <p:cNvCxnSpPr/>
          <p:nvPr/>
        </p:nvCxnSpPr>
        <p:spPr>
          <a:xfrm>
            <a:off x="11525250" y="6257925"/>
            <a:ext cx="2857500" cy="0"/>
          </a:xfrm>
          <a:prstGeom prst="straightConnector1">
            <a:avLst/>
          </a:prstGeom>
          <a:ln w="23813">
            <a:solidFill>
              <a:srgbClr val="202426"/>
            </a:solidFill>
            <a:tailEnd type="arrow" w="med" len="med"/>
          </a:ln>
        </p:spPr>
      </p:cxnSp>
      <p:sp>
        <p:nvSpPr>
          <p:cNvPr id="10" name="Read and store&#10;one character">
            <a:extLst>
              <a:ext uri="{FF2B5EF4-FFF2-40B4-BE49-F238E27FC236}">
                <a16:creationId xmlns:a16="http://schemas.microsoft.com/office/drawing/2014/main" id="{55B18548-A0A1-4205-B062-2811A6F1EBC0}"/>
              </a:ext>
            </a:extLst>
          </p:cNvPr>
          <p:cNvSpPr>
            <a:spLocks noGrp="1"/>
          </p:cNvSpPr>
          <p:nvPr/>
        </p:nvSpPr>
        <p:spPr>
          <a:xfrm>
            <a:off x="5953125" y="2381250"/>
            <a:ext cx="6286500" cy="1285875"/>
          </a:xfrm>
          <a:prstGeom prst="roundRect">
            <a:avLst>
              <a:gd name="adj" fmla="val 5926"/>
            </a:avLst>
          </a:prstGeom>
          <a:solidFill>
            <a:srgbClr val="FFFFFF"/>
          </a:solidFill>
          <a:ln w="23813">
            <a:solidFill>
              <a:srgbClr val="202426"/>
            </a:solidFill>
          </a:ln>
        </p:spPr>
      </p:sp>
      <p:sp>
        <p:nvSpPr>
          <p:cNvPr id="11" name="Read and store&#10;one character">
            <a:extLst>
              <a:ext uri="{FF2B5EF4-FFF2-40B4-BE49-F238E27FC236}">
                <a16:creationId xmlns:a16="http://schemas.microsoft.com/office/drawing/2014/main" id="{6213356A-D009-43EC-BF00-27C2A9FAE922}"/>
              </a:ext>
            </a:extLst>
          </p:cNvPr>
          <p:cNvSpPr>
            <a:spLocks noGrp="1"/>
          </p:cNvSpPr>
          <p:nvPr/>
        </p:nvSpPr>
        <p:spPr>
          <a:xfrm>
            <a:off x="6096000" y="2476500"/>
            <a:ext cx="6000750" cy="1095375"/>
          </a:xfrm>
          <a:prstGeom prst="rect">
            <a:avLst/>
          </a:prstGeom>
          <a:noFill/>
          <a:ln w="0">
            <a:noFill/>
          </a:ln>
        </p:spPr>
        <p:txBody>
          <a:bodyPr lIns="0" tIns="0" rIns="0" bIns="0" anchor="ctr">
            <a:noAutofit/>
          </a:bodyPr>
          <a:lstStyle>
            <a:defPPr algn="ctr">
              <a:defRPr sz="3225" b="0">
                <a:solidFill>
                  <a:srgbClr val="202426"/>
                </a:solidFill>
                <a:latin typeface="Arimo"/>
                <a:ea typeface="Arimo"/>
                <a:cs typeface="Arimo"/>
              </a:defRPr>
            </a:defPPr>
          </a:lstStyle>
          <a:p>
            <a:pPr algn="ctr">
              <a:defRPr sz="3225" b="0">
                <a:solidFill>
                  <a:srgbClr val="202426"/>
                </a:solidFill>
                <a:latin typeface="Arimo"/>
                <a:ea typeface="Arimo"/>
                <a:cs typeface="Arimo"/>
              </a:defRPr>
            </a:pPr>
            <a:r>
              <a:rPr sz="3225" b="0">
                <a:solidFill>
                  <a:srgbClr val="202426"/>
                </a:solidFill>
                <a:latin typeface="Arimo"/>
                <a:ea typeface="Arimo"/>
                <a:cs typeface="Arimo"/>
              </a:rPr>
              <a:t>Read and store</a:t>
            </a:r>
          </a:p>
          <a:p>
            <a:pPr algn="ctr">
              <a:defRPr sz="3225" b="0">
                <a:solidFill>
                  <a:srgbClr val="202426"/>
                </a:solidFill>
                <a:latin typeface="Arimo"/>
                <a:ea typeface="Arimo"/>
                <a:cs typeface="Arimo"/>
              </a:defRPr>
            </a:pPr>
            <a:r>
              <a:rPr sz="3225" b="0">
                <a:solidFill>
                  <a:srgbClr val="202426"/>
                </a:solidFill>
                <a:latin typeface="Arimo"/>
                <a:ea typeface="Arimo"/>
                <a:cs typeface="Arimo"/>
              </a:rPr>
              <a:t>one character</a:t>
            </a:r>
          </a:p>
        </p:txBody>
      </p:sp>
      <p:sp>
        <p:nvSpPr>
          <p:cNvPr id="12" name="Not %&#10;and space left?">
            <a:extLst>
              <a:ext uri="{FF2B5EF4-FFF2-40B4-BE49-F238E27FC236}">
                <a16:creationId xmlns:a16="http://schemas.microsoft.com/office/drawing/2014/main" id="{EC212013-8A53-4EA1-AC0A-CAC23C225561}"/>
              </a:ext>
            </a:extLst>
          </p:cNvPr>
          <p:cNvSpPr>
            <a:spLocks noGrp="1"/>
          </p:cNvSpPr>
          <p:nvPr/>
        </p:nvSpPr>
        <p:spPr>
          <a:xfrm>
            <a:off x="6667500" y="5334000"/>
            <a:ext cx="4857750" cy="1857375"/>
          </a:xfrm>
          <a:prstGeom prst="diamond">
            <a:avLst/>
          </a:prstGeom>
          <a:solidFill>
            <a:srgbClr val="FFFFFF"/>
          </a:solidFill>
          <a:ln w="23813">
            <a:solidFill>
              <a:srgbClr val="202426"/>
            </a:solidFill>
          </a:ln>
        </p:spPr>
      </p:sp>
      <p:sp>
        <p:nvSpPr>
          <p:cNvPr id="13" name="Not %&#10;and space left?">
            <a:extLst>
              <a:ext uri="{FF2B5EF4-FFF2-40B4-BE49-F238E27FC236}">
                <a16:creationId xmlns:a16="http://schemas.microsoft.com/office/drawing/2014/main" id="{58021BE9-8316-43B3-88F5-D112DE98B90A}"/>
              </a:ext>
            </a:extLst>
          </p:cNvPr>
          <p:cNvSpPr>
            <a:spLocks noGrp="1"/>
          </p:cNvSpPr>
          <p:nvPr/>
        </p:nvSpPr>
        <p:spPr>
          <a:xfrm>
            <a:off x="6810375" y="5429250"/>
            <a:ext cx="4572000" cy="1666875"/>
          </a:xfrm>
          <a:prstGeom prst="rect">
            <a:avLst/>
          </a:prstGeom>
          <a:noFill/>
          <a:ln w="0">
            <a:noFill/>
          </a:ln>
        </p:spPr>
        <p:txBody>
          <a:bodyPr lIns="0" tIns="0" rIns="0" bIns="0" anchor="ctr">
            <a:noAutofit/>
          </a:bodyPr>
          <a:lstStyle>
            <a:defPPr algn="ctr">
              <a:defRPr sz="3075" b="0">
                <a:solidFill>
                  <a:srgbClr val="202426"/>
                </a:solidFill>
                <a:latin typeface="Arimo"/>
                <a:ea typeface="Arimo"/>
                <a:cs typeface="Arimo"/>
              </a:defRPr>
            </a:defPPr>
          </a:lstStyle>
          <a:p>
            <a:pPr algn="ctr">
              <a:defRPr sz="3075" b="0">
                <a:solidFill>
                  <a:srgbClr val="202426"/>
                </a:solidFill>
                <a:latin typeface="Arimo"/>
                <a:ea typeface="Arimo"/>
                <a:cs typeface="Arimo"/>
              </a:defRPr>
            </a:pPr>
            <a:r>
              <a:rPr sz="3075" b="0">
                <a:solidFill>
                  <a:srgbClr val="202426"/>
                </a:solidFill>
                <a:latin typeface="Arimo"/>
                <a:ea typeface="Arimo"/>
                <a:cs typeface="Arimo"/>
              </a:rPr>
              <a:t>Not %</a:t>
            </a:r>
          </a:p>
          <a:p>
            <a:pPr algn="ctr">
              <a:defRPr sz="3075" b="0">
                <a:solidFill>
                  <a:srgbClr val="202426"/>
                </a:solidFill>
                <a:latin typeface="Arimo"/>
                <a:ea typeface="Arimo"/>
                <a:cs typeface="Arimo"/>
              </a:defRPr>
            </a:pPr>
            <a:r>
              <a:rPr sz="3075" b="0">
                <a:solidFill>
                  <a:srgbClr val="202426"/>
                </a:solidFill>
                <a:latin typeface="Arimo"/>
                <a:ea typeface="Arimo"/>
                <a:cs typeface="Arimo"/>
              </a:rPr>
              <a:t>and space left?</a:t>
            </a:r>
          </a:p>
        </p:txBody>
      </p:sp>
      <p:sp>
        <p:nvSpPr>
          <p:cNvPr id="14" name="loop ends">
            <a:extLst>
              <a:ext uri="{FF2B5EF4-FFF2-40B4-BE49-F238E27FC236}">
                <a16:creationId xmlns:a16="http://schemas.microsoft.com/office/drawing/2014/main" id="{B21D1FA8-2F1E-4B7E-8D00-B2C0E015E3FC}"/>
              </a:ext>
            </a:extLst>
          </p:cNvPr>
          <p:cNvSpPr>
            <a:spLocks noGrp="1"/>
          </p:cNvSpPr>
          <p:nvPr/>
        </p:nvSpPr>
        <p:spPr>
          <a:xfrm>
            <a:off x="14382750" y="5715000"/>
            <a:ext cx="2667000" cy="1047750"/>
          </a:xfrm>
          <a:prstGeom prst="roundRect">
            <a:avLst>
              <a:gd name="adj" fmla="val 7273"/>
            </a:avLst>
          </a:prstGeom>
          <a:solidFill>
            <a:srgbClr val="FFFFFF"/>
          </a:solidFill>
          <a:ln w="23813">
            <a:solidFill>
              <a:srgbClr val="202426"/>
            </a:solidFill>
          </a:ln>
        </p:spPr>
      </p:sp>
      <p:sp>
        <p:nvSpPr>
          <p:cNvPr id="15" name="loop ends">
            <a:extLst>
              <a:ext uri="{FF2B5EF4-FFF2-40B4-BE49-F238E27FC236}">
                <a16:creationId xmlns:a16="http://schemas.microsoft.com/office/drawing/2014/main" id="{6EE4A3C5-1EE6-4116-B1F0-2E66D1431D5A}"/>
              </a:ext>
            </a:extLst>
          </p:cNvPr>
          <p:cNvSpPr>
            <a:spLocks noGrp="1"/>
          </p:cNvSpPr>
          <p:nvPr/>
        </p:nvSpPr>
        <p:spPr>
          <a:xfrm>
            <a:off x="14525625" y="5810250"/>
            <a:ext cx="2381250" cy="857250"/>
          </a:xfrm>
          <a:prstGeom prst="rect">
            <a:avLst/>
          </a:prstGeom>
          <a:noFill/>
          <a:ln w="0">
            <a:noFill/>
          </a:ln>
        </p:spPr>
        <p:txBody>
          <a:bodyPr lIns="0" tIns="0" rIns="0" bIns="0" anchor="ctr">
            <a:noAutofit/>
          </a:bodyPr>
          <a:lstStyle>
            <a:defPPr algn="ctr">
              <a:defRPr sz="3000" b="0">
                <a:solidFill>
                  <a:srgbClr val="202426"/>
                </a:solidFill>
                <a:latin typeface="Arimo"/>
                <a:ea typeface="Arimo"/>
                <a:cs typeface="Arimo"/>
              </a:defRPr>
            </a:defPPr>
          </a:lstStyle>
          <a:p>
            <a:pPr algn="ctr">
              <a:defRPr sz="3000" b="0">
                <a:solidFill>
                  <a:srgbClr val="202426"/>
                </a:solidFill>
                <a:latin typeface="Arimo"/>
                <a:ea typeface="Arimo"/>
                <a:cs typeface="Arimo"/>
              </a:defRPr>
            </a:pPr>
            <a:r>
              <a:rPr sz="3000" b="0">
                <a:solidFill>
                  <a:srgbClr val="202426"/>
                </a:solidFill>
                <a:latin typeface="Arimo"/>
                <a:ea typeface="Arimo"/>
                <a:cs typeface="Arimo"/>
              </a:rPr>
              <a:t>loop ends</a:t>
            </a:r>
          </a:p>
        </p:txBody>
      </p:sp>
      <p:sp>
        <p:nvSpPr>
          <p:cNvPr id="16" name="true">
            <a:extLst>
              <a:ext uri="{FF2B5EF4-FFF2-40B4-BE49-F238E27FC236}">
                <a16:creationId xmlns:a16="http://schemas.microsoft.com/office/drawing/2014/main" id="{62DC68B6-A5FA-4A67-8CC5-2205261E4952}"/>
              </a:ext>
            </a:extLst>
          </p:cNvPr>
          <p:cNvSpPr>
            <a:spLocks noGrp="1"/>
          </p:cNvSpPr>
          <p:nvPr/>
        </p:nvSpPr>
        <p:spPr>
          <a:xfrm>
            <a:off x="4048125" y="5619750"/>
            <a:ext cx="1428750" cy="523875"/>
          </a:xfrm>
          <a:prstGeom prst="rect">
            <a:avLst/>
          </a:prstGeom>
          <a:noFill/>
          <a:ln w="0">
            <a:noFill/>
          </a:ln>
        </p:spPr>
        <p:txBody>
          <a:bodyPr lIns="0" tIns="0" rIns="0" bIns="0" anchor="ctr">
            <a:noAutofit/>
          </a:bodyPr>
          <a:lstStyle>
            <a:defPPr algn="ctr">
              <a:defRPr sz="2400" b="0">
                <a:solidFill>
                  <a:srgbClr val="DF4214"/>
                </a:solidFill>
                <a:latin typeface="Arimo"/>
                <a:ea typeface="Arimo"/>
                <a:cs typeface="Arimo"/>
              </a:defRPr>
            </a:defPPr>
          </a:lstStyle>
          <a:p>
            <a:pPr algn="ctr">
              <a:defRPr sz="2400" b="0">
                <a:solidFill>
                  <a:srgbClr val="DF4214"/>
                </a:solidFill>
                <a:latin typeface="Arimo"/>
                <a:ea typeface="Arimo"/>
                <a:cs typeface="Arimo"/>
              </a:defRPr>
            </a:pPr>
            <a:r>
              <a:rPr sz="2400" b="0">
                <a:solidFill>
                  <a:srgbClr val="DF4214"/>
                </a:solidFill>
                <a:latin typeface="Arimo"/>
                <a:ea typeface="Arimo"/>
                <a:cs typeface="Arimo"/>
              </a:rPr>
              <a:t>true</a:t>
            </a:r>
          </a:p>
        </p:txBody>
      </p:sp>
      <p:sp>
        <p:nvSpPr>
          <p:cNvPr id="17" name="false">
            <a:extLst>
              <a:ext uri="{FF2B5EF4-FFF2-40B4-BE49-F238E27FC236}">
                <a16:creationId xmlns:a16="http://schemas.microsoft.com/office/drawing/2014/main" id="{E3CCEAB4-176A-4DF8-8F63-B89EB7B5D13D}"/>
              </a:ext>
            </a:extLst>
          </p:cNvPr>
          <p:cNvSpPr>
            <a:spLocks noGrp="1"/>
          </p:cNvSpPr>
          <p:nvPr/>
        </p:nvSpPr>
        <p:spPr>
          <a:xfrm>
            <a:off x="12477750" y="5429250"/>
            <a:ext cx="1428750" cy="523875"/>
          </a:xfrm>
          <a:prstGeom prst="rect">
            <a:avLst/>
          </a:prstGeom>
          <a:noFill/>
          <a:ln w="0">
            <a:noFill/>
          </a:ln>
        </p:spPr>
        <p:txBody>
          <a:bodyPr lIns="0" tIns="0" rIns="0" bIns="0" anchor="ctr">
            <a:noAutofit/>
          </a:bodyPr>
          <a:lstStyle>
            <a:defPPr algn="ctr">
              <a:defRPr sz="2400" b="0">
                <a:solidFill>
                  <a:srgbClr val="596167"/>
                </a:solidFill>
                <a:latin typeface="Arimo"/>
                <a:ea typeface="Arimo"/>
                <a:cs typeface="Arimo"/>
              </a:defRPr>
            </a:defPPr>
          </a:lstStyle>
          <a:p>
            <a:pPr algn="ctr">
              <a:defRPr sz="2400" b="0">
                <a:solidFill>
                  <a:srgbClr val="596167"/>
                </a:solidFill>
                <a:latin typeface="Arimo"/>
                <a:ea typeface="Arimo"/>
                <a:cs typeface="Arimo"/>
              </a:defRPr>
            </a:pPr>
            <a:r>
              <a:rPr sz="2400" b="0">
                <a:solidFill>
                  <a:srgbClr val="596167"/>
                </a:solidFill>
                <a:latin typeface="Arimo"/>
                <a:ea typeface="Arimo"/>
                <a:cs typeface="Arimo"/>
              </a:rPr>
              <a:t>false</a:t>
            </a:r>
          </a:p>
        </p:txBody>
      </p:sp>
      <p:sp>
        <p:nvSpPr>
          <p:cNvPr id="18" name="% is stored before the test.">
            <a:extLst>
              <a:ext uri="{FF2B5EF4-FFF2-40B4-BE49-F238E27FC236}">
                <a16:creationId xmlns:a16="http://schemas.microsoft.com/office/drawing/2014/main" id="{D16638FA-EC74-4A07-984E-067EFC1E62D3}"/>
              </a:ext>
            </a:extLst>
          </p:cNvPr>
          <p:cNvSpPr>
            <a:spLocks noGrp="1"/>
          </p:cNvSpPr>
          <p:nvPr/>
        </p:nvSpPr>
        <p:spPr>
          <a:xfrm>
            <a:off x="1905000" y="8096250"/>
            <a:ext cx="14478000" cy="809625"/>
          </a:xfrm>
          <a:prstGeom prst="rect">
            <a:avLst/>
          </a:prstGeom>
          <a:noFill/>
          <a:ln w="0">
            <a:noFill/>
          </a:ln>
        </p:spPr>
        <p:txBody>
          <a:bodyPr lIns="0" tIns="0" rIns="0" bIns="0" anchor="ctr">
            <a:noAutofit/>
          </a:bodyPr>
          <a:lstStyle>
            <a:defPPr algn="ctr">
              <a:defRPr sz="3750" b="0">
                <a:solidFill>
                  <a:srgbClr val="202426"/>
                </a:solidFill>
                <a:latin typeface="Arimo"/>
                <a:ea typeface="Arimo"/>
                <a:cs typeface="Arimo"/>
              </a:defRPr>
            </a:defPPr>
          </a:lstStyle>
          <a:p>
            <a:pPr algn="ctr">
              <a:defRPr sz="3750" b="0">
                <a:solidFill>
                  <a:srgbClr val="202426"/>
                </a:solidFill>
                <a:latin typeface="Arimo"/>
                <a:ea typeface="Arimo"/>
                <a:cs typeface="Arimo"/>
              </a:defRPr>
            </a:pPr>
            <a:r>
              <a:rPr sz="3750" b="0">
                <a:solidFill>
                  <a:srgbClr val="202426"/>
                </a:solidFill>
                <a:latin typeface="Arimo"/>
                <a:ea typeface="Arimo"/>
                <a:cs typeface="Arimo"/>
              </a:rPr>
              <a:t>% is stored before the test.</a:t>
            </a:r>
          </a:p>
        </p:txBody>
      </p:sp>
      <p:sp>
        <p:nvSpPr>
          <p:cNvPr id="19" name="Optional  /  13">
            <a:extLst>
              <a:ext uri="{FF2B5EF4-FFF2-40B4-BE49-F238E27FC236}">
                <a16:creationId xmlns:a16="http://schemas.microsoft.com/office/drawing/2014/main" id="{4947FD22-CCA4-4ADC-BAD8-BAE6E5282B65}"/>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Optional  /  13</a:t>
            </a:r>
          </a:p>
        </p:txBody>
      </p:sp>
    </p:spTree>
    <p:extLst>
      <p:ext uri="{BB962C8B-B14F-4D97-AF65-F5344CB8AC3E}">
        <p14:creationId xmlns:p14="http://schemas.microsoft.com/office/powerpoint/2010/main" val="1970402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Brand accent">
            <a:extLst>
              <a:ext uri="{FF2B5EF4-FFF2-40B4-BE49-F238E27FC236}">
                <a16:creationId xmlns:a16="http://schemas.microsoft.com/office/drawing/2014/main" id="{3E6973CA-65CC-4151-B785-21F9F21AEE65}"/>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B96D0D7B-61D1-4673-9C4D-BB615E7F4884}"/>
              </a:ext>
            </a:extLst>
          </p:cNvPr>
          <p:cNvPicPr>
            <a:picLocks noChangeAspect="1"/>
          </p:cNvPicPr>
          <p:nvPr/>
        </p:nvPicPr>
        <p:blipFill>
          <a:blip r:embed="rId3"/>
          <a:stretch/>
        </p:blipFill>
        <p:spPr>
          <a:xfrm>
            <a:off x="16479803" y="381000"/>
            <a:ext cx="1092269" cy="714375"/>
          </a:xfrm>
          <a:prstGeom prst="rect">
            <a:avLst/>
          </a:prstGeom>
        </p:spPr>
      </p:pic>
      <p:sp>
        <p:nvSpPr>
          <p:cNvPr id="3" name="continue skips the rest of the iteration">
            <a:extLst>
              <a:ext uri="{FF2B5EF4-FFF2-40B4-BE49-F238E27FC236}">
                <a16:creationId xmlns:a16="http://schemas.microsoft.com/office/drawing/2014/main" id="{A751E092-A17E-4B1C-A035-4B75E72C0D23}"/>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continue skips the rest of the iteration</a:t>
            </a:r>
          </a:p>
        </p:txBody>
      </p:sp>
      <p:sp>
        <p:nvSpPr>
          <p:cNvPr id="4" name="§6.4 · Optional book excerpt">
            <a:extLst>
              <a:ext uri="{FF2B5EF4-FFF2-40B4-BE49-F238E27FC236}">
                <a16:creationId xmlns:a16="http://schemas.microsoft.com/office/drawing/2014/main" id="{0FB89BAF-0F5D-46B9-BB2A-CC84F8E3397E}"/>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§6.4 · Optional book excerpt</a:t>
            </a:r>
          </a:p>
        </p:txBody>
      </p:sp>
      <p:cxnSp>
        <p:nvCxnSpPr>
          <p:cNvPr id="5" name="Straight Arrow Connector 4">
            <a:extLst>
              <a:ext uri="{FF2B5EF4-FFF2-40B4-BE49-F238E27FC236}">
                <a16:creationId xmlns:a16="http://schemas.microsoft.com/office/drawing/2014/main" id="{5185999B-5F30-4516-9046-F061ABAE1205}"/>
              </a:ext>
            </a:extLst>
          </p:cNvPr>
          <p:cNvCxnSpPr/>
          <p:nvPr/>
        </p:nvCxnSpPr>
        <p:spPr>
          <a:xfrm flipH="1">
            <a:off x="4762500" y="3257550"/>
            <a:ext cx="2571750" cy="0"/>
          </a:xfrm>
          <a:prstGeom prst="straightConnector1">
            <a:avLst/>
          </a:prstGeom>
          <a:ln w="23813">
            <a:solidFill>
              <a:srgbClr val="202426"/>
            </a:solidFill>
            <a:tailEnd type="none" w="med" len="med"/>
          </a:ln>
        </p:spPr>
      </p:cxnSp>
      <p:cxnSp>
        <p:nvCxnSpPr>
          <p:cNvPr id="6" name="Straight Arrow Connector 5">
            <a:extLst>
              <a:ext uri="{FF2B5EF4-FFF2-40B4-BE49-F238E27FC236}">
                <a16:creationId xmlns:a16="http://schemas.microsoft.com/office/drawing/2014/main" id="{A2D88497-51AE-43C9-A948-E01E3B40C956}"/>
              </a:ext>
            </a:extLst>
          </p:cNvPr>
          <p:cNvCxnSpPr/>
          <p:nvPr/>
        </p:nvCxnSpPr>
        <p:spPr>
          <a:xfrm>
            <a:off x="4762500" y="3257550"/>
            <a:ext cx="0" cy="2124075"/>
          </a:xfrm>
          <a:prstGeom prst="straightConnector1">
            <a:avLst/>
          </a:prstGeom>
          <a:ln w="23813">
            <a:solidFill>
              <a:srgbClr val="202426"/>
            </a:solidFill>
            <a:tailEnd type="arrow" w="med" len="med"/>
          </a:ln>
        </p:spPr>
      </p:cxnSp>
      <p:cxnSp>
        <p:nvCxnSpPr>
          <p:cNvPr id="7" name="Straight Arrow Connector 6">
            <a:extLst>
              <a:ext uri="{FF2B5EF4-FFF2-40B4-BE49-F238E27FC236}">
                <a16:creationId xmlns:a16="http://schemas.microsoft.com/office/drawing/2014/main" id="{F761C383-DB25-4D12-8C08-35CDF53227B6}"/>
              </a:ext>
            </a:extLst>
          </p:cNvPr>
          <p:cNvCxnSpPr/>
          <p:nvPr/>
        </p:nvCxnSpPr>
        <p:spPr>
          <a:xfrm>
            <a:off x="10953750" y="3257550"/>
            <a:ext cx="2571750" cy="0"/>
          </a:xfrm>
          <a:prstGeom prst="straightConnector1">
            <a:avLst/>
          </a:prstGeom>
          <a:ln w="23813">
            <a:solidFill>
              <a:srgbClr val="202426"/>
            </a:solidFill>
            <a:tailEnd type="none" w="med" len="med"/>
          </a:ln>
        </p:spPr>
      </p:cxnSp>
      <p:cxnSp>
        <p:nvCxnSpPr>
          <p:cNvPr id="8" name="Straight Arrow Connector 7">
            <a:extLst>
              <a:ext uri="{FF2B5EF4-FFF2-40B4-BE49-F238E27FC236}">
                <a16:creationId xmlns:a16="http://schemas.microsoft.com/office/drawing/2014/main" id="{ABF6EA52-4AC6-40F0-9C05-861CE3053343}"/>
              </a:ext>
            </a:extLst>
          </p:cNvPr>
          <p:cNvCxnSpPr/>
          <p:nvPr/>
        </p:nvCxnSpPr>
        <p:spPr>
          <a:xfrm>
            <a:off x="13525500" y="3257550"/>
            <a:ext cx="0" cy="2124075"/>
          </a:xfrm>
          <a:prstGeom prst="straightConnector1">
            <a:avLst/>
          </a:prstGeom>
          <a:ln w="23813">
            <a:solidFill>
              <a:srgbClr val="202426"/>
            </a:solidFill>
            <a:tailEnd type="arrow" w="med" len="med"/>
          </a:ln>
        </p:spPr>
      </p:cxnSp>
      <p:cxnSp>
        <p:nvCxnSpPr>
          <p:cNvPr id="9" name="Straight Arrow Connector 8">
            <a:extLst>
              <a:ext uri="{FF2B5EF4-FFF2-40B4-BE49-F238E27FC236}">
                <a16:creationId xmlns:a16="http://schemas.microsoft.com/office/drawing/2014/main" id="{8D4DB5D2-0FDA-4ACE-A896-0A872132D5AF}"/>
              </a:ext>
            </a:extLst>
          </p:cNvPr>
          <p:cNvCxnSpPr/>
          <p:nvPr/>
        </p:nvCxnSpPr>
        <p:spPr>
          <a:xfrm>
            <a:off x="4762500" y="6524625"/>
            <a:ext cx="0" cy="2000250"/>
          </a:xfrm>
          <a:prstGeom prst="straightConnector1">
            <a:avLst/>
          </a:prstGeom>
          <a:ln w="23813">
            <a:solidFill>
              <a:srgbClr val="202426"/>
            </a:solidFill>
            <a:tailEnd type="none" w="med" len="med"/>
          </a:ln>
        </p:spPr>
      </p:cxnSp>
      <p:cxnSp>
        <p:nvCxnSpPr>
          <p:cNvPr id="10" name="Straight Arrow Connector 9">
            <a:extLst>
              <a:ext uri="{FF2B5EF4-FFF2-40B4-BE49-F238E27FC236}">
                <a16:creationId xmlns:a16="http://schemas.microsoft.com/office/drawing/2014/main" id="{B2C46BBC-6C6D-4D47-B2A5-A80BC71B57F4}"/>
              </a:ext>
            </a:extLst>
          </p:cNvPr>
          <p:cNvCxnSpPr/>
          <p:nvPr/>
        </p:nvCxnSpPr>
        <p:spPr>
          <a:xfrm>
            <a:off x="4762500" y="8524875"/>
            <a:ext cx="1428750" cy="0"/>
          </a:xfrm>
          <a:prstGeom prst="straightConnector1">
            <a:avLst/>
          </a:prstGeom>
          <a:ln w="23813">
            <a:solidFill>
              <a:srgbClr val="202426"/>
            </a:solidFill>
            <a:tailEnd type="arrow" w="med" len="med"/>
          </a:ln>
        </p:spPr>
      </p:cxnSp>
      <p:cxnSp>
        <p:nvCxnSpPr>
          <p:cNvPr id="11" name="Straight Arrow Connector 10">
            <a:extLst>
              <a:ext uri="{FF2B5EF4-FFF2-40B4-BE49-F238E27FC236}">
                <a16:creationId xmlns:a16="http://schemas.microsoft.com/office/drawing/2014/main" id="{737208FD-2AF2-40FD-B02C-F398B5F8330C}"/>
              </a:ext>
            </a:extLst>
          </p:cNvPr>
          <p:cNvCxnSpPr/>
          <p:nvPr/>
        </p:nvCxnSpPr>
        <p:spPr>
          <a:xfrm>
            <a:off x="13525500" y="6524625"/>
            <a:ext cx="0" cy="2000250"/>
          </a:xfrm>
          <a:prstGeom prst="straightConnector1">
            <a:avLst/>
          </a:prstGeom>
          <a:ln w="23813">
            <a:solidFill>
              <a:srgbClr val="202426"/>
            </a:solidFill>
            <a:tailEnd type="none" w="med" len="med"/>
          </a:ln>
        </p:spPr>
      </p:cxnSp>
      <p:cxnSp>
        <p:nvCxnSpPr>
          <p:cNvPr id="12" name="Straight Arrow Connector 11">
            <a:extLst>
              <a:ext uri="{FF2B5EF4-FFF2-40B4-BE49-F238E27FC236}">
                <a16:creationId xmlns:a16="http://schemas.microsoft.com/office/drawing/2014/main" id="{EB0B73D3-DD4E-4740-BC53-04EEDEAE71B2}"/>
              </a:ext>
            </a:extLst>
          </p:cNvPr>
          <p:cNvCxnSpPr/>
          <p:nvPr/>
        </p:nvCxnSpPr>
        <p:spPr>
          <a:xfrm flipH="1">
            <a:off x="12096750" y="8524875"/>
            <a:ext cx="1428750" cy="0"/>
          </a:xfrm>
          <a:prstGeom prst="straightConnector1">
            <a:avLst/>
          </a:prstGeom>
          <a:ln w="23813">
            <a:solidFill>
              <a:srgbClr val="202426"/>
            </a:solidFill>
            <a:tailEnd type="arrow" w="med" len="med"/>
          </a:ln>
        </p:spPr>
      </p:cxnSp>
      <p:sp>
        <p:nvSpPr>
          <p:cNvPr id="13" name="Is Datum&#10;a letter?">
            <a:extLst>
              <a:ext uri="{FF2B5EF4-FFF2-40B4-BE49-F238E27FC236}">
                <a16:creationId xmlns:a16="http://schemas.microsoft.com/office/drawing/2014/main" id="{E106ECD2-66CC-431D-B1FC-A28BF61C6734}"/>
              </a:ext>
            </a:extLst>
          </p:cNvPr>
          <p:cNvSpPr>
            <a:spLocks noGrp="1"/>
          </p:cNvSpPr>
          <p:nvPr/>
        </p:nvSpPr>
        <p:spPr>
          <a:xfrm>
            <a:off x="7334250" y="2428875"/>
            <a:ext cx="3619500" cy="1666875"/>
          </a:xfrm>
          <a:prstGeom prst="diamond">
            <a:avLst/>
          </a:prstGeom>
          <a:solidFill>
            <a:srgbClr val="FFFFFF"/>
          </a:solidFill>
          <a:ln w="23813">
            <a:solidFill>
              <a:srgbClr val="202426"/>
            </a:solidFill>
          </a:ln>
        </p:spPr>
      </p:sp>
      <p:sp>
        <p:nvSpPr>
          <p:cNvPr id="14" name="Is Datum&#10;a letter?">
            <a:extLst>
              <a:ext uri="{FF2B5EF4-FFF2-40B4-BE49-F238E27FC236}">
                <a16:creationId xmlns:a16="http://schemas.microsoft.com/office/drawing/2014/main" id="{FB8F6792-31C9-4671-85FD-475886AB15FF}"/>
              </a:ext>
            </a:extLst>
          </p:cNvPr>
          <p:cNvSpPr>
            <a:spLocks noGrp="1"/>
          </p:cNvSpPr>
          <p:nvPr/>
        </p:nvSpPr>
        <p:spPr>
          <a:xfrm>
            <a:off x="7477125" y="2524125"/>
            <a:ext cx="3333750" cy="1476375"/>
          </a:xfrm>
          <a:prstGeom prst="rect">
            <a:avLst/>
          </a:prstGeom>
          <a:noFill/>
          <a:ln w="0">
            <a:noFill/>
          </a:ln>
        </p:spPr>
        <p:txBody>
          <a:bodyPr lIns="0" tIns="0" rIns="0" bIns="0" anchor="ctr">
            <a:noAutofit/>
          </a:bodyPr>
          <a:lstStyle>
            <a:defPPr algn="ctr">
              <a:defRPr sz="3150" b="0">
                <a:solidFill>
                  <a:srgbClr val="202426"/>
                </a:solidFill>
                <a:latin typeface="Arimo"/>
                <a:ea typeface="Arimo"/>
                <a:cs typeface="Arimo"/>
              </a:defRPr>
            </a:defPPr>
          </a:lstStyle>
          <a:p>
            <a:pPr algn="ctr">
              <a:defRPr sz="3150" b="0">
                <a:solidFill>
                  <a:srgbClr val="202426"/>
                </a:solidFill>
                <a:latin typeface="Arimo"/>
                <a:ea typeface="Arimo"/>
                <a:cs typeface="Arimo"/>
              </a:defRPr>
            </a:pPr>
            <a:r>
              <a:rPr sz="3150" b="0">
                <a:solidFill>
                  <a:srgbClr val="202426"/>
                </a:solidFill>
                <a:latin typeface="Arimo"/>
                <a:ea typeface="Arimo"/>
                <a:cs typeface="Arimo"/>
              </a:rPr>
              <a:t>Is Datum</a:t>
            </a:r>
          </a:p>
          <a:p>
            <a:pPr algn="ctr">
              <a:defRPr sz="3150" b="0">
                <a:solidFill>
                  <a:srgbClr val="202426"/>
                </a:solidFill>
                <a:latin typeface="Arimo"/>
                <a:ea typeface="Arimo"/>
                <a:cs typeface="Arimo"/>
              </a:defRPr>
            </a:pPr>
            <a:r>
              <a:rPr sz="3150" b="0">
                <a:solidFill>
                  <a:srgbClr val="202426"/>
                </a:solidFill>
                <a:latin typeface="Arimo"/>
                <a:ea typeface="Arimo"/>
                <a:cs typeface="Arimo"/>
              </a:rPr>
              <a:t>a letter?</a:t>
            </a:r>
          </a:p>
        </p:txBody>
      </p:sp>
      <p:sp>
        <p:nvSpPr>
          <p:cNvPr id="15" name="skip print">
            <a:extLst>
              <a:ext uri="{FF2B5EF4-FFF2-40B4-BE49-F238E27FC236}">
                <a16:creationId xmlns:a16="http://schemas.microsoft.com/office/drawing/2014/main" id="{BF92BD38-04B9-44B4-BE1E-C781414AFEA5}"/>
              </a:ext>
            </a:extLst>
          </p:cNvPr>
          <p:cNvSpPr>
            <a:spLocks noGrp="1"/>
          </p:cNvSpPr>
          <p:nvPr/>
        </p:nvSpPr>
        <p:spPr>
          <a:xfrm>
            <a:off x="2476500" y="5381625"/>
            <a:ext cx="4572000" cy="1143000"/>
          </a:xfrm>
          <a:prstGeom prst="roundRect">
            <a:avLst>
              <a:gd name="adj" fmla="val 6667"/>
            </a:avLst>
          </a:prstGeom>
          <a:solidFill>
            <a:srgbClr val="FFFFFF"/>
          </a:solidFill>
          <a:ln w="23813">
            <a:solidFill>
              <a:srgbClr val="DF4214"/>
            </a:solidFill>
          </a:ln>
        </p:spPr>
      </p:sp>
      <p:sp>
        <p:nvSpPr>
          <p:cNvPr id="16" name="skip print">
            <a:extLst>
              <a:ext uri="{FF2B5EF4-FFF2-40B4-BE49-F238E27FC236}">
                <a16:creationId xmlns:a16="http://schemas.microsoft.com/office/drawing/2014/main" id="{B885CCE6-D641-4D80-90CE-E7FD1A6FB18A}"/>
              </a:ext>
            </a:extLst>
          </p:cNvPr>
          <p:cNvSpPr>
            <a:spLocks noGrp="1"/>
          </p:cNvSpPr>
          <p:nvPr/>
        </p:nvSpPr>
        <p:spPr>
          <a:xfrm>
            <a:off x="2619375" y="5476875"/>
            <a:ext cx="4286250" cy="952500"/>
          </a:xfrm>
          <a:prstGeom prst="rect">
            <a:avLst/>
          </a:prstGeom>
          <a:noFill/>
          <a:ln w="0">
            <a:noFill/>
          </a:ln>
        </p:spPr>
        <p:txBody>
          <a:bodyPr lIns="0" tIns="0" rIns="0" bIns="0" anchor="ctr">
            <a:noAutofit/>
          </a:bodyPr>
          <a:lstStyle>
            <a:defPPr algn="ctr">
              <a:defRPr sz="3225" b="0">
                <a:solidFill>
                  <a:srgbClr val="202426"/>
                </a:solidFill>
                <a:latin typeface="Arimo"/>
                <a:ea typeface="Arimo"/>
                <a:cs typeface="Arimo"/>
              </a:defRPr>
            </a:defPPr>
          </a:lstStyle>
          <a:p>
            <a:pPr algn="ctr">
              <a:defRPr sz="3225" b="0">
                <a:solidFill>
                  <a:srgbClr val="202426"/>
                </a:solidFill>
                <a:latin typeface="Arimo"/>
                <a:ea typeface="Arimo"/>
                <a:cs typeface="Arimo"/>
              </a:defRPr>
            </a:pPr>
            <a:r>
              <a:rPr sz="3225" b="0">
                <a:solidFill>
                  <a:srgbClr val="202426"/>
                </a:solidFill>
                <a:latin typeface="Arimo"/>
                <a:ea typeface="Arimo"/>
                <a:cs typeface="Arimo"/>
              </a:rPr>
              <a:t>skip print</a:t>
            </a:r>
          </a:p>
        </p:txBody>
      </p:sp>
      <p:sp>
        <p:nvSpPr>
          <p:cNvPr id="17" name="print 1">
            <a:extLst>
              <a:ext uri="{FF2B5EF4-FFF2-40B4-BE49-F238E27FC236}">
                <a16:creationId xmlns:a16="http://schemas.microsoft.com/office/drawing/2014/main" id="{597B5127-F08F-4BBB-A7CC-6C92C7D3B53A}"/>
              </a:ext>
            </a:extLst>
          </p:cNvPr>
          <p:cNvSpPr>
            <a:spLocks noGrp="1"/>
          </p:cNvSpPr>
          <p:nvPr/>
        </p:nvSpPr>
        <p:spPr>
          <a:xfrm>
            <a:off x="11239500" y="5381625"/>
            <a:ext cx="4572000" cy="1143000"/>
          </a:xfrm>
          <a:prstGeom prst="roundRect">
            <a:avLst>
              <a:gd name="adj" fmla="val 6667"/>
            </a:avLst>
          </a:prstGeom>
          <a:solidFill>
            <a:srgbClr val="FFFFFF"/>
          </a:solidFill>
          <a:ln w="23813">
            <a:solidFill>
              <a:srgbClr val="202426"/>
            </a:solidFill>
          </a:ln>
        </p:spPr>
      </p:sp>
      <p:sp>
        <p:nvSpPr>
          <p:cNvPr id="18" name="print 1">
            <a:extLst>
              <a:ext uri="{FF2B5EF4-FFF2-40B4-BE49-F238E27FC236}">
                <a16:creationId xmlns:a16="http://schemas.microsoft.com/office/drawing/2014/main" id="{E7C847E5-8254-4433-8B2C-573AD364B133}"/>
              </a:ext>
            </a:extLst>
          </p:cNvPr>
          <p:cNvSpPr>
            <a:spLocks noGrp="1"/>
          </p:cNvSpPr>
          <p:nvPr/>
        </p:nvSpPr>
        <p:spPr>
          <a:xfrm>
            <a:off x="11382375" y="5476875"/>
            <a:ext cx="4286250" cy="952500"/>
          </a:xfrm>
          <a:prstGeom prst="rect">
            <a:avLst/>
          </a:prstGeom>
          <a:noFill/>
          <a:ln w="0">
            <a:noFill/>
          </a:ln>
        </p:spPr>
        <p:txBody>
          <a:bodyPr lIns="0" tIns="0" rIns="0" bIns="0" anchor="ctr">
            <a:noAutofit/>
          </a:bodyPr>
          <a:lstStyle>
            <a:defPPr algn="ctr">
              <a:defRPr sz="3225" b="0">
                <a:solidFill>
                  <a:srgbClr val="202426"/>
                </a:solidFill>
                <a:latin typeface="Arimo"/>
                <a:ea typeface="Arimo"/>
                <a:cs typeface="Arimo"/>
              </a:defRPr>
            </a:defPPr>
          </a:lstStyle>
          <a:p>
            <a:pPr algn="ctr">
              <a:defRPr sz="3225" b="0">
                <a:solidFill>
                  <a:srgbClr val="202426"/>
                </a:solidFill>
                <a:latin typeface="Arimo"/>
                <a:ea typeface="Arimo"/>
                <a:cs typeface="Arimo"/>
              </a:defRPr>
            </a:pPr>
            <a:r>
              <a:rPr sz="3225" b="0">
                <a:solidFill>
                  <a:srgbClr val="202426"/>
                </a:solidFill>
                <a:latin typeface="Arimo"/>
                <a:ea typeface="Arimo"/>
                <a:cs typeface="Arimo"/>
              </a:rPr>
              <a:t>print 1</a:t>
            </a:r>
          </a:p>
        </p:txBody>
      </p:sp>
      <p:sp>
        <p:nvSpPr>
          <p:cNvPr id="19" name="update the counter">
            <a:extLst>
              <a:ext uri="{FF2B5EF4-FFF2-40B4-BE49-F238E27FC236}">
                <a16:creationId xmlns:a16="http://schemas.microsoft.com/office/drawing/2014/main" id="{83D8DAC1-0F83-44E5-9AED-4151730E2E0F}"/>
              </a:ext>
            </a:extLst>
          </p:cNvPr>
          <p:cNvSpPr>
            <a:spLocks noGrp="1"/>
          </p:cNvSpPr>
          <p:nvPr/>
        </p:nvSpPr>
        <p:spPr>
          <a:xfrm>
            <a:off x="6191250" y="8001000"/>
            <a:ext cx="5905500" cy="1047750"/>
          </a:xfrm>
          <a:prstGeom prst="roundRect">
            <a:avLst>
              <a:gd name="adj" fmla="val 7273"/>
            </a:avLst>
          </a:prstGeom>
          <a:solidFill>
            <a:srgbClr val="FFFFFF"/>
          </a:solidFill>
          <a:ln w="23813">
            <a:solidFill>
              <a:srgbClr val="202426"/>
            </a:solidFill>
          </a:ln>
        </p:spPr>
      </p:sp>
      <p:sp>
        <p:nvSpPr>
          <p:cNvPr id="20" name="update the counter">
            <a:extLst>
              <a:ext uri="{FF2B5EF4-FFF2-40B4-BE49-F238E27FC236}">
                <a16:creationId xmlns:a16="http://schemas.microsoft.com/office/drawing/2014/main" id="{527B7DF4-D5AC-45D9-9BD0-2E2136527AE7}"/>
              </a:ext>
            </a:extLst>
          </p:cNvPr>
          <p:cNvSpPr>
            <a:spLocks noGrp="1"/>
          </p:cNvSpPr>
          <p:nvPr/>
        </p:nvSpPr>
        <p:spPr>
          <a:xfrm>
            <a:off x="6334125" y="8096250"/>
            <a:ext cx="5619750" cy="857250"/>
          </a:xfrm>
          <a:prstGeom prst="rect">
            <a:avLst/>
          </a:prstGeom>
          <a:noFill/>
          <a:ln w="0">
            <a:noFill/>
          </a:ln>
        </p:spPr>
        <p:txBody>
          <a:bodyPr lIns="0" tIns="0" rIns="0" bIns="0" anchor="ctr">
            <a:noAutofit/>
          </a:bodyPr>
          <a:lstStyle>
            <a:defPPr algn="ctr">
              <a:defRPr sz="3450" b="0">
                <a:solidFill>
                  <a:srgbClr val="202426"/>
                </a:solidFill>
                <a:latin typeface="Arimo"/>
                <a:ea typeface="Arimo"/>
                <a:cs typeface="Arimo"/>
              </a:defRPr>
            </a:defPPr>
          </a:lstStyle>
          <a:p>
            <a:pPr algn="ctr">
              <a:defRPr sz="3450" b="0">
                <a:solidFill>
                  <a:srgbClr val="202426"/>
                </a:solidFill>
                <a:latin typeface="Arimo"/>
                <a:ea typeface="Arimo"/>
                <a:cs typeface="Arimo"/>
              </a:defRPr>
            </a:pPr>
            <a:r>
              <a:rPr sz="3450" b="0">
                <a:solidFill>
                  <a:srgbClr val="202426"/>
                </a:solidFill>
                <a:latin typeface="Arimo"/>
                <a:ea typeface="Arimo"/>
                <a:cs typeface="Arimo"/>
              </a:rPr>
              <a:t>update the counter</a:t>
            </a:r>
          </a:p>
        </p:txBody>
      </p:sp>
      <p:sp>
        <p:nvSpPr>
          <p:cNvPr id="21" name="A · yes">
            <a:extLst>
              <a:ext uri="{FF2B5EF4-FFF2-40B4-BE49-F238E27FC236}">
                <a16:creationId xmlns:a16="http://schemas.microsoft.com/office/drawing/2014/main" id="{916E0558-741C-48F4-9606-6275BA7EA2AC}"/>
              </a:ext>
            </a:extLst>
          </p:cNvPr>
          <p:cNvSpPr>
            <a:spLocks noGrp="1"/>
          </p:cNvSpPr>
          <p:nvPr/>
        </p:nvSpPr>
        <p:spPr>
          <a:xfrm>
            <a:off x="2714625" y="3619500"/>
            <a:ext cx="2095500" cy="523875"/>
          </a:xfrm>
          <a:prstGeom prst="rect">
            <a:avLst/>
          </a:prstGeom>
          <a:noFill/>
          <a:ln w="0">
            <a:noFill/>
          </a:ln>
        </p:spPr>
        <p:txBody>
          <a:bodyPr lIns="0" tIns="0" rIns="0" bIns="0" anchor="ctr">
            <a:noAutofit/>
          </a:bodyPr>
          <a:lstStyle>
            <a:defPPr algn="ctr">
              <a:defRPr sz="2700" b="0">
                <a:solidFill>
                  <a:srgbClr val="DF4214"/>
                </a:solidFill>
                <a:latin typeface="Arimo"/>
                <a:ea typeface="Arimo"/>
                <a:cs typeface="Arimo"/>
              </a:defRPr>
            </a:defPPr>
          </a:lstStyle>
          <a:p>
            <a:pPr algn="ctr">
              <a:defRPr sz="2700" b="0">
                <a:solidFill>
                  <a:srgbClr val="DF4214"/>
                </a:solidFill>
                <a:latin typeface="Arimo"/>
                <a:ea typeface="Arimo"/>
                <a:cs typeface="Arimo"/>
              </a:defRPr>
            </a:pPr>
            <a:r>
              <a:rPr sz="2700" b="0">
                <a:solidFill>
                  <a:srgbClr val="DF4214"/>
                </a:solidFill>
                <a:latin typeface="Arimo"/>
                <a:ea typeface="Arimo"/>
                <a:cs typeface="Arimo"/>
              </a:rPr>
              <a:t>A · yes</a:t>
            </a:r>
          </a:p>
        </p:txBody>
      </p:sp>
      <p:sp>
        <p:nvSpPr>
          <p:cNvPr id="22" name="1 · no">
            <a:extLst>
              <a:ext uri="{FF2B5EF4-FFF2-40B4-BE49-F238E27FC236}">
                <a16:creationId xmlns:a16="http://schemas.microsoft.com/office/drawing/2014/main" id="{6A481D95-2D61-4156-82E9-3C39499545FA}"/>
              </a:ext>
            </a:extLst>
          </p:cNvPr>
          <p:cNvSpPr>
            <a:spLocks noGrp="1"/>
          </p:cNvSpPr>
          <p:nvPr/>
        </p:nvSpPr>
        <p:spPr>
          <a:xfrm>
            <a:off x="13430250" y="3619500"/>
            <a:ext cx="2095500" cy="523875"/>
          </a:xfrm>
          <a:prstGeom prst="rect">
            <a:avLst/>
          </a:prstGeom>
          <a:noFill/>
          <a:ln w="0">
            <a:noFill/>
          </a:ln>
        </p:spPr>
        <p:txBody>
          <a:bodyPr lIns="0" tIns="0" rIns="0" bIns="0" anchor="ctr">
            <a:noAutofit/>
          </a:bodyPr>
          <a:lstStyle>
            <a:defPPr algn="ctr">
              <a:defRPr sz="2700" b="0">
                <a:solidFill>
                  <a:srgbClr val="596167"/>
                </a:solidFill>
                <a:latin typeface="Arimo"/>
                <a:ea typeface="Arimo"/>
                <a:cs typeface="Arimo"/>
              </a:defRPr>
            </a:defPPr>
          </a:lstStyle>
          <a:p>
            <a:pPr algn="ctr">
              <a:defRPr sz="2700" b="0">
                <a:solidFill>
                  <a:srgbClr val="596167"/>
                </a:solidFill>
                <a:latin typeface="Arimo"/>
                <a:ea typeface="Arimo"/>
                <a:cs typeface="Arimo"/>
              </a:defRPr>
            </a:pPr>
            <a:r>
              <a:rPr sz="2700" b="0">
                <a:solidFill>
                  <a:srgbClr val="596167"/>
                </a:solidFill>
                <a:latin typeface="Arimo"/>
                <a:ea typeface="Arimo"/>
                <a:cs typeface="Arimo"/>
              </a:rPr>
              <a:t>1 · no</a:t>
            </a:r>
          </a:p>
        </p:txBody>
      </p:sp>
      <p:sp>
        <p:nvSpPr>
          <p:cNvPr id="23" name="Optional  /  14">
            <a:extLst>
              <a:ext uri="{FF2B5EF4-FFF2-40B4-BE49-F238E27FC236}">
                <a16:creationId xmlns:a16="http://schemas.microsoft.com/office/drawing/2014/main" id="{69858B4D-7A31-407E-86F1-F74AAC8AD839}"/>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Optional  /  14</a:t>
            </a:r>
          </a:p>
        </p:txBody>
      </p:sp>
    </p:spTree>
    <p:extLst>
      <p:ext uri="{BB962C8B-B14F-4D97-AF65-F5344CB8AC3E}">
        <p14:creationId xmlns:p14="http://schemas.microsoft.com/office/powerpoint/2010/main" val="1939756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Brand accent">
            <a:extLst>
              <a:ext uri="{FF2B5EF4-FFF2-40B4-BE49-F238E27FC236}">
                <a16:creationId xmlns:a16="http://schemas.microsoft.com/office/drawing/2014/main" id="{990F2DCE-198B-4FFF-96B6-0534B2CB7764}"/>
              </a:ext>
            </a:extLst>
          </p:cNvPr>
          <p:cNvSpPr>
            <a:spLocks noGrp="1"/>
          </p:cNvSpPr>
          <p:nvPr/>
        </p:nvSpPr>
        <p:spPr>
          <a:xfrm>
            <a:off x="0" y="0"/>
            <a:ext cx="114300" cy="10287000"/>
          </a:xfrm>
          <a:prstGeom prst="rect">
            <a:avLst/>
          </a:prstGeom>
          <a:solidFill>
            <a:srgbClr val="DF4214"/>
          </a:solidFill>
          <a:ln w="0">
            <a:noFill/>
          </a:ln>
        </p:spPr>
      </p:sp>
      <p:pic>
        <p:nvPicPr>
          <p:cNvPr id="2" name="Picture 1">
            <a:extLst>
              <a:ext uri="{FF2B5EF4-FFF2-40B4-BE49-F238E27FC236}">
                <a16:creationId xmlns:a16="http://schemas.microsoft.com/office/drawing/2014/main" id="{7AD51466-07DD-4FEA-983A-1035C14B24C6}"/>
              </a:ext>
            </a:extLst>
          </p:cNvPr>
          <p:cNvPicPr>
            <a:picLocks noChangeAspect="1"/>
          </p:cNvPicPr>
          <p:nvPr/>
        </p:nvPicPr>
        <p:blipFill>
          <a:blip r:embed="rId3"/>
          <a:stretch/>
        </p:blipFill>
        <p:spPr>
          <a:xfrm>
            <a:off x="16479803" y="381000"/>
            <a:ext cx="1092269" cy="714375"/>
          </a:xfrm>
          <a:prstGeom prst="rect">
            <a:avLst/>
          </a:prstGeom>
        </p:spPr>
      </p:pic>
      <p:sp>
        <p:nvSpPr>
          <p:cNvPr id="3" name="Explain the next statement">
            <a:extLst>
              <a:ext uri="{FF2B5EF4-FFF2-40B4-BE49-F238E27FC236}">
                <a16:creationId xmlns:a16="http://schemas.microsoft.com/office/drawing/2014/main" id="{CA5BD9E5-83E9-4587-A268-0FCF7DCA4BDE}"/>
              </a:ext>
            </a:extLst>
          </p:cNvPr>
          <p:cNvSpPr>
            <a:spLocks noGrp="1"/>
          </p:cNvSpPr>
          <p:nvPr/>
        </p:nvSpPr>
        <p:spPr>
          <a:xfrm>
            <a:off x="1047750" y="904875"/>
            <a:ext cx="14954250" cy="1190625"/>
          </a:xfrm>
          <a:prstGeom prst="rect">
            <a:avLst/>
          </a:prstGeom>
          <a:noFill/>
          <a:ln w="0">
            <a:noFill/>
          </a:ln>
        </p:spPr>
        <p:txBody>
          <a:bodyPr lIns="0" tIns="0" rIns="0" bIns="0" anchor="ctr">
            <a:noAutofit/>
          </a:bodyPr>
          <a:lstStyle>
            <a:defPPr algn="l">
              <a:defRPr sz="5250" b="1">
                <a:solidFill>
                  <a:srgbClr val="202426"/>
                </a:solidFill>
                <a:latin typeface="Arimo"/>
                <a:ea typeface="Arimo"/>
                <a:cs typeface="Arimo"/>
              </a:defRPr>
            </a:defPPr>
          </a:lstStyle>
          <a:p>
            <a:pPr algn="l">
              <a:defRPr sz="5250" b="1">
                <a:solidFill>
                  <a:srgbClr val="202426"/>
                </a:solidFill>
                <a:latin typeface="Arimo"/>
                <a:ea typeface="Arimo"/>
                <a:cs typeface="Arimo"/>
              </a:defRPr>
            </a:pPr>
            <a:r>
              <a:rPr sz="5250" b="1">
                <a:solidFill>
                  <a:srgbClr val="202426"/>
                </a:solidFill>
                <a:latin typeface="Arimo"/>
                <a:ea typeface="Arimo"/>
                <a:cs typeface="Arimo"/>
              </a:rPr>
              <a:t>Explain the next statement</a:t>
            </a:r>
          </a:p>
        </p:txBody>
      </p:sp>
      <p:sp>
        <p:nvSpPr>
          <p:cNvPr id="4" name="Chapter 6 · Explain execution">
            <a:extLst>
              <a:ext uri="{FF2B5EF4-FFF2-40B4-BE49-F238E27FC236}">
                <a16:creationId xmlns:a16="http://schemas.microsoft.com/office/drawing/2014/main" id="{A720780C-B5B3-48D8-8B59-12AE23D7E1B8}"/>
              </a:ext>
            </a:extLst>
          </p:cNvPr>
          <p:cNvSpPr>
            <a:spLocks noGrp="1"/>
          </p:cNvSpPr>
          <p:nvPr/>
        </p:nvSpPr>
        <p:spPr>
          <a:xfrm>
            <a:off x="1047750" y="428625"/>
            <a:ext cx="14763750" cy="342900"/>
          </a:xfrm>
          <a:prstGeom prst="rect">
            <a:avLst/>
          </a:prstGeom>
          <a:noFill/>
          <a:ln w="0">
            <a:noFill/>
          </a:ln>
        </p:spPr>
        <p:txBody>
          <a:bodyPr lIns="0" tIns="0" rIns="0" bIns="0" anchor="ctr">
            <a:noAutofit/>
          </a:bodyPr>
          <a:lstStyle>
            <a:defPPr algn="l">
              <a:defRPr sz="1950" b="0">
                <a:solidFill>
                  <a:srgbClr val="596167"/>
                </a:solidFill>
                <a:latin typeface="Arimo"/>
                <a:ea typeface="Arimo"/>
                <a:cs typeface="Arimo"/>
              </a:defRPr>
            </a:defPPr>
          </a:lstStyle>
          <a:p>
            <a:pPr algn="l">
              <a:defRPr sz="1950" b="0">
                <a:solidFill>
                  <a:srgbClr val="596167"/>
                </a:solidFill>
                <a:latin typeface="Arimo"/>
                <a:ea typeface="Arimo"/>
                <a:cs typeface="Arimo"/>
              </a:defRPr>
            </a:pPr>
            <a:r>
              <a:rPr sz="1950" b="0">
                <a:solidFill>
                  <a:srgbClr val="596167"/>
                </a:solidFill>
                <a:latin typeface="Arimo"/>
                <a:ea typeface="Arimo"/>
                <a:cs typeface="Arimo"/>
              </a:rPr>
              <a:t>Chapter 6 · Explain execution</a:t>
            </a:r>
          </a:p>
        </p:txBody>
      </p:sp>
      <p:sp>
        <p:nvSpPr>
          <p:cNvPr id="5" name="What executes next,&#10;and which value decides?">
            <a:extLst>
              <a:ext uri="{FF2B5EF4-FFF2-40B4-BE49-F238E27FC236}">
                <a16:creationId xmlns:a16="http://schemas.microsoft.com/office/drawing/2014/main" id="{A9406A35-C228-4CF4-9A0D-443A41821062}"/>
              </a:ext>
            </a:extLst>
          </p:cNvPr>
          <p:cNvSpPr>
            <a:spLocks noGrp="1"/>
          </p:cNvSpPr>
          <p:nvPr/>
        </p:nvSpPr>
        <p:spPr>
          <a:xfrm>
            <a:off x="1714500" y="3238500"/>
            <a:ext cx="14859000" cy="3143250"/>
          </a:xfrm>
          <a:prstGeom prst="rect">
            <a:avLst/>
          </a:prstGeom>
          <a:noFill/>
          <a:ln w="0">
            <a:noFill/>
          </a:ln>
        </p:spPr>
        <p:txBody>
          <a:bodyPr lIns="0" tIns="0" rIns="0" bIns="0" anchor="ctr">
            <a:noAutofit/>
          </a:bodyPr>
          <a:lstStyle>
            <a:defPPr algn="l">
              <a:defRPr sz="6300" b="1">
                <a:solidFill>
                  <a:srgbClr val="202426"/>
                </a:solidFill>
                <a:latin typeface="Arimo"/>
                <a:ea typeface="Arimo"/>
                <a:cs typeface="Arimo"/>
              </a:defRPr>
            </a:defPPr>
          </a:lstStyle>
          <a:p>
            <a:pPr algn="l">
              <a:defRPr sz="6300" b="1">
                <a:solidFill>
                  <a:srgbClr val="202426"/>
                </a:solidFill>
                <a:latin typeface="Arimo"/>
                <a:ea typeface="Arimo"/>
                <a:cs typeface="Arimo"/>
              </a:defRPr>
            </a:pPr>
            <a:r>
              <a:rPr sz="6300" b="1">
                <a:solidFill>
                  <a:srgbClr val="202426"/>
                </a:solidFill>
                <a:latin typeface="Arimo"/>
                <a:ea typeface="Arimo"/>
                <a:cs typeface="Arimo"/>
              </a:rPr>
              <a:t>What executes next,</a:t>
            </a:r>
          </a:p>
          <a:p>
            <a:pPr algn="l">
              <a:defRPr sz="6300" b="1">
                <a:solidFill>
                  <a:srgbClr val="202426"/>
                </a:solidFill>
                <a:latin typeface="Arimo"/>
                <a:ea typeface="Arimo"/>
                <a:cs typeface="Arimo"/>
              </a:defRPr>
            </a:pPr>
            <a:r>
              <a:rPr sz="6300" b="1">
                <a:solidFill>
                  <a:srgbClr val="202426"/>
                </a:solidFill>
                <a:latin typeface="Arimo"/>
                <a:ea typeface="Arimo"/>
                <a:cs typeface="Arimo"/>
              </a:rPr>
              <a:t>and which value decides?</a:t>
            </a:r>
          </a:p>
        </p:txBody>
      </p:sp>
      <p:sp>
        <p:nvSpPr>
          <p:cNvPr id="6" name="Use Melody or the string-length demonstration.">
            <a:extLst>
              <a:ext uri="{FF2B5EF4-FFF2-40B4-BE49-F238E27FC236}">
                <a16:creationId xmlns:a16="http://schemas.microsoft.com/office/drawing/2014/main" id="{4C02518E-1D7C-492B-8DBE-03292D81FA7F}"/>
              </a:ext>
            </a:extLst>
          </p:cNvPr>
          <p:cNvSpPr>
            <a:spLocks noGrp="1"/>
          </p:cNvSpPr>
          <p:nvPr/>
        </p:nvSpPr>
        <p:spPr>
          <a:xfrm>
            <a:off x="1143000" y="8572500"/>
            <a:ext cx="15716250" cy="619125"/>
          </a:xfrm>
          <a:prstGeom prst="rect">
            <a:avLst/>
          </a:prstGeom>
          <a:noFill/>
          <a:ln w="0">
            <a:noFill/>
          </a:ln>
        </p:spPr>
        <p:txBody>
          <a:bodyPr lIns="0" tIns="0" rIns="0" bIns="0" anchor="ctr">
            <a:noAutofit/>
          </a:bodyPr>
          <a:lstStyle>
            <a:defPPr algn="l">
              <a:defRPr sz="2550" b="0">
                <a:solidFill>
                  <a:srgbClr val="596167"/>
                </a:solidFill>
                <a:latin typeface="Arimo"/>
                <a:ea typeface="Arimo"/>
                <a:cs typeface="Arimo"/>
              </a:defRPr>
            </a:defPPr>
          </a:lstStyle>
          <a:p>
            <a:pPr algn="l">
              <a:defRPr sz="2550" b="0">
                <a:solidFill>
                  <a:srgbClr val="596167"/>
                </a:solidFill>
                <a:latin typeface="Arimo"/>
                <a:ea typeface="Arimo"/>
                <a:cs typeface="Arimo"/>
              </a:defRPr>
            </a:pPr>
            <a:r>
              <a:rPr sz="2550" b="0">
                <a:solidFill>
                  <a:srgbClr val="596167"/>
                </a:solidFill>
                <a:latin typeface="Arimo"/>
                <a:ea typeface="Arimo"/>
                <a:cs typeface="Arimo"/>
              </a:rPr>
              <a:t>Use Melody or the string-length demonstration.</a:t>
            </a:r>
          </a:p>
        </p:txBody>
      </p:sp>
      <p:sp>
        <p:nvSpPr>
          <p:cNvPr id="7" name="Chapter 6  /  15">
            <a:extLst>
              <a:ext uri="{FF2B5EF4-FFF2-40B4-BE49-F238E27FC236}">
                <a16:creationId xmlns:a16="http://schemas.microsoft.com/office/drawing/2014/main" id="{C5B2634B-8EA6-428E-8376-046DB18BA94B}"/>
              </a:ext>
            </a:extLst>
          </p:cNvPr>
          <p:cNvSpPr>
            <a:spLocks noGrp="1"/>
          </p:cNvSpPr>
          <p:nvPr/>
        </p:nvSpPr>
        <p:spPr>
          <a:xfrm>
            <a:off x="12382500" y="9563100"/>
            <a:ext cx="4810125" cy="323850"/>
          </a:xfrm>
          <a:prstGeom prst="rect">
            <a:avLst/>
          </a:prstGeom>
          <a:noFill/>
          <a:ln w="0">
            <a:noFill/>
          </a:ln>
        </p:spPr>
        <p:txBody>
          <a:bodyPr lIns="0" tIns="0" rIns="0" bIns="0" anchor="ctr">
            <a:noAutofit/>
          </a:bodyPr>
          <a:lstStyle>
            <a:defPPr algn="r">
              <a:defRPr sz="1800" b="0">
                <a:solidFill>
                  <a:srgbClr val="596167"/>
                </a:solidFill>
                <a:latin typeface="Arimo"/>
                <a:ea typeface="Arimo"/>
                <a:cs typeface="Arimo"/>
              </a:defRPr>
            </a:defPPr>
          </a:lstStyle>
          <a:p>
            <a:pPr algn="r">
              <a:defRPr sz="1800" b="0">
                <a:solidFill>
                  <a:srgbClr val="596167"/>
                </a:solidFill>
                <a:latin typeface="Arimo"/>
                <a:ea typeface="Arimo"/>
                <a:cs typeface="Arimo"/>
              </a:defRPr>
            </a:pPr>
            <a:r>
              <a:rPr sz="1800" b="0">
                <a:solidFill>
                  <a:srgbClr val="596167"/>
                </a:solidFill>
                <a:latin typeface="Arimo"/>
                <a:ea typeface="Arimo"/>
                <a:cs typeface="Arimo"/>
              </a:rPr>
              <a:t>Chapter 6  /  15</a:t>
            </a:r>
          </a:p>
        </p:txBody>
      </p:sp>
    </p:spTree>
    <p:extLst>
      <p:ext uri="{BB962C8B-B14F-4D97-AF65-F5344CB8AC3E}">
        <p14:creationId xmlns:p14="http://schemas.microsoft.com/office/powerpoint/2010/main" val="2088089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5e2c61ad-64cd-4249-8d61-e76531bd5b03"/>
  <p:tag name="SLIDO_EVENT_UUID" val="1bb8e5b0-5709-4818-ac3c-986adfe620ee"/>
  <p:tag name="SLIDO_EVENT_SECTION_UUID" val="44329b44-3f6d-40f4-83cb-d8e21739adcd"/>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73cb130a-30ad-4222-8a1a-1ae2a95aecf9"/>
  <p:tag name="SLIDO_KEEP_POLL_ACTIVE" val="false"/>
  <p:tag name="SLIDO_TIMELINE" val="W3sicG9sbFF1ZXN0aW9uVXVpZCI6ImM5MDhiYTVmLTljY2QtNGM1Ny05NzBiLWZhMmU2NzAyMzY1YiIsInNob3dSZXN1bHRzIjpmYWxzZX0seyJwb2xsUXVlc3Rpb25VdWlkIjoiYzkwOGJhNWYtOWNjZC00YzU3LTk3MGItZmEyZTY3MDIzNjViIiwic2hvd1Jlc3VsdHMiOnRydWV9XQ=="/>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ELEMENT" val="footer"/>
</p:tagLst>
</file>

<file path=ppt/tags/tag6.xml><?xml version="1.0" encoding="utf-8"?>
<p:tagLst xmlns:a="http://schemas.openxmlformats.org/drawingml/2006/main" xmlns:r="http://schemas.openxmlformats.org/officeDocument/2006/relationships" xmlns:p="http://schemas.openxmlformats.org/presentationml/2006/main">
  <p:tag name="SLIDO_ELEMENT" val="corner"/>
</p:tagLst>
</file>

<file path=ppt/tags/tag7.xml><?xml version="1.0" encoding="utf-8"?>
<p:tagLst xmlns:a="http://schemas.openxmlformats.org/drawingml/2006/main" xmlns:r="http://schemas.openxmlformats.org/officeDocument/2006/relationships" xmlns:p="http://schemas.openxmlformats.org/presentationml/2006/main">
  <p:tag name="SLIDO_TYPE" val="SlidoPoll"/>
  <p:tag name="SLIDO_POLL_UUID" val="3c0e5c38-23bb-4681-89c8-ad1b641a6969"/>
  <p:tag name="SLIDO_KEEP_POLL_ACTIVE" val="false"/>
  <p:tag name="SLIDO_TIMELINE" val="W3sic2hvd0NvcnJlY3RBbnN3ZXJzIjpmYWxzZSwicG9sbFF1ZXN0aW9uVXVpZCI6IjhhMjc3YmU3LTg0YWUtNDJiMS05OGEwLTk4ZWI1NzhhNmUyNCIsInNob3dSZXN1bHRzIjpmYWxzZX0seyJzaG93Q29ycmVjdEFuc3dlcnMiOnRydWUsInBvbGxRdWVzdGlvblV1aWQiOiI4YTI3N2JlNy04NGFlLTQyYjEtOThhMC05OGViNTc4YTZlMjQiLCJzaG93UmVzdWx0cyI6dHJ1ZX1d"/>
</p:tagLst>
</file>

<file path=ppt/tags/tag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9.xml><?xml version="1.0" encoding="utf-8"?>
<p:tagLst xmlns:a="http://schemas.openxmlformats.org/drawingml/2006/main" xmlns:r="http://schemas.openxmlformats.org/officeDocument/2006/relationships" xmlns:p="http://schemas.openxmlformats.org/presentationml/2006/main">
  <p:tag name="SLIDO_ELEMENT" val="title"/>
</p:tagLst>
</file>

<file path=ppt/tags/tag10.xml><?xml version="1.0" encoding="utf-8"?>
<p:tagLst xmlns:a="http://schemas.openxmlformats.org/drawingml/2006/main" xmlns:r="http://schemas.openxmlformats.org/officeDocument/2006/relationships" xmlns:p="http://schemas.openxmlformats.org/presentationml/2006/main">
  <p:tag name="SLIDO_ELEMENT" val="footer"/>
</p:tagLst>
</file>

<file path=ppt/tags/tag11.xml><?xml version="1.0" encoding="utf-8"?>
<p:tagLst xmlns:a="http://schemas.openxmlformats.org/drawingml/2006/main" xmlns:r="http://schemas.openxmlformats.org/officeDocument/2006/relationships" xmlns:p="http://schemas.openxmlformats.org/presentationml/2006/main">
  <p:tag name="SLIDO_ELEMENT" val="corner"/>
</p:tagLst>
</file>

<file path=ppt/tags/tag12.xml><?xml version="1.0" encoding="utf-8"?>
<p:tagLst xmlns:a="http://schemas.openxmlformats.org/drawingml/2006/main" xmlns:r="http://schemas.openxmlformats.org/officeDocument/2006/relationships" xmlns:p="http://schemas.openxmlformats.org/presentationml/2006/main">
  <p:tag name="SLIDO_TYPE" val="SlidoPoll"/>
  <p:tag name="SLIDO_POLL_UUID" val="701a3700-a613-4695-b102-4f52759f458e"/>
  <p:tag name="SLIDO_KEEP_POLL_ACTIVE" val="false"/>
  <p:tag name="SLIDO_TIMELINE" val="W3sic2hvd0NvcnJlY3RBbnN3ZXJzIjpmYWxzZSwicG9sbFF1ZXN0aW9uVXVpZCI6IjFmYjZlZDAzLTJkZGYtNDQzOC05NTllLTI1NDgzNDFlYTdkYiIsInNob3dSZXN1bHRzIjpmYWxzZX0seyJzaG93Q29ycmVjdEFuc3dlcnMiOnRydWUsInBvbGxRdWVzdGlvblV1aWQiOiIxZmI2ZWQwMy0yZGRmLTQ0MzgtOTU5ZS0yNTQ4MzQxZWE3ZGIiLCJzaG93UmVzdWx0cyI6dHJ1ZX1d"/>
</p:tagLst>
</file>

<file path=ppt/tags/tag1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4.xml><?xml version="1.0" encoding="utf-8"?>
<p:tagLst xmlns:a="http://schemas.openxmlformats.org/drawingml/2006/main" xmlns:r="http://schemas.openxmlformats.org/officeDocument/2006/relationships" xmlns:p="http://schemas.openxmlformats.org/presentationml/2006/main">
  <p:tag name="SLIDO_ELEMENT" val="title"/>
</p:tagLst>
</file>

<file path=ppt/tags/tag15.xml><?xml version="1.0" encoding="utf-8"?>
<p:tagLst xmlns:a="http://schemas.openxmlformats.org/drawingml/2006/main" xmlns:r="http://schemas.openxmlformats.org/officeDocument/2006/relationships" xmlns:p="http://schemas.openxmlformats.org/presentationml/2006/main">
  <p:tag name="SLIDO_ELEMENT" val="footer"/>
</p:tagLst>
</file>

<file path=ppt/tags/tag16.xml><?xml version="1.0" encoding="utf-8"?>
<p:tagLst xmlns:a="http://schemas.openxmlformats.org/drawingml/2006/main" xmlns:r="http://schemas.openxmlformats.org/officeDocument/2006/relationships" xmlns:p="http://schemas.openxmlformats.org/presentationml/2006/main">
  <p:tag name="SLIDO_ELEMENT" val="corner"/>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3117</Words>
  <Application>Microsoft Macintosh PowerPoint</Application>
  <DocSecurity>0</DocSecurity>
  <PresentationFormat>Custom</PresentationFormat>
  <Paragraphs>267</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Arimo</vt:lpstr>
      <vt:lpstr>Menlo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Rakhmonberdi Khajiyev</cp:lastModifiedBy>
  <cp:revision>3</cp:revision>
  <dcterms:created xsi:type="dcterms:W3CDTF">2026-10-12T18:10:39Z</dcterms:created>
  <dcterms:modified xsi:type="dcterms:W3CDTF">2026-10-12T19:18:40Z</dcterms:modified>
</cp:coreProperties>
</file>