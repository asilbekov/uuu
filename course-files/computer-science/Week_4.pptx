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5000" r:id="rId2"/>
    <p:sldMasterId id="2147485001" r:id="rId3"/>
    <p:sldMasterId id="2147485002" r:id="rId4"/>
    <p:sldMasterId id="2147485003" r:id="rId5"/>
  </p:sldMasterIdLst>
  <p:notesMasterIdLst>
    <p:notesMasterId r:id="rId39"/>
  </p:notesMasterIdLst>
  <p:sldIdLst>
    <p:sldId id="2069" r:id="rId6"/>
    <p:sldId id="2070" r:id="rId7"/>
    <p:sldId id="2071" r:id="rId8"/>
    <p:sldId id="2072" r:id="rId9"/>
    <p:sldId id="2073" r:id="rId10"/>
    <p:sldId id="2074" r:id="rId11"/>
    <p:sldId id="2075" r:id="rId12"/>
    <p:sldId id="2076" r:id="rId13"/>
    <p:sldId id="2077" r:id="rId14"/>
    <p:sldId id="2078" r:id="rId15"/>
    <p:sldId id="2079" r:id="rId16"/>
    <p:sldId id="2080" r:id="rId17"/>
    <p:sldId id="2081" r:id="rId18"/>
    <p:sldId id="2082" r:id="rId19"/>
    <p:sldId id="2083" r:id="rId20"/>
    <p:sldId id="2084" r:id="rId21"/>
    <p:sldId id="2085" r:id="rId22"/>
    <p:sldId id="2086" r:id="rId23"/>
    <p:sldId id="2087" r:id="rId24"/>
    <p:sldId id="2088" r:id="rId25"/>
    <p:sldId id="2089" r:id="rId26"/>
    <p:sldId id="2090" r:id="rId27"/>
    <p:sldId id="2091" r:id="rId28"/>
    <p:sldId id="2092" r:id="rId29"/>
    <p:sldId id="2093" r:id="rId30"/>
    <p:sldId id="2094" r:id="rId31"/>
    <p:sldId id="2095" r:id="rId32"/>
    <p:sldId id="2096" r:id="rId33"/>
    <p:sldId id="2097" r:id="rId34"/>
    <p:sldId id="2098" r:id="rId35"/>
    <p:sldId id="2099" r:id="rId36"/>
    <p:sldId id="2100" r:id="rId37"/>
    <p:sldId id="2101" r:id="rId38"/>
  </p:sldIdLst>
  <p:sldSz cx="12192000" cy="6858000"/>
  <p:notesSz cx="6858000" cy="9144000"/>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35"/>
    <p:restoredTop sz="94699"/>
  </p:normalViewPr>
  <p:slideViewPr>
    <p:cSldViewPr snapToGrid="0">
      <p:cViewPr varScale="1">
        <p:scale>
          <a:sx n="103" d="100"/>
          <a:sy n="103" d="100"/>
        </p:scale>
        <p:origin x="688"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tags" Target="tags/tag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00–05 minutes | Opening
00–02 / Slides 1–2
DO: Identify each actual type and its example declaration. Distinguish a char from text. Explain that main(void) has no parameters, while a void return type means no returned value.
ASK: Which types store whole numbers, decimal values and one character?
EXPECT: int for whole numbers; float or double for decimal values; char for one character.
02–05 / Editor
DO: Create sphere_precision.c. Type stdio.h, cs50.h and int main(void). Compile the empty scaffold.
ASK: Where does execution begin?
EXPECT: main. stdio.h declares printf; cs50.h declares get_double.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actual type names in the table. In C11 char is technically an integer type, but grouping it under Integer beside int obscured its classroom purpose. float and double are real floating types; real types in the C standard also include integers. bool is a macro for _Bool from stdbool.h in C11, and cs50.h also includes that header. string is the CS50 typedef for char *, not a built-in C type; it holds an address, not the text inline. One char holds one byte, suitable for a basic character such as B, not every Unicode character. void cannot declare an ordinary variable. In int main(void), int is the return type and void means no parameters. In void example(void), the first void means no returned value and the second means no parameters.</a:t>
            </a:r>
          </a:p>
          <a:p>
            <a:endParaRPr/>
          </a:p>
          <a:p>
            <a:r>
              <a:t>00–05 minutes | Opening</a:t>
            </a:r>
          </a:p>
          <a:p>
            <a:endParaRPr/>
          </a:p>
          <a:p>
            <a:r>
              <a:t>00–02 / Slides 1–2</a:t>
            </a:r>
          </a:p>
          <a:p>
            <a:r>
              <a:t>DO: Identify each actual type and its example declaration. Distinguish a char from text. Explain that main(void) has no parameters, while a void return type means no returned value.</a:t>
            </a:r>
          </a:p>
          <a:p>
            <a:r>
              <a:t>ASK: Which types store whole numbers, decimal values and one character?</a:t>
            </a:r>
          </a:p>
          <a:p>
            <a:r>
              <a:t>EXPECT: int for whole numbers; float or double for decimal values; char for one character.</a:t>
            </a:r>
          </a:p>
          <a:p>
            <a:endParaRPr/>
          </a:p>
          <a:p>
            <a:r>
              <a:t>02–05 / Editor</a:t>
            </a:r>
          </a:p>
          <a:p>
            <a:r>
              <a:t>DO: Create sphere_precision.c. Type stdio.h, cs50.h and int main(void). Compile the empty scaffold.</a:t>
            </a:r>
          </a:p>
          <a:p>
            <a:r>
              <a:t>ASK: Where does execution begin?</a:t>
            </a:r>
          </a:p>
          <a:p>
            <a:r>
              <a:t>EXPECT: main. stdio.h declares printf; cs50.h declares get_double.</a:t>
            </a:r>
          </a:p>
          <a:p>
            <a:endParaRPr/>
          </a:p>
          <a:p>
            <a:r>
              <a:t>SOURCE</a:t>
            </a:r>
          </a:p>
          <a:p>
            <a:r>
              <a:t>Book Chapter 5, printed pp. 94–102. C11 draft N1570 §§6.2.5, 6.7.6.3 and 7.18: https://www.open-std.org/jtc1/sc22/wg14/www/docs/n1570.pdf; CS50 string alias: https://cs50.readthedocs.io/libraries/cs50/c/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only a brief comparison before the sphere task. The figures are FLT_DIG = 6 and DBL_DIG = 15 for common IEEE 754 binary32/binary64 implementations, matching the recorded macOS arm64 reference measurements. They describe significant decimal digits, not the number of digits after the decimal point. C permits implementation differences. double remains approximate. Precision does not fix integer division: keep the following 4/3 prediction. The full platform-specific table stays in the appendix.
05–20 minutes | Sphere precision
05–07 / Slides 3–4, then editor
DO: Briefly compare float and double. Choose double for radius and volume, type const double pi = 3.1415, and read radius with get_double.
ASK: Why use double for the radius?
EXPECT: The radius can have a fractional part. On our platform double has more precision than float. Floating-point values can be approximate; double does not make the chosen pi approximation exact.
07–11 / Slides 5–6
DO: Collect predictions for double fraction = 4 / 3. Run it, then change an operand to 4.0.
ASK: Does the destination type change how 4 / 3 runs?
EXPECT: No. Integer division gives 1 first, then assignment converts it to double. Poll answer A.
11–16 / Editor
DO: Build both sphere calculations. Run radius 3. Print the same correct volume with %.1f and %.4f.
ASK: Did extra displayed digits improve the stored value?
EXPECT: No. The displays are 113.1 and 113.0940; formatting only changes presentation.
16–20 / Slides 7–8, then editor
DO: Trace read → validate → calculate → print. Add the input guard and run the cases below.
ASK: Which inputs should the program reject?
EXPECT: Zero, negative radii and values above 1000. The positive range check also rejects nonfinite input.
SOURCE
Book section 5.2.2, printed pp. 99–101. Simplified from the previous slide 29 and its measured float.h FLT_DIG/DBL_DIG values.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displayed formula is mathematical notation: V = (4/3)πr³, with radius r and volume V in cubic units. C must use floating-point division for 4/3. pi = 3.1415 deliberately matches the book, so the result is an approximation even with double. Radius and volume must use consistent units. The lab accepts 0 &lt; radius &lt;= 1000.
05–20 minutes | Sphere precision
05–07 / Slides 3–4, then editor
DO: Briefly compare float and double. Choose double for radius and volume, type const double pi = 3.1415, and read radius with get_double.
ASK: Why use double for the radius?
EXPECT: The radius can have a fractional part. On our platform double has more precision than float. Floating-point values can be approximate; double does not make the chosen pi approximation exact.
07–11 / Slides 5–6
DO: Collect predictions for double fraction = 4 / 3. Run it, then change an operand to 4.0.
ASK: Does the destination type change how 4 / 3 runs?
EXPECT: No. Integer division gives 1 first, then assignment converts it to double. Poll answer A.
11–16 / Editor
DO: Build both sphere calculations. Run radius 3. Print the same correct volume with %.1f and %.4f.
ASK: Did extra displayed digits improve the stored value?
EXPECT: No. The displays are 113.1 and 113.0940; formatting only changes presentation.
16–20 / Slides 7–8, then editor
DO: Trace read → validate → calculate → print. Add the input guard and run the cases below.
ASK: Which inputs should the program reject?
EXPECT: Zero, negative radii and values above 1000. The positive range check also rejects nonfinite input.
SOURCE
Book Example 5.3, printed p. 101. The pi approximation follows the supplied 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05–20 minutes | Sphere precision
05–07 / Slides 3–4, then editor
DO: Briefly compare float and double. Choose double for radius and volume, type const double pi = 3.1415, and read radius with get_double.
ASK: Why use double for the radius?
EXPECT: The radius can have a fractional part. On our platform double has more precision than float. Floating-point values can be approximate; double does not make the chosen pi approximation exact.
07–11 / Slides 5–6
DO: Collect predictions for double fraction = 4 / 3. Run it, then change an operand to 4.0.
ASK: Does the destination type change how 4 / 3 runs?
EXPECT: No. Integer division gives 1 first, then assignment converts it to double. Poll answer A.
11–16 / Editor
DO: Build both sphere calculations. Run radius 3. Print the same correct volume with %.1f and %.4f.
ASK: Did extra displayed digits improve the stored value?
EXPECT: No. The displays are 113.1 and 113.0940; formatting only changes presentation.
16–20 / Slides 7–8, then editor
DO: Trace read → validate → calculate → print. Add the input guard and run the cases below.
ASK: Which inputs should the program reject?
EXPECT: Zero, negative radii and values above 1000. The positive range check also rejects nonfinite input.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05–20 minutes | Sphere precision
05–07 / Slides 3–4, then editor
DO: Briefly compare float and double. Choose double for radius and volume, type const double pi = 3.1415, and read radius with get_double.
ASK: Why use double for the radius?
EXPECT: The radius can have a fractional part. On our platform double has more precision than float. Floating-point values can be approximate; double does not make the chosen pi approximation exact.
07–11 / Slides 5–6
DO: Collect predictions for double fraction = 4 / 3. Run it, then change an operand to 4.0.
ASK: Does the destination type change how 4 / 3 runs?
EXPECT: No. Integer division gives 1 first, then assignment converts it to double. Poll answer A.
11–16 / Editor
DO: Build both sphere calculations. Run radius 3. Print the same correct volume with %.1f and %.4f.
ASK: Did extra displayed digits improve the stored value?
EXPECT: No. The displays are 113.1 and 113.0940; formatting only changes presentation.
16–20 / Slides 7–8, then editor
DO: Trace read → validate → calculate → print. Add the input guard and run the cases below.
ASK: Which inputs should the program reject?
EXPECT: Zero, negative radii and values above 1000. The positive range check also rejects nonfinite input.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diagram to trace the whole task: read, validate, calculate twice, then print. Both volumes use the same radius and pi, but one uses integer division and one floating-point division. The range guard stays in the live C program.
05–20 minutes | Sphere precision
05–07 / Slides 3–4, then editor
DO: Briefly compare float and double. Choose double for radius and volume, type const double pi = 3.1415, and read radius with get_double.
ASK: Why use double for the radius?
EXPECT: The radius can have a fractional part. On our platform double has more precision than float. Floating-point values can be approximate; double does not make the chosen pi approximation exact.
07–11 / Slides 5–6
DO: Collect predictions for double fraction = 4 / 3. Run it, then change an operand to 4.0.
ASK: Does the destination type change how 4 / 3 runs?
EXPECT: No. Integer division gives 1 first, then assignment converts it to double. Poll answer A.
11–16 / Editor
DO: Build both sphere calculations. Run radius 3. Print the same correct volume with %.1f and %.4f.
ASK: Did extra displayed digits improve the stored value?
EXPECT: No. The displays are 113.1 and 113.0940; formatting only changes presentation.
16–20 / Slides 7–8, then editor
DO: Trace read → validate → calculate → print. Add the input guard and run the cases below.
ASK: Which inputs should the program reject?
EXPECT: Zero, negative radii and values above 1000. The positive range check also rejects nonfinite input.
SOURCE
Book Example 5.3, printed p. 101.
Visual method: CS50 2025 Lecture 0, slides 103–104 (numbered English pseudocode), https://cdn.cs50.net/2025/fall/lectures/0/lecture0.pdf; Lecture 1, slides 105–109 (flowcharts), https://cdn.cs50.net/2025/fall/lectures/1/lecture1.pdf. Original diagrams and wording for this TashTech lesson; not CS50-authored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numbered line is an English instruction, not C syntax. Line 4 uses 4/3; line 5 uses 4.0/3.0. Keep pi = 3.1415 and the radius the same. Full implementation stays in the editor. Use floating-point division as the technical term; the binary floating-point implementation is not decimal arithmetic.
05–20 minutes | Sphere precision
05–07 / Slides 3–4, then editor
DO: Briefly compare float and double. Choose double for radius and volume, type const double pi = 3.1415, and read radius with get_double.
ASK: Why use double for the radius?
EXPECT: The radius can have a fractional part. On our platform double has more precision than float. Floating-point values can be approximate; double does not make the chosen pi approximation exact.
07–11 / Slides 5–6
DO: Collect predictions for double fraction = 4 / 3. Run it, then change an operand to 4.0.
ASK: Does the destination type change how 4 / 3 runs?
EXPECT: No. Integer division gives 1 first, then assignment converts it to double. Poll answer A.
11–16 / Editor
DO: Build both sphere calculations. Run radius 3. Print the same correct volume with %.1f and %.4f.
ASK: Did extra displayed digits improve the stored value?
EXPECT: No. The displays are 113.1 and 113.0940; formatting only changes presentation.
16–20 / Slides 7–8, then editor
DO: Trace read → validate → calculate → print. Add the input guard and run the cases below.
ASK: Which inputs should the program reject?
EXPECT: Zero, negative radii and values above 1000. The positive range check also rejects nonfinite input.
SOURCE
Book Example 5.3, printed p. 101.
Visual method: CS50 2025 Lecture 0, slides 103–104 (numbered English pseudocode), https://cdn.cs50.net/2025/fall/lectures/0/lecture0.pdf; Lecture 1, slides 105–109 (flowcharts), https://cdn.cs50.net/2025/fall/lectures/1/lecture1.pdf. Original diagrams and wording for this TashTech lesson; not CS50-authored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common year has 365 days and February has 28. A leap year adds February 29, giving 366 days. This keeps the calendar aligned with the seasons. Usually every four years, with century exceptions. Apply Gregorian arithmetic throughout the lab, including pre-1582 input years. Introduce with the user-selected BBC News video: https://www.youtube.com/watch?v=gvuz0BVy5TM. For the planned 20–22 minute slot, use a brief excerpt, then return to this slide.
20–40 minutes | Leap-year repair
20–22 / Slide 9
DO: Open the BBC introduction before coding. Use a brief excerpt, then show February 29 on the timeline.
ASK: What changes in February?
EXPECT: A common year has 28 days in February. A leap year has 29. The extra day helps keep calendar dates aligned with the seasons.
22–25 / Editor
DO: Start leap_year.c. Read an int year. First use year % 4 == 0 and print leap/common.
ASK: What test could prove this first rule wrong?
EXPECT: Try a century year such as 1900.
25–30 / Slides 10–12, then editor
DO: Poll 1900 versus 2000. Trace the flowchart, read the English steps, then write the C condition.
ASK: Why does 2000 pass but 1900 fail?
EXPECT: 2000 is divisible by 400. 1900 is divisible by 100 but not 400. Poll answer B.
30–32 / Editor
DO: Run 1900, 2000, 2024 and 2025.
ASK: Why were 2024 and 2025 alone insufficient tests?
EXPECT: The incomplete rule classifies both 2024 and 2025 correctly, so those two tests do not expose the century-year bug.
32–37 / Slide 13, then editor
DO: Use “Go back to line 1” to explain repeated input. Implement with while, reading before the loop and again at its end.
ASK: What happens if we forget the next input?
EXPECT: A positive year never changes, so the loop repeats indefinitely.
37–40 / Editor
DO: Run 1900, 2000, 2024, 2025, 0 in one session. Then try 10000.
ASK: Should the program classify 0?
EXPECT: No. Nonpositive input ends the loop. 10000 produces a range message.
SOURCE
Book Example 5.1, printed pp. 98–99 and correction p. 134. Gregorian calendar: https://aa.usno.navy.mil/faq/leap_years and https://cnrc.canada.ca/en/certifications-evaluations-standards/canadas-official-time/what-years-are-leap-years.
Visual method: CS50 2025 Lecture 0, slides 103–104 (numbered English pseudocode), https://cdn.cs50.net/2025/fall/lectures/0/lecture0.pdf; Lecture 1, slides 105–109 (flowcharts), https://cdn.cs50.net/2025/fall/lectures/1/lecture1.pdf. Original diagrams and wording for this TashTech lesson; not CS50-authored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which year is a leap year, not which century. Gregorian rule: 1900 is common because it is divisible by 100 but not 400; 2000 is leap because it is divisible by 400. Poll answer B.
20–40 minutes | Leap-year repair
20–22 / Slide 9
DO: Open the BBC introduction before coding. Use a brief excerpt, then show February 29 on the timeline.
ASK: What changes in February?
EXPECT: A common year has 28 days in February. A leap year has 29. The extra day helps keep calendar dates aligned with the seasons.
22–25 / Editor
DO: Start leap_year.c. Read an int year. First use year % 4 == 0 and print leap/common.
ASK: What test could prove this first rule wrong?
EXPECT: Try a century year such as 1900.
25–30 / Slides 10–12, then editor
DO: Poll 1900 versus 2000. Trace the flowchart, read the English steps, then write the C condition.
ASK: Why does 2000 pass but 1900 fail?
EXPECT: 2000 is divisible by 400. 1900 is divisible by 100 but not 400. Poll answer B.
30–32 / Editor
DO: Run 1900, 2000, 2024 and 2025.
ASK: Why were 2024 and 2025 alone insufficient tests?
EXPECT: The incomplete rule classifies both 2024 and 2025 correctly, so those two tests do not expose the century-year bug.
32–37 / Slide 13, then editor
DO: Use “Go back to line 1” to explain repeated input. Implement with while, reading before the loop and again at its end.
ASK: What happens if we forget the next input?
EXPECT: A positive year never changes, so the loop repeats indefinitely.
37–40 / Editor
DO: Run 1900, 2000, 2024, 2025, 0 in one session. Then try 10000.
ASK: Should the program classify 0?
EXPECT: No. Nonpositive input ends the loop. 10000 produces a range message.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from the top. Multiple means divisible with no remainder. 2000: first test true → leap. 1900: false, then true → common. 2024: false, false, true → leap. 2025: false, false, false → common. Ask a student to trace one path at a time. Poll answer B.
20–40 minutes | Leap-year repair
20–22 / Slide 9
DO: Open the BBC introduction before coding. Use a brief excerpt, then show February 29 on the timeline.
ASK: What changes in February?
EXPECT: A common year has 28 days in February. A leap year has 29. The extra day helps keep calendar dates aligned with the seasons.
22–25 / Editor
DO: Start leap_year.c. Read an int year. First use year % 4 == 0 and print leap/common.
ASK: What test could prove this first rule wrong?
EXPECT: Try a century year such as 1900.
25–30 / Slides 10–12, then editor
DO: Poll 1900 versus 2000. Trace the flowchart, read the English steps, then write the C condition.
ASK: Why does 2000 pass but 1900 fail?
EXPECT: 2000 is divisible by 400. 1900 is divisible by 100 but not 400. Poll answer B.
30–32 / Editor
DO: Run 1900, 2000, 2024 and 2025.
ASK: Why were 2024 and 2025 alone insufficient tests?
EXPECT: The incomplete rule classifies both 2024 and 2025 correctly, so those two tests do not expose the century-year bug.
32–37 / Slide 13, then editor
DO: Use “Go back to line 1” to explain repeated input. Implement with while, reading before the loop and again at its end.
ASK: What happens if we forget the next input?
EXPECT: A positive year never changes, so the loop repeats indefinitely.
37–40 / Editor
DO: Run 1900, 2000, 2024, 2025, 0 in one session. Then try 10000.
ASK: Should the program classify 0?
EXPECT: No. Nonpositive input ends the loop. 10000 produces a range message.
SOURCE
Book Example 5.1, printed pp. 98–99 and correction p. 134. Gregorian calendar: https://aa.usno.navy.mil/faq/leap_years and https://cnrc.canada.ca/en/certifications-evaluations-standards/canadas-official-time/what-years-are-leap-years.
Visual method: CS50 2025 Lecture 0, slides 103–104 (numbered English pseudocode), https://cdn.cs50.net/2025/fall/lectures/0/lecture0.pdf; Lecture 1, slides 105–109 (flowcharts), https://cdn.cs50.net/2025/fall/lectures/1/lecture1.pdf. Original diagrams and wording for this TashTech lesson; not CS50-authored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numbered English algorithm to establish the order of the exceptions. Indented lines belong to the condition above them. Then translate into the compact live expression: year % 400 == 0 || (year % 4 == 0 &amp;&amp; year % 100 != 0). No new C functions are implied by the English wording. This slide assumes a valid input year from 1 to 9999; the following repeated-input algorithm performs the guards.
20–40 minutes | Leap-year repair
20–22 / Slide 9
DO: Open the BBC introduction before coding. Use a brief excerpt, then show February 29 on the timeline.
ASK: What changes in February?
EXPECT: A common year has 28 days in February. A leap year has 29. The extra day helps keep calendar dates aligned with the seasons.
22–25 / Editor
DO: Start leap_year.c. Read an int year. First use year % 4 == 0 and print leap/common.
ASK: What test could prove this first rule wrong?
EXPECT: Try a century year such as 1900.
25–30 / Slides 10–12, then editor
DO: Poll 1900 versus 2000. Trace the flowchart, read the English steps, then write the C condition.
ASK: Why does 2000 pass but 1900 fail?
EXPECT: 2000 is divisible by 400. 1900 is divisible by 100 but not 400. Poll answer B.
30–32 / Editor
DO: Run 1900, 2000, 2024 and 2025.
ASK: Why were 2024 and 2025 alone insufficient tests?
EXPECT: The incomplete rule classifies both 2024 and 2025 correctly, so those two tests do not expose the century-year bug.
32–37 / Slide 13, then editor
DO: Use “Go back to line 1” to explain repeated input. Implement with while, reading before the loop and again at its end.
ASK: What happens if we forget the next input?
EXPECT: A positive year never changes, so the loop repeats indefinitely.
37–40 / Editor
DO: Run 1900, 2000, 2024, 2025, 0 in one session. Then try 10000.
ASK: Should the program classify 0?
EXPECT: No. Nonpositive input ends the loop. 10000 produces a range message.
SOURCE
Book Example 5.1, printed pp. 98–99 and correction p. 134. Gregorian calendar: https://aa.usno.navy.mil/faq/leap_years and https://cnrc.canada.ca/en/certifications-evaluations-standards/canadas-official-time/what-years-are-leap-years.
Visual method: CS50 2025 Lecture 0, slides 103–104 (numbered English pseudocode), https://cdn.cs50.net/2025/fall/lectures/0/lecture0.pdf; Lecture 1, slides 105–109 (flowcharts), https://cdn.cs50.net/2025/fall/lectures/1/lecture1.pdf. Original diagrams and wording for this TashTech lesson; not CS50-authored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 back to line 1 is English pseudocode for repetition, in the style of CS50’s phone-book example. Implement it with the already planned while loop, not C goto. Read before the loop and read again at its end. 0 or negative stops without classification; over 9999 prints an error and stops.
20–40 minutes | Leap-year repair
20–22 / Slide 9
DO: Open the BBC introduction before coding. Use a brief excerpt, then show February 29 on the timeline.
ASK: What changes in February?
EXPECT: A common year has 28 days in February. A leap year has 29. The extra day helps keep calendar dates aligned with the seasons.
22–25 / Editor
DO: Start leap_year.c. Read an int year. First use year % 4 == 0 and print leap/common.
ASK: What test could prove this first rule wrong?
EXPECT: Try a century year such as 1900.
25–30 / Slides 10–12, then editor
DO: Poll 1900 versus 2000. Trace the flowchart, read the English steps, then write the C condition.
ASK: Why does 2000 pass but 1900 fail?
EXPECT: 2000 is divisible by 400. 1900 is divisible by 100 but not 400. Poll answer B.
30–32 / Editor
DO: Run 1900, 2000, 2024 and 2025.
ASK: Why were 2024 and 2025 alone insufficient tests?
EXPECT: The incomplete rule classifies both 2024 and 2025 correctly, so those two tests do not expose the century-year bug.
32–37 / Slide 13, then editor
DO: Use “Go back to line 1” to explain repeated input. Implement with while, reading before the loop and again at its end.
ASK: What happens if we forget the next input?
EXPECT: A positive year never changes, so the loop repeats indefinitely.
37–40 / Editor
DO: Run 1900, 2000, 2024, 2025, 0 in one session. Then try 10000.
ASK: Should the program classify 0?
EXPECT: No. Nonpositive input ends the loop. 10000 produces a range message.
SOURCE
Book Example 5.1, printed pp. 98–99 and correction p. 134. Gregorian calendar: https://aa.usno.navy.mil/faq/leap_years and https://cnrc.canada.ca/en/certifications-evaluations-standards/canadas-official-time/what-years-are-leap-years.
Visual method: CS50 2025 Lecture 0, slides 103–104 (numbered English pseudocode), https://cdn.cs50.net/2025/fall/lectures/0/lecture0.pdf; Lecture 1, slides 105–109 (flowcharts), https://cdn.cs50.net/2025/fall/lectures/1/lecture1.pdf. Original diagrams and wording for this TashTech lesson; not CS50-authored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RAM module photograph from the CS50 memory introduction. Use this to locate the chips; it does not show individual memory cells.
40–47 minutes | Memory bridge
40–44 / Slides 14–17
DO: Show RAM and one chip, then the conceptual byte grid. Each square represents one byte; it is not a physical map of the chip.
ASK: What does sizeof(char) report?
EXPECT: 1 C byte. CHAR_BIT tells us the number of bits in that byte. Our illustrated environment uses 8.
44–47 / Slide 18
DO: Trace the three slots in first and second. Point to indices 0, 1 and 2.
ASK: Does a three-character array automatically contain a terminator?
EXPECT: No. These arrays contain exactly three characters and no '\0'.
SOURCE
CS50 Lecture 2: Arrays, https://cs50.harvard.edu/x/2026/weeks/2/; original fall 2025 memory slides, https://cdn.cs50.net/2025/fall/lectures/2/lecture2.pdf. Adapted conceptual grid. Photograph credited by CS50 to Amazon.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highlighted black package is one memory chip on the module. It contains many storage cells; the following grid is an explanatory model.
40–47 minutes | Memory bridge
40–44 / Slides 14–17
DO: Show RAM and one chip, then the conceptual byte grid. Each square represents one byte; it is not a physical map of the chip.
ASK: What does sizeof(char) report?
EXPECT: 1 C byte. CHAR_BIT tells us the number of bits in that byte. Our illustrated environment uses 8.
44–47 / Slide 18
DO: Trace the three slots in first and second. Point to indices 0, 1 and 2.
ASK: Does a three-character array automatically contain a terminator?
EXPECT: No. These arrays contain exactly three characters and no '\0'.
SOURCE
CS50 Lecture 2: Arrays, https://cs50.harvard.edu/x/2026/weeks/2/; original fall 2025 memory slides, https://cdn.cs50.net/2025/fall/lectures/2/lecture2.pdf. Adapted conceptual grid. Photograph credited by CS50 to Amazon.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square in this conceptual CS50 grid represents one byte, and one square is highlighted. It is not a photograph of physical byte boundaries. sizeof(char) is one C byte; CHAR_BIT gives its bit count. The teaching machine has 8 bits per byte.
40–47 minutes | Memory bridge
40–44 / Slides 14–17
DO: Show RAM and one chip, then the conceptual byte grid. Each square represents one byte; it is not a physical map of the chip.
ASK: What does sizeof(char) report?
EXPECT: 1 C byte. CHAR_BIT tells us the number of bits in that byte. Our illustrated environment uses 8.
44–47 / Slide 18
DO: Trace the three slots in first and second. Point to indices 0, 1 and 2.
ASK: Does a three-character array automatically contain a terminator?
EXPECT: No. These arrays contain exactly three characters and no '\0'.
SOURCE
CS50 Lecture 2: Arrays, https://cs50.harvard.edu/x/2026/weeks/2/; original fall 2025 memory slides, https://cdn.cs50.net/2025/fall/lectures/2/lecture2.pdf. Adapted conceptual grid. Photograph credited by CS50 to Amazon.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adjacent squares are highlighted, representing four bytes in the conceptual model. This is not a physical map of the memory chip. Four bytes is the measured int size on this teaching machine, not a universal C guarantee.
40–47 minutes | Memory bridge
40–44 / Slides 14–17
DO: Show RAM and one chip, then the conceptual byte grid. Each square represents one byte; it is not a physical map of the chip.
ASK: What does sizeof(char) report?
EXPECT: 1 C byte. CHAR_BIT tells us the number of bits in that byte. Our illustrated environment uses 8.
44–47 / Slide 18
DO: Trace the three slots in first and second. Point to indices 0, 1 and 2.
ASK: Does a three-character array automatically contain a terminator?
EXPECT: No. These arrays contain exactly three characters and no '\0'.
SOURCE
CS50 Lecture 2: Arrays, https://cs50.harvard.edu/x/2026/weeks/2/; original fall 2025 memory slides, https://cdn.cs50.net/2025/fall/lectures/2/lecture2.pdf. Adapted conceptual grid. Photograph credited by CS50 to Amazon.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arrays have exactly three char elements. Valid indices are 0, 1 and 2. There is no '\0' terminator, so these arrays are not C strings. Print a known number of characters using %c, not %s. The code uses basic lowercase ASCII letters.
40–47 minutes | Memory bridge
40–44 / Slides 14–17
DO: Show RAM and one chip, then the conceptual byte grid. Each square represents one byte; it is not a physical map of the chip.
ASK: What does sizeof(char) report?
EXPECT: 1 C byte. CHAR_BIT tells us the number of bits in that byte. Our illustrated environment uses 8.
44–47 / Slide 18
DO: Trace the three slots in first and second. Point to indices 0, 1 and 2.
ASK: Does a three-character array automatically contain a terminator?
EXPECT: No. These arrays contain exactly three characters and no '\0'.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plus sign is a visual illustration of joining, not a C array operator. Prepared lowercase ASCII arrays dog and cat produce catdog. Compare whole arrays by the first differing character, then copy their elements in that order. Book Example 5.6 already contains the correct &amp;&amp; and || bounds guards; our adaptation reduces 50 characters to 3, prepares the input, combines the copy loops and repairs the final output traversal.
47–75 minutes | Alphabetical joining
47–50 / Slide 19, then editor
DO: Create alphabetical_join.c with stdio.h and #define LENGTH 3. Declare first, second and joined[2 * LENGTH].
ASK: Are we sorting individual letters?
EXPECT: No. We compare the two whole arrays and join the earlier one first.
50–54 / Slide 20, then editor
DO: Use car/cat to explain equal prefixes. Type the scan: i &lt; LENGTH &amp;&amp; first[i] == second[i].
ASK: At which index do car and cat first differ?
EXPECT: Index 2: r and t. Use prepared lowercase ASCII letters.
54–60 / Slides 21–22, then editor
DO: Ask which bound visits all three elements safely. Trace cat/cat until i becomes LENGTH.
ASK: Why must the bound come before the character access?
EXPECT: &amp;&amp; skips its right side when the bound is false. Index 3 is outside either array. Poll answer A.
60–63 / Editor
DO: Type first_earlier = i == LENGTH || first[i] &lt; second[i].
ASK: Why test i == LENGTH first here?
EXPECT: Equal arrays reach the boundary. || skips the invalid character access, and either order gives the same result.
63–70 / Slide 23, then editor
DO: Return to the prepared dog/cat arrays. Reset i. Write the copy loop, using i for the first half and LENGTH + i for the second. Advance i after each pair.
ASK: Where does the second half start? Where does it end?
EXPECT: Indices 3 through 5. Trace i = 0 and i = 2 before running.
70–75 / Slides 24–25, then editor
DO: Trace car/cat through the flowchart, then use the English pseudocode as a checklist. Print all six characters and run the cases below.
ASK: Why is %s unsuitable for this joined array?
EXPECT: There is no final '\0'. Print exactly six characters with %c.
SOURCE
Book Example 5.6, printed pp. 114–116. Three prepared characters instead of 50; final output traversal repaired.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47–75 minutes | Alphabetical joining
47–50 / Slide 19, then editor
DO: Create alphabetical_join.c with stdio.h and #define LENGTH 3. Declare first, second and joined[2 * LENGTH].
ASK: Are we sorting individual letters?
EXPECT: No. We compare the two whole arrays and join the earlier one first.
50–54 / Slide 20, then editor
DO: Use car/cat to explain equal prefixes. Type the scan: i &lt; LENGTH &amp;&amp; first[i] == second[i].
ASK: At which index do car and cat first differ?
EXPECT: Index 2: r and t. Use prepared lowercase ASCII letters.
54–60 / Slides 21–22, then editor
DO: Ask which bound visits all three elements safely. Trace cat/cat until i becomes LENGTH.
ASK: Why must the bound come before the character access?
EXPECT: &amp;&amp; skips its right side when the bound is false. Index 3 is outside either array. Poll answer A.
60–63 / Editor
DO: Type first_earlier = i == LENGTH || first[i] &lt; second[i].
ASK: Why test i == LENGTH first here?
EXPECT: Equal arrays reach the boundary. || skips the invalid character access, and either order gives the same result.
63–70 / Slide 23, then editor
DO: Return to the prepared dog/cat arrays. Reset i. Write the copy loop, using i for the first half and LENGTH + i for the second. Advance i after each pair.
ASK: Where does the second half start? Where does it end?
EXPECT: Indices 3 through 5. Trace i = 0 and i = 2 before running.
70–75 / Slides 24–25, then editor
DO: Trace car/cat through the flowchart, then use the English pseudocode as a checklist. Print all six characters and run the cases below.
ASK: Why is %s unsuitable for this joined array?
EXPECT: There is no final '\0'. Print exactly six characters with %c.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requirement is to visit every valid index of a three-element array once, starting at i = 0 and incrementing by one. A visits 0,1,2; B also reaches invalid index 3; C misses index 2; D visits none. Safety alone would not distinguish A from C and D. Poll answer A.
47–75 minutes | Alphabetical joining
47–50 / Slide 19, then editor
DO: Create alphabetical_join.c with stdio.h and #define LENGTH 3. Declare first, second and joined[2 * LENGTH].
ASK: Are we sorting individual letters?
EXPECT: No. We compare the two whole arrays and join the earlier one first.
50–54 / Slide 20, then editor
DO: Use car/cat to explain equal prefixes. Type the scan: i &lt; LENGTH &amp;&amp; first[i] == second[i].
ASK: At which index do car and cat first differ?
EXPECT: Index 2: r and t. Use prepared lowercase ASCII letters.
54–60 / Slides 21–22, then editor
DO: Ask which bound visits all three elements safely. Trace cat/cat until i becomes LENGTH.
ASK: Why must the bound come before the character access?
EXPECT: &amp;&amp; skips its right side when the bound is false. Index 3 is outside either array. Poll answer A.
60–63 / Editor
DO: Type first_earlier = i == LENGTH || first[i] &lt; second[i].
ASK: Why test i == LENGTH first here?
EXPECT: Equal arrays reach the boundary. || skips the invalid character access, and either order gives the same result.
63–70 / Slide 23, then editor
DO: Return to the prepared dog/cat arrays. Reset i. Write the copy loop, using i for the first half and LENGTH + i for the second. Advance i after each pair.
ASK: Where does the second half start? Where does it end?
EXPECT: Indices 3 through 5. Trace i = 0 and i = 2 before running.
70–75 / Slides 24–25, then editor
DO: Trace car/cat through the flowchart, then use the English pseudocode as a checklist. Print all six characters and run the cases below.
ASK: Why is %s unsuitable for this joined array?
EXPECT: There is no final '\0'. Print exactly six characters with %c.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47–75 minutes | Alphabetical joining
47–50 / Slide 19, then editor
DO: Create alphabetical_join.c with stdio.h and #define LENGTH 3. Declare first, second and joined[2 * LENGTH].
ASK: Are we sorting individual letters?
EXPECT: No. We compare the two whole arrays and join the earlier one first.
50–54 / Slide 20, then editor
DO: Use car/cat to explain equal prefixes. Type the scan: i &lt; LENGTH &amp;&amp; first[i] == second[i].
ASK: At which index do car and cat first differ?
EXPECT: Index 2: r and t. Use prepared lowercase ASCII letters.
54–60 / Slides 21–22, then editor
DO: Ask which bound visits all three elements safely. Trace cat/cat until i becomes LENGTH.
ASK: Why must the bound come before the character access?
EXPECT: &amp;&amp; skips its right side when the bound is false. Index 3 is outside either array. Poll answer A.
60–63 / Editor
DO: Type first_earlier = i == LENGTH || first[i] &lt; second[i].
ASK: Why test i == LENGTH first here?
EXPECT: Equal arrays reach the boundary. || skips the invalid character access, and either order gives the same result.
63–70 / Slide 23, then editor
DO: Return to the prepared dog/cat arrays. Reset i. Write the copy loop, using i for the first half and LENGTH + i for the second. Advance i after each pair.
ASK: Where does the second half start? Where does it end?
EXPECT: Indices 3 through 5. Trace i = 0 and i = 2 before running.
70–75 / Slides 24–25, then editor
DO: Trace car/cat through the flowchart, then use the English pseudocode as a checklist. Print all six characters and run the cases below.
ASK: Why is %s unsuitable for this joined array?
EXPECT: There is no final '\0'. Print exactly six characters with %c.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Return to the original prepared dog/cat arrays after the car/cat and cat/cat traces. The earlier array cat goes into joined[0..2]; dog goes into joined[3..5]. The second destination offset is LENGTH + i, with i = 0,1,2.
47–75 minutes | Alphabetical joining
47–50 / Slide 19, then editor
DO: Create alphabetical_join.c with stdio.h and #define LENGTH 3. Declare first, second and joined[2 * LENGTH].
ASK: Are we sorting individual letters?
EXPECT: No. We compare the two whole arrays and join the earlier one first.
50–54 / Slide 20, then editor
DO: Use car/cat to explain equal prefixes. Type the scan: i &lt; LENGTH &amp;&amp; first[i] == second[i].
ASK: At which index do car and cat first differ?
EXPECT: Index 2: r and t. Use prepared lowercase ASCII letters.
54–60 / Slides 21–22, then editor
DO: Ask which bound visits all three elements safely. Trace cat/cat until i becomes LENGTH.
ASK: Why must the bound come before the character access?
EXPECT: &amp;&amp; skips its right side when the bound is false. Index 3 is outside either array. Poll answer A.
60–63 / Editor
DO: Type first_earlier = i == LENGTH || first[i] &lt; second[i].
ASK: Why test i == LENGTH first here?
EXPECT: Equal arrays reach the boundary. || skips the invalid character access, and either order gives the same result.
63–70 / Slide 23, then editor
DO: Return to the prepared dog/cat arrays. Reset i. Write the copy loop, using i for the first half and LENGTH + i for the second. Advance i after each pair.
ASK: Where does the second half start? Where does it end?
EXPECT: Indices 3 through 5. Trace i = 0 and i = 2 before running.
70–75 / Slides 24–25, then editor
DO: Trace car/cat through the flowchart, then use the English pseudocode as a checklist. Print all six characters and run the cases below.
ASK: Why is %s unsuitable for this joined array?
EXPECT: There is no final '\0'. Print exactly six characters with %c.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the array bounds before reading a character. Equal characters advance the index and return to the bounds test. Reaching the end keeps the original order. At a difference, choose the array containing the earlier lowercase ASCII letter. Both branches copy complete arrays in that order and print exactly six characters. There is no null terminator.
47–75 minutes | Alphabetical joining
47–50 / Slide 19, then editor
DO: Create alphabetical_join.c with stdio.h and #define LENGTH 3. Declare first, second and joined[2 * LENGTH].
ASK: Are we sorting individual letters?
EXPECT: No. We compare the two whole arrays and join the earlier one first.
50–54 / Slide 20, then editor
DO: Use car/cat to explain equal prefixes. Type the scan: i &lt; LENGTH &amp;&amp; first[i] == second[i].
ASK: At which index do car and cat first differ?
EXPECT: Index 2: r and t. Use prepared lowercase ASCII letters.
54–60 / Slides 21–22, then editor
DO: Ask which bound visits all three elements safely. Trace cat/cat until i becomes LENGTH.
ASK: Why must the bound come before the character access?
EXPECT: &amp;&amp; skips its right side when the bound is false. Index 3 is outside either array. Poll answer A.
60–63 / Editor
DO: Type first_earlier = i == LENGTH || first[i] &lt; second[i].
ASK: Why test i == LENGTH first here?
EXPECT: Equal arrays reach the boundary. || skips the invalid character access, and either order gives the same result.
63–70 / Slide 23, then editor
DO: Return to the prepared dog/cat arrays. Reset i. Write the copy loop, using i for the first half and LENGTH + i for the second. Advance i after each pair.
ASK: Where does the second half start? Where does it end?
EXPECT: Indices 3 through 5. Trace i = 0 and i = 2 before running.
70–75 / Slides 24–25, then editor
DO: Trace car/cat through the flowchart, then use the English pseudocode as a checklist. Print all six characters and run the cases below.
ASK: Why is %s unsuitable for this joined array?
EXPECT: There is no final '\0'. Print exactly six characters with %c.
SOURCE
Book Example 5.6, printed pp. 114–116.
Visual method: CS50 2025 Lecture 0, slides 103–104 (numbered English pseudocode), https://cdn.cs50.net/2025/fall/lectures/0/lecture0.pdf; Lecture 1, slides 105–109 (flowcharts), https://cdn.cs50.net/2025/fall/lectures/1/lecture1.pdf. Original diagrams and wording for this TashTech lesson; not CS50-authored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arrays have three prepared lowercase ASCII characters. “Exist” means the index is below LENGTH. After scanning, all matched means i == LENGTH. Otherwise the first differing characters decide lexicographic order. Copy means the existing element-by-element loop, not C array assignment. No %s: exactly six %c operations. Use car/cat and cat/cat as the key tests.
47–75 minutes | Alphabetical joining
47–50 / Slide 19, then editor
DO: Create alphabetical_join.c with stdio.h and #define LENGTH 3. Declare first, second and joined[2 * LENGTH].
ASK: Are we sorting individual letters?
EXPECT: No. We compare the two whole arrays and join the earlier one first.
50–54 / Slide 20, then editor
DO: Use car/cat to explain equal prefixes. Type the scan: i &lt; LENGTH &amp;&amp; first[i] == second[i].
ASK: At which index do car and cat first differ?
EXPECT: Index 2: r and t. Use prepared lowercase ASCII letters.
54–60 / Slides 21–22, then editor
DO: Ask which bound visits all three elements safely. Trace cat/cat until i becomes LENGTH.
ASK: Why must the bound come before the character access?
EXPECT: &amp;&amp; skips its right side when the bound is false. Index 3 is outside either array. Poll answer A.
60–63 / Editor
DO: Type first_earlier = i == LENGTH || first[i] &lt; second[i].
ASK: Why test i == LENGTH first here?
EXPECT: Equal arrays reach the boundary. || skips the invalid character access, and either order gives the same result.
63–70 / Slide 23, then editor
DO: Return to the prepared dog/cat arrays. Reset i. Write the copy loop, using i for the first half and LENGTH + i for the second. Advance i after each pair.
ASK: Where does the second half start? Where does it end?
EXPECT: Indices 3 through 5. Trace i = 0 and i = 2 before running.
70–75 / Slides 24–25, then editor
DO: Trace car/cat through the flowchart, then use the English pseudocode as a checklist. Print all six characters and run the cases below.
ASK: Why is %s unsuitable for this joined array?
EXPECT: There is no final '\0'. Print exactly six characters with %c.
SOURCE
Book Example 5.6, printed pp. 114–116.
Visual method: CS50 2025 Lecture 0, slides 103–104 (numbered English pseudocode), https://cdn.cs50.net/2025/fall/lectures/0/lecture0.pdf; Lecture 1, slides 105–109 (flowcharts), https://cdn.cs50.net/2025/fall/lectures/1/lecture1.pdf. Original diagrams and wording for this TashTech lesson; not CS50-authored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75–80 minutes | Close
75–78 / Slide 26
DO: Take verbal answers to the three exit checks.
ASK: Integer division? Year 2100? Bound first?
EXPECT: 4 / 3 gives the integer 1 before conversion to double. 2100 is divisible by 100 but not 400, so it is common. The bound must be evaluated first so &amp;&amp; can skip an invalid array access.
78–80 / LMS student guide
DO: Open Week 4 → Lab session → Interactive Student Guide.
ASK: What will students build in the separate coding session?
EXPECT: Circle precision and Character processor are the core tasks. Five-character joining is a challenge if time permits.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Measurements shown are from macOS arm64. Use sizeof and limits.h on the teaching machine to confirm. sizeof(char)==1 by definition; the number of bits is CHAR_BIT. Numeric values are implementation-specific. All displayed sizes, signedness, bounds and FLT_DIG/DBL_DIG/LDBL_DIG values were remeasured with C11 on macOS arm64 during this audit. Other implementations may differ.
SOURCE
C11 &lt;limits.h&gt;, &lt;float.h&gt;, sizeof and CHAR_BIT measurements on macOS arm64; https://www.open-std.org/jtc1/sc22/wg14/www/docs/n1570.pdf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Measurements shown are from macOS arm64. long can have another size on another platform. Signed overflow is undefined behaviour. Unsigned arithmetic wraps modulo one more than its maximum value. All displayed sizes, signedness, bounds and FLT_DIG/DBL_DIG/LDBL_DIG values were remeasured with C11 on macOS arm64 during this audit. Other implementations may differ.
SOURCE
C11 &lt;limits.h&gt;, &lt;float.h&gt;, sizeof and CHAR_BIT measurements on macOS arm64; https://www.open-std.org/jtc1/sc22/wg14/www/docs/n1570.pdf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Measurements shown are from macOS arm64. float.h describes this implementation. Formatting changes the displayed digits, not stored precision. The table is a reference, not another live program. All displayed sizes, signedness, bounds and FLT_DIG/DBL_DIG/LDBL_DIG values were remeasured with C11 on macOS arm64 during this audit. Other implementations may differ.
SOURCE
C11 &lt;limits.h&gt;, &lt;float.h&gt;, sizeof and CHAR_BIT measurements on macOS arm64; https://www.open-std.org/jtc1/sc22/wg14/www/docs/n1570.pdf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Ceri, Mandrioli &amp; Sbattella, The Art and Craft of Computing, supplied course textbook. Example 5.3 p.101, Example 5.1 pp.98–99 with rule repair p.134, Example 5.6 pp.114–116. Exercise 4.3 p.92 and 5.4 p.103 support the separate guided lab. CS50 Lecture 2 Arrays, https://cs50.harvard.edu/x/2026/weeks/2/ and fall 2025 source slides 73–79,82–83,88. CS50 material CC BY-NC-SA 4.0. Original RAM product photograph credited by CS50 to Amazon; separate reuse clearance not established. Type references preserve the supplied Maruza 5 / C tiliga kirish adaptation and measured C11 macOS arm64 values.
C11 types, logical short-circuit evaluation and limits: https://www.open-std.org/jtc1/sc22/wg14/www/docs/n1570.pdf (§§6.2.5, 6.5.13–14, 7.18). CS50 type alias and input API: https://cs50.readthedocs.io/libraries/cs50/c/ and https://github.com/cs50/libcs50/blob/main/src/cs50.h. Pseudocode and flowchart style: CS50 2025 Lectures 0 and 1, https://cdn.cs50.net/2025/fall/lectures/0/lecture0.pdf and https://cdn.cs50.net/2025/fall/lectures/1/lecture1.pdf. Gregorian rule: https://aa.usno.navy.mil/faq/leap_years. User-selected introduction: BBC News, Leap years and why we need them, https://www.youtube.com/watch?v=gvuz0BVy5TM.
SOURCE
Ceri, Mandrioli &amp; Sbattella, The Art and Craft of Computing, Chapters 4–5. Teaching adaptation in C11 with CS50 input helpers.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461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90004"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90002"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9000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90003"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4.xml"/><Relationship Id="rId7" Type="http://schemas.openxmlformats.org/officeDocument/2006/relationships/image" Target="../media/image2.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11" Type="http://schemas.openxmlformats.org/officeDocument/2006/relationships/image" Target="../media/image4.svg"/><Relationship Id="rId5" Type="http://schemas.openxmlformats.org/officeDocument/2006/relationships/tags" Target="../tags/tag6.xml"/><Relationship Id="rId10" Type="http://schemas.openxmlformats.org/officeDocument/2006/relationships/hyperlink" Target="https://www.slido.com/support/ppi/how-to-change-the-design" TargetMode="External"/><Relationship Id="rId4" Type="http://schemas.openxmlformats.org/officeDocument/2006/relationships/tags" Target="../tags/tag5.xml"/><Relationship Id="rId9"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s://www.youtube.com/watch?v=gvuz0BVy5T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9.xml"/><Relationship Id="rId7" Type="http://schemas.openxmlformats.org/officeDocument/2006/relationships/image" Target="../media/image2.sv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2.xml"/><Relationship Id="rId11" Type="http://schemas.openxmlformats.org/officeDocument/2006/relationships/image" Target="../media/image4.svg"/><Relationship Id="rId5" Type="http://schemas.openxmlformats.org/officeDocument/2006/relationships/tags" Target="../tags/tag11.xml"/><Relationship Id="rId10" Type="http://schemas.openxmlformats.org/officeDocument/2006/relationships/hyperlink" Target="https://www.slido.com/support/ppi/how-to-change-the-design" TargetMode="External"/><Relationship Id="rId4" Type="http://schemas.openxmlformats.org/officeDocument/2006/relationships/tags" Target="../tags/tag10.xml"/><Relationship Id="rId9"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14.xml"/><Relationship Id="rId7" Type="http://schemas.openxmlformats.org/officeDocument/2006/relationships/image" Target="../media/image2.sv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2.xml"/><Relationship Id="rId11" Type="http://schemas.openxmlformats.org/officeDocument/2006/relationships/image" Target="../media/image4.svg"/><Relationship Id="rId5" Type="http://schemas.openxmlformats.org/officeDocument/2006/relationships/tags" Target="../tags/tag16.xml"/><Relationship Id="rId10" Type="http://schemas.openxmlformats.org/officeDocument/2006/relationships/hyperlink" Target="https://www.slido.com/support/ppi/how-to-change-the-design" TargetMode="External"/><Relationship Id="rId4" Type="http://schemas.openxmlformats.org/officeDocument/2006/relationships/tags" Target="../tags/tag15.xml"/><Relationship Id="rId9" Type="http://schemas.openxmlformats.org/officeDocument/2006/relationships/image" Target="../media/image3.sv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FAAAC8-E4C8-4F20-ABA2-40FE1443F290}"/>
              </a:ext>
            </a:extLst>
          </p:cNvPr>
          <p:cNvSpPr>
            <a:spLocks noGrp="1"/>
          </p:cNvSpPr>
          <p:nvPr/>
        </p:nvSpPr>
        <p:spPr>
          <a:xfrm>
            <a:off x="0" y="0"/>
            <a:ext cx="76200" cy="6858000"/>
          </a:xfrm>
          <a:prstGeom prst="rect">
            <a:avLst/>
          </a:prstGeom>
          <a:solidFill>
            <a:srgbClr val="DF4214"/>
          </a:solidFill>
          <a:ln w="0">
            <a:noFill/>
          </a:ln>
        </p:spPr>
      </p:sp>
      <p:pic>
        <p:nvPicPr>
          <p:cNvPr id="8" name="Picture 7"/>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7C93BF01-06E4-4570-B0DB-5E5FD43FA9E0}"/>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Programming in C</a:t>
            </a:r>
          </a:p>
        </p:txBody>
      </p:sp>
      <p:sp>
        <p:nvSpPr>
          <p:cNvPr id="4" name="Rectangle 3">
            <a:extLst>
              <a:ext uri="{FF2B5EF4-FFF2-40B4-BE49-F238E27FC236}">
                <a16:creationId xmlns:a16="http://schemas.microsoft.com/office/drawing/2014/main" id="{50E370E5-02D9-4552-940E-C3A852E470BB}"/>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01</a:t>
            </a:r>
          </a:p>
        </p:txBody>
      </p:sp>
      <p:sp>
        <p:nvSpPr>
          <p:cNvPr id="5" name="Rectangle 4">
            <a:extLst>
              <a:ext uri="{FF2B5EF4-FFF2-40B4-BE49-F238E27FC236}">
                <a16:creationId xmlns:a16="http://schemas.microsoft.com/office/drawing/2014/main" id="{2FF7593B-A870-4E9C-BA5A-B0496E2D20D1}"/>
              </a:ext>
            </a:extLst>
          </p:cNvPr>
          <p:cNvSpPr>
            <a:spLocks noGrp="1"/>
          </p:cNvSpPr>
          <p:nvPr/>
        </p:nvSpPr>
        <p:spPr>
          <a:xfrm>
            <a:off x="1028700" y="2200275"/>
            <a:ext cx="10325100" cy="1714500"/>
          </a:xfrm>
          <a:prstGeom prst="rect">
            <a:avLst/>
          </a:prstGeom>
          <a:noFill/>
          <a:ln w="0">
            <a:noFill/>
          </a:ln>
        </p:spPr>
        <p:txBody>
          <a:bodyPr anchor="ctr">
            <a:noAutofit/>
          </a:bodyPr>
          <a:lstStyle/>
          <a:p>
            <a:pPr algn="l">
              <a:defRPr sz="4950" b="1">
                <a:solidFill>
                  <a:srgbClr val="202426"/>
                </a:solidFill>
                <a:latin typeface="Arimo"/>
                <a:ea typeface="Arimo"/>
                <a:cs typeface="Arimo"/>
              </a:defRPr>
            </a:pPr>
            <a:r>
              <a:rPr sz="4950" b="1">
                <a:solidFill>
                  <a:srgbClr val="202426"/>
                </a:solidFill>
                <a:latin typeface="Arimo"/>
                <a:ea typeface="Arimo"/>
                <a:cs typeface="Arimo"/>
              </a:rPr>
              <a:t>Data Types</a:t>
            </a:r>
          </a:p>
          <a:p>
            <a:pPr algn="l">
              <a:defRPr sz="4950" b="1">
                <a:solidFill>
                  <a:srgbClr val="202426"/>
                </a:solidFill>
                <a:latin typeface="Arimo"/>
                <a:ea typeface="Arimo"/>
                <a:cs typeface="Arimo"/>
              </a:defRPr>
            </a:pPr>
            <a:r>
              <a:rPr sz="4950" b="1">
                <a:solidFill>
                  <a:srgbClr val="202426"/>
                </a:solidFill>
                <a:latin typeface="Arimo"/>
                <a:ea typeface="Arimo"/>
                <a:cs typeface="Arimo"/>
              </a:rPr>
              <a:t>and Operators</a:t>
            </a:r>
          </a:p>
        </p:txBody>
      </p:sp>
      <p:sp>
        <p:nvSpPr>
          <p:cNvPr id="6" name="Rectangle 5">
            <a:extLst>
              <a:ext uri="{FF2B5EF4-FFF2-40B4-BE49-F238E27FC236}">
                <a16:creationId xmlns:a16="http://schemas.microsoft.com/office/drawing/2014/main" id="{A9D125FE-6320-4418-A5ED-1DC321CD24F5}"/>
              </a:ext>
            </a:extLst>
          </p:cNvPr>
          <p:cNvSpPr>
            <a:spLocks noGrp="1"/>
          </p:cNvSpPr>
          <p:nvPr/>
        </p:nvSpPr>
        <p:spPr>
          <a:xfrm>
            <a:off x="1028700" y="4705350"/>
            <a:ext cx="10325100" cy="666750"/>
          </a:xfrm>
          <a:prstGeom prst="rect">
            <a:avLst/>
          </a:prstGeom>
          <a:noFill/>
          <a:ln w="0">
            <a:noFill/>
          </a:ln>
        </p:spPr>
        <p:txBody>
          <a:bodyPr anchor="ctr">
            <a:noAutofit/>
          </a:bodyPr>
          <a:lstStyle/>
          <a:p>
            <a:pPr algn="l">
              <a:defRPr sz="3000" b="0">
                <a:solidFill>
                  <a:srgbClr val="DF4214"/>
                </a:solidFill>
                <a:latin typeface="Arimo"/>
                <a:ea typeface="Arimo"/>
                <a:cs typeface="Arimo"/>
              </a:defRPr>
            </a:pPr>
            <a:r>
              <a:rPr sz="3000" b="0">
                <a:solidFill>
                  <a:srgbClr val="DF4214"/>
                </a:solidFill>
                <a:latin typeface="Arimo"/>
                <a:ea typeface="Arimo"/>
                <a:cs typeface="Arimo"/>
              </a:rPr>
              <a:t>Week 4</a:t>
            </a:r>
          </a:p>
        </p:txBody>
      </p:sp>
    </p:spTree>
    <p:extLst>
      <p:ext uri="{BB962C8B-B14F-4D97-AF65-F5344CB8AC3E}">
        <p14:creationId xmlns:p14="http://schemas.microsoft.com/office/powerpoint/2010/main" val="467283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E000345-A286-4691-BE73-3273668C2837}"/>
              </a:ext>
            </a:extLst>
          </p:cNvPr>
          <p:cNvSpPr>
            <a:spLocks noGrp="1"/>
          </p:cNvSpPr>
          <p:nvPr/>
        </p:nvSpPr>
        <p:spPr>
          <a:xfrm>
            <a:off x="0" y="0"/>
            <a:ext cx="76200" cy="6858000"/>
          </a:xfrm>
          <a:prstGeom prst="rect">
            <a:avLst/>
          </a:prstGeom>
          <a:solidFill>
            <a:srgbClr val="DF4214"/>
          </a:solidFill>
          <a:ln w="0">
            <a:noFill/>
          </a:ln>
        </p:spPr>
      </p:sp>
      <p:pic>
        <p:nvPicPr>
          <p:cNvPr id="9" name="Picture 8"/>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C7E78C94-C07D-4BDA-BD93-9D3BDA26A51A}"/>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Variables and types</a:t>
            </a:r>
          </a:p>
        </p:txBody>
      </p:sp>
      <p:sp>
        <p:nvSpPr>
          <p:cNvPr id="4" name="Rectangle 3">
            <a:extLst>
              <a:ext uri="{FF2B5EF4-FFF2-40B4-BE49-F238E27FC236}">
                <a16:creationId xmlns:a16="http://schemas.microsoft.com/office/drawing/2014/main" id="{6F46DA6D-D583-4AC2-BF8D-935DAAE9AEB5}"/>
              </a:ext>
            </a:extLst>
          </p:cNvPr>
          <p:cNvSpPr>
            <a:spLocks noGrp="1"/>
          </p:cNvSpPr>
          <p:nvPr/>
        </p:nvSpPr>
        <p:spPr>
          <a:xfrm>
            <a:off x="11144250" y="6343650"/>
            <a:ext cx="457200" cy="266700"/>
          </a:xfrm>
          <a:prstGeom prst="rect">
            <a:avLst/>
          </a:prstGeom>
          <a:noFill/>
          <a:ln w="0">
            <a:noFill/>
          </a:ln>
        </p:spPr>
        <p:txBody>
          <a:bodyPr anchor="ctr">
            <a:noAutofit/>
          </a:bodyPr>
          <a:lstStyle/>
          <a:p>
            <a:pPr algn="r">
              <a:defRPr sz="1350" b="0">
                <a:solidFill>
                  <a:srgbClr val="636B70"/>
                </a:solidFill>
                <a:latin typeface="Arimo"/>
                <a:ea typeface="Arimo"/>
                <a:cs typeface="Arimo"/>
              </a:defRPr>
            </a:pPr>
            <a:r>
              <a:rPr sz="1350" b="0">
                <a:solidFill>
                  <a:srgbClr val="636B70"/>
                </a:solidFill>
                <a:latin typeface="Arimo"/>
                <a:ea typeface="Arimo"/>
                <a:cs typeface="Arimo"/>
              </a:rPr>
              <a:t>02</a:t>
            </a:r>
          </a:p>
        </p:txBody>
      </p:sp>
      <p:graphicFrame>
        <p:nvGraphicFramePr>
          <p:cNvPr id="12" name="Table 11"/>
          <p:cNvGraphicFramePr/>
          <p:nvPr/>
        </p:nvGraphicFramePr>
        <p:xfrm>
          <a:off x="952500" y="1743075"/>
          <a:ext cx="10287000" cy="3600450"/>
        </p:xfrm>
        <a:graphic>
          <a:graphicData uri="http://schemas.openxmlformats.org/drawingml/2006/table">
            <a:tbl>
              <a:tblPr/>
              <a:tblGrid>
                <a:gridCol w="1571625">
                  <a:extLst>
                    <a:ext uri="{9D8B030D-6E8A-4147-A177-3AD203B41FA5}">
                      <a16:colId xmlns:a16="http://schemas.microsoft.com/office/drawing/2014/main" val="20000"/>
                    </a:ext>
                  </a:extLst>
                </a:gridCol>
                <a:gridCol w="5048250">
                  <a:extLst>
                    <a:ext uri="{9D8B030D-6E8A-4147-A177-3AD203B41FA5}">
                      <a16:colId xmlns:a16="http://schemas.microsoft.com/office/drawing/2014/main" val="20001"/>
                    </a:ext>
                  </a:extLst>
                </a:gridCol>
                <a:gridCol w="3667125">
                  <a:extLst>
                    <a:ext uri="{9D8B030D-6E8A-4147-A177-3AD203B41FA5}">
                      <a16:colId xmlns:a16="http://schemas.microsoft.com/office/drawing/2014/main" val="20002"/>
                    </a:ext>
                  </a:extLst>
                </a:gridCol>
              </a:tblGrid>
              <a:tr h="514350">
                <a:tc>
                  <a:txBody>
                    <a:bodyPr/>
                    <a:lstStyle/>
                    <a:p>
                      <a:r>
                        <a:rPr sz="1950" b="1">
                          <a:solidFill>
                            <a:srgbClr val="FFFFFF"/>
                          </a:solidFill>
                          <a:latin typeface="Arimo"/>
                          <a:ea typeface="Arimo"/>
                          <a:cs typeface="Arimo"/>
                        </a:rPr>
                        <a:t>Type</a:t>
                      </a:r>
                    </a:p>
                  </a:txBody>
                  <a:tcPr marL="133350" marR="95250" marT="76200" marB="57150">
                    <a:solidFill>
                      <a:srgbClr val="202426"/>
                    </a:solidFill>
                  </a:tcPr>
                </a:tc>
                <a:tc>
                  <a:txBody>
                    <a:bodyPr/>
                    <a:lstStyle/>
                    <a:p>
                      <a:r>
                        <a:rPr sz="1950" b="1">
                          <a:solidFill>
                            <a:srgbClr val="FFFFFF"/>
                          </a:solidFill>
                          <a:latin typeface="Arimo"/>
                          <a:ea typeface="Arimo"/>
                          <a:cs typeface="Arimo"/>
                        </a:rPr>
                        <a:t>C declaration</a:t>
                      </a:r>
                    </a:p>
                  </a:txBody>
                  <a:tcPr marL="133350" marR="95250" marT="76200" marB="57150">
                    <a:solidFill>
                      <a:srgbClr val="202426"/>
                    </a:solidFill>
                  </a:tcPr>
                </a:tc>
                <a:tc>
                  <a:txBody>
                    <a:bodyPr/>
                    <a:lstStyle/>
                    <a:p>
                      <a:r>
                        <a:rPr sz="1950" b="1">
                          <a:solidFill>
                            <a:srgbClr val="FFFFFF"/>
                          </a:solidFill>
                          <a:latin typeface="Arimo"/>
                          <a:ea typeface="Arimo"/>
                          <a:cs typeface="Arimo"/>
                        </a:rPr>
                        <a:t>Typical use</a:t>
                      </a:r>
                    </a:p>
                  </a:txBody>
                  <a:tcPr marL="133350" marR="95250" marT="76200" marB="57150">
                    <a:solidFill>
                      <a:srgbClr val="202426"/>
                    </a:solidFill>
                  </a:tcPr>
                </a:tc>
                <a:extLst>
                  <a:ext uri="{0D108BD9-81ED-4DB2-BD59-A6C34878D82A}">
                    <a16:rowId xmlns:a16="http://schemas.microsoft.com/office/drawing/2014/main" val="10000"/>
                  </a:ext>
                </a:extLst>
              </a:tr>
              <a:tr h="514350">
                <a:tc>
                  <a:txBody>
                    <a:bodyPr/>
                    <a:lstStyle/>
                    <a:p>
                      <a:r>
                        <a:rPr sz="1875" b="0">
                          <a:solidFill>
                            <a:srgbClr val="005A9C"/>
                          </a:solidFill>
                          <a:latin typeface="Menlo"/>
                          <a:ea typeface="Menlo"/>
                          <a:cs typeface="Menlo"/>
                        </a:rPr>
                        <a:t>int</a:t>
                      </a:r>
                    </a:p>
                  </a:txBody>
                  <a:tcPr marL="133350" marR="95250" marT="76200" marB="57150">
                    <a:solidFill>
                      <a:srgbClr val="FFFFFF"/>
                    </a:solidFill>
                  </a:tcPr>
                </a:tc>
                <a:tc>
                  <a:txBody>
                    <a:bodyPr/>
                    <a:lstStyle/>
                    <a:p>
                      <a:r>
                        <a:rPr sz="1875" b="0">
                          <a:solidFill>
                            <a:srgbClr val="005A9C"/>
                          </a:solidFill>
                          <a:latin typeface="Menlo"/>
                          <a:ea typeface="Menlo"/>
                          <a:cs typeface="Menlo"/>
                        </a:rPr>
                        <a:t>int score = 72;</a:t>
                      </a:r>
                    </a:p>
                  </a:txBody>
                  <a:tcPr marL="133350" marR="95250" marT="76200" marB="57150">
                    <a:solidFill>
                      <a:srgbClr val="FFFFFF"/>
                    </a:solidFill>
                  </a:tcPr>
                </a:tc>
                <a:tc>
                  <a:txBody>
                    <a:bodyPr/>
                    <a:lstStyle/>
                    <a:p>
                      <a:r>
                        <a:rPr sz="1950" b="0">
                          <a:solidFill>
                            <a:srgbClr val="202426"/>
                          </a:solidFill>
                          <a:latin typeface="Arimo"/>
                          <a:ea typeface="Arimo"/>
                          <a:cs typeface="Arimo"/>
                        </a:rPr>
                        <a:t>Whole numbers</a:t>
                      </a:r>
                    </a:p>
                  </a:txBody>
                  <a:tcPr marL="133350" marR="95250" marT="76200" marB="57150">
                    <a:solidFill>
                      <a:srgbClr val="FFFFFF"/>
                    </a:solidFill>
                  </a:tcPr>
                </a:tc>
                <a:extLst>
                  <a:ext uri="{0D108BD9-81ED-4DB2-BD59-A6C34878D82A}">
                    <a16:rowId xmlns:a16="http://schemas.microsoft.com/office/drawing/2014/main" val="10001"/>
                  </a:ext>
                </a:extLst>
              </a:tr>
              <a:tr h="514350">
                <a:tc>
                  <a:txBody>
                    <a:bodyPr/>
                    <a:lstStyle/>
                    <a:p>
                      <a:r>
                        <a:rPr sz="1875" b="0">
                          <a:solidFill>
                            <a:srgbClr val="005A9C"/>
                          </a:solidFill>
                          <a:latin typeface="Menlo"/>
                          <a:ea typeface="Menlo"/>
                          <a:cs typeface="Menlo"/>
                        </a:rPr>
                        <a:t>char</a:t>
                      </a:r>
                    </a:p>
                  </a:txBody>
                  <a:tcPr marL="133350" marR="95250" marT="76200" marB="57150">
                    <a:solidFill>
                      <a:srgbClr val="F3F4F4"/>
                    </a:solidFill>
                  </a:tcPr>
                </a:tc>
                <a:tc>
                  <a:txBody>
                    <a:bodyPr/>
                    <a:lstStyle/>
                    <a:p>
                      <a:r>
                        <a:rPr sz="1875" b="0">
                          <a:solidFill>
                            <a:srgbClr val="005A9C"/>
                          </a:solidFill>
                          <a:latin typeface="Menlo"/>
                          <a:ea typeface="Menlo"/>
                          <a:cs typeface="Menlo"/>
                        </a:rPr>
                        <a:t>char grade = 'B';</a:t>
                      </a:r>
                    </a:p>
                  </a:txBody>
                  <a:tcPr marL="133350" marR="95250" marT="76200" marB="57150">
                    <a:solidFill>
                      <a:srgbClr val="F3F4F4"/>
                    </a:solidFill>
                  </a:tcPr>
                </a:tc>
                <a:tc>
                  <a:txBody>
                    <a:bodyPr/>
                    <a:lstStyle/>
                    <a:p>
                      <a:r>
                        <a:rPr sz="1950" b="0">
                          <a:solidFill>
                            <a:srgbClr val="202426"/>
                          </a:solidFill>
                          <a:latin typeface="Arimo"/>
                          <a:ea typeface="Arimo"/>
                          <a:cs typeface="Arimo"/>
                        </a:rPr>
                        <a:t>One basic character</a:t>
                      </a:r>
                    </a:p>
                  </a:txBody>
                  <a:tcPr marL="133350" marR="95250" marT="76200" marB="57150">
                    <a:solidFill>
                      <a:srgbClr val="F3F4F4"/>
                    </a:solidFill>
                  </a:tcPr>
                </a:tc>
                <a:extLst>
                  <a:ext uri="{0D108BD9-81ED-4DB2-BD59-A6C34878D82A}">
                    <a16:rowId xmlns:a16="http://schemas.microsoft.com/office/drawing/2014/main" val="10002"/>
                  </a:ext>
                </a:extLst>
              </a:tr>
              <a:tr h="514350">
                <a:tc>
                  <a:txBody>
                    <a:bodyPr/>
                    <a:lstStyle/>
                    <a:p>
                      <a:r>
                        <a:rPr sz="1875" b="0">
                          <a:solidFill>
                            <a:srgbClr val="005A9C"/>
                          </a:solidFill>
                          <a:latin typeface="Menlo"/>
                          <a:ea typeface="Menlo"/>
                          <a:cs typeface="Menlo"/>
                        </a:rPr>
                        <a:t>float</a:t>
                      </a:r>
                    </a:p>
                  </a:txBody>
                  <a:tcPr marL="133350" marR="95250" marT="76200" marB="57150">
                    <a:solidFill>
                      <a:srgbClr val="FFFFFF"/>
                    </a:solidFill>
                  </a:tcPr>
                </a:tc>
                <a:tc>
                  <a:txBody>
                    <a:bodyPr/>
                    <a:lstStyle/>
                    <a:p>
                      <a:r>
                        <a:rPr sz="1875" b="0">
                          <a:solidFill>
                            <a:srgbClr val="005A9C"/>
                          </a:solidFill>
                          <a:latin typeface="Menlo"/>
                          <a:ea typeface="Menlo"/>
                          <a:cs typeface="Menlo"/>
                        </a:rPr>
                        <a:t>float temperature = 23.5f;</a:t>
                      </a:r>
                    </a:p>
                  </a:txBody>
                  <a:tcPr marL="133350" marR="95250" marT="76200" marB="57150">
                    <a:solidFill>
                      <a:srgbClr val="FFFFFF"/>
                    </a:solidFill>
                  </a:tcPr>
                </a:tc>
                <a:tc>
                  <a:txBody>
                    <a:bodyPr/>
                    <a:lstStyle/>
                    <a:p>
                      <a:r>
                        <a:rPr sz="1950" b="0">
                          <a:solidFill>
                            <a:srgbClr val="202426"/>
                          </a:solidFill>
                          <a:latin typeface="Arimo"/>
                          <a:ea typeface="Arimo"/>
                          <a:cs typeface="Arimo"/>
                        </a:rPr>
                        <a:t>Approximate real values</a:t>
                      </a:r>
                    </a:p>
                  </a:txBody>
                  <a:tcPr marL="133350" marR="95250" marT="76200" marB="57150">
                    <a:solidFill>
                      <a:srgbClr val="FFFFFF"/>
                    </a:solidFill>
                  </a:tcPr>
                </a:tc>
                <a:extLst>
                  <a:ext uri="{0D108BD9-81ED-4DB2-BD59-A6C34878D82A}">
                    <a16:rowId xmlns:a16="http://schemas.microsoft.com/office/drawing/2014/main" val="10003"/>
                  </a:ext>
                </a:extLst>
              </a:tr>
              <a:tr h="514350">
                <a:tc>
                  <a:txBody>
                    <a:bodyPr/>
                    <a:lstStyle/>
                    <a:p>
                      <a:r>
                        <a:rPr sz="1875" b="0">
                          <a:solidFill>
                            <a:srgbClr val="005A9C"/>
                          </a:solidFill>
                          <a:latin typeface="Menlo"/>
                          <a:ea typeface="Menlo"/>
                          <a:cs typeface="Menlo"/>
                        </a:rPr>
                        <a:t>double</a:t>
                      </a:r>
                    </a:p>
                  </a:txBody>
                  <a:tcPr marL="133350" marR="95250" marT="76200" marB="57150">
                    <a:solidFill>
                      <a:srgbClr val="F3F4F4"/>
                    </a:solidFill>
                  </a:tcPr>
                </a:tc>
                <a:tc>
                  <a:txBody>
                    <a:bodyPr/>
                    <a:lstStyle/>
                    <a:p>
                      <a:r>
                        <a:rPr sz="1875" b="0">
                          <a:solidFill>
                            <a:srgbClr val="005A9C"/>
                          </a:solidFill>
                          <a:latin typeface="Menlo"/>
                          <a:ea typeface="Menlo"/>
                          <a:cs typeface="Menlo"/>
                        </a:rPr>
                        <a:t>double radius = 3.0;</a:t>
                      </a:r>
                    </a:p>
                  </a:txBody>
                  <a:tcPr marL="133350" marR="95250" marT="76200" marB="57150">
                    <a:solidFill>
                      <a:srgbClr val="F3F4F4"/>
                    </a:solidFill>
                  </a:tcPr>
                </a:tc>
                <a:tc>
                  <a:txBody>
                    <a:bodyPr/>
                    <a:lstStyle/>
                    <a:p>
                      <a:r>
                        <a:rPr sz="1950" b="0">
                          <a:solidFill>
                            <a:srgbClr val="202426"/>
                          </a:solidFill>
                          <a:latin typeface="Arimo"/>
                          <a:ea typeface="Arimo"/>
                          <a:cs typeface="Arimo"/>
                        </a:rPr>
                        <a:t>Approximate real values</a:t>
                      </a:r>
                    </a:p>
                  </a:txBody>
                  <a:tcPr marL="133350" marR="95250" marT="76200" marB="57150">
                    <a:solidFill>
                      <a:srgbClr val="F3F4F4"/>
                    </a:solidFill>
                  </a:tcPr>
                </a:tc>
                <a:extLst>
                  <a:ext uri="{0D108BD9-81ED-4DB2-BD59-A6C34878D82A}">
                    <a16:rowId xmlns:a16="http://schemas.microsoft.com/office/drawing/2014/main" val="10004"/>
                  </a:ext>
                </a:extLst>
              </a:tr>
              <a:tr h="514350">
                <a:tc>
                  <a:txBody>
                    <a:bodyPr/>
                    <a:lstStyle/>
                    <a:p>
                      <a:r>
                        <a:rPr sz="1875" b="0">
                          <a:solidFill>
                            <a:srgbClr val="005A9C"/>
                          </a:solidFill>
                          <a:latin typeface="Menlo"/>
                          <a:ea typeface="Menlo"/>
                          <a:cs typeface="Menlo"/>
                        </a:rPr>
                        <a:t>bool</a:t>
                      </a:r>
                    </a:p>
                  </a:txBody>
                  <a:tcPr marL="133350" marR="95250" marT="76200" marB="57150">
                    <a:solidFill>
                      <a:srgbClr val="FFFFFF"/>
                    </a:solidFill>
                  </a:tcPr>
                </a:tc>
                <a:tc>
                  <a:txBody>
                    <a:bodyPr/>
                    <a:lstStyle/>
                    <a:p>
                      <a:r>
                        <a:rPr sz="1875" b="0">
                          <a:solidFill>
                            <a:srgbClr val="005A9C"/>
                          </a:solidFill>
                          <a:latin typeface="Menlo"/>
                          <a:ea typeface="Menlo"/>
                          <a:cs typeface="Menlo"/>
                        </a:rPr>
                        <a:t>bool passed = true;</a:t>
                      </a:r>
                    </a:p>
                  </a:txBody>
                  <a:tcPr marL="133350" marR="95250" marT="76200" marB="57150">
                    <a:solidFill>
                      <a:srgbClr val="FFFFFF"/>
                    </a:solidFill>
                  </a:tcPr>
                </a:tc>
                <a:tc>
                  <a:txBody>
                    <a:bodyPr/>
                    <a:lstStyle/>
                    <a:p>
                      <a:r>
                        <a:rPr sz="1950" b="0">
                          <a:solidFill>
                            <a:srgbClr val="202426"/>
                          </a:solidFill>
                          <a:latin typeface="Arimo"/>
                          <a:ea typeface="Arimo"/>
                          <a:cs typeface="Arimo"/>
                        </a:rPr>
                        <a:t>true or false</a:t>
                      </a:r>
                    </a:p>
                  </a:txBody>
                  <a:tcPr marL="133350" marR="95250" marT="76200" marB="57150">
                    <a:solidFill>
                      <a:srgbClr val="FFFFFF"/>
                    </a:solidFill>
                  </a:tcPr>
                </a:tc>
                <a:extLst>
                  <a:ext uri="{0D108BD9-81ED-4DB2-BD59-A6C34878D82A}">
                    <a16:rowId xmlns:a16="http://schemas.microsoft.com/office/drawing/2014/main" val="10005"/>
                  </a:ext>
                </a:extLst>
              </a:tr>
              <a:tr h="514350">
                <a:tc>
                  <a:txBody>
                    <a:bodyPr/>
                    <a:lstStyle/>
                    <a:p>
                      <a:r>
                        <a:rPr sz="1875" b="0">
                          <a:solidFill>
                            <a:srgbClr val="005A9C"/>
                          </a:solidFill>
                          <a:latin typeface="Menlo"/>
                          <a:ea typeface="Menlo"/>
                          <a:cs typeface="Menlo"/>
                        </a:rPr>
                        <a:t>string</a:t>
                      </a:r>
                    </a:p>
                  </a:txBody>
                  <a:tcPr marL="133350" marR="95250" marT="76200" marB="57150">
                    <a:solidFill>
                      <a:srgbClr val="F3F4F4"/>
                    </a:solidFill>
                  </a:tcPr>
                </a:tc>
                <a:tc>
                  <a:txBody>
                    <a:bodyPr/>
                    <a:lstStyle/>
                    <a:p>
                      <a:r>
                        <a:rPr sz="1875" b="0">
                          <a:solidFill>
                            <a:srgbClr val="005A9C"/>
                          </a:solidFill>
                          <a:latin typeface="Menlo"/>
                          <a:ea typeface="Menlo"/>
                          <a:cs typeface="Menlo"/>
                        </a:rPr>
                        <a:t>string name = "Ada";</a:t>
                      </a:r>
                    </a:p>
                  </a:txBody>
                  <a:tcPr marL="133350" marR="95250" marT="76200" marB="57150">
                    <a:solidFill>
                      <a:srgbClr val="F3F4F4"/>
                    </a:solidFill>
                  </a:tcPr>
                </a:tc>
                <a:tc>
                  <a:txBody>
                    <a:bodyPr/>
                    <a:lstStyle/>
                    <a:p>
                      <a:r>
                        <a:rPr sz="1950" b="0">
                          <a:solidFill>
                            <a:srgbClr val="202426"/>
                          </a:solidFill>
                          <a:latin typeface="Arimo"/>
                          <a:ea typeface="Arimo"/>
                          <a:cs typeface="Arimo"/>
                        </a:rPr>
                        <a:t>Text via CS50</a:t>
                      </a:r>
                    </a:p>
                  </a:txBody>
                  <a:tcPr marL="133350" marR="95250" marT="76200" marB="57150">
                    <a:solidFill>
                      <a:srgbClr val="F3F4F4"/>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6F592FC6-4143-4D98-BE09-2068AD0E6785}"/>
              </a:ext>
            </a:extLst>
          </p:cNvPr>
          <p:cNvSpPr>
            <a:spLocks noGrp="1"/>
          </p:cNvSpPr>
          <p:nvPr/>
        </p:nvSpPr>
        <p:spPr>
          <a:xfrm>
            <a:off x="990600" y="5495925"/>
            <a:ext cx="10287000" cy="342900"/>
          </a:xfrm>
          <a:prstGeom prst="rect">
            <a:avLst/>
          </a:prstGeom>
          <a:noFill/>
          <a:ln w="0">
            <a:noFill/>
          </a:ln>
        </p:spPr>
        <p:txBody>
          <a:bodyPr anchor="ctr">
            <a:noAutofit/>
          </a:bodyPr>
          <a:lstStyle/>
          <a:p>
            <a:pPr algn="l">
              <a:defRPr sz="1650" b="0">
                <a:solidFill>
                  <a:srgbClr val="636B70"/>
                </a:solidFill>
                <a:latin typeface="Menlo"/>
                <a:ea typeface="Menlo"/>
                <a:cs typeface="Menlo"/>
              </a:defRPr>
            </a:pPr>
            <a:r>
              <a:rPr sz="1650" b="0">
                <a:solidFill>
                  <a:srgbClr val="636B70"/>
                </a:solidFill>
                <a:latin typeface="Menlo"/>
                <a:ea typeface="Menlo"/>
                <a:cs typeface="Menlo"/>
              </a:rPr>
              <a:t>C11: bool from &lt;stdbool.h&gt; · CS50: string is a char * alias</a:t>
            </a:r>
          </a:p>
        </p:txBody>
      </p:sp>
      <p:sp>
        <p:nvSpPr>
          <p:cNvPr id="7" name="Rectangle 6">
            <a:extLst>
              <a:ext uri="{FF2B5EF4-FFF2-40B4-BE49-F238E27FC236}">
                <a16:creationId xmlns:a16="http://schemas.microsoft.com/office/drawing/2014/main" id="{0F92B57A-88EC-452B-828D-E42EBE9A4F54}"/>
              </a:ext>
            </a:extLst>
          </p:cNvPr>
          <p:cNvSpPr>
            <a:spLocks noGrp="1"/>
          </p:cNvSpPr>
          <p:nvPr/>
        </p:nvSpPr>
        <p:spPr>
          <a:xfrm>
            <a:off x="990600" y="5915025"/>
            <a:ext cx="10287000" cy="361950"/>
          </a:xfrm>
          <a:prstGeom prst="rect">
            <a:avLst/>
          </a:prstGeom>
          <a:noFill/>
          <a:ln w="0">
            <a:noFill/>
          </a:ln>
        </p:spPr>
        <p:txBody>
          <a:bodyPr anchor="ctr">
            <a:noAutofit/>
          </a:bodyPr>
          <a:lstStyle/>
          <a:p>
            <a:pPr algn="l">
              <a:defRPr sz="1650" b="0">
                <a:solidFill>
                  <a:srgbClr val="636B70"/>
                </a:solidFill>
                <a:latin typeface="Menlo"/>
                <a:ea typeface="Menlo"/>
                <a:cs typeface="Menlo"/>
              </a:defRPr>
            </a:pPr>
            <a:r>
              <a:rPr sz="1650" b="0">
                <a:solidFill>
                  <a:srgbClr val="636B70"/>
                </a:solidFill>
                <a:latin typeface="Menlo"/>
                <a:ea typeface="Menlo"/>
                <a:cs typeface="Menlo"/>
              </a:rPr>
              <a:t>main(void): no parameters · void example(void): no return value</a:t>
            </a:r>
          </a:p>
        </p:txBody>
      </p:sp>
    </p:spTree>
    <p:extLst>
      <p:ext uri="{BB962C8B-B14F-4D97-AF65-F5344CB8AC3E}">
        <p14:creationId xmlns:p14="http://schemas.microsoft.com/office/powerpoint/2010/main" val="507882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5B575B2-3B6B-4F31-9D65-B4A99F476DED}"/>
              </a:ext>
            </a:extLst>
          </p:cNvPr>
          <p:cNvSpPr>
            <a:spLocks noGrp="1"/>
          </p:cNvSpPr>
          <p:nvPr/>
        </p:nvSpPr>
        <p:spPr>
          <a:xfrm>
            <a:off x="0" y="0"/>
            <a:ext cx="76200" cy="6858000"/>
          </a:xfrm>
          <a:prstGeom prst="rect">
            <a:avLst/>
          </a:prstGeom>
          <a:solidFill>
            <a:srgbClr val="DF4214"/>
          </a:solidFill>
          <a:ln w="0">
            <a:noFill/>
          </a:ln>
        </p:spPr>
      </p:sp>
      <p:pic>
        <p:nvPicPr>
          <p:cNvPr id="16" name="Picture 15"/>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F23BC942-3338-4D06-8967-825B11CDF5AE}"/>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Why use double?</a:t>
            </a:r>
          </a:p>
        </p:txBody>
      </p:sp>
      <p:sp>
        <p:nvSpPr>
          <p:cNvPr id="4" name="Rectangle 3">
            <a:extLst>
              <a:ext uri="{FF2B5EF4-FFF2-40B4-BE49-F238E27FC236}">
                <a16:creationId xmlns:a16="http://schemas.microsoft.com/office/drawing/2014/main" id="{9BB21052-1C35-460D-B12B-793764A9D41B}"/>
              </a:ext>
            </a:extLst>
          </p:cNvPr>
          <p:cNvSpPr>
            <a:spLocks noGrp="1"/>
          </p:cNvSpPr>
          <p:nvPr/>
        </p:nvSpPr>
        <p:spPr>
          <a:xfrm>
            <a:off x="11144250" y="6343650"/>
            <a:ext cx="457200" cy="266700"/>
          </a:xfrm>
          <a:prstGeom prst="rect">
            <a:avLst/>
          </a:prstGeom>
          <a:noFill/>
          <a:ln w="0">
            <a:noFill/>
          </a:ln>
        </p:spPr>
        <p:txBody>
          <a:bodyPr anchor="ctr">
            <a:noAutofit/>
          </a:bodyPr>
          <a:lstStyle/>
          <a:p>
            <a:pPr algn="r">
              <a:defRPr sz="1350" b="0">
                <a:solidFill>
                  <a:srgbClr val="636B70"/>
                </a:solidFill>
                <a:latin typeface="Arimo"/>
                <a:ea typeface="Arimo"/>
                <a:cs typeface="Arimo"/>
              </a:defRPr>
            </a:pPr>
            <a:r>
              <a:rPr sz="1350" b="0">
                <a:solidFill>
                  <a:srgbClr val="636B70"/>
                </a:solidFill>
                <a:latin typeface="Arimo"/>
                <a:ea typeface="Arimo"/>
                <a:cs typeface="Arimo"/>
              </a:rPr>
              <a:t>03</a:t>
            </a:r>
          </a:p>
        </p:txBody>
      </p:sp>
      <p:sp>
        <p:nvSpPr>
          <p:cNvPr id="5" name="Rectangle 4">
            <a:extLst>
              <a:ext uri="{FF2B5EF4-FFF2-40B4-BE49-F238E27FC236}">
                <a16:creationId xmlns:a16="http://schemas.microsoft.com/office/drawing/2014/main" id="{AF58B45C-9DDF-4958-A15F-89A37E7E926B}"/>
              </a:ext>
            </a:extLst>
          </p:cNvPr>
          <p:cNvSpPr>
            <a:spLocks noGrp="1"/>
          </p:cNvSpPr>
          <p:nvPr/>
        </p:nvSpPr>
        <p:spPr>
          <a:xfrm>
            <a:off x="990600" y="1676400"/>
            <a:ext cx="10287000" cy="400050"/>
          </a:xfrm>
          <a:prstGeom prst="rect">
            <a:avLst/>
          </a:prstGeom>
          <a:noFill/>
          <a:ln w="0">
            <a:noFill/>
          </a:ln>
        </p:spPr>
        <p:txBody>
          <a:bodyPr anchor="ctr">
            <a:noAutofit/>
          </a:bodyPr>
          <a:lstStyle/>
          <a:p>
            <a:pPr algn="ctr">
              <a:defRPr sz="2025" b="0">
                <a:solidFill>
                  <a:srgbClr val="636B70"/>
                </a:solidFill>
                <a:latin typeface="Arimo"/>
                <a:ea typeface="Arimo"/>
                <a:cs typeface="Arimo"/>
              </a:defRPr>
            </a:pPr>
            <a:r>
              <a:rPr sz="2025" b="0">
                <a:solidFill>
                  <a:srgbClr val="636B70"/>
                </a:solidFill>
                <a:latin typeface="Arimo"/>
                <a:ea typeface="Arimo"/>
                <a:cs typeface="Arimo"/>
              </a:rPr>
              <a:t>Typical precision</a:t>
            </a:r>
          </a:p>
        </p:txBody>
      </p:sp>
      <p:sp>
        <p:nvSpPr>
          <p:cNvPr id="6" name="Rectangle 5">
            <a:extLst>
              <a:ext uri="{FF2B5EF4-FFF2-40B4-BE49-F238E27FC236}">
                <a16:creationId xmlns:a16="http://schemas.microsoft.com/office/drawing/2014/main" id="{8A17F4F1-439A-4136-8510-41921D83B9F5}"/>
              </a:ext>
            </a:extLst>
          </p:cNvPr>
          <p:cNvSpPr>
            <a:spLocks noGrp="1"/>
          </p:cNvSpPr>
          <p:nvPr/>
        </p:nvSpPr>
        <p:spPr>
          <a:xfrm>
            <a:off x="990600" y="2209800"/>
            <a:ext cx="4476750" cy="514350"/>
          </a:xfrm>
          <a:prstGeom prst="rect">
            <a:avLst/>
          </a:prstGeom>
          <a:noFill/>
          <a:ln w="0">
            <a:noFill/>
          </a:ln>
        </p:spPr>
        <p:txBody>
          <a:bodyPr anchor="ctr">
            <a:noAutofit/>
          </a:bodyPr>
          <a:lstStyle/>
          <a:p>
            <a:pPr algn="ctr">
              <a:defRPr sz="3150" b="0">
                <a:solidFill>
                  <a:srgbClr val="005A9C"/>
                </a:solidFill>
                <a:latin typeface="Menlo"/>
                <a:ea typeface="Menlo"/>
                <a:cs typeface="Menlo"/>
              </a:defRPr>
            </a:pPr>
            <a:r>
              <a:rPr sz="3150" b="0">
                <a:solidFill>
                  <a:srgbClr val="005A9C"/>
                </a:solidFill>
                <a:latin typeface="Menlo"/>
                <a:ea typeface="Menlo"/>
                <a:cs typeface="Menlo"/>
              </a:rPr>
              <a:t>float</a:t>
            </a:r>
          </a:p>
        </p:txBody>
      </p:sp>
      <p:sp>
        <p:nvSpPr>
          <p:cNvPr id="7" name="Rectangle 6">
            <a:extLst>
              <a:ext uri="{FF2B5EF4-FFF2-40B4-BE49-F238E27FC236}">
                <a16:creationId xmlns:a16="http://schemas.microsoft.com/office/drawing/2014/main" id="{2F553E03-BBA3-4032-A752-A92621EF004C}"/>
              </a:ext>
            </a:extLst>
          </p:cNvPr>
          <p:cNvSpPr>
            <a:spLocks noGrp="1"/>
          </p:cNvSpPr>
          <p:nvPr/>
        </p:nvSpPr>
        <p:spPr>
          <a:xfrm>
            <a:off x="6724650" y="2209800"/>
            <a:ext cx="4476750" cy="514350"/>
          </a:xfrm>
          <a:prstGeom prst="rect">
            <a:avLst/>
          </a:prstGeom>
          <a:noFill/>
          <a:ln w="0">
            <a:noFill/>
          </a:ln>
        </p:spPr>
        <p:txBody>
          <a:bodyPr anchor="ctr">
            <a:noAutofit/>
          </a:bodyPr>
          <a:lstStyle/>
          <a:p>
            <a:pPr algn="ctr">
              <a:defRPr sz="3150" b="0">
                <a:solidFill>
                  <a:srgbClr val="005A9C"/>
                </a:solidFill>
                <a:latin typeface="Menlo"/>
                <a:ea typeface="Menlo"/>
                <a:cs typeface="Menlo"/>
              </a:defRPr>
            </a:pPr>
            <a:r>
              <a:rPr sz="3150" b="0">
                <a:solidFill>
                  <a:srgbClr val="005A9C"/>
                </a:solidFill>
                <a:latin typeface="Menlo"/>
                <a:ea typeface="Menlo"/>
                <a:cs typeface="Menlo"/>
              </a:rPr>
              <a:t>double</a:t>
            </a:r>
          </a:p>
        </p:txBody>
      </p:sp>
      <p:sp>
        <p:nvSpPr>
          <p:cNvPr id="8" name="Rectangle 7">
            <a:extLst>
              <a:ext uri="{FF2B5EF4-FFF2-40B4-BE49-F238E27FC236}">
                <a16:creationId xmlns:a16="http://schemas.microsoft.com/office/drawing/2014/main" id="{19FEB4C8-4F78-455B-B768-00E1D4976D1F}"/>
              </a:ext>
            </a:extLst>
          </p:cNvPr>
          <p:cNvSpPr>
            <a:spLocks noGrp="1"/>
          </p:cNvSpPr>
          <p:nvPr/>
        </p:nvSpPr>
        <p:spPr>
          <a:xfrm>
            <a:off x="990600" y="2876550"/>
            <a:ext cx="4476750" cy="1181100"/>
          </a:xfrm>
          <a:prstGeom prst="rect">
            <a:avLst/>
          </a:prstGeom>
          <a:noFill/>
          <a:ln w="0">
            <a:noFill/>
          </a:ln>
        </p:spPr>
        <p:txBody>
          <a:bodyPr anchor="ctr">
            <a:noAutofit/>
          </a:bodyPr>
          <a:lstStyle/>
          <a:p>
            <a:pPr algn="ctr">
              <a:defRPr sz="8400" b="0">
                <a:solidFill>
                  <a:srgbClr val="202426"/>
                </a:solidFill>
                <a:latin typeface="Menlo"/>
                <a:ea typeface="Menlo"/>
                <a:cs typeface="Menlo"/>
              </a:defRPr>
            </a:pPr>
            <a:r>
              <a:rPr sz="8400" b="0">
                <a:solidFill>
                  <a:srgbClr val="202426"/>
                </a:solidFill>
                <a:latin typeface="Menlo"/>
                <a:ea typeface="Menlo"/>
                <a:cs typeface="Menlo"/>
              </a:rPr>
              <a:t>6</a:t>
            </a:r>
          </a:p>
        </p:txBody>
      </p:sp>
      <p:sp>
        <p:nvSpPr>
          <p:cNvPr id="9" name="Rectangle 8">
            <a:extLst>
              <a:ext uri="{FF2B5EF4-FFF2-40B4-BE49-F238E27FC236}">
                <a16:creationId xmlns:a16="http://schemas.microsoft.com/office/drawing/2014/main" id="{A9CD3699-0C1F-40F5-96E9-FDEB752D2C93}"/>
              </a:ext>
            </a:extLst>
          </p:cNvPr>
          <p:cNvSpPr>
            <a:spLocks noGrp="1"/>
          </p:cNvSpPr>
          <p:nvPr/>
        </p:nvSpPr>
        <p:spPr>
          <a:xfrm>
            <a:off x="6724650" y="2876550"/>
            <a:ext cx="4476750" cy="1181100"/>
          </a:xfrm>
          <a:prstGeom prst="rect">
            <a:avLst/>
          </a:prstGeom>
          <a:noFill/>
          <a:ln w="0">
            <a:noFill/>
          </a:ln>
        </p:spPr>
        <p:txBody>
          <a:bodyPr anchor="ctr">
            <a:noAutofit/>
          </a:bodyPr>
          <a:lstStyle/>
          <a:p>
            <a:pPr algn="ctr">
              <a:defRPr sz="8400" b="0">
                <a:solidFill>
                  <a:srgbClr val="202426"/>
                </a:solidFill>
                <a:latin typeface="Menlo"/>
                <a:ea typeface="Menlo"/>
                <a:cs typeface="Menlo"/>
              </a:defRPr>
            </a:pPr>
            <a:r>
              <a:rPr sz="8400" b="0">
                <a:solidFill>
                  <a:srgbClr val="202426"/>
                </a:solidFill>
                <a:latin typeface="Menlo"/>
                <a:ea typeface="Menlo"/>
                <a:cs typeface="Menlo"/>
              </a:rPr>
              <a:t>15</a:t>
            </a:r>
          </a:p>
        </p:txBody>
      </p:sp>
      <p:sp>
        <p:nvSpPr>
          <p:cNvPr id="10" name="Rectangle 9">
            <a:extLst>
              <a:ext uri="{FF2B5EF4-FFF2-40B4-BE49-F238E27FC236}">
                <a16:creationId xmlns:a16="http://schemas.microsoft.com/office/drawing/2014/main" id="{17EFF8AF-65EB-4DFE-BFDC-5E6D11DDCFB3}"/>
              </a:ext>
            </a:extLst>
          </p:cNvPr>
          <p:cNvSpPr>
            <a:spLocks noGrp="1"/>
          </p:cNvSpPr>
          <p:nvPr/>
        </p:nvSpPr>
        <p:spPr>
          <a:xfrm>
            <a:off x="990600" y="4191000"/>
            <a:ext cx="4476750" cy="466725"/>
          </a:xfrm>
          <a:prstGeom prst="rect">
            <a:avLst/>
          </a:prstGeom>
          <a:noFill/>
          <a:ln w="0">
            <a:noFill/>
          </a:ln>
        </p:spPr>
        <p:txBody>
          <a:bodyPr anchor="ctr">
            <a:noAutofit/>
          </a:bodyPr>
          <a:lstStyle/>
          <a:p>
            <a:pPr algn="ctr">
              <a:defRPr sz="2100" b="0">
                <a:solidFill>
                  <a:srgbClr val="636B70"/>
                </a:solidFill>
                <a:latin typeface="Arimo"/>
                <a:ea typeface="Arimo"/>
                <a:cs typeface="Arimo"/>
              </a:defRPr>
            </a:pPr>
            <a:r>
              <a:rPr sz="2100" b="0">
                <a:solidFill>
                  <a:srgbClr val="636B70"/>
                </a:solidFill>
                <a:latin typeface="Arimo"/>
                <a:ea typeface="Arimo"/>
                <a:cs typeface="Arimo"/>
              </a:rPr>
              <a:t>significant decimal digits</a:t>
            </a:r>
          </a:p>
        </p:txBody>
      </p:sp>
      <p:sp>
        <p:nvSpPr>
          <p:cNvPr id="11" name="Rectangle 10">
            <a:extLst>
              <a:ext uri="{FF2B5EF4-FFF2-40B4-BE49-F238E27FC236}">
                <a16:creationId xmlns:a16="http://schemas.microsoft.com/office/drawing/2014/main" id="{EA6B2236-0D94-4560-8F26-347E242F0026}"/>
              </a:ext>
            </a:extLst>
          </p:cNvPr>
          <p:cNvSpPr>
            <a:spLocks noGrp="1"/>
          </p:cNvSpPr>
          <p:nvPr/>
        </p:nvSpPr>
        <p:spPr>
          <a:xfrm>
            <a:off x="6724650" y="4191000"/>
            <a:ext cx="4476750" cy="466725"/>
          </a:xfrm>
          <a:prstGeom prst="rect">
            <a:avLst/>
          </a:prstGeom>
          <a:noFill/>
          <a:ln w="0">
            <a:noFill/>
          </a:ln>
        </p:spPr>
        <p:txBody>
          <a:bodyPr anchor="ctr">
            <a:noAutofit/>
          </a:bodyPr>
          <a:lstStyle/>
          <a:p>
            <a:pPr algn="ctr">
              <a:defRPr sz="2100" b="0">
                <a:solidFill>
                  <a:srgbClr val="636B70"/>
                </a:solidFill>
                <a:latin typeface="Arimo"/>
                <a:ea typeface="Arimo"/>
                <a:cs typeface="Arimo"/>
              </a:defRPr>
            </a:pPr>
            <a:r>
              <a:rPr sz="2100" b="0">
                <a:solidFill>
                  <a:srgbClr val="636B70"/>
                </a:solidFill>
                <a:latin typeface="Arimo"/>
                <a:ea typeface="Arimo"/>
                <a:cs typeface="Arimo"/>
              </a:rPr>
              <a:t>significant decimal digits</a:t>
            </a:r>
          </a:p>
        </p:txBody>
      </p:sp>
      <p:sp>
        <p:nvSpPr>
          <p:cNvPr id="12" name="Rectangle 11">
            <a:extLst>
              <a:ext uri="{FF2B5EF4-FFF2-40B4-BE49-F238E27FC236}">
                <a16:creationId xmlns:a16="http://schemas.microsoft.com/office/drawing/2014/main" id="{70DB7DFE-312D-4363-877C-B0373FA6449A}"/>
              </a:ext>
            </a:extLst>
          </p:cNvPr>
          <p:cNvSpPr>
            <a:spLocks noGrp="1"/>
          </p:cNvSpPr>
          <p:nvPr/>
        </p:nvSpPr>
        <p:spPr>
          <a:xfrm>
            <a:off x="990600" y="4991100"/>
            <a:ext cx="4476750" cy="476250"/>
          </a:xfrm>
          <a:prstGeom prst="rect">
            <a:avLst/>
          </a:prstGeom>
          <a:noFill/>
          <a:ln w="0">
            <a:noFill/>
          </a:ln>
        </p:spPr>
        <p:txBody>
          <a:bodyPr anchor="ctr">
            <a:noAutofit/>
          </a:bodyPr>
          <a:lstStyle/>
          <a:p>
            <a:pPr algn="ctr">
              <a:defRPr sz="2025" b="0">
                <a:solidFill>
                  <a:srgbClr val="202426"/>
                </a:solidFill>
                <a:latin typeface="Menlo"/>
                <a:ea typeface="Menlo"/>
                <a:cs typeface="Menlo"/>
              </a:defRPr>
            </a:pPr>
            <a:r>
              <a:rPr sz="2025" b="0">
                <a:solidFill>
                  <a:srgbClr val="202426"/>
                </a:solidFill>
                <a:latin typeface="Menlo"/>
                <a:ea typeface="Menlo"/>
                <a:cs typeface="Menlo"/>
              </a:rPr>
              <a:t>float radius = 3.0f;</a:t>
            </a:r>
          </a:p>
        </p:txBody>
      </p:sp>
      <p:sp>
        <p:nvSpPr>
          <p:cNvPr id="13" name="Rectangle 12">
            <a:extLst>
              <a:ext uri="{FF2B5EF4-FFF2-40B4-BE49-F238E27FC236}">
                <a16:creationId xmlns:a16="http://schemas.microsoft.com/office/drawing/2014/main" id="{EEA5F3E1-48CC-4FA4-B2E8-6E833018411A}"/>
              </a:ext>
            </a:extLst>
          </p:cNvPr>
          <p:cNvSpPr>
            <a:spLocks noGrp="1"/>
          </p:cNvSpPr>
          <p:nvPr/>
        </p:nvSpPr>
        <p:spPr>
          <a:xfrm>
            <a:off x="6724650" y="4991100"/>
            <a:ext cx="4476750" cy="476250"/>
          </a:xfrm>
          <a:prstGeom prst="rect">
            <a:avLst/>
          </a:prstGeom>
          <a:noFill/>
          <a:ln w="0">
            <a:noFill/>
          </a:ln>
        </p:spPr>
        <p:txBody>
          <a:bodyPr anchor="ctr">
            <a:noAutofit/>
          </a:bodyPr>
          <a:lstStyle/>
          <a:p>
            <a:pPr algn="ctr">
              <a:defRPr sz="2025" b="0">
                <a:solidFill>
                  <a:srgbClr val="202426"/>
                </a:solidFill>
                <a:latin typeface="Menlo"/>
                <a:ea typeface="Menlo"/>
                <a:cs typeface="Menlo"/>
              </a:defRPr>
            </a:pPr>
            <a:r>
              <a:rPr sz="2025" b="0">
                <a:solidFill>
                  <a:srgbClr val="202426"/>
                </a:solidFill>
                <a:latin typeface="Menlo"/>
                <a:ea typeface="Menlo"/>
                <a:cs typeface="Menlo"/>
              </a:rPr>
              <a:t>double radius = 3.0;</a:t>
            </a:r>
          </a:p>
        </p:txBody>
      </p:sp>
      <p:sp>
        <p:nvSpPr>
          <p:cNvPr id="14" name="Rectangle 13">
            <a:extLst>
              <a:ext uri="{FF2B5EF4-FFF2-40B4-BE49-F238E27FC236}">
                <a16:creationId xmlns:a16="http://schemas.microsoft.com/office/drawing/2014/main" id="{7E9E160A-6485-4C82-AA32-A5C09562CCB2}"/>
              </a:ext>
            </a:extLst>
          </p:cNvPr>
          <p:cNvSpPr>
            <a:spLocks noGrp="1"/>
          </p:cNvSpPr>
          <p:nvPr/>
        </p:nvSpPr>
        <p:spPr>
          <a:xfrm>
            <a:off x="990600" y="5905500"/>
            <a:ext cx="10287000" cy="419100"/>
          </a:xfrm>
          <a:prstGeom prst="rect">
            <a:avLst/>
          </a:prstGeom>
          <a:noFill/>
          <a:ln w="0">
            <a:noFill/>
          </a:ln>
        </p:spPr>
        <p:txBody>
          <a:bodyPr anchor="ctr">
            <a:noAutofit/>
          </a:bodyPr>
          <a:lstStyle/>
          <a:p>
            <a:pPr algn="ctr">
              <a:defRPr sz="2175" b="0">
                <a:solidFill>
                  <a:srgbClr val="B73513"/>
                </a:solidFill>
                <a:latin typeface="Arimo"/>
                <a:ea typeface="Arimo"/>
                <a:cs typeface="Arimo"/>
              </a:defRPr>
            </a:pPr>
            <a:r>
              <a:rPr sz="2175" b="0">
                <a:solidFill>
                  <a:srgbClr val="B73513"/>
                </a:solidFill>
                <a:latin typeface="Arimo"/>
                <a:ea typeface="Arimo"/>
                <a:cs typeface="Arimo"/>
              </a:rPr>
              <a:t>We use double for radius and volume.</a:t>
            </a:r>
          </a:p>
        </p:txBody>
      </p:sp>
    </p:spTree>
    <p:extLst>
      <p:ext uri="{BB962C8B-B14F-4D97-AF65-F5344CB8AC3E}">
        <p14:creationId xmlns:p14="http://schemas.microsoft.com/office/powerpoint/2010/main" val="1106690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0E894E-7059-4662-B698-E7E2E3F7592E}"/>
              </a:ext>
            </a:extLst>
          </p:cNvPr>
          <p:cNvSpPr>
            <a:spLocks noGrp="1"/>
          </p:cNvSpPr>
          <p:nvPr/>
        </p:nvSpPr>
        <p:spPr>
          <a:xfrm>
            <a:off x="0" y="0"/>
            <a:ext cx="76200" cy="6858000"/>
          </a:xfrm>
          <a:prstGeom prst="rect">
            <a:avLst/>
          </a:prstGeom>
          <a:solidFill>
            <a:srgbClr val="DF4214"/>
          </a:solidFill>
          <a:ln w="0">
            <a:noFill/>
          </a:ln>
        </p:spPr>
      </p:sp>
      <p:pic>
        <p:nvPicPr>
          <p:cNvPr id="9" name="Picture 8"/>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F75B041A-A873-43AF-8EBC-1BA427755B1B}"/>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Sphere volume</a:t>
            </a:r>
          </a:p>
        </p:txBody>
      </p:sp>
      <p:sp>
        <p:nvSpPr>
          <p:cNvPr id="4" name="Rectangle 3">
            <a:extLst>
              <a:ext uri="{FF2B5EF4-FFF2-40B4-BE49-F238E27FC236}">
                <a16:creationId xmlns:a16="http://schemas.microsoft.com/office/drawing/2014/main" id="{19A959A6-B7FD-4F7C-9B7F-0BCE72E1A6FC}"/>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04</a:t>
            </a:r>
          </a:p>
        </p:txBody>
      </p:sp>
      <p:sp>
        <p:nvSpPr>
          <p:cNvPr id="5" name="Rectangle 4">
            <a:extLst>
              <a:ext uri="{FF2B5EF4-FFF2-40B4-BE49-F238E27FC236}">
                <a16:creationId xmlns:a16="http://schemas.microsoft.com/office/drawing/2014/main" id="{9BEC0A30-E33F-4FA5-98CA-22081F917B89}"/>
              </a:ext>
            </a:extLst>
          </p:cNvPr>
          <p:cNvSpPr>
            <a:spLocks noGrp="1"/>
          </p:cNvSpPr>
          <p:nvPr/>
        </p:nvSpPr>
        <p:spPr>
          <a:xfrm>
            <a:off x="1028700" y="1781175"/>
            <a:ext cx="10325100" cy="866775"/>
          </a:xfrm>
          <a:prstGeom prst="rect">
            <a:avLst/>
          </a:prstGeom>
          <a:noFill/>
          <a:ln w="0">
            <a:noFill/>
          </a:ln>
        </p:spPr>
        <p:txBody>
          <a:bodyPr anchor="ctr">
            <a:noAutofit/>
          </a:bodyPr>
          <a:lstStyle/>
          <a:p>
            <a:pPr algn="l">
              <a:defRPr sz="4125" b="1">
                <a:solidFill>
                  <a:srgbClr val="202426"/>
                </a:solidFill>
                <a:latin typeface="Arimo"/>
                <a:ea typeface="Arimo"/>
                <a:cs typeface="Arimo"/>
              </a:defRPr>
            </a:pPr>
            <a:r>
              <a:rPr sz="4125" b="1">
                <a:solidFill>
                  <a:srgbClr val="202426"/>
                </a:solidFill>
                <a:latin typeface="Arimo"/>
                <a:ea typeface="Arimo"/>
                <a:cs typeface="Arimo"/>
              </a:rPr>
              <a:t>V = (4 / 3) × π × r³</a:t>
            </a:r>
          </a:p>
        </p:txBody>
      </p:sp>
      <p:sp>
        <p:nvSpPr>
          <p:cNvPr id="6" name="Rectangle 5">
            <a:extLst>
              <a:ext uri="{FF2B5EF4-FFF2-40B4-BE49-F238E27FC236}">
                <a16:creationId xmlns:a16="http://schemas.microsoft.com/office/drawing/2014/main" id="{DC32086D-704D-4C3E-B97E-FFBF225A3BF4}"/>
              </a:ext>
            </a:extLst>
          </p:cNvPr>
          <p:cNvSpPr>
            <a:spLocks noGrp="1"/>
          </p:cNvSpPr>
          <p:nvPr/>
        </p:nvSpPr>
        <p:spPr>
          <a:xfrm>
            <a:off x="1028700" y="3114675"/>
            <a:ext cx="10325100" cy="1514475"/>
          </a:xfrm>
          <a:prstGeom prst="rect">
            <a:avLst/>
          </a:prstGeom>
          <a:noFill/>
          <a:ln w="0">
            <a:noFill/>
          </a:ln>
        </p:spPr>
        <p:txBody>
          <a:bodyPr anchor="ctr">
            <a:noAutofit/>
          </a:bodyPr>
          <a:lstStyle/>
          <a:p>
            <a:pPr algn="l">
              <a:defRPr sz="2400" b="0">
                <a:solidFill>
                  <a:srgbClr val="202426"/>
                </a:solidFill>
                <a:latin typeface="Menlo"/>
                <a:ea typeface="Menlo"/>
                <a:cs typeface="Menlo"/>
              </a:defRPr>
            </a:pPr>
            <a:r>
              <a:rPr>
                <a:solidFill>
                  <a:srgbClr val="005A9C"/>
                </a:solidFill>
              </a:rPr>
              <a:t>const</a:t>
            </a:r>
            <a:r>
              <a:t> </a:t>
            </a:r>
            <a:r>
              <a:rPr>
                <a:solidFill>
                  <a:srgbClr val="005A9C"/>
                </a:solidFill>
              </a:rPr>
              <a:t>double</a:t>
            </a:r>
            <a:r>
              <a:t> pi = 3.1415;</a:t>
            </a:r>
          </a:p>
          <a:p>
            <a:pPr algn="l">
              <a:defRPr sz="2400" b="0">
                <a:solidFill>
                  <a:srgbClr val="202426"/>
                </a:solidFill>
                <a:latin typeface="Menlo"/>
                <a:ea typeface="Menlo"/>
                <a:cs typeface="Menlo"/>
              </a:defRPr>
            </a:pPr>
            <a:r>
              <a:rPr>
                <a:solidFill>
                  <a:srgbClr val="005A9C"/>
                </a:solidFill>
              </a:rPr>
              <a:t>double</a:t>
            </a:r>
            <a:r>
              <a:t> radius = get_double(</a:t>
            </a:r>
            <a:r>
              <a:rPr>
                <a:solidFill>
                  <a:srgbClr val="1B6B45"/>
                </a:solidFill>
              </a:rPr>
              <a:t>"Radius: "</a:t>
            </a:r>
            <a:r>
              <a:t>);</a:t>
            </a:r>
          </a:p>
        </p:txBody>
      </p:sp>
      <p:sp>
        <p:nvSpPr>
          <p:cNvPr id="7" name="Rectangle 6">
            <a:extLst>
              <a:ext uri="{FF2B5EF4-FFF2-40B4-BE49-F238E27FC236}">
                <a16:creationId xmlns:a16="http://schemas.microsoft.com/office/drawing/2014/main" id="{AE4F4F4D-C13E-403F-AC52-543B5B6B64A1}"/>
              </a:ext>
            </a:extLst>
          </p:cNvPr>
          <p:cNvSpPr>
            <a:spLocks noGrp="1"/>
          </p:cNvSpPr>
          <p:nvPr/>
        </p:nvSpPr>
        <p:spPr>
          <a:xfrm>
            <a:off x="1028700" y="5657850"/>
            <a:ext cx="10325100" cy="523875"/>
          </a:xfrm>
          <a:prstGeom prst="rect">
            <a:avLst/>
          </a:prstGeom>
          <a:noFill/>
          <a:ln w="0">
            <a:noFill/>
          </a:ln>
        </p:spPr>
        <p:txBody>
          <a:bodyPr anchor="ctr">
            <a:noAutofit/>
          </a:bodyPr>
          <a:lstStyle/>
          <a:p>
            <a:pPr algn="l">
              <a:defRPr sz="2025" b="0">
                <a:solidFill>
                  <a:srgbClr val="B73513"/>
                </a:solidFill>
                <a:latin typeface="Arimo"/>
                <a:ea typeface="Arimo"/>
                <a:cs typeface="Arimo"/>
              </a:defRPr>
            </a:pPr>
            <a:r>
              <a:rPr sz="2025" b="0">
                <a:solidFill>
                  <a:srgbClr val="B73513"/>
                </a:solidFill>
                <a:latin typeface="Arimo"/>
                <a:ea typeface="Arimo"/>
                <a:cs typeface="Arimo"/>
              </a:rPr>
              <a:t>Today’s input range: 0 &lt; radius &lt;= 1000</a:t>
            </a:r>
          </a:p>
        </p:txBody>
      </p:sp>
    </p:spTree>
    <p:extLst>
      <p:ext uri="{BB962C8B-B14F-4D97-AF65-F5344CB8AC3E}">
        <p14:creationId xmlns:p14="http://schemas.microsoft.com/office/powerpoint/2010/main" val="1953422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F845393-EF2F-4DD7-9B21-09C0B0E108F6}"/>
              </a:ext>
            </a:extLst>
          </p:cNvPr>
          <p:cNvSpPr>
            <a:spLocks noGrp="1"/>
          </p:cNvSpPr>
          <p:nvPr/>
        </p:nvSpPr>
        <p:spPr>
          <a:xfrm>
            <a:off x="0" y="0"/>
            <a:ext cx="76200" cy="6858000"/>
          </a:xfrm>
          <a:prstGeom prst="rect">
            <a:avLst/>
          </a:prstGeom>
          <a:solidFill>
            <a:srgbClr val="DF4214"/>
          </a:solidFill>
          <a:ln w="0">
            <a:noFill/>
          </a:ln>
        </p:spPr>
      </p:sp>
      <p:pic>
        <p:nvPicPr>
          <p:cNvPr id="16" name="Picture 15"/>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FFDA35C4-F1F9-45F9-986E-3B2BD143C247}"/>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What will this print?</a:t>
            </a:r>
          </a:p>
        </p:txBody>
      </p:sp>
      <p:sp>
        <p:nvSpPr>
          <p:cNvPr id="4" name="Rectangle 3">
            <a:extLst>
              <a:ext uri="{FF2B5EF4-FFF2-40B4-BE49-F238E27FC236}">
                <a16:creationId xmlns:a16="http://schemas.microsoft.com/office/drawing/2014/main" id="{B1766419-6D73-4AA8-8169-6F32EAA22346}"/>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05</a:t>
            </a:r>
          </a:p>
        </p:txBody>
      </p:sp>
      <p:sp>
        <p:nvSpPr>
          <p:cNvPr id="5" name="Rectangle 4">
            <a:extLst>
              <a:ext uri="{FF2B5EF4-FFF2-40B4-BE49-F238E27FC236}">
                <a16:creationId xmlns:a16="http://schemas.microsoft.com/office/drawing/2014/main" id="{4A9B4C94-B447-4615-8613-E45AAC3AAA09}"/>
              </a:ext>
            </a:extLst>
          </p:cNvPr>
          <p:cNvSpPr>
            <a:spLocks noGrp="1"/>
          </p:cNvSpPr>
          <p:nvPr/>
        </p:nvSpPr>
        <p:spPr>
          <a:xfrm>
            <a:off x="1028700" y="1666875"/>
            <a:ext cx="10325100" cy="381000"/>
          </a:xfrm>
          <a:prstGeom prst="rect">
            <a:avLst/>
          </a:prstGeom>
          <a:noFill/>
          <a:ln w="0">
            <a:noFill/>
          </a:ln>
        </p:spPr>
        <p:txBody>
          <a:bodyPr anchor="ctr">
            <a:noAutofit/>
          </a:bodyPr>
          <a:lstStyle/>
          <a:p>
            <a:pPr algn="l">
              <a:defRPr sz="1875" b="0">
                <a:solidFill>
                  <a:srgbClr val="596167"/>
                </a:solidFill>
                <a:latin typeface="Arimo"/>
                <a:ea typeface="Arimo"/>
                <a:cs typeface="Arimo"/>
              </a:defRPr>
            </a:pPr>
            <a:r>
              <a:rPr sz="1875" b="0">
                <a:solidFill>
                  <a:srgbClr val="596167"/>
                </a:solidFill>
                <a:latin typeface="Arimo"/>
                <a:ea typeface="Arimo"/>
                <a:cs typeface="Arimo"/>
              </a:rPr>
              <a:t>Prediction 1</a:t>
            </a:r>
          </a:p>
        </p:txBody>
      </p:sp>
      <p:sp>
        <p:nvSpPr>
          <p:cNvPr id="6" name="Rectangle 5">
            <a:extLst>
              <a:ext uri="{FF2B5EF4-FFF2-40B4-BE49-F238E27FC236}">
                <a16:creationId xmlns:a16="http://schemas.microsoft.com/office/drawing/2014/main" id="{16557483-5B1B-4C4A-8533-832444618D7C}"/>
              </a:ext>
            </a:extLst>
          </p:cNvPr>
          <p:cNvSpPr>
            <a:spLocks noGrp="1"/>
          </p:cNvSpPr>
          <p:nvPr/>
        </p:nvSpPr>
        <p:spPr>
          <a:xfrm>
            <a:off x="1028700" y="2238375"/>
            <a:ext cx="10325100" cy="1095375"/>
          </a:xfrm>
          <a:prstGeom prst="rect">
            <a:avLst/>
          </a:prstGeom>
          <a:noFill/>
          <a:ln w="0">
            <a:noFill/>
          </a:ln>
        </p:spPr>
        <p:txBody>
          <a:bodyPr anchor="ctr">
            <a:noAutofit/>
          </a:bodyPr>
          <a:lstStyle/>
          <a:p>
            <a:pPr algn="l">
              <a:defRPr sz="2550" b="0">
                <a:solidFill>
                  <a:srgbClr val="202426"/>
                </a:solidFill>
                <a:latin typeface="Menlo"/>
                <a:ea typeface="Menlo"/>
                <a:cs typeface="Menlo"/>
              </a:defRPr>
            </a:pPr>
            <a:r>
              <a:rPr>
                <a:solidFill>
                  <a:srgbClr val="005A9C"/>
                </a:solidFill>
              </a:rPr>
              <a:t>double</a:t>
            </a:r>
            <a:r>
              <a:t> fraction = 4 / 3;</a:t>
            </a:r>
          </a:p>
          <a:p>
            <a:pPr algn="l">
              <a:defRPr sz="2550" b="0">
                <a:solidFill>
                  <a:srgbClr val="202426"/>
                </a:solidFill>
                <a:latin typeface="Menlo"/>
                <a:ea typeface="Menlo"/>
                <a:cs typeface="Menlo"/>
              </a:defRPr>
            </a:pPr>
            <a:r>
              <a:t>printf(</a:t>
            </a:r>
            <a:r>
              <a:rPr>
                <a:solidFill>
                  <a:srgbClr val="1B6B45"/>
                </a:solidFill>
              </a:rPr>
              <a:t>"%f\n"</a:t>
            </a:r>
            <a:r>
              <a:t>, fraction);</a:t>
            </a:r>
          </a:p>
        </p:txBody>
      </p:sp>
      <p:sp>
        <p:nvSpPr>
          <p:cNvPr id="7" name="Rectangle 6">
            <a:extLst>
              <a:ext uri="{FF2B5EF4-FFF2-40B4-BE49-F238E27FC236}">
                <a16:creationId xmlns:a16="http://schemas.microsoft.com/office/drawing/2014/main" id="{6D935E09-F493-4857-A9D8-87EEF358D181}"/>
              </a:ext>
            </a:extLst>
          </p:cNvPr>
          <p:cNvSpPr>
            <a:spLocks noGrp="1"/>
          </p:cNvSpPr>
          <p:nvPr/>
        </p:nvSpPr>
        <p:spPr>
          <a:xfrm>
            <a:off x="1028700" y="36671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A</a:t>
            </a:r>
          </a:p>
        </p:txBody>
      </p:sp>
      <p:sp>
        <p:nvSpPr>
          <p:cNvPr id="8" name="Rectangle 7">
            <a:extLst>
              <a:ext uri="{FF2B5EF4-FFF2-40B4-BE49-F238E27FC236}">
                <a16:creationId xmlns:a16="http://schemas.microsoft.com/office/drawing/2014/main" id="{3C602253-7066-4125-A866-287C61E678A0}"/>
              </a:ext>
            </a:extLst>
          </p:cNvPr>
          <p:cNvSpPr>
            <a:spLocks noGrp="1"/>
          </p:cNvSpPr>
          <p:nvPr/>
        </p:nvSpPr>
        <p:spPr>
          <a:xfrm>
            <a:off x="1647825" y="36671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1.000000</a:t>
            </a:r>
          </a:p>
        </p:txBody>
      </p:sp>
      <p:sp>
        <p:nvSpPr>
          <p:cNvPr id="9" name="Rectangle 8">
            <a:extLst>
              <a:ext uri="{FF2B5EF4-FFF2-40B4-BE49-F238E27FC236}">
                <a16:creationId xmlns:a16="http://schemas.microsoft.com/office/drawing/2014/main" id="{29B4DBFD-0287-4AA8-987A-52F303509212}"/>
              </a:ext>
            </a:extLst>
          </p:cNvPr>
          <p:cNvSpPr>
            <a:spLocks noGrp="1"/>
          </p:cNvSpPr>
          <p:nvPr/>
        </p:nvSpPr>
        <p:spPr>
          <a:xfrm>
            <a:off x="6457950" y="36671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B</a:t>
            </a:r>
          </a:p>
        </p:txBody>
      </p:sp>
      <p:sp>
        <p:nvSpPr>
          <p:cNvPr id="10" name="Rectangle 9">
            <a:extLst>
              <a:ext uri="{FF2B5EF4-FFF2-40B4-BE49-F238E27FC236}">
                <a16:creationId xmlns:a16="http://schemas.microsoft.com/office/drawing/2014/main" id="{C38D930E-E49F-43DB-9B84-AA8C642ECDA9}"/>
              </a:ext>
            </a:extLst>
          </p:cNvPr>
          <p:cNvSpPr>
            <a:spLocks noGrp="1"/>
          </p:cNvSpPr>
          <p:nvPr/>
        </p:nvSpPr>
        <p:spPr>
          <a:xfrm>
            <a:off x="7077075" y="36671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1.333333</a:t>
            </a:r>
          </a:p>
        </p:txBody>
      </p:sp>
      <p:sp>
        <p:nvSpPr>
          <p:cNvPr id="11" name="Rectangle 10">
            <a:extLst>
              <a:ext uri="{FF2B5EF4-FFF2-40B4-BE49-F238E27FC236}">
                <a16:creationId xmlns:a16="http://schemas.microsoft.com/office/drawing/2014/main" id="{C737BE36-936E-42D1-9AD8-0DC7F2F3DB49}"/>
              </a:ext>
            </a:extLst>
          </p:cNvPr>
          <p:cNvSpPr>
            <a:spLocks noGrp="1"/>
          </p:cNvSpPr>
          <p:nvPr/>
        </p:nvSpPr>
        <p:spPr>
          <a:xfrm>
            <a:off x="1028700" y="45053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C</a:t>
            </a:r>
          </a:p>
        </p:txBody>
      </p:sp>
      <p:sp>
        <p:nvSpPr>
          <p:cNvPr id="12" name="Rectangle 11">
            <a:extLst>
              <a:ext uri="{FF2B5EF4-FFF2-40B4-BE49-F238E27FC236}">
                <a16:creationId xmlns:a16="http://schemas.microsoft.com/office/drawing/2014/main" id="{7D3460FC-BD1D-41F0-9CBF-9D3AB69C2A25}"/>
              </a:ext>
            </a:extLst>
          </p:cNvPr>
          <p:cNvSpPr>
            <a:spLocks noGrp="1"/>
          </p:cNvSpPr>
          <p:nvPr/>
        </p:nvSpPr>
        <p:spPr>
          <a:xfrm>
            <a:off x="1647825" y="45053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Compilation error</a:t>
            </a:r>
          </a:p>
        </p:txBody>
      </p:sp>
      <p:sp>
        <p:nvSpPr>
          <p:cNvPr id="13" name="Rectangle 12">
            <a:extLst>
              <a:ext uri="{FF2B5EF4-FFF2-40B4-BE49-F238E27FC236}">
                <a16:creationId xmlns:a16="http://schemas.microsoft.com/office/drawing/2014/main" id="{1C2B7048-7E7F-42B8-8748-8B0F99517B7E}"/>
              </a:ext>
            </a:extLst>
          </p:cNvPr>
          <p:cNvSpPr>
            <a:spLocks noGrp="1"/>
          </p:cNvSpPr>
          <p:nvPr/>
        </p:nvSpPr>
        <p:spPr>
          <a:xfrm>
            <a:off x="6457950" y="45053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D</a:t>
            </a:r>
          </a:p>
        </p:txBody>
      </p:sp>
      <p:sp>
        <p:nvSpPr>
          <p:cNvPr id="14" name="Rectangle 13">
            <a:extLst>
              <a:ext uri="{FF2B5EF4-FFF2-40B4-BE49-F238E27FC236}">
                <a16:creationId xmlns:a16="http://schemas.microsoft.com/office/drawing/2014/main" id="{21E6975F-3744-4447-B7C2-A345507F3F99}"/>
              </a:ext>
            </a:extLst>
          </p:cNvPr>
          <p:cNvSpPr>
            <a:spLocks noGrp="1"/>
          </p:cNvSpPr>
          <p:nvPr/>
        </p:nvSpPr>
        <p:spPr>
          <a:xfrm>
            <a:off x="7077075" y="45053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0.000000</a:t>
            </a:r>
          </a:p>
        </p:txBody>
      </p:sp>
    </p:spTree>
    <p:extLst>
      <p:ext uri="{BB962C8B-B14F-4D97-AF65-F5344CB8AC3E}">
        <p14:creationId xmlns:p14="http://schemas.microsoft.com/office/powerpoint/2010/main" val="752118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1A1A1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35E266-76E3-5DF8-45ED-BB1E3AA8AA9E}"/>
              </a:ext>
            </a:extLst>
          </p:cNvPr>
          <p:cNvSpPr/>
          <p:nvPr>
            <p:custDataLst>
              <p:tags r:id="rId2"/>
            </p:custDataLst>
          </p:nvPr>
        </p:nvSpPr>
        <p:spPr>
          <a:xfrm>
            <a:off x="444693" y="1742703"/>
            <a:ext cx="2371696" cy="2371696"/>
          </a:xfrm>
          <a:prstGeom prst="rect">
            <a:avLst/>
          </a:prstGeom>
          <a:blipFill>
            <a:blip>
              <a:extLst>
                <a:ext uri="{96DAC541-7B7A-43D3-8B79-37D633B846F1}">
                  <asvg:svgBlip xmlns:asvg="http://schemas.microsoft.com/office/drawing/2016/SVG/main" r:embed="rId7"/>
                </a:ext>
              </a:extLst>
            </a:blip>
            <a:stretch>
              <a:fillRect/>
            </a:stretch>
          </a:blipFill>
          <a:ln w="19050">
            <a:noFill/>
            <a:prstDash val="solid"/>
          </a:ln>
          <a:effectLst/>
          <a:extLs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BBC27C1-D9A2-B64B-A8E3-8678A422B7C1}"/>
              </a:ext>
            </a:extLst>
          </p:cNvPr>
          <p:cNvSpPr/>
          <p:nvPr>
            <p:custDataLst>
              <p:tags r:id="rId3"/>
            </p:custDataLst>
          </p:nvPr>
        </p:nvSpPr>
        <p:spPr>
          <a:xfrm>
            <a:off x="3112851" y="1000897"/>
            <a:ext cx="8486226" cy="3855308"/>
          </a:xfrm>
          <a:prstGeom prst="rect">
            <a:avLst/>
          </a:prstGeom>
          <a:noFill/>
          <a:ln w="19050">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rgbClr val="FFFFFF"/>
                </a:solidFill>
              </a:rPr>
              <a:t>What will this print? double fraction = 4 / 3;</a:t>
            </a:r>
          </a:p>
        </p:txBody>
      </p:sp>
      <p:sp>
        <p:nvSpPr>
          <p:cNvPr id="4" name="Rectangle 3">
            <a:extLst>
              <a:ext uri="{FF2B5EF4-FFF2-40B4-BE49-F238E27FC236}">
                <a16:creationId xmlns:a16="http://schemas.microsoft.com/office/drawing/2014/main" id="{F6E6527F-F9D6-1290-7E41-EBC7D726E76A}"/>
              </a:ext>
            </a:extLst>
          </p:cNvPr>
          <p:cNvSpPr/>
          <p:nvPr>
            <p:custDataLst>
              <p:tags r:id="rId4"/>
            </p:custDataLst>
          </p:nvPr>
        </p:nvSpPr>
        <p:spPr>
          <a:xfrm>
            <a:off x="0" y="5820032"/>
            <a:ext cx="12192001" cy="1037968"/>
          </a:xfrm>
          <a:prstGeom prst="rect">
            <a:avLst/>
          </a:prstGeom>
          <a:solidFill>
            <a:srgbClr val="1980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92500"/>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90A20539-F246-0836-BE8E-4F11E7B0198A}"/>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29F6A192-1683-A852-32E4-F800C02AB212}"/>
              </a:ext>
            </a:extLst>
          </p:cNvPr>
          <p:cNvSpPr/>
          <p:nvPr>
            <p:custDataLst>
              <p:tags r:id="rId5"/>
            </p:custDataLst>
          </p:nvPr>
        </p:nvSpPr>
        <p:spPr>
          <a:xfrm rot="2700000">
            <a:off x="9620371" y="514924"/>
            <a:ext cx="3335198" cy="778213"/>
          </a:xfrm>
          <a:prstGeom prst="trapezoid">
            <a:avLst>
              <a:gd name="adj" fmla="val 100000"/>
            </a:avLst>
          </a:prstGeom>
          <a:solidFill>
            <a:srgbClr val="0A3316"/>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42A65F"/>
                </a:solidFill>
              </a:rPr>
              <a:t>Do not edit
</a:t>
            </a:r>
            <a:r>
              <a:rPr lang="en-US" sz="2200">
                <a:solidFill>
                  <a:srgbClr val="42A65F"/>
                </a:solidFill>
                <a:hlinkClick r:id="rId10">
                  <a:extLst>
                    <a:ext uri="{A12FA001-AC4F-418D-AE19-62706E023703}">
                      <ahyp:hlinkClr xmlns:ahyp="http://schemas.microsoft.com/office/drawing/2018/hyperlinkcolor" val="tx"/>
                    </a:ext>
                  </a:extLst>
                </a:hlinkClick>
              </a:rPr>
              <a:t>How to change the design</a:t>
            </a:r>
            <a:endParaRPr lang="en-US" sz="2200">
              <a:solidFill>
                <a:srgbClr val="42A65F"/>
              </a:solidFill>
            </a:endParaRPr>
          </a:p>
        </p:txBody>
      </p:sp>
      <p:pic>
        <p:nvPicPr>
          <p:cNvPr id="9" name="Graphic 8">
            <a:extLst>
              <a:ext uri="{FF2B5EF4-FFF2-40B4-BE49-F238E27FC236}">
                <a16:creationId xmlns:a16="http://schemas.microsoft.com/office/drawing/2014/main" id="{78A5E540-F368-96C3-9EFD-20B872536BBE}"/>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178884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E91593D-C96A-435C-880A-14E272F02D44}"/>
              </a:ext>
            </a:extLst>
          </p:cNvPr>
          <p:cNvSpPr>
            <a:spLocks noGrp="1"/>
          </p:cNvSpPr>
          <p:nvPr/>
        </p:nvSpPr>
        <p:spPr>
          <a:xfrm>
            <a:off x="0" y="0"/>
            <a:ext cx="76200" cy="6858000"/>
          </a:xfrm>
          <a:prstGeom prst="rect">
            <a:avLst/>
          </a:prstGeom>
          <a:solidFill>
            <a:srgbClr val="DF4214"/>
          </a:solidFill>
          <a:ln w="0">
            <a:noFill/>
          </a:ln>
        </p:spPr>
      </p:sp>
      <p:pic>
        <p:nvPicPr>
          <p:cNvPr id="8" name="Picture 7"/>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A57E3979-75F3-4A9D-80A0-FB08C6CCBF2F}"/>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Division happens before assignment</a:t>
            </a:r>
          </a:p>
        </p:txBody>
      </p:sp>
      <p:sp>
        <p:nvSpPr>
          <p:cNvPr id="4" name="Rectangle 3">
            <a:extLst>
              <a:ext uri="{FF2B5EF4-FFF2-40B4-BE49-F238E27FC236}">
                <a16:creationId xmlns:a16="http://schemas.microsoft.com/office/drawing/2014/main" id="{D84DF895-3B14-4607-87AF-68312FAFA4FF}"/>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06</a:t>
            </a:r>
          </a:p>
        </p:txBody>
      </p:sp>
      <p:graphicFrame>
        <p:nvGraphicFramePr>
          <p:cNvPr id="11" name="Table 10"/>
          <p:cNvGraphicFramePr/>
          <p:nvPr/>
        </p:nvGraphicFramePr>
        <p:xfrm>
          <a:off x="1028700" y="2181225"/>
          <a:ext cx="10325100" cy="2676525"/>
        </p:xfrm>
        <a:graphic>
          <a:graphicData uri="http://schemas.openxmlformats.org/drawingml/2006/table">
            <a:tbl>
              <a:tblPr/>
              <a:tblGrid>
                <a:gridCol w="3619500">
                  <a:extLst>
                    <a:ext uri="{9D8B030D-6E8A-4147-A177-3AD203B41FA5}">
                      <a16:colId xmlns:a16="http://schemas.microsoft.com/office/drawing/2014/main" val="20000"/>
                    </a:ext>
                  </a:extLst>
                </a:gridCol>
                <a:gridCol w="34671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669131">
                <a:tc>
                  <a:txBody>
                    <a:bodyPr/>
                    <a:lstStyle/>
                    <a:p>
                      <a:r>
                        <a:rPr sz="2100" b="1">
                          <a:solidFill>
                            <a:srgbClr val="FFFFFF"/>
                          </a:solidFill>
                          <a:latin typeface="Arimo"/>
                          <a:ea typeface="Arimo"/>
                          <a:cs typeface="Arimo"/>
                        </a:rPr>
                        <a:t>Expression</a:t>
                      </a:r>
                    </a:p>
                  </a:txBody>
                  <a:tcPr marL="133350" marR="95250" marT="76200" marB="57150">
                    <a:solidFill>
                      <a:srgbClr val="202426"/>
                    </a:solidFill>
                  </a:tcPr>
                </a:tc>
                <a:tc>
                  <a:txBody>
                    <a:bodyPr/>
                    <a:lstStyle/>
                    <a:p>
                      <a:r>
                        <a:rPr sz="2100" b="1">
                          <a:solidFill>
                            <a:srgbClr val="FFFFFF"/>
                          </a:solidFill>
                          <a:latin typeface="Arimo"/>
                          <a:ea typeface="Arimo"/>
                          <a:cs typeface="Arimo"/>
                        </a:rPr>
                        <a:t>Stored in double</a:t>
                      </a:r>
                    </a:p>
                  </a:txBody>
                  <a:tcPr marL="133350" marR="95250" marT="76200" marB="57150">
                    <a:solidFill>
                      <a:srgbClr val="202426"/>
                    </a:solidFill>
                  </a:tcPr>
                </a:tc>
                <a:tc>
                  <a:txBody>
                    <a:bodyPr/>
                    <a:lstStyle/>
                    <a:p>
                      <a:r>
                        <a:rPr sz="2100" b="1">
                          <a:solidFill>
                            <a:srgbClr val="FFFFFF"/>
                          </a:solidFill>
                          <a:latin typeface="Arimo"/>
                          <a:ea typeface="Arimo"/>
                          <a:cs typeface="Arimo"/>
                        </a:rPr>
                        <a:t>Printed with %f</a:t>
                      </a:r>
                    </a:p>
                  </a:txBody>
                  <a:tcPr marL="133350" marR="95250" marT="76200" marB="57150">
                    <a:solidFill>
                      <a:srgbClr val="202426"/>
                    </a:solidFill>
                  </a:tcPr>
                </a:tc>
                <a:extLst>
                  <a:ext uri="{0D108BD9-81ED-4DB2-BD59-A6C34878D82A}">
                    <a16:rowId xmlns:a16="http://schemas.microsoft.com/office/drawing/2014/main" val="10000"/>
                  </a:ext>
                </a:extLst>
              </a:tr>
              <a:tr h="669131">
                <a:tc>
                  <a:txBody>
                    <a:bodyPr/>
                    <a:lstStyle/>
                    <a:p>
                      <a:r>
                        <a:rPr sz="2100" b="0">
                          <a:solidFill>
                            <a:srgbClr val="202426"/>
                          </a:solidFill>
                          <a:latin typeface="Arimo"/>
                          <a:ea typeface="Arimo"/>
                          <a:cs typeface="Arimo"/>
                        </a:rPr>
                        <a:t>4 / 3</a:t>
                      </a:r>
                    </a:p>
                  </a:txBody>
                  <a:tcPr marL="133350" marR="95250" marT="76200" marB="57150">
                    <a:solidFill>
                      <a:srgbClr val="FFFFFF"/>
                    </a:solidFill>
                  </a:tcPr>
                </a:tc>
                <a:tc>
                  <a:txBody>
                    <a:bodyPr/>
                    <a:lstStyle/>
                    <a:p>
                      <a:r>
                        <a:rPr sz="2100" b="0">
                          <a:solidFill>
                            <a:srgbClr val="202426"/>
                          </a:solidFill>
                          <a:latin typeface="Arimo"/>
                          <a:ea typeface="Arimo"/>
                          <a:cs typeface="Arimo"/>
                        </a:rPr>
                        <a:t>1.0</a:t>
                      </a:r>
                    </a:p>
                  </a:txBody>
                  <a:tcPr marL="133350" marR="95250" marT="76200" marB="57150">
                    <a:solidFill>
                      <a:srgbClr val="FFFFFF"/>
                    </a:solidFill>
                  </a:tcPr>
                </a:tc>
                <a:tc>
                  <a:txBody>
                    <a:bodyPr/>
                    <a:lstStyle/>
                    <a:p>
                      <a:r>
                        <a:rPr sz="2100" b="0">
                          <a:solidFill>
                            <a:srgbClr val="202426"/>
                          </a:solidFill>
                          <a:latin typeface="Arimo"/>
                          <a:ea typeface="Arimo"/>
                          <a:cs typeface="Arimo"/>
                        </a:rPr>
                        <a:t>1.000000</a:t>
                      </a:r>
                    </a:p>
                  </a:txBody>
                  <a:tcPr marL="133350" marR="95250" marT="76200" marB="57150">
                    <a:solidFill>
                      <a:srgbClr val="FFFFFF"/>
                    </a:solidFill>
                  </a:tcPr>
                </a:tc>
                <a:extLst>
                  <a:ext uri="{0D108BD9-81ED-4DB2-BD59-A6C34878D82A}">
                    <a16:rowId xmlns:a16="http://schemas.microsoft.com/office/drawing/2014/main" val="10001"/>
                  </a:ext>
                </a:extLst>
              </a:tr>
              <a:tr h="669131">
                <a:tc>
                  <a:txBody>
                    <a:bodyPr/>
                    <a:lstStyle/>
                    <a:p>
                      <a:r>
                        <a:rPr sz="2100" b="0">
                          <a:solidFill>
                            <a:srgbClr val="202426"/>
                          </a:solidFill>
                          <a:latin typeface="Arimo"/>
                          <a:ea typeface="Arimo"/>
                          <a:cs typeface="Arimo"/>
                        </a:rPr>
                        <a:t>4.0 / 3.0</a:t>
                      </a:r>
                    </a:p>
                  </a:txBody>
                  <a:tcPr marL="133350" marR="95250" marT="76200" marB="57150">
                    <a:solidFill>
                      <a:srgbClr val="F3F4F4"/>
                    </a:solidFill>
                  </a:tcPr>
                </a:tc>
                <a:tc>
                  <a:txBody>
                    <a:bodyPr/>
                    <a:lstStyle/>
                    <a:p>
                      <a:r>
                        <a:rPr sz="2100" b="0">
                          <a:solidFill>
                            <a:srgbClr val="202426"/>
                          </a:solidFill>
                          <a:latin typeface="Arimo"/>
                          <a:ea typeface="Arimo"/>
                          <a:cs typeface="Arimo"/>
                        </a:rPr>
                        <a:t>≈ 1.333333…</a:t>
                      </a:r>
                    </a:p>
                  </a:txBody>
                  <a:tcPr marL="133350" marR="95250" marT="76200" marB="57150">
                    <a:solidFill>
                      <a:srgbClr val="F3F4F4"/>
                    </a:solidFill>
                  </a:tcPr>
                </a:tc>
                <a:tc>
                  <a:txBody>
                    <a:bodyPr/>
                    <a:lstStyle/>
                    <a:p>
                      <a:r>
                        <a:rPr sz="2100" b="0">
                          <a:solidFill>
                            <a:srgbClr val="202426"/>
                          </a:solidFill>
                          <a:latin typeface="Arimo"/>
                          <a:ea typeface="Arimo"/>
                          <a:cs typeface="Arimo"/>
                        </a:rPr>
                        <a:t>1.333333</a:t>
                      </a:r>
                    </a:p>
                  </a:txBody>
                  <a:tcPr marL="133350" marR="95250" marT="76200" marB="57150">
                    <a:solidFill>
                      <a:srgbClr val="F3F4F4"/>
                    </a:solidFill>
                  </a:tcPr>
                </a:tc>
                <a:extLst>
                  <a:ext uri="{0D108BD9-81ED-4DB2-BD59-A6C34878D82A}">
                    <a16:rowId xmlns:a16="http://schemas.microsoft.com/office/drawing/2014/main" val="10002"/>
                  </a:ext>
                </a:extLst>
              </a:tr>
              <a:tr h="669131">
                <a:tc>
                  <a:txBody>
                    <a:bodyPr/>
                    <a:lstStyle/>
                    <a:p>
                      <a:r>
                        <a:rPr sz="2100" b="0">
                          <a:solidFill>
                            <a:srgbClr val="202426"/>
                          </a:solidFill>
                          <a:latin typeface="Arimo"/>
                          <a:ea typeface="Arimo"/>
                          <a:cs typeface="Arimo"/>
                        </a:rPr>
                        <a:t>(double)(4 / 3)</a:t>
                      </a:r>
                    </a:p>
                  </a:txBody>
                  <a:tcPr marL="133350" marR="95250" marT="76200" marB="57150">
                    <a:solidFill>
                      <a:srgbClr val="FFFFFF"/>
                    </a:solidFill>
                  </a:tcPr>
                </a:tc>
                <a:tc>
                  <a:txBody>
                    <a:bodyPr/>
                    <a:lstStyle/>
                    <a:p>
                      <a:r>
                        <a:rPr sz="2100" b="0">
                          <a:solidFill>
                            <a:srgbClr val="202426"/>
                          </a:solidFill>
                          <a:latin typeface="Arimo"/>
                          <a:ea typeface="Arimo"/>
                          <a:cs typeface="Arimo"/>
                        </a:rPr>
                        <a:t>1.0</a:t>
                      </a:r>
                    </a:p>
                  </a:txBody>
                  <a:tcPr marL="133350" marR="95250" marT="76200" marB="57150">
                    <a:solidFill>
                      <a:srgbClr val="FFFFFF"/>
                    </a:solidFill>
                  </a:tcPr>
                </a:tc>
                <a:tc>
                  <a:txBody>
                    <a:bodyPr/>
                    <a:lstStyle/>
                    <a:p>
                      <a:r>
                        <a:rPr sz="2100" b="0">
                          <a:solidFill>
                            <a:srgbClr val="202426"/>
                          </a:solidFill>
                          <a:latin typeface="Arimo"/>
                          <a:ea typeface="Arimo"/>
                          <a:cs typeface="Arimo"/>
                        </a:rPr>
                        <a:t>1.000000</a:t>
                      </a:r>
                    </a:p>
                  </a:txBody>
                  <a:tcPr marL="133350" marR="95250" marT="76200" marB="57150">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AA19ED9E-FED1-415D-9BD1-52B42FDCEEF2}"/>
              </a:ext>
            </a:extLst>
          </p:cNvPr>
          <p:cNvSpPr>
            <a:spLocks noGrp="1"/>
          </p:cNvSpPr>
          <p:nvPr/>
        </p:nvSpPr>
        <p:spPr>
          <a:xfrm>
            <a:off x="1028700" y="5657850"/>
            <a:ext cx="10325100" cy="523875"/>
          </a:xfrm>
          <a:prstGeom prst="rect">
            <a:avLst/>
          </a:prstGeom>
          <a:noFill/>
          <a:ln w="0">
            <a:noFill/>
          </a:ln>
        </p:spPr>
        <p:txBody>
          <a:bodyPr anchor="ctr">
            <a:noAutofit/>
          </a:bodyPr>
          <a:lstStyle/>
          <a:p>
            <a:pPr algn="l">
              <a:defRPr sz="2025" b="0">
                <a:solidFill>
                  <a:srgbClr val="B73513"/>
                </a:solidFill>
                <a:latin typeface="Arimo"/>
                <a:ea typeface="Arimo"/>
                <a:cs typeface="Arimo"/>
              </a:defRPr>
            </a:pPr>
            <a:r>
              <a:rPr sz="2025" b="0">
                <a:solidFill>
                  <a:srgbClr val="B73513"/>
                </a:solidFill>
                <a:latin typeface="Arimo"/>
                <a:ea typeface="Arimo"/>
                <a:cs typeface="Arimo"/>
              </a:rPr>
              <a:t>The operand types decide how / works</a:t>
            </a:r>
          </a:p>
        </p:txBody>
      </p:sp>
    </p:spTree>
    <p:extLst>
      <p:ext uri="{BB962C8B-B14F-4D97-AF65-F5344CB8AC3E}">
        <p14:creationId xmlns:p14="http://schemas.microsoft.com/office/powerpoint/2010/main" val="695866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BF0153C-F994-485A-BB91-7C882DFC91DC}"/>
              </a:ext>
            </a:extLst>
          </p:cNvPr>
          <p:cNvSpPr>
            <a:spLocks noGrp="1"/>
          </p:cNvSpPr>
          <p:nvPr/>
        </p:nvSpPr>
        <p:spPr>
          <a:xfrm>
            <a:off x="0" y="0"/>
            <a:ext cx="76200" cy="6858000"/>
          </a:xfrm>
          <a:prstGeom prst="rect">
            <a:avLst/>
          </a:prstGeom>
          <a:solidFill>
            <a:srgbClr val="DF4214"/>
          </a:solidFill>
          <a:ln w="0">
            <a:noFill/>
          </a:ln>
        </p:spPr>
      </p:sp>
      <p:pic>
        <p:nvPicPr>
          <p:cNvPr id="30" name="Picture 29"/>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1EF307D0-B1BD-473B-8806-FA290DAD03E7}"/>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Sphere volume</a:t>
            </a:r>
          </a:p>
        </p:txBody>
      </p:sp>
      <p:sp>
        <p:nvSpPr>
          <p:cNvPr id="4" name="Rectangle 3">
            <a:extLst>
              <a:ext uri="{FF2B5EF4-FFF2-40B4-BE49-F238E27FC236}">
                <a16:creationId xmlns:a16="http://schemas.microsoft.com/office/drawing/2014/main" id="{0BD713CB-6EDB-47C1-8871-2A208C7117B6}"/>
              </a:ext>
            </a:extLst>
          </p:cNvPr>
          <p:cNvSpPr>
            <a:spLocks noGrp="1"/>
          </p:cNvSpPr>
          <p:nvPr/>
        </p:nvSpPr>
        <p:spPr>
          <a:xfrm>
            <a:off x="11144250" y="6343650"/>
            <a:ext cx="457200" cy="266700"/>
          </a:xfrm>
          <a:prstGeom prst="rect">
            <a:avLst/>
          </a:prstGeom>
          <a:noFill/>
          <a:ln w="0">
            <a:noFill/>
          </a:ln>
        </p:spPr>
        <p:txBody>
          <a:bodyPr anchor="ctr">
            <a:noAutofit/>
          </a:bodyPr>
          <a:lstStyle/>
          <a:p>
            <a:pPr algn="r">
              <a:defRPr sz="1350">
                <a:solidFill>
                  <a:srgbClr val="6B7277"/>
                </a:solidFill>
                <a:latin typeface="Arimo"/>
                <a:ea typeface="Arimo"/>
                <a:cs typeface="Arimo"/>
              </a:defRPr>
            </a:pPr>
            <a:r>
              <a:rPr sz="1350">
                <a:solidFill>
                  <a:srgbClr val="6B7277"/>
                </a:solidFill>
                <a:latin typeface="Arimo"/>
                <a:ea typeface="Arimo"/>
                <a:cs typeface="Arimo"/>
              </a:rPr>
              <a:t>07</a:t>
            </a:r>
          </a:p>
        </p:txBody>
      </p:sp>
      <p:sp>
        <p:nvSpPr>
          <p:cNvPr id="5" name="Rounded Rectangle 4">
            <a:extLst>
              <a:ext uri="{FF2B5EF4-FFF2-40B4-BE49-F238E27FC236}">
                <a16:creationId xmlns:a16="http://schemas.microsoft.com/office/drawing/2014/main" id="{C1F0C40C-BAC0-479D-843D-767E27CB7A0D}"/>
              </a:ext>
            </a:extLst>
          </p:cNvPr>
          <p:cNvSpPr>
            <a:spLocks noGrp="1"/>
          </p:cNvSpPr>
          <p:nvPr/>
        </p:nvSpPr>
        <p:spPr>
          <a:xfrm>
            <a:off x="4968240" y="1895475"/>
            <a:ext cx="2255520" cy="422910"/>
          </a:xfrm>
          <a:prstGeom prst="roundRect">
            <a:avLst>
              <a:gd name="adj" fmla="val 40000"/>
            </a:avLst>
          </a:prstGeom>
          <a:noFill/>
          <a:ln w="14288">
            <a:solidFill>
              <a:srgbClr val="303436"/>
            </a:solidFill>
          </a:ln>
        </p:spPr>
      </p:sp>
      <p:sp>
        <p:nvSpPr>
          <p:cNvPr id="6" name="Rectangle 5">
            <a:extLst>
              <a:ext uri="{FF2B5EF4-FFF2-40B4-BE49-F238E27FC236}">
                <a16:creationId xmlns:a16="http://schemas.microsoft.com/office/drawing/2014/main" id="{B77A0032-7BE8-44E2-9E0D-FB719E6B6EB6}"/>
              </a:ext>
            </a:extLst>
          </p:cNvPr>
          <p:cNvSpPr>
            <a:spLocks noGrp="1"/>
          </p:cNvSpPr>
          <p:nvPr/>
        </p:nvSpPr>
        <p:spPr>
          <a:xfrm>
            <a:off x="5017580" y="1923669"/>
            <a:ext cx="2156841" cy="366522"/>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Ask for radius</a:t>
            </a:r>
          </a:p>
        </p:txBody>
      </p:sp>
      <p:sp>
        <p:nvSpPr>
          <p:cNvPr id="7" name="Diamond 6">
            <a:extLst>
              <a:ext uri="{FF2B5EF4-FFF2-40B4-BE49-F238E27FC236}">
                <a16:creationId xmlns:a16="http://schemas.microsoft.com/office/drawing/2014/main" id="{5DF02CA2-815C-48CD-A3BA-6DC701AB263C}"/>
              </a:ext>
            </a:extLst>
          </p:cNvPr>
          <p:cNvSpPr>
            <a:spLocks noGrp="1"/>
          </p:cNvSpPr>
          <p:nvPr/>
        </p:nvSpPr>
        <p:spPr>
          <a:xfrm>
            <a:off x="5250180" y="2847023"/>
            <a:ext cx="1691640" cy="1057275"/>
          </a:xfrm>
          <a:prstGeom prst="diamond">
            <a:avLst/>
          </a:prstGeom>
          <a:noFill/>
          <a:ln w="14288">
            <a:solidFill>
              <a:srgbClr val="303436"/>
            </a:solidFill>
          </a:ln>
        </p:spPr>
      </p:sp>
      <p:sp>
        <p:nvSpPr>
          <p:cNvPr id="8" name="Rectangle 7">
            <a:extLst>
              <a:ext uri="{FF2B5EF4-FFF2-40B4-BE49-F238E27FC236}">
                <a16:creationId xmlns:a16="http://schemas.microsoft.com/office/drawing/2014/main" id="{64E7014F-0A79-44D4-839D-7B3433757BE4}"/>
              </a:ext>
            </a:extLst>
          </p:cNvPr>
          <p:cNvSpPr>
            <a:spLocks noGrp="1"/>
          </p:cNvSpPr>
          <p:nvPr/>
        </p:nvSpPr>
        <p:spPr>
          <a:xfrm>
            <a:off x="5299520" y="2875217"/>
            <a:ext cx="1592961" cy="1000887"/>
          </a:xfrm>
          <a:prstGeom prst="rect">
            <a:avLst/>
          </a:prstGeom>
          <a:noFill/>
          <a:ln w="0">
            <a:noFill/>
          </a:ln>
        </p:spPr>
        <p:txBody>
          <a:bodyPr anchor="ctr">
            <a:noAutofit/>
          </a:bodyPr>
          <a:lstStyle/>
          <a:p>
            <a:pPr algn="ctr">
              <a:defRPr sz="1554">
                <a:solidFill>
                  <a:srgbClr val="202426"/>
                </a:solidFill>
                <a:latin typeface="Arimo"/>
                <a:ea typeface="Arimo"/>
                <a:cs typeface="Arimo"/>
              </a:defRPr>
            </a:pPr>
            <a:r>
              <a:rPr sz="1554">
                <a:solidFill>
                  <a:srgbClr val="202426"/>
                </a:solidFill>
                <a:latin typeface="Arimo"/>
                <a:ea typeface="Arimo"/>
                <a:cs typeface="Arimo"/>
              </a:rPr>
              <a:t>Valid</a:t>
            </a:r>
          </a:p>
          <a:p>
            <a:pPr algn="ctr">
              <a:defRPr sz="1554">
                <a:solidFill>
                  <a:srgbClr val="202426"/>
                </a:solidFill>
                <a:latin typeface="Arimo"/>
                <a:ea typeface="Arimo"/>
                <a:cs typeface="Arimo"/>
              </a:defRPr>
            </a:pPr>
            <a:r>
              <a:rPr sz="1554">
                <a:solidFill>
                  <a:srgbClr val="202426"/>
                </a:solidFill>
                <a:latin typeface="Arimo"/>
                <a:ea typeface="Arimo"/>
                <a:cs typeface="Arimo"/>
              </a:rPr>
              <a:t>radius?</a:t>
            </a:r>
          </a:p>
        </p:txBody>
      </p:sp>
      <p:sp>
        <p:nvSpPr>
          <p:cNvPr id="9" name="Rectangle 8">
            <a:extLst>
              <a:ext uri="{FF2B5EF4-FFF2-40B4-BE49-F238E27FC236}">
                <a16:creationId xmlns:a16="http://schemas.microsoft.com/office/drawing/2014/main" id="{9CD64CBC-629A-48C7-975D-2D8F5E603155}"/>
              </a:ext>
            </a:extLst>
          </p:cNvPr>
          <p:cNvSpPr>
            <a:spLocks noGrp="1"/>
          </p:cNvSpPr>
          <p:nvPr/>
        </p:nvSpPr>
        <p:spPr>
          <a:xfrm>
            <a:off x="2360295" y="4573905"/>
            <a:ext cx="3030855" cy="493395"/>
          </a:xfrm>
          <a:prstGeom prst="rect">
            <a:avLst/>
          </a:prstGeom>
          <a:noFill/>
          <a:ln w="14288">
            <a:solidFill>
              <a:srgbClr val="303436"/>
            </a:solidFill>
          </a:ln>
        </p:spPr>
      </p:sp>
      <p:sp>
        <p:nvSpPr>
          <p:cNvPr id="10" name="Rectangle 9">
            <a:extLst>
              <a:ext uri="{FF2B5EF4-FFF2-40B4-BE49-F238E27FC236}">
                <a16:creationId xmlns:a16="http://schemas.microsoft.com/office/drawing/2014/main" id="{E0A81657-3762-4A29-8C12-0ED2A59F0C6E}"/>
              </a:ext>
            </a:extLst>
          </p:cNvPr>
          <p:cNvSpPr>
            <a:spLocks noGrp="1"/>
          </p:cNvSpPr>
          <p:nvPr/>
        </p:nvSpPr>
        <p:spPr>
          <a:xfrm>
            <a:off x="2409635" y="4602099"/>
            <a:ext cx="2932176" cy="437007"/>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Calculate both volumes</a:t>
            </a:r>
          </a:p>
        </p:txBody>
      </p:sp>
      <p:sp>
        <p:nvSpPr>
          <p:cNvPr id="11" name="Rectangle 10">
            <a:extLst>
              <a:ext uri="{FF2B5EF4-FFF2-40B4-BE49-F238E27FC236}">
                <a16:creationId xmlns:a16="http://schemas.microsoft.com/office/drawing/2014/main" id="{D7C271B7-E86D-48E9-9D3F-5BF598CCC03C}"/>
              </a:ext>
            </a:extLst>
          </p:cNvPr>
          <p:cNvSpPr>
            <a:spLocks noGrp="1"/>
          </p:cNvSpPr>
          <p:nvPr/>
        </p:nvSpPr>
        <p:spPr>
          <a:xfrm>
            <a:off x="7540942" y="4573905"/>
            <a:ext cx="2114550" cy="493395"/>
          </a:xfrm>
          <a:prstGeom prst="rect">
            <a:avLst/>
          </a:prstGeom>
          <a:noFill/>
          <a:ln w="14288">
            <a:solidFill>
              <a:srgbClr val="303436"/>
            </a:solidFill>
          </a:ln>
        </p:spPr>
      </p:sp>
      <p:sp>
        <p:nvSpPr>
          <p:cNvPr id="12" name="Rectangle 11">
            <a:extLst>
              <a:ext uri="{FF2B5EF4-FFF2-40B4-BE49-F238E27FC236}">
                <a16:creationId xmlns:a16="http://schemas.microsoft.com/office/drawing/2014/main" id="{A01E6C29-14E5-4650-A442-8B68F2214B12}"/>
              </a:ext>
            </a:extLst>
          </p:cNvPr>
          <p:cNvSpPr>
            <a:spLocks noGrp="1"/>
          </p:cNvSpPr>
          <p:nvPr/>
        </p:nvSpPr>
        <p:spPr>
          <a:xfrm>
            <a:off x="7590282" y="4602099"/>
            <a:ext cx="2015871" cy="437007"/>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Show an error</a:t>
            </a:r>
          </a:p>
        </p:txBody>
      </p:sp>
      <p:sp>
        <p:nvSpPr>
          <p:cNvPr id="13" name="Rounded Rectangle 12">
            <a:extLst>
              <a:ext uri="{FF2B5EF4-FFF2-40B4-BE49-F238E27FC236}">
                <a16:creationId xmlns:a16="http://schemas.microsoft.com/office/drawing/2014/main" id="{9328B712-A38D-43E6-B57C-8631FA1E7769}"/>
              </a:ext>
            </a:extLst>
          </p:cNvPr>
          <p:cNvSpPr>
            <a:spLocks noGrp="1"/>
          </p:cNvSpPr>
          <p:nvPr/>
        </p:nvSpPr>
        <p:spPr>
          <a:xfrm>
            <a:off x="2360295" y="5419725"/>
            <a:ext cx="3030855" cy="422910"/>
          </a:xfrm>
          <a:prstGeom prst="roundRect">
            <a:avLst>
              <a:gd name="adj" fmla="val 40000"/>
            </a:avLst>
          </a:prstGeom>
          <a:noFill/>
          <a:ln w="14288">
            <a:solidFill>
              <a:srgbClr val="303436"/>
            </a:solidFill>
          </a:ln>
        </p:spPr>
      </p:sp>
      <p:sp>
        <p:nvSpPr>
          <p:cNvPr id="14" name="Rectangle 13">
            <a:extLst>
              <a:ext uri="{FF2B5EF4-FFF2-40B4-BE49-F238E27FC236}">
                <a16:creationId xmlns:a16="http://schemas.microsoft.com/office/drawing/2014/main" id="{F5553008-075C-46F4-8631-912E4E9D07A9}"/>
              </a:ext>
            </a:extLst>
          </p:cNvPr>
          <p:cNvSpPr>
            <a:spLocks noGrp="1"/>
          </p:cNvSpPr>
          <p:nvPr/>
        </p:nvSpPr>
        <p:spPr>
          <a:xfrm>
            <a:off x="2409635" y="5447919"/>
            <a:ext cx="2932176" cy="366522"/>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Print both results</a:t>
            </a:r>
          </a:p>
        </p:txBody>
      </p:sp>
      <p:sp>
        <p:nvSpPr>
          <p:cNvPr id="15" name="Rounded Rectangle 14">
            <a:extLst>
              <a:ext uri="{FF2B5EF4-FFF2-40B4-BE49-F238E27FC236}">
                <a16:creationId xmlns:a16="http://schemas.microsoft.com/office/drawing/2014/main" id="{5AAAFB85-1B2C-4964-8145-E9ABAA6A7FD5}"/>
              </a:ext>
            </a:extLst>
          </p:cNvPr>
          <p:cNvSpPr>
            <a:spLocks noGrp="1"/>
          </p:cNvSpPr>
          <p:nvPr/>
        </p:nvSpPr>
        <p:spPr>
          <a:xfrm>
            <a:off x="7999095" y="5419725"/>
            <a:ext cx="1198245" cy="422910"/>
          </a:xfrm>
          <a:prstGeom prst="roundRect">
            <a:avLst>
              <a:gd name="adj" fmla="val 40000"/>
            </a:avLst>
          </a:prstGeom>
          <a:noFill/>
          <a:ln w="14288">
            <a:solidFill>
              <a:srgbClr val="303436"/>
            </a:solidFill>
          </a:ln>
        </p:spPr>
      </p:sp>
      <p:sp>
        <p:nvSpPr>
          <p:cNvPr id="16" name="Rectangle 15">
            <a:extLst>
              <a:ext uri="{FF2B5EF4-FFF2-40B4-BE49-F238E27FC236}">
                <a16:creationId xmlns:a16="http://schemas.microsoft.com/office/drawing/2014/main" id="{2EA2FB2C-548C-4F46-AD30-D26A265A5908}"/>
              </a:ext>
            </a:extLst>
          </p:cNvPr>
          <p:cNvSpPr>
            <a:spLocks noGrp="1"/>
          </p:cNvSpPr>
          <p:nvPr/>
        </p:nvSpPr>
        <p:spPr>
          <a:xfrm>
            <a:off x="8048435" y="5447919"/>
            <a:ext cx="1099566" cy="366522"/>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Quit</a:t>
            </a:r>
          </a:p>
        </p:txBody>
      </p:sp>
      <p:cxnSp>
        <p:nvCxnSpPr>
          <p:cNvPr id="45" name="Straight Arrow Connector 44"/>
          <p:cNvCxnSpPr>
            <a:stCxn id="5" idx="2"/>
            <a:endCxn id="7" idx="0"/>
          </p:cNvCxnSpPr>
          <p:nvPr/>
        </p:nvCxnSpPr>
        <p:spPr>
          <a:xfrm>
            <a:off x="6096000" y="2318385"/>
            <a:ext cx="0" cy="528638"/>
          </a:xfrm>
          <a:prstGeom prst="straightConnector1">
            <a:avLst/>
          </a:prstGeom>
          <a:ln w="22860">
            <a:solidFill>
              <a:srgbClr val="303436"/>
            </a:solidFill>
            <a:tailEnd type="triangle" w="med" len="med"/>
          </a:ln>
        </p:spPr>
      </p:cxnSp>
      <p:sp>
        <p:nvSpPr>
          <p:cNvPr id="18" name="Rectangle 17">
            <a:extLst>
              <a:ext uri="{FF2B5EF4-FFF2-40B4-BE49-F238E27FC236}">
                <a16:creationId xmlns:a16="http://schemas.microsoft.com/office/drawing/2014/main" id="{7CCBD156-BA70-49BE-A739-21671FDB6780}"/>
              </a:ext>
            </a:extLst>
          </p:cNvPr>
          <p:cNvSpPr>
            <a:spLocks noGrp="1"/>
          </p:cNvSpPr>
          <p:nvPr/>
        </p:nvSpPr>
        <p:spPr>
          <a:xfrm>
            <a:off x="3870960" y="3370898"/>
            <a:ext cx="9525" cy="9525"/>
          </a:xfrm>
          <a:prstGeom prst="rect">
            <a:avLst/>
          </a:prstGeom>
          <a:noFill/>
          <a:ln w="0">
            <a:noFill/>
          </a:ln>
        </p:spPr>
      </p:sp>
      <p:cxnSp>
        <p:nvCxnSpPr>
          <p:cNvPr id="47" name="Straight Arrow Connector 46"/>
          <p:cNvCxnSpPr>
            <a:stCxn id="7" idx="1"/>
            <a:endCxn id="18" idx="3"/>
          </p:cNvCxnSpPr>
          <p:nvPr/>
        </p:nvCxnSpPr>
        <p:spPr>
          <a:xfrm flipH="1">
            <a:off x="3880485" y="3375661"/>
            <a:ext cx="1369695" cy="0"/>
          </a:xfrm>
          <a:prstGeom prst="straightConnector1">
            <a:avLst/>
          </a:prstGeom>
          <a:ln w="22860">
            <a:solidFill>
              <a:srgbClr val="303436"/>
            </a:solidFill>
            <a:tailEnd type="none" w="med" len="med"/>
          </a:ln>
        </p:spPr>
      </p:cxnSp>
      <p:cxnSp>
        <p:nvCxnSpPr>
          <p:cNvPr id="48" name="Straight Arrow Connector 47"/>
          <p:cNvCxnSpPr>
            <a:stCxn id="18" idx="2"/>
            <a:endCxn id="9" idx="0"/>
          </p:cNvCxnSpPr>
          <p:nvPr/>
        </p:nvCxnSpPr>
        <p:spPr>
          <a:xfrm flipH="1">
            <a:off x="3875723" y="3380423"/>
            <a:ext cx="0" cy="1193482"/>
          </a:xfrm>
          <a:prstGeom prst="straightConnector1">
            <a:avLst/>
          </a:prstGeom>
          <a:ln w="22860">
            <a:solidFill>
              <a:srgbClr val="303436"/>
            </a:solidFill>
            <a:tailEnd type="triangle" w="med" len="med"/>
          </a:ln>
        </p:spPr>
      </p:cxnSp>
      <p:sp>
        <p:nvSpPr>
          <p:cNvPr id="21" name="Rectangle 20">
            <a:extLst>
              <a:ext uri="{FF2B5EF4-FFF2-40B4-BE49-F238E27FC236}">
                <a16:creationId xmlns:a16="http://schemas.microsoft.com/office/drawing/2014/main" id="{5579E8EC-C8FF-47DF-A8A0-88EF35561BAB}"/>
              </a:ext>
            </a:extLst>
          </p:cNvPr>
          <p:cNvSpPr>
            <a:spLocks noGrp="1"/>
          </p:cNvSpPr>
          <p:nvPr/>
        </p:nvSpPr>
        <p:spPr>
          <a:xfrm>
            <a:off x="8593455" y="3370898"/>
            <a:ext cx="9525" cy="9525"/>
          </a:xfrm>
          <a:prstGeom prst="rect">
            <a:avLst/>
          </a:prstGeom>
          <a:noFill/>
          <a:ln w="0">
            <a:noFill/>
          </a:ln>
        </p:spPr>
      </p:sp>
      <p:cxnSp>
        <p:nvCxnSpPr>
          <p:cNvPr id="50" name="Straight Arrow Connector 49"/>
          <p:cNvCxnSpPr>
            <a:stCxn id="7" idx="3"/>
            <a:endCxn id="21" idx="1"/>
          </p:cNvCxnSpPr>
          <p:nvPr/>
        </p:nvCxnSpPr>
        <p:spPr>
          <a:xfrm>
            <a:off x="6941820" y="3375661"/>
            <a:ext cx="1651635" cy="0"/>
          </a:xfrm>
          <a:prstGeom prst="straightConnector1">
            <a:avLst/>
          </a:prstGeom>
          <a:ln w="22860">
            <a:solidFill>
              <a:srgbClr val="303436"/>
            </a:solidFill>
            <a:tailEnd type="none" w="med" len="med"/>
          </a:ln>
        </p:spPr>
      </p:cxnSp>
      <p:cxnSp>
        <p:nvCxnSpPr>
          <p:cNvPr id="51" name="Straight Arrow Connector 50"/>
          <p:cNvCxnSpPr>
            <a:stCxn id="21" idx="2"/>
            <a:endCxn id="11" idx="0"/>
          </p:cNvCxnSpPr>
          <p:nvPr/>
        </p:nvCxnSpPr>
        <p:spPr>
          <a:xfrm flipH="1">
            <a:off x="8598217" y="3380423"/>
            <a:ext cx="1" cy="1193482"/>
          </a:xfrm>
          <a:prstGeom prst="straightConnector1">
            <a:avLst/>
          </a:prstGeom>
          <a:ln w="22860">
            <a:solidFill>
              <a:srgbClr val="303436"/>
            </a:solidFill>
            <a:tailEnd type="triangle" w="med" len="med"/>
          </a:ln>
        </p:spPr>
      </p:cxnSp>
      <p:cxnSp>
        <p:nvCxnSpPr>
          <p:cNvPr id="52" name="Straight Arrow Connector 51"/>
          <p:cNvCxnSpPr>
            <a:stCxn id="9" idx="2"/>
            <a:endCxn id="13" idx="0"/>
          </p:cNvCxnSpPr>
          <p:nvPr/>
        </p:nvCxnSpPr>
        <p:spPr>
          <a:xfrm>
            <a:off x="3875723" y="5067300"/>
            <a:ext cx="0" cy="352425"/>
          </a:xfrm>
          <a:prstGeom prst="straightConnector1">
            <a:avLst/>
          </a:prstGeom>
          <a:ln w="22860">
            <a:solidFill>
              <a:srgbClr val="303436"/>
            </a:solidFill>
            <a:tailEnd type="triangle" w="med" len="med"/>
          </a:ln>
        </p:spPr>
      </p:cxnSp>
      <p:cxnSp>
        <p:nvCxnSpPr>
          <p:cNvPr id="53" name="Straight Arrow Connector 52"/>
          <p:cNvCxnSpPr>
            <a:stCxn id="11" idx="2"/>
            <a:endCxn id="15" idx="0"/>
          </p:cNvCxnSpPr>
          <p:nvPr/>
        </p:nvCxnSpPr>
        <p:spPr>
          <a:xfrm>
            <a:off x="8598217" y="5067300"/>
            <a:ext cx="1" cy="352425"/>
          </a:xfrm>
          <a:prstGeom prst="straightConnector1">
            <a:avLst/>
          </a:prstGeom>
          <a:ln w="22860">
            <a:solidFill>
              <a:srgbClr val="303436"/>
            </a:solidFill>
            <a:tailEnd type="triangle" w="med" len="med"/>
          </a:ln>
        </p:spPr>
      </p:cxnSp>
      <p:sp>
        <p:nvSpPr>
          <p:cNvPr id="26" name="Rectangle 25">
            <a:extLst>
              <a:ext uri="{FF2B5EF4-FFF2-40B4-BE49-F238E27FC236}">
                <a16:creationId xmlns:a16="http://schemas.microsoft.com/office/drawing/2014/main" id="{D4E3CBC6-84FC-4B56-8CBF-49C8F94B6BB9}"/>
              </a:ext>
            </a:extLst>
          </p:cNvPr>
          <p:cNvSpPr>
            <a:spLocks noGrp="1"/>
          </p:cNvSpPr>
          <p:nvPr/>
        </p:nvSpPr>
        <p:spPr>
          <a:xfrm>
            <a:off x="3875723" y="3495485"/>
            <a:ext cx="669608"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true</a:t>
            </a:r>
          </a:p>
        </p:txBody>
      </p:sp>
      <p:sp>
        <p:nvSpPr>
          <p:cNvPr id="27" name="Rectangle 26">
            <a:extLst>
              <a:ext uri="{FF2B5EF4-FFF2-40B4-BE49-F238E27FC236}">
                <a16:creationId xmlns:a16="http://schemas.microsoft.com/office/drawing/2014/main" id="{FF26126F-CE27-4B7B-A9BA-6227C51C5BE1}"/>
              </a:ext>
            </a:extLst>
          </p:cNvPr>
          <p:cNvSpPr>
            <a:spLocks noGrp="1"/>
          </p:cNvSpPr>
          <p:nvPr/>
        </p:nvSpPr>
        <p:spPr>
          <a:xfrm>
            <a:off x="7681913" y="3495485"/>
            <a:ext cx="740093"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false</a:t>
            </a:r>
          </a:p>
        </p:txBody>
      </p:sp>
      <p:sp>
        <p:nvSpPr>
          <p:cNvPr id="28" name="Rectangle 27">
            <a:extLst>
              <a:ext uri="{FF2B5EF4-FFF2-40B4-BE49-F238E27FC236}">
                <a16:creationId xmlns:a16="http://schemas.microsoft.com/office/drawing/2014/main" id="{2BEDF053-96EF-4A75-8158-48E355649D7C}"/>
              </a:ext>
            </a:extLst>
          </p:cNvPr>
          <p:cNvSpPr>
            <a:spLocks noGrp="1"/>
          </p:cNvSpPr>
          <p:nvPr/>
        </p:nvSpPr>
        <p:spPr>
          <a:xfrm>
            <a:off x="1028700" y="6000750"/>
            <a:ext cx="9715500" cy="342900"/>
          </a:xfrm>
          <a:prstGeom prst="rect">
            <a:avLst/>
          </a:prstGeom>
          <a:noFill/>
          <a:ln w="0">
            <a:noFill/>
          </a:ln>
        </p:spPr>
        <p:txBody>
          <a:bodyPr anchor="ctr">
            <a:noAutofit/>
          </a:bodyPr>
          <a:lstStyle/>
          <a:p>
            <a:pPr algn="ctr">
              <a:defRPr sz="1800">
                <a:solidFill>
                  <a:srgbClr val="6B7277"/>
                </a:solidFill>
                <a:latin typeface="Arimo"/>
                <a:ea typeface="Arimo"/>
                <a:cs typeface="Arimo"/>
              </a:defRPr>
            </a:pPr>
            <a:r>
              <a:rPr sz="1800">
                <a:solidFill>
                  <a:srgbClr val="6B7277"/>
                </a:solidFill>
                <a:latin typeface="Arimo"/>
                <a:ea typeface="Arimo"/>
                <a:cs typeface="Arimo"/>
              </a:rPr>
              <a:t>Valid radius: greater than 0, at most 1000</a:t>
            </a:r>
          </a:p>
        </p:txBody>
      </p:sp>
    </p:spTree>
    <p:extLst>
      <p:ext uri="{BB962C8B-B14F-4D97-AF65-F5344CB8AC3E}">
        <p14:creationId xmlns:p14="http://schemas.microsoft.com/office/powerpoint/2010/main" val="835303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9F0FC46-0A66-4E7E-8544-BB7B4EC3D9A6}"/>
              </a:ext>
            </a:extLst>
          </p:cNvPr>
          <p:cNvSpPr>
            <a:spLocks noGrp="1"/>
          </p:cNvSpPr>
          <p:nvPr/>
        </p:nvSpPr>
        <p:spPr>
          <a:xfrm>
            <a:off x="0" y="0"/>
            <a:ext cx="76200" cy="6858000"/>
          </a:xfrm>
          <a:prstGeom prst="rect">
            <a:avLst/>
          </a:prstGeom>
          <a:solidFill>
            <a:srgbClr val="DF4214"/>
          </a:solidFill>
          <a:ln w="0">
            <a:noFill/>
          </a:ln>
        </p:spPr>
      </p:sp>
      <p:pic>
        <p:nvPicPr>
          <p:cNvPr id="19" name="Picture 18"/>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DBB4A5E8-66EC-43FF-AE42-DD48609F8762}"/>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Sphere volume</a:t>
            </a:r>
          </a:p>
        </p:txBody>
      </p:sp>
      <p:sp>
        <p:nvSpPr>
          <p:cNvPr id="4" name="Rectangle 3">
            <a:extLst>
              <a:ext uri="{FF2B5EF4-FFF2-40B4-BE49-F238E27FC236}">
                <a16:creationId xmlns:a16="http://schemas.microsoft.com/office/drawing/2014/main" id="{1DF36227-CDC0-46EB-8DE2-6A2CA7277BE4}"/>
              </a:ext>
            </a:extLst>
          </p:cNvPr>
          <p:cNvSpPr>
            <a:spLocks noGrp="1"/>
          </p:cNvSpPr>
          <p:nvPr/>
        </p:nvSpPr>
        <p:spPr>
          <a:xfrm>
            <a:off x="11144250" y="6343650"/>
            <a:ext cx="457200" cy="266700"/>
          </a:xfrm>
          <a:prstGeom prst="rect">
            <a:avLst/>
          </a:prstGeom>
          <a:noFill/>
          <a:ln w="0">
            <a:noFill/>
          </a:ln>
        </p:spPr>
        <p:txBody>
          <a:bodyPr anchor="ctr">
            <a:noAutofit/>
          </a:bodyPr>
          <a:lstStyle/>
          <a:p>
            <a:pPr algn="r">
              <a:defRPr sz="1350">
                <a:solidFill>
                  <a:srgbClr val="6B7277"/>
                </a:solidFill>
                <a:latin typeface="Arimo"/>
                <a:ea typeface="Arimo"/>
                <a:cs typeface="Arimo"/>
              </a:defRPr>
            </a:pPr>
            <a:r>
              <a:rPr sz="1350">
                <a:solidFill>
                  <a:srgbClr val="6B7277"/>
                </a:solidFill>
                <a:latin typeface="Arimo"/>
                <a:ea typeface="Arimo"/>
                <a:cs typeface="Arimo"/>
              </a:rPr>
              <a:t>08</a:t>
            </a:r>
          </a:p>
        </p:txBody>
      </p:sp>
      <p:sp>
        <p:nvSpPr>
          <p:cNvPr id="5" name="Rectangle 4">
            <a:extLst>
              <a:ext uri="{FF2B5EF4-FFF2-40B4-BE49-F238E27FC236}">
                <a16:creationId xmlns:a16="http://schemas.microsoft.com/office/drawing/2014/main" id="{83FEE4FD-A2B3-4C8B-A8E3-7ECCA62D01DF}"/>
              </a:ext>
            </a:extLst>
          </p:cNvPr>
          <p:cNvSpPr>
            <a:spLocks noGrp="1"/>
          </p:cNvSpPr>
          <p:nvPr/>
        </p:nvSpPr>
        <p:spPr>
          <a:xfrm>
            <a:off x="552450" y="200025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1</a:t>
            </a:r>
          </a:p>
        </p:txBody>
      </p:sp>
      <p:sp>
        <p:nvSpPr>
          <p:cNvPr id="6" name="Rectangle 5">
            <a:extLst>
              <a:ext uri="{FF2B5EF4-FFF2-40B4-BE49-F238E27FC236}">
                <a16:creationId xmlns:a16="http://schemas.microsoft.com/office/drawing/2014/main" id="{25E33BC7-BDCB-45F8-B6B1-578274667782}"/>
              </a:ext>
            </a:extLst>
          </p:cNvPr>
          <p:cNvSpPr>
            <a:spLocks noGrp="1"/>
          </p:cNvSpPr>
          <p:nvPr/>
        </p:nvSpPr>
        <p:spPr>
          <a:xfrm>
            <a:off x="1238250" y="2000250"/>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Ask for the radius</a:t>
            </a:r>
          </a:p>
        </p:txBody>
      </p:sp>
      <p:sp>
        <p:nvSpPr>
          <p:cNvPr id="7" name="Rectangle 6">
            <a:extLst>
              <a:ext uri="{FF2B5EF4-FFF2-40B4-BE49-F238E27FC236}">
                <a16:creationId xmlns:a16="http://schemas.microsoft.com/office/drawing/2014/main" id="{ECBEE86A-127F-44B7-B9BE-C168716E04E5}"/>
              </a:ext>
            </a:extLst>
          </p:cNvPr>
          <p:cNvSpPr>
            <a:spLocks noGrp="1"/>
          </p:cNvSpPr>
          <p:nvPr/>
        </p:nvSpPr>
        <p:spPr>
          <a:xfrm>
            <a:off x="552450" y="246697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2</a:t>
            </a:r>
          </a:p>
        </p:txBody>
      </p:sp>
      <p:sp>
        <p:nvSpPr>
          <p:cNvPr id="8" name="Rectangle 7">
            <a:extLst>
              <a:ext uri="{FF2B5EF4-FFF2-40B4-BE49-F238E27FC236}">
                <a16:creationId xmlns:a16="http://schemas.microsoft.com/office/drawing/2014/main" id="{AAB24D8D-63A9-4383-BBE6-ABB9C5671AD9}"/>
              </a:ext>
            </a:extLst>
          </p:cNvPr>
          <p:cNvSpPr>
            <a:spLocks noGrp="1"/>
          </p:cNvSpPr>
          <p:nvPr/>
        </p:nvSpPr>
        <p:spPr>
          <a:xfrm>
            <a:off x="1238250" y="246697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If the radius is invalid</a:t>
            </a:r>
          </a:p>
        </p:txBody>
      </p:sp>
      <p:sp>
        <p:nvSpPr>
          <p:cNvPr id="9" name="Rectangle 8">
            <a:extLst>
              <a:ext uri="{FF2B5EF4-FFF2-40B4-BE49-F238E27FC236}">
                <a16:creationId xmlns:a16="http://schemas.microsoft.com/office/drawing/2014/main" id="{8959BD86-F041-4CAA-B5CF-C4B75A66886E}"/>
              </a:ext>
            </a:extLst>
          </p:cNvPr>
          <p:cNvSpPr>
            <a:spLocks noGrp="1"/>
          </p:cNvSpPr>
          <p:nvPr/>
        </p:nvSpPr>
        <p:spPr>
          <a:xfrm>
            <a:off x="552450" y="293370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3</a:t>
            </a:r>
          </a:p>
        </p:txBody>
      </p:sp>
      <p:sp>
        <p:nvSpPr>
          <p:cNvPr id="10" name="Rectangle 9">
            <a:extLst>
              <a:ext uri="{FF2B5EF4-FFF2-40B4-BE49-F238E27FC236}">
                <a16:creationId xmlns:a16="http://schemas.microsoft.com/office/drawing/2014/main" id="{6681DA08-A61E-467A-A9D3-737D8822EFF4}"/>
              </a:ext>
            </a:extLst>
          </p:cNvPr>
          <p:cNvSpPr>
            <a:spLocks noGrp="1"/>
          </p:cNvSpPr>
          <p:nvPr/>
        </p:nvSpPr>
        <p:spPr>
          <a:xfrm>
            <a:off x="2000250" y="2933700"/>
            <a:ext cx="9582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Show an error and quit</a:t>
            </a:r>
          </a:p>
        </p:txBody>
      </p:sp>
      <p:sp>
        <p:nvSpPr>
          <p:cNvPr id="11" name="Rectangle 10">
            <a:extLst>
              <a:ext uri="{FF2B5EF4-FFF2-40B4-BE49-F238E27FC236}">
                <a16:creationId xmlns:a16="http://schemas.microsoft.com/office/drawing/2014/main" id="{50962294-7059-473F-AACB-D86E24C0EBE3}"/>
              </a:ext>
            </a:extLst>
          </p:cNvPr>
          <p:cNvSpPr>
            <a:spLocks noGrp="1"/>
          </p:cNvSpPr>
          <p:nvPr/>
        </p:nvSpPr>
        <p:spPr>
          <a:xfrm>
            <a:off x="552450" y="340042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4</a:t>
            </a:r>
          </a:p>
        </p:txBody>
      </p:sp>
      <p:sp>
        <p:nvSpPr>
          <p:cNvPr id="12" name="Rectangle 11">
            <a:extLst>
              <a:ext uri="{FF2B5EF4-FFF2-40B4-BE49-F238E27FC236}">
                <a16:creationId xmlns:a16="http://schemas.microsoft.com/office/drawing/2014/main" id="{4CDB3DAF-5971-4180-8B96-37F8A412D0B8}"/>
              </a:ext>
            </a:extLst>
          </p:cNvPr>
          <p:cNvSpPr>
            <a:spLocks noGrp="1"/>
          </p:cNvSpPr>
          <p:nvPr/>
        </p:nvSpPr>
        <p:spPr>
          <a:xfrm>
            <a:off x="1238250" y="340042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Calculate once using integer division</a:t>
            </a:r>
          </a:p>
        </p:txBody>
      </p:sp>
      <p:sp>
        <p:nvSpPr>
          <p:cNvPr id="13" name="Rectangle 12">
            <a:extLst>
              <a:ext uri="{FF2B5EF4-FFF2-40B4-BE49-F238E27FC236}">
                <a16:creationId xmlns:a16="http://schemas.microsoft.com/office/drawing/2014/main" id="{CFA761BC-851B-4050-B29E-BEB7F99B5B16}"/>
              </a:ext>
            </a:extLst>
          </p:cNvPr>
          <p:cNvSpPr>
            <a:spLocks noGrp="1"/>
          </p:cNvSpPr>
          <p:nvPr/>
        </p:nvSpPr>
        <p:spPr>
          <a:xfrm>
            <a:off x="552450" y="386715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5</a:t>
            </a:r>
          </a:p>
        </p:txBody>
      </p:sp>
      <p:sp>
        <p:nvSpPr>
          <p:cNvPr id="14" name="Rectangle 13">
            <a:extLst>
              <a:ext uri="{FF2B5EF4-FFF2-40B4-BE49-F238E27FC236}">
                <a16:creationId xmlns:a16="http://schemas.microsoft.com/office/drawing/2014/main" id="{29365E04-92E3-49EB-9B1C-E269802DBF98}"/>
              </a:ext>
            </a:extLst>
          </p:cNvPr>
          <p:cNvSpPr>
            <a:spLocks noGrp="1"/>
          </p:cNvSpPr>
          <p:nvPr/>
        </p:nvSpPr>
        <p:spPr>
          <a:xfrm>
            <a:off x="1238250" y="3867150"/>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Calculate again using floating-point division</a:t>
            </a:r>
          </a:p>
        </p:txBody>
      </p:sp>
      <p:sp>
        <p:nvSpPr>
          <p:cNvPr id="15" name="Rectangle 14">
            <a:extLst>
              <a:ext uri="{FF2B5EF4-FFF2-40B4-BE49-F238E27FC236}">
                <a16:creationId xmlns:a16="http://schemas.microsoft.com/office/drawing/2014/main" id="{DCEDD11B-5242-4DA2-A915-B4727393E99A}"/>
              </a:ext>
            </a:extLst>
          </p:cNvPr>
          <p:cNvSpPr>
            <a:spLocks noGrp="1"/>
          </p:cNvSpPr>
          <p:nvPr/>
        </p:nvSpPr>
        <p:spPr>
          <a:xfrm>
            <a:off x="552450" y="433387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6</a:t>
            </a:r>
          </a:p>
        </p:txBody>
      </p:sp>
      <p:sp>
        <p:nvSpPr>
          <p:cNvPr id="16" name="Rectangle 15">
            <a:extLst>
              <a:ext uri="{FF2B5EF4-FFF2-40B4-BE49-F238E27FC236}">
                <a16:creationId xmlns:a16="http://schemas.microsoft.com/office/drawing/2014/main" id="{E66EBA03-9E12-4C2E-BD0C-88CE0A957DF0}"/>
              </a:ext>
            </a:extLst>
          </p:cNvPr>
          <p:cNvSpPr>
            <a:spLocks noGrp="1"/>
          </p:cNvSpPr>
          <p:nvPr/>
        </p:nvSpPr>
        <p:spPr>
          <a:xfrm>
            <a:off x="1238250" y="433387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Print both results</a:t>
            </a:r>
          </a:p>
        </p:txBody>
      </p:sp>
      <p:sp>
        <p:nvSpPr>
          <p:cNvPr id="17" name="Rectangle 16">
            <a:extLst>
              <a:ext uri="{FF2B5EF4-FFF2-40B4-BE49-F238E27FC236}">
                <a16:creationId xmlns:a16="http://schemas.microsoft.com/office/drawing/2014/main" id="{B5DD4D02-3543-4CC1-899D-5F738842E6AA}"/>
              </a:ext>
            </a:extLst>
          </p:cNvPr>
          <p:cNvSpPr>
            <a:spLocks noGrp="1"/>
          </p:cNvSpPr>
          <p:nvPr/>
        </p:nvSpPr>
        <p:spPr>
          <a:xfrm>
            <a:off x="1238250" y="6076950"/>
            <a:ext cx="9906000" cy="371475"/>
          </a:xfrm>
          <a:prstGeom prst="rect">
            <a:avLst/>
          </a:prstGeom>
          <a:noFill/>
          <a:ln w="0">
            <a:noFill/>
          </a:ln>
        </p:spPr>
        <p:txBody>
          <a:bodyPr anchor="ctr">
            <a:noAutofit/>
          </a:bodyPr>
          <a:lstStyle/>
          <a:p>
            <a:pPr algn="l">
              <a:defRPr sz="1800">
                <a:solidFill>
                  <a:srgbClr val="6B7277"/>
                </a:solidFill>
                <a:latin typeface="Arimo"/>
                <a:ea typeface="Arimo"/>
                <a:cs typeface="Arimo"/>
              </a:defRPr>
            </a:pPr>
            <a:r>
              <a:rPr sz="1800">
                <a:solidFill>
                  <a:srgbClr val="6B7277"/>
                </a:solidFill>
                <a:latin typeface="Arimo"/>
                <a:ea typeface="Arimo"/>
                <a:cs typeface="Arimo"/>
              </a:rPr>
              <a:t>Valid radius: greater than 0, at most 1000</a:t>
            </a:r>
          </a:p>
        </p:txBody>
      </p:sp>
    </p:spTree>
    <p:extLst>
      <p:ext uri="{BB962C8B-B14F-4D97-AF65-F5344CB8AC3E}">
        <p14:creationId xmlns:p14="http://schemas.microsoft.com/office/powerpoint/2010/main" val="254868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B546FC9-14E8-4622-B990-EFF1EC066493}"/>
              </a:ext>
            </a:extLst>
          </p:cNvPr>
          <p:cNvSpPr>
            <a:spLocks noGrp="1"/>
          </p:cNvSpPr>
          <p:nvPr/>
        </p:nvSpPr>
        <p:spPr>
          <a:xfrm>
            <a:off x="0" y="0"/>
            <a:ext cx="76200" cy="6858000"/>
          </a:xfrm>
          <a:prstGeom prst="rect">
            <a:avLst/>
          </a:prstGeom>
          <a:solidFill>
            <a:srgbClr val="DF4214"/>
          </a:solidFill>
          <a:ln w="0">
            <a:noFill/>
          </a:ln>
        </p:spPr>
      </p:sp>
      <p:pic>
        <p:nvPicPr>
          <p:cNvPr id="15" name="Picture 14"/>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4A486D10-6813-4305-B4BF-3C4899C99905}"/>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Leap years</a:t>
            </a:r>
          </a:p>
        </p:txBody>
      </p:sp>
      <p:sp>
        <p:nvSpPr>
          <p:cNvPr id="4" name="Rectangle 3">
            <a:extLst>
              <a:ext uri="{FF2B5EF4-FFF2-40B4-BE49-F238E27FC236}">
                <a16:creationId xmlns:a16="http://schemas.microsoft.com/office/drawing/2014/main" id="{EB3113CB-C4CD-4A34-A061-5B0C4B2200D7}"/>
              </a:ext>
            </a:extLst>
          </p:cNvPr>
          <p:cNvSpPr>
            <a:spLocks noGrp="1"/>
          </p:cNvSpPr>
          <p:nvPr/>
        </p:nvSpPr>
        <p:spPr>
          <a:xfrm>
            <a:off x="11144250" y="6343650"/>
            <a:ext cx="457200" cy="266700"/>
          </a:xfrm>
          <a:prstGeom prst="rect">
            <a:avLst/>
          </a:prstGeom>
          <a:noFill/>
          <a:ln w="0">
            <a:noFill/>
          </a:ln>
        </p:spPr>
        <p:txBody>
          <a:bodyPr anchor="ctr">
            <a:noAutofit/>
          </a:bodyPr>
          <a:lstStyle/>
          <a:p>
            <a:pPr algn="r">
              <a:defRPr sz="1350">
                <a:solidFill>
                  <a:srgbClr val="6B7277"/>
                </a:solidFill>
                <a:latin typeface="Arimo"/>
                <a:ea typeface="Arimo"/>
                <a:cs typeface="Arimo"/>
              </a:defRPr>
            </a:pPr>
            <a:r>
              <a:rPr sz="1350">
                <a:solidFill>
                  <a:srgbClr val="6B7277"/>
                </a:solidFill>
                <a:latin typeface="Arimo"/>
                <a:ea typeface="Arimo"/>
                <a:cs typeface="Arimo"/>
              </a:rPr>
              <a:t>09</a:t>
            </a:r>
          </a:p>
        </p:txBody>
      </p:sp>
      <p:sp>
        <p:nvSpPr>
          <p:cNvPr id="5" name="Rectangle 4">
            <a:extLst>
              <a:ext uri="{FF2B5EF4-FFF2-40B4-BE49-F238E27FC236}">
                <a16:creationId xmlns:a16="http://schemas.microsoft.com/office/drawing/2014/main" id="{EA59C226-9D47-4E12-9758-DB4BA50309FC}"/>
              </a:ext>
            </a:extLst>
          </p:cNvPr>
          <p:cNvSpPr>
            <a:spLocks noGrp="1"/>
          </p:cNvSpPr>
          <p:nvPr/>
        </p:nvSpPr>
        <p:spPr>
          <a:xfrm>
            <a:off x="990600" y="1676400"/>
            <a:ext cx="4476750" cy="495300"/>
          </a:xfrm>
          <a:prstGeom prst="rect">
            <a:avLst/>
          </a:prstGeom>
          <a:noFill/>
          <a:ln w="0">
            <a:noFill/>
          </a:ln>
        </p:spPr>
        <p:txBody>
          <a:bodyPr anchor="ctr">
            <a:noAutofit/>
          </a:bodyPr>
          <a:lstStyle/>
          <a:p>
            <a:pPr algn="ctr">
              <a:defRPr sz="2550">
                <a:solidFill>
                  <a:srgbClr val="6B7277"/>
                </a:solidFill>
                <a:latin typeface="Arimo"/>
                <a:ea typeface="Arimo"/>
                <a:cs typeface="Arimo"/>
              </a:defRPr>
            </a:pPr>
            <a:r>
              <a:rPr sz="2550">
                <a:solidFill>
                  <a:srgbClr val="6B7277"/>
                </a:solidFill>
                <a:latin typeface="Arimo"/>
                <a:ea typeface="Arimo"/>
                <a:cs typeface="Arimo"/>
              </a:rPr>
              <a:t>common year</a:t>
            </a:r>
          </a:p>
        </p:txBody>
      </p:sp>
      <p:sp>
        <p:nvSpPr>
          <p:cNvPr id="6" name="Rectangle 5">
            <a:extLst>
              <a:ext uri="{FF2B5EF4-FFF2-40B4-BE49-F238E27FC236}">
                <a16:creationId xmlns:a16="http://schemas.microsoft.com/office/drawing/2014/main" id="{C4B2D2A4-9937-47F8-B803-7660463B5F11}"/>
              </a:ext>
            </a:extLst>
          </p:cNvPr>
          <p:cNvSpPr>
            <a:spLocks noGrp="1"/>
          </p:cNvSpPr>
          <p:nvPr/>
        </p:nvSpPr>
        <p:spPr>
          <a:xfrm>
            <a:off x="6724650" y="1676400"/>
            <a:ext cx="4476750" cy="495300"/>
          </a:xfrm>
          <a:prstGeom prst="rect">
            <a:avLst/>
          </a:prstGeom>
          <a:noFill/>
          <a:ln w="0">
            <a:noFill/>
          </a:ln>
        </p:spPr>
        <p:txBody>
          <a:bodyPr anchor="ctr">
            <a:noAutofit/>
          </a:bodyPr>
          <a:lstStyle/>
          <a:p>
            <a:pPr algn="ctr">
              <a:defRPr sz="2550">
                <a:solidFill>
                  <a:srgbClr val="6B7277"/>
                </a:solidFill>
                <a:latin typeface="Arimo"/>
                <a:ea typeface="Arimo"/>
                <a:cs typeface="Arimo"/>
              </a:defRPr>
            </a:pPr>
            <a:r>
              <a:rPr sz="2550">
                <a:solidFill>
                  <a:srgbClr val="6B7277"/>
                </a:solidFill>
                <a:latin typeface="Arimo"/>
                <a:ea typeface="Arimo"/>
                <a:cs typeface="Arimo"/>
              </a:rPr>
              <a:t>leap year</a:t>
            </a:r>
          </a:p>
        </p:txBody>
      </p:sp>
      <p:sp>
        <p:nvSpPr>
          <p:cNvPr id="7" name="Rectangle 6">
            <a:extLst>
              <a:ext uri="{FF2B5EF4-FFF2-40B4-BE49-F238E27FC236}">
                <a16:creationId xmlns:a16="http://schemas.microsoft.com/office/drawing/2014/main" id="{AE726023-4D2E-409B-82CD-B296D4AE3C6E}"/>
              </a:ext>
            </a:extLst>
          </p:cNvPr>
          <p:cNvSpPr>
            <a:spLocks noGrp="1"/>
          </p:cNvSpPr>
          <p:nvPr/>
        </p:nvSpPr>
        <p:spPr>
          <a:xfrm>
            <a:off x="971550" y="2305050"/>
            <a:ext cx="4495800" cy="1447800"/>
          </a:xfrm>
          <a:prstGeom prst="rect">
            <a:avLst/>
          </a:prstGeom>
          <a:noFill/>
          <a:ln w="0">
            <a:noFill/>
          </a:ln>
        </p:spPr>
        <p:txBody>
          <a:bodyPr anchor="ctr">
            <a:noAutofit/>
          </a:bodyPr>
          <a:lstStyle/>
          <a:p>
            <a:pPr algn="ctr">
              <a:defRPr sz="9450">
                <a:solidFill>
                  <a:srgbClr val="202426"/>
                </a:solidFill>
                <a:latin typeface="Menlo"/>
                <a:ea typeface="Menlo"/>
                <a:cs typeface="Menlo"/>
              </a:defRPr>
            </a:pPr>
            <a:r>
              <a:rPr sz="9450">
                <a:solidFill>
                  <a:srgbClr val="202426"/>
                </a:solidFill>
                <a:latin typeface="Menlo"/>
                <a:ea typeface="Menlo"/>
                <a:cs typeface="Menlo"/>
              </a:rPr>
              <a:t>365</a:t>
            </a:r>
          </a:p>
        </p:txBody>
      </p:sp>
      <p:sp>
        <p:nvSpPr>
          <p:cNvPr id="8" name="Rectangle 7">
            <a:extLst>
              <a:ext uri="{FF2B5EF4-FFF2-40B4-BE49-F238E27FC236}">
                <a16:creationId xmlns:a16="http://schemas.microsoft.com/office/drawing/2014/main" id="{9DF648C8-8C69-4381-9548-4FE4C8B85A05}"/>
              </a:ext>
            </a:extLst>
          </p:cNvPr>
          <p:cNvSpPr>
            <a:spLocks noGrp="1"/>
          </p:cNvSpPr>
          <p:nvPr/>
        </p:nvSpPr>
        <p:spPr>
          <a:xfrm>
            <a:off x="6724650" y="2305050"/>
            <a:ext cx="4495800" cy="1447800"/>
          </a:xfrm>
          <a:prstGeom prst="rect">
            <a:avLst/>
          </a:prstGeom>
          <a:noFill/>
          <a:ln w="0">
            <a:noFill/>
          </a:ln>
        </p:spPr>
        <p:txBody>
          <a:bodyPr anchor="ctr">
            <a:noAutofit/>
          </a:bodyPr>
          <a:lstStyle/>
          <a:p>
            <a:pPr algn="ctr">
              <a:defRPr sz="9450">
                <a:solidFill>
                  <a:srgbClr val="202426"/>
                </a:solidFill>
                <a:latin typeface="Menlo"/>
                <a:ea typeface="Menlo"/>
                <a:cs typeface="Menlo"/>
              </a:defRPr>
            </a:pPr>
            <a:r>
              <a:rPr sz="9450">
                <a:solidFill>
                  <a:srgbClr val="202426"/>
                </a:solidFill>
                <a:latin typeface="Menlo"/>
                <a:ea typeface="Menlo"/>
                <a:cs typeface="Menlo"/>
              </a:rPr>
              <a:t>366</a:t>
            </a:r>
          </a:p>
        </p:txBody>
      </p:sp>
      <p:sp>
        <p:nvSpPr>
          <p:cNvPr id="9" name="Rectangle 8">
            <a:extLst>
              <a:ext uri="{FF2B5EF4-FFF2-40B4-BE49-F238E27FC236}">
                <a16:creationId xmlns:a16="http://schemas.microsoft.com/office/drawing/2014/main" id="{A36335D3-6037-4A78-AA23-FBEDC74BB3D9}"/>
              </a:ext>
            </a:extLst>
          </p:cNvPr>
          <p:cNvSpPr>
            <a:spLocks noGrp="1"/>
          </p:cNvSpPr>
          <p:nvPr/>
        </p:nvSpPr>
        <p:spPr>
          <a:xfrm>
            <a:off x="847725" y="4191000"/>
            <a:ext cx="4686300" cy="647700"/>
          </a:xfrm>
          <a:prstGeom prst="rect">
            <a:avLst/>
          </a:prstGeom>
          <a:noFill/>
          <a:ln w="0">
            <a:noFill/>
          </a:ln>
        </p:spPr>
        <p:txBody>
          <a:bodyPr anchor="ctr">
            <a:noAutofit/>
          </a:bodyPr>
          <a:lstStyle/>
          <a:p>
            <a:pPr algn="ctr">
              <a:defRPr sz="2550">
                <a:solidFill>
                  <a:srgbClr val="202426"/>
                </a:solidFill>
                <a:latin typeface="Menlo"/>
                <a:ea typeface="Menlo"/>
                <a:cs typeface="Menlo"/>
              </a:defRPr>
            </a:pPr>
            <a:r>
              <a:rPr sz="2550">
                <a:solidFill>
                  <a:srgbClr val="202426"/>
                </a:solidFill>
                <a:latin typeface="Menlo"/>
                <a:ea typeface="Menlo"/>
                <a:cs typeface="Menlo"/>
              </a:rPr>
              <a:t>Feb 28 → Mar 1</a:t>
            </a:r>
          </a:p>
        </p:txBody>
      </p:sp>
      <p:sp>
        <p:nvSpPr>
          <p:cNvPr id="10" name="Rectangle 9">
            <a:extLst>
              <a:ext uri="{FF2B5EF4-FFF2-40B4-BE49-F238E27FC236}">
                <a16:creationId xmlns:a16="http://schemas.microsoft.com/office/drawing/2014/main" id="{3E5480D7-14D7-4CC8-9EED-F6355E7925F1}"/>
              </a:ext>
            </a:extLst>
          </p:cNvPr>
          <p:cNvSpPr>
            <a:spLocks noGrp="1"/>
          </p:cNvSpPr>
          <p:nvPr/>
        </p:nvSpPr>
        <p:spPr>
          <a:xfrm>
            <a:off x="6324600" y="4191000"/>
            <a:ext cx="5562600" cy="647700"/>
          </a:xfrm>
          <a:prstGeom prst="rect">
            <a:avLst/>
          </a:prstGeom>
          <a:noFill/>
          <a:ln w="0">
            <a:noFill/>
          </a:ln>
        </p:spPr>
        <p:txBody>
          <a:bodyPr anchor="ctr">
            <a:noAutofit/>
          </a:bodyPr>
          <a:lstStyle/>
          <a:p>
            <a:pPr algn="ctr">
              <a:defRPr sz="2400">
                <a:solidFill>
                  <a:srgbClr val="202426"/>
                </a:solidFill>
                <a:latin typeface="Menlo"/>
                <a:ea typeface="Menlo"/>
                <a:cs typeface="Menlo"/>
              </a:defRPr>
            </a:pPr>
            <a:r>
              <a:rPr sz="2400">
                <a:solidFill>
                  <a:srgbClr val="202426"/>
                </a:solidFill>
                <a:latin typeface="Menlo"/>
                <a:ea typeface="Menlo"/>
                <a:cs typeface="Menlo"/>
              </a:rPr>
              <a:t>Feb 28 → Feb 29 → Mar 1</a:t>
            </a:r>
          </a:p>
        </p:txBody>
      </p:sp>
      <p:sp>
        <p:nvSpPr>
          <p:cNvPr id="11" name="Rectangle 10">
            <a:extLst>
              <a:ext uri="{FF2B5EF4-FFF2-40B4-BE49-F238E27FC236}">
                <a16:creationId xmlns:a16="http://schemas.microsoft.com/office/drawing/2014/main" id="{CE6AB05B-2759-473C-8883-AEEE4B9C9D39}"/>
              </a:ext>
            </a:extLst>
          </p:cNvPr>
          <p:cNvSpPr>
            <a:spLocks noGrp="1"/>
          </p:cNvSpPr>
          <p:nvPr/>
        </p:nvSpPr>
        <p:spPr>
          <a:xfrm>
            <a:off x="990600" y="5210175"/>
            <a:ext cx="4476750" cy="571500"/>
          </a:xfrm>
          <a:prstGeom prst="rect">
            <a:avLst/>
          </a:prstGeom>
          <a:noFill/>
          <a:ln w="0">
            <a:noFill/>
          </a:ln>
        </p:spPr>
        <p:txBody>
          <a:bodyPr anchor="ctr">
            <a:noAutofit/>
          </a:bodyPr>
          <a:lstStyle/>
          <a:p>
            <a:pPr algn="ctr">
              <a:defRPr sz="1950">
                <a:solidFill>
                  <a:srgbClr val="C6390D"/>
                </a:solidFill>
                <a:latin typeface="Arimo"/>
                <a:ea typeface="Arimo"/>
                <a:cs typeface="Arimo"/>
              </a:defRPr>
            </a:pPr>
            <a:r>
              <a:rPr sz="1950">
                <a:solidFill>
                  <a:srgbClr val="C6390D"/>
                </a:solidFill>
                <a:latin typeface="Arimo"/>
                <a:ea typeface="Arimo"/>
                <a:cs typeface="Arimo"/>
                <a:hlinkClick r:id="rId4"/>
              </a:rPr>
              <a:t>Watch the BBC introduction</a:t>
            </a:r>
          </a:p>
        </p:txBody>
      </p:sp>
      <p:sp>
        <p:nvSpPr>
          <p:cNvPr id="12" name="Rectangle 11">
            <a:extLst>
              <a:ext uri="{FF2B5EF4-FFF2-40B4-BE49-F238E27FC236}">
                <a16:creationId xmlns:a16="http://schemas.microsoft.com/office/drawing/2014/main" id="{10CC5521-F142-4153-8957-56CBD20095DC}"/>
              </a:ext>
            </a:extLst>
          </p:cNvPr>
          <p:cNvSpPr>
            <a:spLocks noGrp="1"/>
          </p:cNvSpPr>
          <p:nvPr/>
        </p:nvSpPr>
        <p:spPr>
          <a:xfrm>
            <a:off x="7639050" y="5191125"/>
            <a:ext cx="2667000" cy="571500"/>
          </a:xfrm>
          <a:prstGeom prst="rect">
            <a:avLst/>
          </a:prstGeom>
          <a:noFill/>
          <a:ln w="0">
            <a:noFill/>
          </a:ln>
        </p:spPr>
        <p:txBody>
          <a:bodyPr anchor="ctr">
            <a:noAutofit/>
          </a:bodyPr>
          <a:lstStyle/>
          <a:p>
            <a:pPr algn="ctr">
              <a:defRPr sz="3000">
                <a:solidFill>
                  <a:srgbClr val="DF4214"/>
                </a:solidFill>
                <a:latin typeface="Menlo"/>
                <a:ea typeface="Menlo"/>
                <a:cs typeface="Menlo"/>
              </a:defRPr>
            </a:pPr>
            <a:r>
              <a:rPr sz="3000">
                <a:solidFill>
                  <a:srgbClr val="DF4214"/>
                </a:solidFill>
                <a:latin typeface="Menlo"/>
                <a:ea typeface="Menlo"/>
                <a:cs typeface="Menlo"/>
              </a:rPr>
              <a:t>+1 day</a:t>
            </a:r>
          </a:p>
        </p:txBody>
      </p:sp>
      <p:sp>
        <p:nvSpPr>
          <p:cNvPr id="13" name="Rectangle 12">
            <a:extLst>
              <a:ext uri="{FF2B5EF4-FFF2-40B4-BE49-F238E27FC236}">
                <a16:creationId xmlns:a16="http://schemas.microsoft.com/office/drawing/2014/main" id="{56422372-FAE6-4B23-A724-341FE9452B6D}"/>
              </a:ext>
            </a:extLst>
          </p:cNvPr>
          <p:cNvSpPr>
            <a:spLocks noGrp="1"/>
          </p:cNvSpPr>
          <p:nvPr/>
        </p:nvSpPr>
        <p:spPr>
          <a:xfrm>
            <a:off x="1066800" y="6181725"/>
            <a:ext cx="10287000" cy="342900"/>
          </a:xfrm>
          <a:prstGeom prst="rect">
            <a:avLst/>
          </a:prstGeom>
          <a:noFill/>
          <a:ln w="0">
            <a:noFill/>
          </a:ln>
        </p:spPr>
        <p:txBody>
          <a:bodyPr anchor="ctr">
            <a:noAutofit/>
          </a:bodyPr>
          <a:lstStyle/>
          <a:p>
            <a:pPr algn="ctr">
              <a:defRPr sz="1875">
                <a:solidFill>
                  <a:srgbClr val="6B7277"/>
                </a:solidFill>
                <a:latin typeface="Arimo"/>
                <a:ea typeface="Arimo"/>
                <a:cs typeface="Arimo"/>
              </a:defRPr>
            </a:pPr>
            <a:r>
              <a:rPr sz="1875">
                <a:solidFill>
                  <a:srgbClr val="6B7277"/>
                </a:solidFill>
                <a:latin typeface="Arimo"/>
                <a:ea typeface="Arimo"/>
                <a:cs typeface="Arimo"/>
              </a:rPr>
              <a:t>Leap days keep the calendar aligned with the seasons.</a:t>
            </a:r>
          </a:p>
        </p:txBody>
      </p:sp>
    </p:spTree>
    <p:extLst>
      <p:ext uri="{BB962C8B-B14F-4D97-AF65-F5344CB8AC3E}">
        <p14:creationId xmlns:p14="http://schemas.microsoft.com/office/powerpoint/2010/main" val="872754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C1BA0BF-5DF1-4E41-B707-77D554E95780}"/>
              </a:ext>
            </a:extLst>
          </p:cNvPr>
          <p:cNvSpPr>
            <a:spLocks noGrp="1"/>
          </p:cNvSpPr>
          <p:nvPr/>
        </p:nvSpPr>
        <p:spPr>
          <a:xfrm>
            <a:off x="0" y="0"/>
            <a:ext cx="76200" cy="6858000"/>
          </a:xfrm>
          <a:prstGeom prst="rect">
            <a:avLst/>
          </a:prstGeom>
          <a:solidFill>
            <a:srgbClr val="DF4214"/>
          </a:solidFill>
          <a:ln w="0">
            <a:noFill/>
          </a:ln>
        </p:spPr>
      </p:sp>
      <p:pic>
        <p:nvPicPr>
          <p:cNvPr id="16" name="Picture 15"/>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8FBA0204-780C-4E76-BD2F-3FC2A51BBEEB}"/>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Which year is a leap year?</a:t>
            </a:r>
          </a:p>
        </p:txBody>
      </p:sp>
      <p:sp>
        <p:nvSpPr>
          <p:cNvPr id="4" name="Rectangle 3">
            <a:extLst>
              <a:ext uri="{FF2B5EF4-FFF2-40B4-BE49-F238E27FC236}">
                <a16:creationId xmlns:a16="http://schemas.microsoft.com/office/drawing/2014/main" id="{244993B0-3DC6-4EBC-810D-E43A972961A8}"/>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10</a:t>
            </a:r>
          </a:p>
        </p:txBody>
      </p:sp>
      <p:sp>
        <p:nvSpPr>
          <p:cNvPr id="5" name="Rectangle 4">
            <a:extLst>
              <a:ext uri="{FF2B5EF4-FFF2-40B4-BE49-F238E27FC236}">
                <a16:creationId xmlns:a16="http://schemas.microsoft.com/office/drawing/2014/main" id="{D81A9ED1-9FD8-4D0B-849B-B26CC6A47F6E}"/>
              </a:ext>
            </a:extLst>
          </p:cNvPr>
          <p:cNvSpPr>
            <a:spLocks noGrp="1"/>
          </p:cNvSpPr>
          <p:nvPr/>
        </p:nvSpPr>
        <p:spPr>
          <a:xfrm>
            <a:off x="1028700" y="1666875"/>
            <a:ext cx="10325100" cy="381000"/>
          </a:xfrm>
          <a:prstGeom prst="rect">
            <a:avLst/>
          </a:prstGeom>
          <a:noFill/>
          <a:ln w="0">
            <a:noFill/>
          </a:ln>
        </p:spPr>
        <p:txBody>
          <a:bodyPr anchor="ctr">
            <a:noAutofit/>
          </a:bodyPr>
          <a:lstStyle/>
          <a:p>
            <a:pPr algn="l">
              <a:defRPr sz="1875" b="0">
                <a:solidFill>
                  <a:srgbClr val="596167"/>
                </a:solidFill>
                <a:latin typeface="Arimo"/>
                <a:ea typeface="Arimo"/>
                <a:cs typeface="Arimo"/>
              </a:defRPr>
            </a:pPr>
            <a:r>
              <a:rPr sz="1875" b="0">
                <a:solidFill>
                  <a:srgbClr val="596167"/>
                </a:solidFill>
                <a:latin typeface="Arimo"/>
                <a:ea typeface="Arimo"/>
                <a:cs typeface="Arimo"/>
              </a:rPr>
              <a:t>Prediction 2</a:t>
            </a:r>
          </a:p>
        </p:txBody>
      </p:sp>
      <p:sp>
        <p:nvSpPr>
          <p:cNvPr id="6" name="Rectangle 5">
            <a:extLst>
              <a:ext uri="{FF2B5EF4-FFF2-40B4-BE49-F238E27FC236}">
                <a16:creationId xmlns:a16="http://schemas.microsoft.com/office/drawing/2014/main" id="{C5DED421-77CF-4AA7-9537-2FD0F97E8813}"/>
              </a:ext>
            </a:extLst>
          </p:cNvPr>
          <p:cNvSpPr>
            <a:spLocks noGrp="1"/>
          </p:cNvSpPr>
          <p:nvPr/>
        </p:nvSpPr>
        <p:spPr>
          <a:xfrm>
            <a:off x="1028700" y="2266950"/>
            <a:ext cx="10325100" cy="952500"/>
          </a:xfrm>
          <a:prstGeom prst="rect">
            <a:avLst/>
          </a:prstGeom>
          <a:noFill/>
          <a:ln w="0">
            <a:noFill/>
          </a:ln>
        </p:spPr>
        <p:txBody>
          <a:bodyPr anchor="ctr">
            <a:noAutofit/>
          </a:bodyPr>
          <a:lstStyle/>
          <a:p>
            <a:pPr algn="l">
              <a:defRPr sz="4725" b="1">
                <a:solidFill>
                  <a:srgbClr val="202426"/>
                </a:solidFill>
                <a:latin typeface="Menlo"/>
                <a:ea typeface="Menlo"/>
                <a:cs typeface="Menlo"/>
              </a:defRPr>
            </a:pPr>
            <a:r>
              <a:rPr sz="4725" b="1">
                <a:solidFill>
                  <a:srgbClr val="202426"/>
                </a:solidFill>
                <a:latin typeface="Menlo"/>
                <a:ea typeface="Menlo"/>
                <a:cs typeface="Menlo"/>
              </a:rPr>
              <a:t>1900           2000</a:t>
            </a:r>
          </a:p>
        </p:txBody>
      </p:sp>
      <p:sp>
        <p:nvSpPr>
          <p:cNvPr id="7" name="Rectangle 6">
            <a:extLst>
              <a:ext uri="{FF2B5EF4-FFF2-40B4-BE49-F238E27FC236}">
                <a16:creationId xmlns:a16="http://schemas.microsoft.com/office/drawing/2014/main" id="{1E20E06D-5B6F-4E67-A7E2-E45F0BA0074A}"/>
              </a:ext>
            </a:extLst>
          </p:cNvPr>
          <p:cNvSpPr>
            <a:spLocks noGrp="1"/>
          </p:cNvSpPr>
          <p:nvPr/>
        </p:nvSpPr>
        <p:spPr>
          <a:xfrm>
            <a:off x="1028700" y="36671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A</a:t>
            </a:r>
          </a:p>
        </p:txBody>
      </p:sp>
      <p:sp>
        <p:nvSpPr>
          <p:cNvPr id="8" name="Rectangle 7">
            <a:extLst>
              <a:ext uri="{FF2B5EF4-FFF2-40B4-BE49-F238E27FC236}">
                <a16:creationId xmlns:a16="http://schemas.microsoft.com/office/drawing/2014/main" id="{70F84654-BB66-4538-8F7A-6AFCBA10A3D8}"/>
              </a:ext>
            </a:extLst>
          </p:cNvPr>
          <p:cNvSpPr>
            <a:spLocks noGrp="1"/>
          </p:cNvSpPr>
          <p:nvPr/>
        </p:nvSpPr>
        <p:spPr>
          <a:xfrm>
            <a:off x="1647825" y="36671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Only 1900</a:t>
            </a:r>
          </a:p>
        </p:txBody>
      </p:sp>
      <p:sp>
        <p:nvSpPr>
          <p:cNvPr id="9" name="Rectangle 8">
            <a:extLst>
              <a:ext uri="{FF2B5EF4-FFF2-40B4-BE49-F238E27FC236}">
                <a16:creationId xmlns:a16="http://schemas.microsoft.com/office/drawing/2014/main" id="{BE9718B6-EC2D-4CDB-92BD-657B90230AE8}"/>
              </a:ext>
            </a:extLst>
          </p:cNvPr>
          <p:cNvSpPr>
            <a:spLocks noGrp="1"/>
          </p:cNvSpPr>
          <p:nvPr/>
        </p:nvSpPr>
        <p:spPr>
          <a:xfrm>
            <a:off x="6457950" y="36671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B</a:t>
            </a:r>
          </a:p>
        </p:txBody>
      </p:sp>
      <p:sp>
        <p:nvSpPr>
          <p:cNvPr id="10" name="Rectangle 9">
            <a:extLst>
              <a:ext uri="{FF2B5EF4-FFF2-40B4-BE49-F238E27FC236}">
                <a16:creationId xmlns:a16="http://schemas.microsoft.com/office/drawing/2014/main" id="{EBC85C53-3663-461F-8C17-D015730B5804}"/>
              </a:ext>
            </a:extLst>
          </p:cNvPr>
          <p:cNvSpPr>
            <a:spLocks noGrp="1"/>
          </p:cNvSpPr>
          <p:nvPr/>
        </p:nvSpPr>
        <p:spPr>
          <a:xfrm>
            <a:off x="7077075" y="36671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Only 2000</a:t>
            </a:r>
          </a:p>
        </p:txBody>
      </p:sp>
      <p:sp>
        <p:nvSpPr>
          <p:cNvPr id="11" name="Rectangle 10">
            <a:extLst>
              <a:ext uri="{FF2B5EF4-FFF2-40B4-BE49-F238E27FC236}">
                <a16:creationId xmlns:a16="http://schemas.microsoft.com/office/drawing/2014/main" id="{C1634107-48A2-4EEC-82D5-756AE83F1D0E}"/>
              </a:ext>
            </a:extLst>
          </p:cNvPr>
          <p:cNvSpPr>
            <a:spLocks noGrp="1"/>
          </p:cNvSpPr>
          <p:nvPr/>
        </p:nvSpPr>
        <p:spPr>
          <a:xfrm>
            <a:off x="1028700" y="45053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C</a:t>
            </a:r>
          </a:p>
        </p:txBody>
      </p:sp>
      <p:sp>
        <p:nvSpPr>
          <p:cNvPr id="12" name="Rectangle 11">
            <a:extLst>
              <a:ext uri="{FF2B5EF4-FFF2-40B4-BE49-F238E27FC236}">
                <a16:creationId xmlns:a16="http://schemas.microsoft.com/office/drawing/2014/main" id="{ED9D517B-62CF-498A-8767-558DC99FFD23}"/>
              </a:ext>
            </a:extLst>
          </p:cNvPr>
          <p:cNvSpPr>
            <a:spLocks noGrp="1"/>
          </p:cNvSpPr>
          <p:nvPr/>
        </p:nvSpPr>
        <p:spPr>
          <a:xfrm>
            <a:off x="1647825" y="45053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Both</a:t>
            </a:r>
          </a:p>
        </p:txBody>
      </p:sp>
      <p:sp>
        <p:nvSpPr>
          <p:cNvPr id="13" name="Rectangle 12">
            <a:extLst>
              <a:ext uri="{FF2B5EF4-FFF2-40B4-BE49-F238E27FC236}">
                <a16:creationId xmlns:a16="http://schemas.microsoft.com/office/drawing/2014/main" id="{7D079893-B162-4973-AB93-778A742D63F4}"/>
              </a:ext>
            </a:extLst>
          </p:cNvPr>
          <p:cNvSpPr>
            <a:spLocks noGrp="1"/>
          </p:cNvSpPr>
          <p:nvPr/>
        </p:nvSpPr>
        <p:spPr>
          <a:xfrm>
            <a:off x="6457950" y="45053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D</a:t>
            </a:r>
          </a:p>
        </p:txBody>
      </p:sp>
      <p:sp>
        <p:nvSpPr>
          <p:cNvPr id="14" name="Rectangle 13">
            <a:extLst>
              <a:ext uri="{FF2B5EF4-FFF2-40B4-BE49-F238E27FC236}">
                <a16:creationId xmlns:a16="http://schemas.microsoft.com/office/drawing/2014/main" id="{993A9A4D-0EBE-46DF-9F52-7848976F31E0}"/>
              </a:ext>
            </a:extLst>
          </p:cNvPr>
          <p:cNvSpPr>
            <a:spLocks noGrp="1"/>
          </p:cNvSpPr>
          <p:nvPr/>
        </p:nvSpPr>
        <p:spPr>
          <a:xfrm>
            <a:off x="7077075" y="45053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Neither</a:t>
            </a:r>
          </a:p>
        </p:txBody>
      </p:sp>
    </p:spTree>
    <p:extLst>
      <p:ext uri="{BB962C8B-B14F-4D97-AF65-F5344CB8AC3E}">
        <p14:creationId xmlns:p14="http://schemas.microsoft.com/office/powerpoint/2010/main" val="1096653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1A1A1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6923A7-ACF8-3AF3-0258-3667A5A56B7F}"/>
              </a:ext>
            </a:extLst>
          </p:cNvPr>
          <p:cNvSpPr/>
          <p:nvPr>
            <p:custDataLst>
              <p:tags r:id="rId2"/>
            </p:custDataLst>
          </p:nvPr>
        </p:nvSpPr>
        <p:spPr>
          <a:xfrm>
            <a:off x="444693" y="1742703"/>
            <a:ext cx="2371696" cy="2371696"/>
          </a:xfrm>
          <a:prstGeom prst="rect">
            <a:avLst/>
          </a:prstGeom>
          <a:blipFill>
            <a:blip>
              <a:extLst>
                <a:ext uri="{96DAC541-7B7A-43D3-8B79-37D633B846F1}">
                  <asvg:svgBlip xmlns:asvg="http://schemas.microsoft.com/office/drawing/2016/SVG/main" r:embed="rId7"/>
                </a:ext>
              </a:extLst>
            </a:blip>
            <a:stretch>
              <a:fillRect/>
            </a:stretch>
          </a:blipFill>
          <a:ln w="19050">
            <a:noFill/>
            <a:prstDash val="solid"/>
          </a:ln>
          <a:effectLst/>
          <a:extLs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B71D48A-12B1-B706-AE05-635770C1FE94}"/>
              </a:ext>
            </a:extLst>
          </p:cNvPr>
          <p:cNvSpPr/>
          <p:nvPr>
            <p:custDataLst>
              <p:tags r:id="rId3"/>
            </p:custDataLst>
          </p:nvPr>
        </p:nvSpPr>
        <p:spPr>
          <a:xfrm>
            <a:off x="3112851" y="1000897"/>
            <a:ext cx="8486226" cy="3855308"/>
          </a:xfrm>
          <a:prstGeom prst="rect">
            <a:avLst/>
          </a:prstGeom>
          <a:noFill/>
          <a:ln w="19050">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FFFFFF"/>
                </a:solidFill>
              </a:rPr>
              <a:t>Which year is a leap year: 1900 or 2000?</a:t>
            </a:r>
          </a:p>
        </p:txBody>
      </p:sp>
      <p:sp>
        <p:nvSpPr>
          <p:cNvPr id="4" name="Rectangle 3">
            <a:extLst>
              <a:ext uri="{FF2B5EF4-FFF2-40B4-BE49-F238E27FC236}">
                <a16:creationId xmlns:a16="http://schemas.microsoft.com/office/drawing/2014/main" id="{30D16344-343A-E820-959C-9026750E24F9}"/>
              </a:ext>
            </a:extLst>
          </p:cNvPr>
          <p:cNvSpPr/>
          <p:nvPr>
            <p:custDataLst>
              <p:tags r:id="rId4"/>
            </p:custDataLst>
          </p:nvPr>
        </p:nvSpPr>
        <p:spPr>
          <a:xfrm>
            <a:off x="0" y="5820032"/>
            <a:ext cx="12192001" cy="1037968"/>
          </a:xfrm>
          <a:prstGeom prst="rect">
            <a:avLst/>
          </a:prstGeom>
          <a:solidFill>
            <a:srgbClr val="1980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92500"/>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B27B08E2-51D5-C782-CB16-5457E7EDE97B}"/>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2211813B-5E73-1CA5-C778-292E84FF380C}"/>
              </a:ext>
            </a:extLst>
          </p:cNvPr>
          <p:cNvSpPr/>
          <p:nvPr>
            <p:custDataLst>
              <p:tags r:id="rId5"/>
            </p:custDataLst>
          </p:nvPr>
        </p:nvSpPr>
        <p:spPr>
          <a:xfrm rot="2700000">
            <a:off x="9620371" y="514924"/>
            <a:ext cx="3335198" cy="778213"/>
          </a:xfrm>
          <a:prstGeom prst="trapezoid">
            <a:avLst>
              <a:gd name="adj" fmla="val 100000"/>
            </a:avLst>
          </a:prstGeom>
          <a:solidFill>
            <a:srgbClr val="0A3316"/>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42A65F"/>
                </a:solidFill>
              </a:rPr>
              <a:t>Do not edit
</a:t>
            </a:r>
            <a:r>
              <a:rPr lang="en-US" sz="2200">
                <a:solidFill>
                  <a:srgbClr val="42A65F"/>
                </a:solidFill>
                <a:hlinkClick r:id="rId10">
                  <a:extLst>
                    <a:ext uri="{A12FA001-AC4F-418D-AE19-62706E023703}">
                      <ahyp:hlinkClr xmlns:ahyp="http://schemas.microsoft.com/office/drawing/2018/hyperlinkcolor" val="tx"/>
                    </a:ext>
                  </a:extLst>
                </a:hlinkClick>
              </a:rPr>
              <a:t>How to change the design</a:t>
            </a:r>
            <a:endParaRPr lang="en-US" sz="2200">
              <a:solidFill>
                <a:srgbClr val="42A65F"/>
              </a:solidFill>
            </a:endParaRPr>
          </a:p>
        </p:txBody>
      </p:sp>
      <p:pic>
        <p:nvPicPr>
          <p:cNvPr id="9" name="Graphic 8">
            <a:extLst>
              <a:ext uri="{FF2B5EF4-FFF2-40B4-BE49-F238E27FC236}">
                <a16:creationId xmlns:a16="http://schemas.microsoft.com/office/drawing/2014/main" id="{C4F12BEC-6D9A-E7E8-A7F9-D8C66FC570A0}"/>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1390623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2D4586A6-F7A9-430A-BC32-0A67502EE706}"/>
              </a:ext>
            </a:extLst>
          </p:cNvPr>
          <p:cNvSpPr>
            <a:spLocks noGrp="1"/>
          </p:cNvSpPr>
          <p:nvPr/>
        </p:nvSpPr>
        <p:spPr>
          <a:xfrm>
            <a:off x="0" y="0"/>
            <a:ext cx="76200" cy="6858000"/>
          </a:xfrm>
          <a:prstGeom prst="rect">
            <a:avLst/>
          </a:prstGeom>
          <a:solidFill>
            <a:srgbClr val="DF4214"/>
          </a:solidFill>
          <a:ln w="0">
            <a:noFill/>
          </a:ln>
        </p:spPr>
      </p:sp>
      <p:pic>
        <p:nvPicPr>
          <p:cNvPr id="32" name="Picture 31"/>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567DD8C9-855F-4728-8406-256742ABB23C}"/>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Leap-year rule</a:t>
            </a:r>
          </a:p>
        </p:txBody>
      </p:sp>
      <p:sp>
        <p:nvSpPr>
          <p:cNvPr id="4" name="Rectangle 3">
            <a:extLst>
              <a:ext uri="{FF2B5EF4-FFF2-40B4-BE49-F238E27FC236}">
                <a16:creationId xmlns:a16="http://schemas.microsoft.com/office/drawing/2014/main" id="{672065CD-BFD7-46F3-B021-4100E84D2B8A}"/>
              </a:ext>
            </a:extLst>
          </p:cNvPr>
          <p:cNvSpPr>
            <a:spLocks noGrp="1"/>
          </p:cNvSpPr>
          <p:nvPr/>
        </p:nvSpPr>
        <p:spPr>
          <a:xfrm>
            <a:off x="11144250" y="6343650"/>
            <a:ext cx="457200" cy="266700"/>
          </a:xfrm>
          <a:prstGeom prst="rect">
            <a:avLst/>
          </a:prstGeom>
          <a:noFill/>
          <a:ln w="0">
            <a:noFill/>
          </a:ln>
        </p:spPr>
        <p:txBody>
          <a:bodyPr anchor="ctr">
            <a:noAutofit/>
          </a:bodyPr>
          <a:lstStyle/>
          <a:p>
            <a:pPr algn="r">
              <a:defRPr sz="1350">
                <a:solidFill>
                  <a:srgbClr val="6B7277"/>
                </a:solidFill>
                <a:latin typeface="Arimo"/>
                <a:ea typeface="Arimo"/>
                <a:cs typeface="Arimo"/>
              </a:defRPr>
            </a:pPr>
            <a:r>
              <a:rPr sz="1350">
                <a:solidFill>
                  <a:srgbClr val="6B7277"/>
                </a:solidFill>
                <a:latin typeface="Arimo"/>
                <a:ea typeface="Arimo"/>
                <a:cs typeface="Arimo"/>
              </a:rPr>
              <a:t>11</a:t>
            </a:r>
          </a:p>
        </p:txBody>
      </p:sp>
      <p:sp>
        <p:nvSpPr>
          <p:cNvPr id="5" name="Diamond 4">
            <a:extLst>
              <a:ext uri="{FF2B5EF4-FFF2-40B4-BE49-F238E27FC236}">
                <a16:creationId xmlns:a16="http://schemas.microsoft.com/office/drawing/2014/main" id="{F1E3DFC8-6D8D-4C70-A197-8A75949FDBC7}"/>
              </a:ext>
            </a:extLst>
          </p:cNvPr>
          <p:cNvSpPr>
            <a:spLocks noGrp="1"/>
          </p:cNvSpPr>
          <p:nvPr/>
        </p:nvSpPr>
        <p:spPr>
          <a:xfrm>
            <a:off x="3504248" y="1839087"/>
            <a:ext cx="1762125" cy="1022033"/>
          </a:xfrm>
          <a:prstGeom prst="diamond">
            <a:avLst/>
          </a:prstGeom>
          <a:noFill/>
          <a:ln w="14288">
            <a:solidFill>
              <a:srgbClr val="303436"/>
            </a:solidFill>
          </a:ln>
        </p:spPr>
      </p:sp>
      <p:sp>
        <p:nvSpPr>
          <p:cNvPr id="6" name="Rectangle 5">
            <a:extLst>
              <a:ext uri="{FF2B5EF4-FFF2-40B4-BE49-F238E27FC236}">
                <a16:creationId xmlns:a16="http://schemas.microsoft.com/office/drawing/2014/main" id="{1B8E8B99-962E-4903-99F1-98780D03DC16}"/>
              </a:ext>
            </a:extLst>
          </p:cNvPr>
          <p:cNvSpPr>
            <a:spLocks noGrp="1"/>
          </p:cNvSpPr>
          <p:nvPr/>
        </p:nvSpPr>
        <p:spPr>
          <a:xfrm>
            <a:off x="3553587" y="1867281"/>
            <a:ext cx="1663446" cy="965645"/>
          </a:xfrm>
          <a:prstGeom prst="rect">
            <a:avLst/>
          </a:prstGeom>
          <a:noFill/>
          <a:ln w="0">
            <a:noFill/>
          </a:ln>
        </p:spPr>
        <p:txBody>
          <a:bodyPr anchor="ctr">
            <a:noAutofit/>
          </a:bodyPr>
          <a:lstStyle/>
          <a:p>
            <a:pPr algn="ctr">
              <a:defRPr sz="1554">
                <a:solidFill>
                  <a:srgbClr val="202426"/>
                </a:solidFill>
                <a:latin typeface="Arimo"/>
                <a:ea typeface="Arimo"/>
                <a:cs typeface="Arimo"/>
              </a:defRPr>
            </a:pPr>
            <a:r>
              <a:rPr sz="1554">
                <a:solidFill>
                  <a:srgbClr val="202426"/>
                </a:solidFill>
                <a:latin typeface="Arimo"/>
                <a:ea typeface="Arimo"/>
                <a:cs typeface="Arimo"/>
              </a:rPr>
              <a:t>Multiple</a:t>
            </a:r>
          </a:p>
          <a:p>
            <a:pPr algn="ctr">
              <a:defRPr sz="1554">
                <a:solidFill>
                  <a:srgbClr val="202426"/>
                </a:solidFill>
                <a:latin typeface="Arimo"/>
                <a:ea typeface="Arimo"/>
                <a:cs typeface="Arimo"/>
              </a:defRPr>
            </a:pPr>
            <a:r>
              <a:rPr sz="1554">
                <a:solidFill>
                  <a:srgbClr val="202426"/>
                </a:solidFill>
                <a:latin typeface="Arimo"/>
                <a:ea typeface="Arimo"/>
                <a:cs typeface="Arimo"/>
              </a:rPr>
              <a:t>of 400?</a:t>
            </a:r>
          </a:p>
        </p:txBody>
      </p:sp>
      <p:sp>
        <p:nvSpPr>
          <p:cNvPr id="7" name="Diamond 6">
            <a:extLst>
              <a:ext uri="{FF2B5EF4-FFF2-40B4-BE49-F238E27FC236}">
                <a16:creationId xmlns:a16="http://schemas.microsoft.com/office/drawing/2014/main" id="{7921DDB7-6805-46B3-88D2-A34217FC78C7}"/>
              </a:ext>
            </a:extLst>
          </p:cNvPr>
          <p:cNvSpPr>
            <a:spLocks noGrp="1"/>
          </p:cNvSpPr>
          <p:nvPr/>
        </p:nvSpPr>
        <p:spPr>
          <a:xfrm>
            <a:off x="3504248" y="3150108"/>
            <a:ext cx="1762125" cy="1022033"/>
          </a:xfrm>
          <a:prstGeom prst="diamond">
            <a:avLst/>
          </a:prstGeom>
          <a:noFill/>
          <a:ln w="14288">
            <a:solidFill>
              <a:srgbClr val="303436"/>
            </a:solidFill>
          </a:ln>
        </p:spPr>
      </p:sp>
      <p:sp>
        <p:nvSpPr>
          <p:cNvPr id="8" name="Rectangle 7">
            <a:extLst>
              <a:ext uri="{FF2B5EF4-FFF2-40B4-BE49-F238E27FC236}">
                <a16:creationId xmlns:a16="http://schemas.microsoft.com/office/drawing/2014/main" id="{22176C5F-D0DD-4F2F-8085-C5A7BFFCBE4C}"/>
              </a:ext>
            </a:extLst>
          </p:cNvPr>
          <p:cNvSpPr>
            <a:spLocks noGrp="1"/>
          </p:cNvSpPr>
          <p:nvPr/>
        </p:nvSpPr>
        <p:spPr>
          <a:xfrm>
            <a:off x="3553587" y="3178302"/>
            <a:ext cx="1663446" cy="965645"/>
          </a:xfrm>
          <a:prstGeom prst="rect">
            <a:avLst/>
          </a:prstGeom>
          <a:noFill/>
          <a:ln w="0">
            <a:noFill/>
          </a:ln>
        </p:spPr>
        <p:txBody>
          <a:bodyPr anchor="ctr">
            <a:noAutofit/>
          </a:bodyPr>
          <a:lstStyle/>
          <a:p>
            <a:pPr algn="ctr">
              <a:defRPr sz="1554">
                <a:solidFill>
                  <a:srgbClr val="202426"/>
                </a:solidFill>
                <a:latin typeface="Arimo"/>
                <a:ea typeface="Arimo"/>
                <a:cs typeface="Arimo"/>
              </a:defRPr>
            </a:pPr>
            <a:r>
              <a:rPr sz="1554">
                <a:solidFill>
                  <a:srgbClr val="202426"/>
                </a:solidFill>
                <a:latin typeface="Arimo"/>
                <a:ea typeface="Arimo"/>
                <a:cs typeface="Arimo"/>
              </a:rPr>
              <a:t>Multiple</a:t>
            </a:r>
          </a:p>
          <a:p>
            <a:pPr algn="ctr">
              <a:defRPr sz="1554">
                <a:solidFill>
                  <a:srgbClr val="202426"/>
                </a:solidFill>
                <a:latin typeface="Arimo"/>
                <a:ea typeface="Arimo"/>
                <a:cs typeface="Arimo"/>
              </a:defRPr>
            </a:pPr>
            <a:r>
              <a:rPr sz="1554">
                <a:solidFill>
                  <a:srgbClr val="202426"/>
                </a:solidFill>
                <a:latin typeface="Arimo"/>
                <a:ea typeface="Arimo"/>
                <a:cs typeface="Arimo"/>
              </a:rPr>
              <a:t>of 100?</a:t>
            </a:r>
          </a:p>
        </p:txBody>
      </p:sp>
      <p:sp>
        <p:nvSpPr>
          <p:cNvPr id="9" name="Diamond 8">
            <a:extLst>
              <a:ext uri="{FF2B5EF4-FFF2-40B4-BE49-F238E27FC236}">
                <a16:creationId xmlns:a16="http://schemas.microsoft.com/office/drawing/2014/main" id="{16DE1E60-AA9A-4CD0-84A1-538915C6FBB5}"/>
              </a:ext>
            </a:extLst>
          </p:cNvPr>
          <p:cNvSpPr>
            <a:spLocks noGrp="1"/>
          </p:cNvSpPr>
          <p:nvPr/>
        </p:nvSpPr>
        <p:spPr>
          <a:xfrm>
            <a:off x="3504248" y="4461129"/>
            <a:ext cx="1762125" cy="1022033"/>
          </a:xfrm>
          <a:prstGeom prst="diamond">
            <a:avLst/>
          </a:prstGeom>
          <a:noFill/>
          <a:ln w="14288">
            <a:solidFill>
              <a:srgbClr val="303436"/>
            </a:solidFill>
          </a:ln>
        </p:spPr>
      </p:sp>
      <p:sp>
        <p:nvSpPr>
          <p:cNvPr id="10" name="Rectangle 9">
            <a:extLst>
              <a:ext uri="{FF2B5EF4-FFF2-40B4-BE49-F238E27FC236}">
                <a16:creationId xmlns:a16="http://schemas.microsoft.com/office/drawing/2014/main" id="{7F435CF9-B831-4D02-AC77-7DA96970B052}"/>
              </a:ext>
            </a:extLst>
          </p:cNvPr>
          <p:cNvSpPr>
            <a:spLocks noGrp="1"/>
          </p:cNvSpPr>
          <p:nvPr/>
        </p:nvSpPr>
        <p:spPr>
          <a:xfrm>
            <a:off x="3553587" y="4489323"/>
            <a:ext cx="1663446" cy="965645"/>
          </a:xfrm>
          <a:prstGeom prst="rect">
            <a:avLst/>
          </a:prstGeom>
          <a:noFill/>
          <a:ln w="0">
            <a:noFill/>
          </a:ln>
        </p:spPr>
        <p:txBody>
          <a:bodyPr anchor="ctr">
            <a:noAutofit/>
          </a:bodyPr>
          <a:lstStyle/>
          <a:p>
            <a:pPr algn="ctr">
              <a:defRPr sz="1554">
                <a:solidFill>
                  <a:srgbClr val="202426"/>
                </a:solidFill>
                <a:latin typeface="Arimo"/>
                <a:ea typeface="Arimo"/>
                <a:cs typeface="Arimo"/>
              </a:defRPr>
            </a:pPr>
            <a:r>
              <a:rPr sz="1554">
                <a:solidFill>
                  <a:srgbClr val="202426"/>
                </a:solidFill>
                <a:latin typeface="Arimo"/>
                <a:ea typeface="Arimo"/>
                <a:cs typeface="Arimo"/>
              </a:rPr>
              <a:t>Multiple</a:t>
            </a:r>
          </a:p>
          <a:p>
            <a:pPr algn="ctr">
              <a:defRPr sz="1554">
                <a:solidFill>
                  <a:srgbClr val="202426"/>
                </a:solidFill>
                <a:latin typeface="Arimo"/>
                <a:ea typeface="Arimo"/>
                <a:cs typeface="Arimo"/>
              </a:defRPr>
            </a:pPr>
            <a:r>
              <a:rPr sz="1554">
                <a:solidFill>
                  <a:srgbClr val="202426"/>
                </a:solidFill>
                <a:latin typeface="Arimo"/>
                <a:ea typeface="Arimo"/>
                <a:cs typeface="Arimo"/>
              </a:rPr>
              <a:t>of 4?</a:t>
            </a:r>
          </a:p>
        </p:txBody>
      </p:sp>
      <p:sp>
        <p:nvSpPr>
          <p:cNvPr id="11" name="Rounded Rectangle 10">
            <a:extLst>
              <a:ext uri="{FF2B5EF4-FFF2-40B4-BE49-F238E27FC236}">
                <a16:creationId xmlns:a16="http://schemas.microsoft.com/office/drawing/2014/main" id="{395F10A3-C816-45C6-8FBE-8FE10A4C9351}"/>
              </a:ext>
            </a:extLst>
          </p:cNvPr>
          <p:cNvSpPr>
            <a:spLocks noGrp="1"/>
          </p:cNvSpPr>
          <p:nvPr/>
        </p:nvSpPr>
        <p:spPr>
          <a:xfrm>
            <a:off x="6922770" y="2128076"/>
            <a:ext cx="1762125" cy="437007"/>
          </a:xfrm>
          <a:prstGeom prst="roundRect">
            <a:avLst>
              <a:gd name="adj" fmla="val 38710"/>
            </a:avLst>
          </a:prstGeom>
          <a:noFill/>
          <a:ln w="14288">
            <a:solidFill>
              <a:srgbClr val="303436"/>
            </a:solidFill>
          </a:ln>
        </p:spPr>
      </p:sp>
      <p:sp>
        <p:nvSpPr>
          <p:cNvPr id="12" name="Rectangle 11">
            <a:extLst>
              <a:ext uri="{FF2B5EF4-FFF2-40B4-BE49-F238E27FC236}">
                <a16:creationId xmlns:a16="http://schemas.microsoft.com/office/drawing/2014/main" id="{C82FB508-86F3-4B43-9517-60657279B983}"/>
              </a:ext>
            </a:extLst>
          </p:cNvPr>
          <p:cNvSpPr>
            <a:spLocks noGrp="1"/>
          </p:cNvSpPr>
          <p:nvPr/>
        </p:nvSpPr>
        <p:spPr>
          <a:xfrm>
            <a:off x="6972110" y="2156270"/>
            <a:ext cx="1663446" cy="380619"/>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leap year</a:t>
            </a:r>
          </a:p>
        </p:txBody>
      </p:sp>
      <p:sp>
        <p:nvSpPr>
          <p:cNvPr id="13" name="Rounded Rectangle 12">
            <a:extLst>
              <a:ext uri="{FF2B5EF4-FFF2-40B4-BE49-F238E27FC236}">
                <a16:creationId xmlns:a16="http://schemas.microsoft.com/office/drawing/2014/main" id="{0C08F465-685E-418C-8AB1-4B2F52AA7128}"/>
              </a:ext>
            </a:extLst>
          </p:cNvPr>
          <p:cNvSpPr>
            <a:spLocks noGrp="1"/>
          </p:cNvSpPr>
          <p:nvPr/>
        </p:nvSpPr>
        <p:spPr>
          <a:xfrm>
            <a:off x="6922770" y="3439097"/>
            <a:ext cx="1762125" cy="437007"/>
          </a:xfrm>
          <a:prstGeom prst="roundRect">
            <a:avLst>
              <a:gd name="adj" fmla="val 38710"/>
            </a:avLst>
          </a:prstGeom>
          <a:noFill/>
          <a:ln w="14288">
            <a:solidFill>
              <a:srgbClr val="303436"/>
            </a:solidFill>
          </a:ln>
        </p:spPr>
      </p:sp>
      <p:sp>
        <p:nvSpPr>
          <p:cNvPr id="14" name="Rectangle 13">
            <a:extLst>
              <a:ext uri="{FF2B5EF4-FFF2-40B4-BE49-F238E27FC236}">
                <a16:creationId xmlns:a16="http://schemas.microsoft.com/office/drawing/2014/main" id="{DF8CB15D-8997-4045-A81B-95CD76F30243}"/>
              </a:ext>
            </a:extLst>
          </p:cNvPr>
          <p:cNvSpPr>
            <a:spLocks noGrp="1"/>
          </p:cNvSpPr>
          <p:nvPr/>
        </p:nvSpPr>
        <p:spPr>
          <a:xfrm>
            <a:off x="6972110" y="3467291"/>
            <a:ext cx="1663446" cy="380619"/>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common year</a:t>
            </a:r>
          </a:p>
        </p:txBody>
      </p:sp>
      <p:sp>
        <p:nvSpPr>
          <p:cNvPr id="15" name="Rounded Rectangle 14">
            <a:extLst>
              <a:ext uri="{FF2B5EF4-FFF2-40B4-BE49-F238E27FC236}">
                <a16:creationId xmlns:a16="http://schemas.microsoft.com/office/drawing/2014/main" id="{3E536958-C7D2-4164-80EC-26FDBF755EB2}"/>
              </a:ext>
            </a:extLst>
          </p:cNvPr>
          <p:cNvSpPr>
            <a:spLocks noGrp="1"/>
          </p:cNvSpPr>
          <p:nvPr/>
        </p:nvSpPr>
        <p:spPr>
          <a:xfrm>
            <a:off x="6922770" y="4750118"/>
            <a:ext cx="1762125" cy="437007"/>
          </a:xfrm>
          <a:prstGeom prst="roundRect">
            <a:avLst>
              <a:gd name="adj" fmla="val 38710"/>
            </a:avLst>
          </a:prstGeom>
          <a:noFill/>
          <a:ln w="14288">
            <a:solidFill>
              <a:srgbClr val="303436"/>
            </a:solidFill>
          </a:ln>
        </p:spPr>
      </p:sp>
      <p:sp>
        <p:nvSpPr>
          <p:cNvPr id="16" name="Rectangle 15">
            <a:extLst>
              <a:ext uri="{FF2B5EF4-FFF2-40B4-BE49-F238E27FC236}">
                <a16:creationId xmlns:a16="http://schemas.microsoft.com/office/drawing/2014/main" id="{CC01562E-1B60-4B74-87E9-87C540808B66}"/>
              </a:ext>
            </a:extLst>
          </p:cNvPr>
          <p:cNvSpPr>
            <a:spLocks noGrp="1"/>
          </p:cNvSpPr>
          <p:nvPr/>
        </p:nvSpPr>
        <p:spPr>
          <a:xfrm>
            <a:off x="6972110" y="4778312"/>
            <a:ext cx="1663446" cy="380619"/>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leap year</a:t>
            </a:r>
          </a:p>
        </p:txBody>
      </p:sp>
      <p:sp>
        <p:nvSpPr>
          <p:cNvPr id="17" name="Rounded Rectangle 16">
            <a:extLst>
              <a:ext uri="{FF2B5EF4-FFF2-40B4-BE49-F238E27FC236}">
                <a16:creationId xmlns:a16="http://schemas.microsoft.com/office/drawing/2014/main" id="{F9521091-540A-450D-882C-E07208FBDFE3}"/>
              </a:ext>
            </a:extLst>
          </p:cNvPr>
          <p:cNvSpPr>
            <a:spLocks noGrp="1"/>
          </p:cNvSpPr>
          <p:nvPr/>
        </p:nvSpPr>
        <p:spPr>
          <a:xfrm>
            <a:off x="3504248" y="5807393"/>
            <a:ext cx="1762125" cy="366522"/>
          </a:xfrm>
          <a:prstGeom prst="roundRect">
            <a:avLst>
              <a:gd name="adj" fmla="val 46154"/>
            </a:avLst>
          </a:prstGeom>
          <a:noFill/>
          <a:ln w="14288">
            <a:solidFill>
              <a:srgbClr val="303436"/>
            </a:solidFill>
          </a:ln>
        </p:spPr>
      </p:sp>
      <p:sp>
        <p:nvSpPr>
          <p:cNvPr id="18" name="Rectangle 17">
            <a:extLst>
              <a:ext uri="{FF2B5EF4-FFF2-40B4-BE49-F238E27FC236}">
                <a16:creationId xmlns:a16="http://schemas.microsoft.com/office/drawing/2014/main" id="{10C38B1E-C49C-4D4E-AC17-979546D49BA5}"/>
              </a:ext>
            </a:extLst>
          </p:cNvPr>
          <p:cNvSpPr>
            <a:spLocks noGrp="1"/>
          </p:cNvSpPr>
          <p:nvPr/>
        </p:nvSpPr>
        <p:spPr>
          <a:xfrm>
            <a:off x="3553587" y="5835587"/>
            <a:ext cx="1663446" cy="310134"/>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common year</a:t>
            </a:r>
          </a:p>
        </p:txBody>
      </p:sp>
      <p:cxnSp>
        <p:nvCxnSpPr>
          <p:cNvPr id="49" name="Straight Arrow Connector 48"/>
          <p:cNvCxnSpPr>
            <a:stCxn id="5" idx="3"/>
            <a:endCxn id="11" idx="1"/>
          </p:cNvCxnSpPr>
          <p:nvPr/>
        </p:nvCxnSpPr>
        <p:spPr>
          <a:xfrm flipV="1">
            <a:off x="5266373" y="2346580"/>
            <a:ext cx="1656397" cy="3524"/>
          </a:xfrm>
          <a:prstGeom prst="straightConnector1">
            <a:avLst/>
          </a:prstGeom>
          <a:ln w="22860">
            <a:solidFill>
              <a:srgbClr val="303436"/>
            </a:solidFill>
            <a:tailEnd type="triangle" w="med" len="med"/>
          </a:ln>
        </p:spPr>
      </p:cxnSp>
      <p:cxnSp>
        <p:nvCxnSpPr>
          <p:cNvPr id="50" name="Straight Arrow Connector 49"/>
          <p:cNvCxnSpPr>
            <a:stCxn id="5" idx="2"/>
            <a:endCxn id="7" idx="0"/>
          </p:cNvCxnSpPr>
          <p:nvPr/>
        </p:nvCxnSpPr>
        <p:spPr>
          <a:xfrm>
            <a:off x="4385311" y="2861120"/>
            <a:ext cx="0" cy="288988"/>
          </a:xfrm>
          <a:prstGeom prst="straightConnector1">
            <a:avLst/>
          </a:prstGeom>
          <a:ln w="22860">
            <a:solidFill>
              <a:srgbClr val="303436"/>
            </a:solidFill>
            <a:tailEnd type="triangle" w="med" len="med"/>
          </a:ln>
        </p:spPr>
      </p:cxnSp>
      <p:cxnSp>
        <p:nvCxnSpPr>
          <p:cNvPr id="51" name="Straight Arrow Connector 50"/>
          <p:cNvCxnSpPr>
            <a:stCxn id="7" idx="3"/>
            <a:endCxn id="13" idx="1"/>
          </p:cNvCxnSpPr>
          <p:nvPr/>
        </p:nvCxnSpPr>
        <p:spPr>
          <a:xfrm flipV="1">
            <a:off x="5266373" y="3657601"/>
            <a:ext cx="1656397" cy="3524"/>
          </a:xfrm>
          <a:prstGeom prst="straightConnector1">
            <a:avLst/>
          </a:prstGeom>
          <a:ln w="22860">
            <a:solidFill>
              <a:srgbClr val="303436"/>
            </a:solidFill>
            <a:tailEnd type="triangle" w="med" len="med"/>
          </a:ln>
        </p:spPr>
      </p:cxnSp>
      <p:cxnSp>
        <p:nvCxnSpPr>
          <p:cNvPr id="52" name="Straight Arrow Connector 51"/>
          <p:cNvCxnSpPr>
            <a:stCxn id="7" idx="2"/>
            <a:endCxn id="9" idx="0"/>
          </p:cNvCxnSpPr>
          <p:nvPr/>
        </p:nvCxnSpPr>
        <p:spPr>
          <a:xfrm>
            <a:off x="4385311" y="4172141"/>
            <a:ext cx="0" cy="288988"/>
          </a:xfrm>
          <a:prstGeom prst="straightConnector1">
            <a:avLst/>
          </a:prstGeom>
          <a:ln w="22860">
            <a:solidFill>
              <a:srgbClr val="303436"/>
            </a:solidFill>
            <a:tailEnd type="triangle" w="med" len="med"/>
          </a:ln>
        </p:spPr>
      </p:cxnSp>
      <p:cxnSp>
        <p:nvCxnSpPr>
          <p:cNvPr id="53" name="Straight Arrow Connector 52"/>
          <p:cNvCxnSpPr>
            <a:stCxn id="9" idx="3"/>
            <a:endCxn id="15" idx="1"/>
          </p:cNvCxnSpPr>
          <p:nvPr/>
        </p:nvCxnSpPr>
        <p:spPr>
          <a:xfrm flipV="1">
            <a:off x="5266373" y="4968622"/>
            <a:ext cx="1656397" cy="3524"/>
          </a:xfrm>
          <a:prstGeom prst="straightConnector1">
            <a:avLst/>
          </a:prstGeom>
          <a:ln w="22860">
            <a:solidFill>
              <a:srgbClr val="303436"/>
            </a:solidFill>
            <a:tailEnd type="triangle" w="med" len="med"/>
          </a:ln>
        </p:spPr>
      </p:cxnSp>
      <p:cxnSp>
        <p:nvCxnSpPr>
          <p:cNvPr id="54" name="Straight Arrow Connector 53"/>
          <p:cNvCxnSpPr>
            <a:stCxn id="9" idx="2"/>
            <a:endCxn id="17" idx="0"/>
          </p:cNvCxnSpPr>
          <p:nvPr/>
        </p:nvCxnSpPr>
        <p:spPr>
          <a:xfrm>
            <a:off x="4385311" y="5483162"/>
            <a:ext cx="0" cy="324231"/>
          </a:xfrm>
          <a:prstGeom prst="straightConnector1">
            <a:avLst/>
          </a:prstGeom>
          <a:ln w="22860">
            <a:solidFill>
              <a:srgbClr val="303436"/>
            </a:solidFill>
            <a:tailEnd type="triangle" w="med" len="med"/>
          </a:ln>
        </p:spPr>
      </p:cxnSp>
      <p:sp>
        <p:nvSpPr>
          <p:cNvPr id="25" name="Rectangle 24">
            <a:extLst>
              <a:ext uri="{FF2B5EF4-FFF2-40B4-BE49-F238E27FC236}">
                <a16:creationId xmlns:a16="http://schemas.microsoft.com/office/drawing/2014/main" id="{94711489-18ED-471C-8FF2-BC7712A8339D}"/>
              </a:ext>
            </a:extLst>
          </p:cNvPr>
          <p:cNvSpPr>
            <a:spLocks noGrp="1"/>
          </p:cNvSpPr>
          <p:nvPr/>
        </p:nvSpPr>
        <p:spPr>
          <a:xfrm>
            <a:off x="5787962" y="2029397"/>
            <a:ext cx="669608"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true</a:t>
            </a:r>
          </a:p>
        </p:txBody>
      </p:sp>
      <p:sp>
        <p:nvSpPr>
          <p:cNvPr id="26" name="Rectangle 25">
            <a:extLst>
              <a:ext uri="{FF2B5EF4-FFF2-40B4-BE49-F238E27FC236}">
                <a16:creationId xmlns:a16="http://schemas.microsoft.com/office/drawing/2014/main" id="{98D5A5CB-BDE7-4276-A8D1-645A0BD5AE80}"/>
              </a:ext>
            </a:extLst>
          </p:cNvPr>
          <p:cNvSpPr>
            <a:spLocks noGrp="1"/>
          </p:cNvSpPr>
          <p:nvPr/>
        </p:nvSpPr>
        <p:spPr>
          <a:xfrm>
            <a:off x="4526280" y="2875217"/>
            <a:ext cx="704850"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false</a:t>
            </a:r>
          </a:p>
        </p:txBody>
      </p:sp>
      <p:sp>
        <p:nvSpPr>
          <p:cNvPr id="27" name="Rectangle 26">
            <a:extLst>
              <a:ext uri="{FF2B5EF4-FFF2-40B4-BE49-F238E27FC236}">
                <a16:creationId xmlns:a16="http://schemas.microsoft.com/office/drawing/2014/main" id="{44886609-B693-4F5C-9AEF-C034F343659C}"/>
              </a:ext>
            </a:extLst>
          </p:cNvPr>
          <p:cNvSpPr>
            <a:spLocks noGrp="1"/>
          </p:cNvSpPr>
          <p:nvPr/>
        </p:nvSpPr>
        <p:spPr>
          <a:xfrm>
            <a:off x="5787962" y="3340418"/>
            <a:ext cx="669608"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true</a:t>
            </a:r>
          </a:p>
        </p:txBody>
      </p:sp>
      <p:sp>
        <p:nvSpPr>
          <p:cNvPr id="28" name="Rectangle 27">
            <a:extLst>
              <a:ext uri="{FF2B5EF4-FFF2-40B4-BE49-F238E27FC236}">
                <a16:creationId xmlns:a16="http://schemas.microsoft.com/office/drawing/2014/main" id="{2AA340B3-DF59-48B6-924B-9A38D7FD2AF6}"/>
              </a:ext>
            </a:extLst>
          </p:cNvPr>
          <p:cNvSpPr>
            <a:spLocks noGrp="1"/>
          </p:cNvSpPr>
          <p:nvPr/>
        </p:nvSpPr>
        <p:spPr>
          <a:xfrm>
            <a:off x="4526280" y="4186238"/>
            <a:ext cx="704850"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false</a:t>
            </a:r>
          </a:p>
        </p:txBody>
      </p:sp>
      <p:sp>
        <p:nvSpPr>
          <p:cNvPr id="29" name="Rectangle 28">
            <a:extLst>
              <a:ext uri="{FF2B5EF4-FFF2-40B4-BE49-F238E27FC236}">
                <a16:creationId xmlns:a16="http://schemas.microsoft.com/office/drawing/2014/main" id="{94C954FD-1CF1-4FAD-A293-F439CFC5B98C}"/>
              </a:ext>
            </a:extLst>
          </p:cNvPr>
          <p:cNvSpPr>
            <a:spLocks noGrp="1"/>
          </p:cNvSpPr>
          <p:nvPr/>
        </p:nvSpPr>
        <p:spPr>
          <a:xfrm>
            <a:off x="5787962" y="4651439"/>
            <a:ext cx="669608"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true</a:t>
            </a:r>
          </a:p>
        </p:txBody>
      </p:sp>
      <p:sp>
        <p:nvSpPr>
          <p:cNvPr id="30" name="Rectangle 29">
            <a:extLst>
              <a:ext uri="{FF2B5EF4-FFF2-40B4-BE49-F238E27FC236}">
                <a16:creationId xmlns:a16="http://schemas.microsoft.com/office/drawing/2014/main" id="{AEFE7330-EB6E-45AA-808B-316C02DC32DD}"/>
              </a:ext>
            </a:extLst>
          </p:cNvPr>
          <p:cNvSpPr>
            <a:spLocks noGrp="1"/>
          </p:cNvSpPr>
          <p:nvPr/>
        </p:nvSpPr>
        <p:spPr>
          <a:xfrm>
            <a:off x="4526280" y="5497259"/>
            <a:ext cx="704850"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false</a:t>
            </a:r>
          </a:p>
        </p:txBody>
      </p:sp>
    </p:spTree>
    <p:extLst>
      <p:ext uri="{BB962C8B-B14F-4D97-AF65-F5344CB8AC3E}">
        <p14:creationId xmlns:p14="http://schemas.microsoft.com/office/powerpoint/2010/main" val="1736164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BEFF26D-F23A-46CB-B70B-1931AEAAF293}"/>
              </a:ext>
            </a:extLst>
          </p:cNvPr>
          <p:cNvSpPr>
            <a:spLocks noGrp="1"/>
          </p:cNvSpPr>
          <p:nvPr/>
        </p:nvSpPr>
        <p:spPr>
          <a:xfrm>
            <a:off x="0" y="0"/>
            <a:ext cx="76200" cy="6858000"/>
          </a:xfrm>
          <a:prstGeom prst="rect">
            <a:avLst/>
          </a:prstGeom>
          <a:solidFill>
            <a:srgbClr val="DF4214"/>
          </a:solidFill>
          <a:ln w="0">
            <a:noFill/>
          </a:ln>
        </p:spPr>
      </p:sp>
      <p:pic>
        <p:nvPicPr>
          <p:cNvPr id="24" name="Picture 23"/>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5A034766-6809-46C0-BEBF-01E83D7FDE76}"/>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Leap-year rule</a:t>
            </a:r>
          </a:p>
        </p:txBody>
      </p:sp>
      <p:sp>
        <p:nvSpPr>
          <p:cNvPr id="4" name="Rectangle 3">
            <a:extLst>
              <a:ext uri="{FF2B5EF4-FFF2-40B4-BE49-F238E27FC236}">
                <a16:creationId xmlns:a16="http://schemas.microsoft.com/office/drawing/2014/main" id="{261ED231-2E40-4DEB-811A-DE8047EFE65C}"/>
              </a:ext>
            </a:extLst>
          </p:cNvPr>
          <p:cNvSpPr>
            <a:spLocks noGrp="1"/>
          </p:cNvSpPr>
          <p:nvPr/>
        </p:nvSpPr>
        <p:spPr>
          <a:xfrm>
            <a:off x="11144250" y="6343650"/>
            <a:ext cx="457200" cy="266700"/>
          </a:xfrm>
          <a:prstGeom prst="rect">
            <a:avLst/>
          </a:prstGeom>
          <a:noFill/>
          <a:ln w="0">
            <a:noFill/>
          </a:ln>
        </p:spPr>
        <p:txBody>
          <a:bodyPr anchor="ctr">
            <a:noAutofit/>
          </a:bodyPr>
          <a:lstStyle/>
          <a:p>
            <a:pPr algn="r">
              <a:defRPr sz="1350">
                <a:solidFill>
                  <a:srgbClr val="6B7277"/>
                </a:solidFill>
                <a:latin typeface="Arimo"/>
                <a:ea typeface="Arimo"/>
                <a:cs typeface="Arimo"/>
              </a:defRPr>
            </a:pPr>
            <a:r>
              <a:rPr sz="1350">
                <a:solidFill>
                  <a:srgbClr val="6B7277"/>
                </a:solidFill>
                <a:latin typeface="Arimo"/>
                <a:ea typeface="Arimo"/>
                <a:cs typeface="Arimo"/>
              </a:rPr>
              <a:t>12</a:t>
            </a:r>
          </a:p>
        </p:txBody>
      </p:sp>
      <p:sp>
        <p:nvSpPr>
          <p:cNvPr id="5" name="Rectangle 4">
            <a:extLst>
              <a:ext uri="{FF2B5EF4-FFF2-40B4-BE49-F238E27FC236}">
                <a16:creationId xmlns:a16="http://schemas.microsoft.com/office/drawing/2014/main" id="{F42B3AF0-D50A-4D3F-8BC8-A903AAEE553A}"/>
              </a:ext>
            </a:extLst>
          </p:cNvPr>
          <p:cNvSpPr>
            <a:spLocks noGrp="1"/>
          </p:cNvSpPr>
          <p:nvPr/>
        </p:nvSpPr>
        <p:spPr>
          <a:xfrm>
            <a:off x="552450" y="171450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1</a:t>
            </a:r>
          </a:p>
        </p:txBody>
      </p:sp>
      <p:sp>
        <p:nvSpPr>
          <p:cNvPr id="6" name="Rectangle 5">
            <a:extLst>
              <a:ext uri="{FF2B5EF4-FFF2-40B4-BE49-F238E27FC236}">
                <a16:creationId xmlns:a16="http://schemas.microsoft.com/office/drawing/2014/main" id="{F6CC97F2-F94F-40CC-AFAB-F7A551C8308F}"/>
              </a:ext>
            </a:extLst>
          </p:cNvPr>
          <p:cNvSpPr>
            <a:spLocks noGrp="1"/>
          </p:cNvSpPr>
          <p:nvPr/>
        </p:nvSpPr>
        <p:spPr>
          <a:xfrm>
            <a:off x="1238250" y="1714500"/>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Get a valid year (1 to 9999)</a:t>
            </a:r>
          </a:p>
        </p:txBody>
      </p:sp>
      <p:sp>
        <p:nvSpPr>
          <p:cNvPr id="7" name="Rectangle 6">
            <a:extLst>
              <a:ext uri="{FF2B5EF4-FFF2-40B4-BE49-F238E27FC236}">
                <a16:creationId xmlns:a16="http://schemas.microsoft.com/office/drawing/2014/main" id="{74C12E2E-73BD-4734-B275-E26CA9942333}"/>
              </a:ext>
            </a:extLst>
          </p:cNvPr>
          <p:cNvSpPr>
            <a:spLocks noGrp="1"/>
          </p:cNvSpPr>
          <p:nvPr/>
        </p:nvSpPr>
        <p:spPr>
          <a:xfrm>
            <a:off x="552450" y="218122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2</a:t>
            </a:r>
          </a:p>
        </p:txBody>
      </p:sp>
      <p:sp>
        <p:nvSpPr>
          <p:cNvPr id="8" name="Rectangle 7">
            <a:extLst>
              <a:ext uri="{FF2B5EF4-FFF2-40B4-BE49-F238E27FC236}">
                <a16:creationId xmlns:a16="http://schemas.microsoft.com/office/drawing/2014/main" id="{D8631713-0966-42D4-851D-7641130BC56E}"/>
              </a:ext>
            </a:extLst>
          </p:cNvPr>
          <p:cNvSpPr>
            <a:spLocks noGrp="1"/>
          </p:cNvSpPr>
          <p:nvPr/>
        </p:nvSpPr>
        <p:spPr>
          <a:xfrm>
            <a:off x="1238250" y="218122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If the year is a multiple of 400</a:t>
            </a:r>
          </a:p>
        </p:txBody>
      </p:sp>
      <p:sp>
        <p:nvSpPr>
          <p:cNvPr id="9" name="Rectangle 8">
            <a:extLst>
              <a:ext uri="{FF2B5EF4-FFF2-40B4-BE49-F238E27FC236}">
                <a16:creationId xmlns:a16="http://schemas.microsoft.com/office/drawing/2014/main" id="{E5A9AF36-B862-4B79-AD84-DCD5172C1533}"/>
              </a:ext>
            </a:extLst>
          </p:cNvPr>
          <p:cNvSpPr>
            <a:spLocks noGrp="1"/>
          </p:cNvSpPr>
          <p:nvPr/>
        </p:nvSpPr>
        <p:spPr>
          <a:xfrm>
            <a:off x="552450" y="264795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3</a:t>
            </a:r>
          </a:p>
        </p:txBody>
      </p:sp>
      <p:sp>
        <p:nvSpPr>
          <p:cNvPr id="10" name="Rectangle 9">
            <a:extLst>
              <a:ext uri="{FF2B5EF4-FFF2-40B4-BE49-F238E27FC236}">
                <a16:creationId xmlns:a16="http://schemas.microsoft.com/office/drawing/2014/main" id="{7F7521C4-0BF5-4873-BF27-4286C59E1233}"/>
              </a:ext>
            </a:extLst>
          </p:cNvPr>
          <p:cNvSpPr>
            <a:spLocks noGrp="1"/>
          </p:cNvSpPr>
          <p:nvPr/>
        </p:nvSpPr>
        <p:spPr>
          <a:xfrm>
            <a:off x="2000250" y="2647950"/>
            <a:ext cx="9582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Print "leap year"</a:t>
            </a:r>
          </a:p>
        </p:txBody>
      </p:sp>
      <p:sp>
        <p:nvSpPr>
          <p:cNvPr id="11" name="Rectangle 10">
            <a:extLst>
              <a:ext uri="{FF2B5EF4-FFF2-40B4-BE49-F238E27FC236}">
                <a16:creationId xmlns:a16="http://schemas.microsoft.com/office/drawing/2014/main" id="{F64F51ED-9FFD-45AD-92D2-5566029F9713}"/>
              </a:ext>
            </a:extLst>
          </p:cNvPr>
          <p:cNvSpPr>
            <a:spLocks noGrp="1"/>
          </p:cNvSpPr>
          <p:nvPr/>
        </p:nvSpPr>
        <p:spPr>
          <a:xfrm>
            <a:off x="552450" y="311467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4</a:t>
            </a:r>
          </a:p>
        </p:txBody>
      </p:sp>
      <p:sp>
        <p:nvSpPr>
          <p:cNvPr id="12" name="Rectangle 11">
            <a:extLst>
              <a:ext uri="{FF2B5EF4-FFF2-40B4-BE49-F238E27FC236}">
                <a16:creationId xmlns:a16="http://schemas.microsoft.com/office/drawing/2014/main" id="{A453730B-7D9D-49B3-A7DD-15C66737FFF1}"/>
              </a:ext>
            </a:extLst>
          </p:cNvPr>
          <p:cNvSpPr>
            <a:spLocks noGrp="1"/>
          </p:cNvSpPr>
          <p:nvPr/>
        </p:nvSpPr>
        <p:spPr>
          <a:xfrm>
            <a:off x="1238250" y="311467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Else if the year is a multiple of 100</a:t>
            </a:r>
          </a:p>
        </p:txBody>
      </p:sp>
      <p:sp>
        <p:nvSpPr>
          <p:cNvPr id="13" name="Rectangle 12">
            <a:extLst>
              <a:ext uri="{FF2B5EF4-FFF2-40B4-BE49-F238E27FC236}">
                <a16:creationId xmlns:a16="http://schemas.microsoft.com/office/drawing/2014/main" id="{53D9C2D7-FF90-443C-B907-F28B97AC91E8}"/>
              </a:ext>
            </a:extLst>
          </p:cNvPr>
          <p:cNvSpPr>
            <a:spLocks noGrp="1"/>
          </p:cNvSpPr>
          <p:nvPr/>
        </p:nvSpPr>
        <p:spPr>
          <a:xfrm>
            <a:off x="552450" y="358140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5</a:t>
            </a:r>
          </a:p>
        </p:txBody>
      </p:sp>
      <p:sp>
        <p:nvSpPr>
          <p:cNvPr id="14" name="Rectangle 13">
            <a:extLst>
              <a:ext uri="{FF2B5EF4-FFF2-40B4-BE49-F238E27FC236}">
                <a16:creationId xmlns:a16="http://schemas.microsoft.com/office/drawing/2014/main" id="{73A979CE-E4A8-47CF-AEFE-BC0185199EC1}"/>
              </a:ext>
            </a:extLst>
          </p:cNvPr>
          <p:cNvSpPr>
            <a:spLocks noGrp="1"/>
          </p:cNvSpPr>
          <p:nvPr/>
        </p:nvSpPr>
        <p:spPr>
          <a:xfrm>
            <a:off x="2000250" y="3581400"/>
            <a:ext cx="9582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Print "common year"</a:t>
            </a:r>
          </a:p>
        </p:txBody>
      </p:sp>
      <p:sp>
        <p:nvSpPr>
          <p:cNvPr id="15" name="Rectangle 14">
            <a:extLst>
              <a:ext uri="{FF2B5EF4-FFF2-40B4-BE49-F238E27FC236}">
                <a16:creationId xmlns:a16="http://schemas.microsoft.com/office/drawing/2014/main" id="{DEE11152-B1A1-4283-8C2D-FCAC14A19BA8}"/>
              </a:ext>
            </a:extLst>
          </p:cNvPr>
          <p:cNvSpPr>
            <a:spLocks noGrp="1"/>
          </p:cNvSpPr>
          <p:nvPr/>
        </p:nvSpPr>
        <p:spPr>
          <a:xfrm>
            <a:off x="552450" y="404812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6</a:t>
            </a:r>
          </a:p>
        </p:txBody>
      </p:sp>
      <p:sp>
        <p:nvSpPr>
          <p:cNvPr id="16" name="Rectangle 15">
            <a:extLst>
              <a:ext uri="{FF2B5EF4-FFF2-40B4-BE49-F238E27FC236}">
                <a16:creationId xmlns:a16="http://schemas.microsoft.com/office/drawing/2014/main" id="{7623410A-23CF-40E5-B9B2-0B7D42FB0E57}"/>
              </a:ext>
            </a:extLst>
          </p:cNvPr>
          <p:cNvSpPr>
            <a:spLocks noGrp="1"/>
          </p:cNvSpPr>
          <p:nvPr/>
        </p:nvSpPr>
        <p:spPr>
          <a:xfrm>
            <a:off x="1238250" y="404812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Else if the year is a multiple of 4</a:t>
            </a:r>
          </a:p>
        </p:txBody>
      </p:sp>
      <p:sp>
        <p:nvSpPr>
          <p:cNvPr id="17" name="Rectangle 16">
            <a:extLst>
              <a:ext uri="{FF2B5EF4-FFF2-40B4-BE49-F238E27FC236}">
                <a16:creationId xmlns:a16="http://schemas.microsoft.com/office/drawing/2014/main" id="{2766BE41-ED0D-4708-91B7-7ABBFBF6D414}"/>
              </a:ext>
            </a:extLst>
          </p:cNvPr>
          <p:cNvSpPr>
            <a:spLocks noGrp="1"/>
          </p:cNvSpPr>
          <p:nvPr/>
        </p:nvSpPr>
        <p:spPr>
          <a:xfrm>
            <a:off x="552450" y="451485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7</a:t>
            </a:r>
          </a:p>
        </p:txBody>
      </p:sp>
      <p:sp>
        <p:nvSpPr>
          <p:cNvPr id="18" name="Rectangle 17">
            <a:extLst>
              <a:ext uri="{FF2B5EF4-FFF2-40B4-BE49-F238E27FC236}">
                <a16:creationId xmlns:a16="http://schemas.microsoft.com/office/drawing/2014/main" id="{7DECBB93-98AD-4409-BE62-A2EF4193852E}"/>
              </a:ext>
            </a:extLst>
          </p:cNvPr>
          <p:cNvSpPr>
            <a:spLocks noGrp="1"/>
          </p:cNvSpPr>
          <p:nvPr/>
        </p:nvSpPr>
        <p:spPr>
          <a:xfrm>
            <a:off x="2000250" y="4514850"/>
            <a:ext cx="9582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Print "leap year"</a:t>
            </a:r>
          </a:p>
        </p:txBody>
      </p:sp>
      <p:sp>
        <p:nvSpPr>
          <p:cNvPr id="19" name="Rectangle 18">
            <a:extLst>
              <a:ext uri="{FF2B5EF4-FFF2-40B4-BE49-F238E27FC236}">
                <a16:creationId xmlns:a16="http://schemas.microsoft.com/office/drawing/2014/main" id="{CA7EAA3C-445D-4A05-AEED-1600A407FF2D}"/>
              </a:ext>
            </a:extLst>
          </p:cNvPr>
          <p:cNvSpPr>
            <a:spLocks noGrp="1"/>
          </p:cNvSpPr>
          <p:nvPr/>
        </p:nvSpPr>
        <p:spPr>
          <a:xfrm>
            <a:off x="552450" y="498157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8</a:t>
            </a:r>
          </a:p>
        </p:txBody>
      </p:sp>
      <p:sp>
        <p:nvSpPr>
          <p:cNvPr id="20" name="Rectangle 19">
            <a:extLst>
              <a:ext uri="{FF2B5EF4-FFF2-40B4-BE49-F238E27FC236}">
                <a16:creationId xmlns:a16="http://schemas.microsoft.com/office/drawing/2014/main" id="{F4A1A2AD-8D5A-4C8E-BBC2-FDDA670EC1F5}"/>
              </a:ext>
            </a:extLst>
          </p:cNvPr>
          <p:cNvSpPr>
            <a:spLocks noGrp="1"/>
          </p:cNvSpPr>
          <p:nvPr/>
        </p:nvSpPr>
        <p:spPr>
          <a:xfrm>
            <a:off x="1238250" y="498157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Else</a:t>
            </a:r>
          </a:p>
        </p:txBody>
      </p:sp>
      <p:sp>
        <p:nvSpPr>
          <p:cNvPr id="21" name="Rectangle 20">
            <a:extLst>
              <a:ext uri="{FF2B5EF4-FFF2-40B4-BE49-F238E27FC236}">
                <a16:creationId xmlns:a16="http://schemas.microsoft.com/office/drawing/2014/main" id="{22F3F36E-50B5-4ED1-B937-332EEC7770EF}"/>
              </a:ext>
            </a:extLst>
          </p:cNvPr>
          <p:cNvSpPr>
            <a:spLocks noGrp="1"/>
          </p:cNvSpPr>
          <p:nvPr/>
        </p:nvSpPr>
        <p:spPr>
          <a:xfrm>
            <a:off x="552450" y="544830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9</a:t>
            </a:r>
          </a:p>
        </p:txBody>
      </p:sp>
      <p:sp>
        <p:nvSpPr>
          <p:cNvPr id="22" name="Rectangle 21">
            <a:extLst>
              <a:ext uri="{FF2B5EF4-FFF2-40B4-BE49-F238E27FC236}">
                <a16:creationId xmlns:a16="http://schemas.microsoft.com/office/drawing/2014/main" id="{973DF298-3616-40F7-B6F5-0657A11D491C}"/>
              </a:ext>
            </a:extLst>
          </p:cNvPr>
          <p:cNvSpPr>
            <a:spLocks noGrp="1"/>
          </p:cNvSpPr>
          <p:nvPr/>
        </p:nvSpPr>
        <p:spPr>
          <a:xfrm>
            <a:off x="2000250" y="5448300"/>
            <a:ext cx="9582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Print "common year"</a:t>
            </a:r>
          </a:p>
        </p:txBody>
      </p:sp>
    </p:spTree>
    <p:extLst>
      <p:ext uri="{BB962C8B-B14F-4D97-AF65-F5344CB8AC3E}">
        <p14:creationId xmlns:p14="http://schemas.microsoft.com/office/powerpoint/2010/main" val="290563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5D4F9F6-597B-46F2-B2F0-6BAB75CE76B6}"/>
              </a:ext>
            </a:extLst>
          </p:cNvPr>
          <p:cNvSpPr>
            <a:spLocks noGrp="1"/>
          </p:cNvSpPr>
          <p:nvPr/>
        </p:nvSpPr>
        <p:spPr>
          <a:xfrm>
            <a:off x="0" y="0"/>
            <a:ext cx="76200" cy="6858000"/>
          </a:xfrm>
          <a:prstGeom prst="rect">
            <a:avLst/>
          </a:prstGeom>
          <a:solidFill>
            <a:srgbClr val="DF4214"/>
          </a:solidFill>
          <a:ln w="0">
            <a:noFill/>
          </a:ln>
        </p:spPr>
      </p:sp>
      <p:pic>
        <p:nvPicPr>
          <p:cNvPr id="22" name="Picture 21"/>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F4515F60-D1F7-4C2C-8A85-3A852ACCD8A9}"/>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Repeated input</a:t>
            </a:r>
          </a:p>
        </p:txBody>
      </p:sp>
      <p:sp>
        <p:nvSpPr>
          <p:cNvPr id="4" name="Rectangle 3">
            <a:extLst>
              <a:ext uri="{FF2B5EF4-FFF2-40B4-BE49-F238E27FC236}">
                <a16:creationId xmlns:a16="http://schemas.microsoft.com/office/drawing/2014/main" id="{B97C2AD0-5D52-4E87-AB15-EB69173B6CB8}"/>
              </a:ext>
            </a:extLst>
          </p:cNvPr>
          <p:cNvSpPr>
            <a:spLocks noGrp="1"/>
          </p:cNvSpPr>
          <p:nvPr/>
        </p:nvSpPr>
        <p:spPr>
          <a:xfrm>
            <a:off x="11144250" y="6343650"/>
            <a:ext cx="457200" cy="266700"/>
          </a:xfrm>
          <a:prstGeom prst="rect">
            <a:avLst/>
          </a:prstGeom>
          <a:noFill/>
          <a:ln w="0">
            <a:noFill/>
          </a:ln>
        </p:spPr>
        <p:txBody>
          <a:bodyPr anchor="ctr">
            <a:noAutofit/>
          </a:bodyPr>
          <a:lstStyle/>
          <a:p>
            <a:pPr algn="r">
              <a:defRPr sz="1350">
                <a:solidFill>
                  <a:srgbClr val="6B7277"/>
                </a:solidFill>
                <a:latin typeface="Arimo"/>
                <a:ea typeface="Arimo"/>
                <a:cs typeface="Arimo"/>
              </a:defRPr>
            </a:pPr>
            <a:r>
              <a:rPr sz="1350">
                <a:solidFill>
                  <a:srgbClr val="6B7277"/>
                </a:solidFill>
                <a:latin typeface="Arimo"/>
                <a:ea typeface="Arimo"/>
                <a:cs typeface="Arimo"/>
              </a:rPr>
              <a:t>13</a:t>
            </a:r>
          </a:p>
        </p:txBody>
      </p:sp>
      <p:sp>
        <p:nvSpPr>
          <p:cNvPr id="5" name="Rectangle 4">
            <a:extLst>
              <a:ext uri="{FF2B5EF4-FFF2-40B4-BE49-F238E27FC236}">
                <a16:creationId xmlns:a16="http://schemas.microsoft.com/office/drawing/2014/main" id="{E991326E-A874-4046-95EA-DD2A4D52A555}"/>
              </a:ext>
            </a:extLst>
          </p:cNvPr>
          <p:cNvSpPr>
            <a:spLocks noGrp="1"/>
          </p:cNvSpPr>
          <p:nvPr/>
        </p:nvSpPr>
        <p:spPr>
          <a:xfrm>
            <a:off x="552450" y="200025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1</a:t>
            </a:r>
          </a:p>
        </p:txBody>
      </p:sp>
      <p:sp>
        <p:nvSpPr>
          <p:cNvPr id="6" name="Rectangle 5">
            <a:extLst>
              <a:ext uri="{FF2B5EF4-FFF2-40B4-BE49-F238E27FC236}">
                <a16:creationId xmlns:a16="http://schemas.microsoft.com/office/drawing/2014/main" id="{4A26DAEF-FAF3-4589-9865-213BE992324E}"/>
              </a:ext>
            </a:extLst>
          </p:cNvPr>
          <p:cNvSpPr>
            <a:spLocks noGrp="1"/>
          </p:cNvSpPr>
          <p:nvPr/>
        </p:nvSpPr>
        <p:spPr>
          <a:xfrm>
            <a:off x="1238250" y="2000250"/>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Ask for a year</a:t>
            </a:r>
          </a:p>
        </p:txBody>
      </p:sp>
      <p:sp>
        <p:nvSpPr>
          <p:cNvPr id="7" name="Rectangle 6">
            <a:extLst>
              <a:ext uri="{FF2B5EF4-FFF2-40B4-BE49-F238E27FC236}">
                <a16:creationId xmlns:a16="http://schemas.microsoft.com/office/drawing/2014/main" id="{BF1E4573-2577-4E45-891E-A99DE8653E11}"/>
              </a:ext>
            </a:extLst>
          </p:cNvPr>
          <p:cNvSpPr>
            <a:spLocks noGrp="1"/>
          </p:cNvSpPr>
          <p:nvPr/>
        </p:nvSpPr>
        <p:spPr>
          <a:xfrm>
            <a:off x="552450" y="246697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2</a:t>
            </a:r>
          </a:p>
        </p:txBody>
      </p:sp>
      <p:sp>
        <p:nvSpPr>
          <p:cNvPr id="8" name="Rectangle 7">
            <a:extLst>
              <a:ext uri="{FF2B5EF4-FFF2-40B4-BE49-F238E27FC236}">
                <a16:creationId xmlns:a16="http://schemas.microsoft.com/office/drawing/2014/main" id="{881EEAAE-F2AE-4485-9A1B-4A9BC086FD5A}"/>
              </a:ext>
            </a:extLst>
          </p:cNvPr>
          <p:cNvSpPr>
            <a:spLocks noGrp="1"/>
          </p:cNvSpPr>
          <p:nvPr/>
        </p:nvSpPr>
        <p:spPr>
          <a:xfrm>
            <a:off x="1238250" y="246697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If the year is 0 or negative</a:t>
            </a:r>
          </a:p>
        </p:txBody>
      </p:sp>
      <p:sp>
        <p:nvSpPr>
          <p:cNvPr id="9" name="Rectangle 8">
            <a:extLst>
              <a:ext uri="{FF2B5EF4-FFF2-40B4-BE49-F238E27FC236}">
                <a16:creationId xmlns:a16="http://schemas.microsoft.com/office/drawing/2014/main" id="{9231CDFF-C4FA-470B-84FD-EEF3799EDC56}"/>
              </a:ext>
            </a:extLst>
          </p:cNvPr>
          <p:cNvSpPr>
            <a:spLocks noGrp="1"/>
          </p:cNvSpPr>
          <p:nvPr/>
        </p:nvSpPr>
        <p:spPr>
          <a:xfrm>
            <a:off x="552450" y="293370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3</a:t>
            </a:r>
          </a:p>
        </p:txBody>
      </p:sp>
      <p:sp>
        <p:nvSpPr>
          <p:cNvPr id="10" name="Rectangle 9">
            <a:extLst>
              <a:ext uri="{FF2B5EF4-FFF2-40B4-BE49-F238E27FC236}">
                <a16:creationId xmlns:a16="http://schemas.microsoft.com/office/drawing/2014/main" id="{7625A9CB-C36C-4371-A571-8E33B37EC532}"/>
              </a:ext>
            </a:extLst>
          </p:cNvPr>
          <p:cNvSpPr>
            <a:spLocks noGrp="1"/>
          </p:cNvSpPr>
          <p:nvPr/>
        </p:nvSpPr>
        <p:spPr>
          <a:xfrm>
            <a:off x="2000250" y="2933700"/>
            <a:ext cx="9582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Quit</a:t>
            </a:r>
          </a:p>
        </p:txBody>
      </p:sp>
      <p:sp>
        <p:nvSpPr>
          <p:cNvPr id="11" name="Rectangle 10">
            <a:extLst>
              <a:ext uri="{FF2B5EF4-FFF2-40B4-BE49-F238E27FC236}">
                <a16:creationId xmlns:a16="http://schemas.microsoft.com/office/drawing/2014/main" id="{7FECAE3C-C355-432F-8593-1666EAFF0073}"/>
              </a:ext>
            </a:extLst>
          </p:cNvPr>
          <p:cNvSpPr>
            <a:spLocks noGrp="1"/>
          </p:cNvSpPr>
          <p:nvPr/>
        </p:nvSpPr>
        <p:spPr>
          <a:xfrm>
            <a:off x="552450" y="340042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4</a:t>
            </a:r>
          </a:p>
        </p:txBody>
      </p:sp>
      <p:sp>
        <p:nvSpPr>
          <p:cNvPr id="12" name="Rectangle 11">
            <a:extLst>
              <a:ext uri="{FF2B5EF4-FFF2-40B4-BE49-F238E27FC236}">
                <a16:creationId xmlns:a16="http://schemas.microsoft.com/office/drawing/2014/main" id="{9D58B27F-4853-4321-AC5C-A400024BB2C9}"/>
              </a:ext>
            </a:extLst>
          </p:cNvPr>
          <p:cNvSpPr>
            <a:spLocks noGrp="1"/>
          </p:cNvSpPr>
          <p:nvPr/>
        </p:nvSpPr>
        <p:spPr>
          <a:xfrm>
            <a:off x="1238250" y="340042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If the year is greater than 9999</a:t>
            </a:r>
          </a:p>
        </p:txBody>
      </p:sp>
      <p:sp>
        <p:nvSpPr>
          <p:cNvPr id="13" name="Rectangle 12">
            <a:extLst>
              <a:ext uri="{FF2B5EF4-FFF2-40B4-BE49-F238E27FC236}">
                <a16:creationId xmlns:a16="http://schemas.microsoft.com/office/drawing/2014/main" id="{8D0B6051-2662-4925-BAC3-E615CF095E75}"/>
              </a:ext>
            </a:extLst>
          </p:cNvPr>
          <p:cNvSpPr>
            <a:spLocks noGrp="1"/>
          </p:cNvSpPr>
          <p:nvPr/>
        </p:nvSpPr>
        <p:spPr>
          <a:xfrm>
            <a:off x="552450" y="386715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5</a:t>
            </a:r>
          </a:p>
        </p:txBody>
      </p:sp>
      <p:sp>
        <p:nvSpPr>
          <p:cNvPr id="14" name="Rectangle 13">
            <a:extLst>
              <a:ext uri="{FF2B5EF4-FFF2-40B4-BE49-F238E27FC236}">
                <a16:creationId xmlns:a16="http://schemas.microsoft.com/office/drawing/2014/main" id="{70345732-B478-46F2-8CB7-14480D2E8727}"/>
              </a:ext>
            </a:extLst>
          </p:cNvPr>
          <p:cNvSpPr>
            <a:spLocks noGrp="1"/>
          </p:cNvSpPr>
          <p:nvPr/>
        </p:nvSpPr>
        <p:spPr>
          <a:xfrm>
            <a:off x="2000250" y="3867150"/>
            <a:ext cx="9582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Show an error and quit</a:t>
            </a:r>
          </a:p>
        </p:txBody>
      </p:sp>
      <p:sp>
        <p:nvSpPr>
          <p:cNvPr id="15" name="Rectangle 14">
            <a:extLst>
              <a:ext uri="{FF2B5EF4-FFF2-40B4-BE49-F238E27FC236}">
                <a16:creationId xmlns:a16="http://schemas.microsoft.com/office/drawing/2014/main" id="{F3FA23AA-0CA1-43E0-9221-F95AB9AA4D53}"/>
              </a:ext>
            </a:extLst>
          </p:cNvPr>
          <p:cNvSpPr>
            <a:spLocks noGrp="1"/>
          </p:cNvSpPr>
          <p:nvPr/>
        </p:nvSpPr>
        <p:spPr>
          <a:xfrm>
            <a:off x="552450" y="433387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6</a:t>
            </a:r>
          </a:p>
        </p:txBody>
      </p:sp>
      <p:sp>
        <p:nvSpPr>
          <p:cNvPr id="16" name="Rectangle 15">
            <a:extLst>
              <a:ext uri="{FF2B5EF4-FFF2-40B4-BE49-F238E27FC236}">
                <a16:creationId xmlns:a16="http://schemas.microsoft.com/office/drawing/2014/main" id="{4F5EE8F0-39DE-47A2-9AD5-36A807461BA6}"/>
              </a:ext>
            </a:extLst>
          </p:cNvPr>
          <p:cNvSpPr>
            <a:spLocks noGrp="1"/>
          </p:cNvSpPr>
          <p:nvPr/>
        </p:nvSpPr>
        <p:spPr>
          <a:xfrm>
            <a:off x="1238250" y="433387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Apply the leap-year rule</a:t>
            </a:r>
          </a:p>
        </p:txBody>
      </p:sp>
      <p:sp>
        <p:nvSpPr>
          <p:cNvPr id="17" name="Rectangle 16">
            <a:extLst>
              <a:ext uri="{FF2B5EF4-FFF2-40B4-BE49-F238E27FC236}">
                <a16:creationId xmlns:a16="http://schemas.microsoft.com/office/drawing/2014/main" id="{8923F91F-E661-4D19-BC77-701576A999CE}"/>
              </a:ext>
            </a:extLst>
          </p:cNvPr>
          <p:cNvSpPr>
            <a:spLocks noGrp="1"/>
          </p:cNvSpPr>
          <p:nvPr/>
        </p:nvSpPr>
        <p:spPr>
          <a:xfrm>
            <a:off x="552450" y="4800600"/>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7</a:t>
            </a:r>
          </a:p>
        </p:txBody>
      </p:sp>
      <p:sp>
        <p:nvSpPr>
          <p:cNvPr id="18" name="Rectangle 17">
            <a:extLst>
              <a:ext uri="{FF2B5EF4-FFF2-40B4-BE49-F238E27FC236}">
                <a16:creationId xmlns:a16="http://schemas.microsoft.com/office/drawing/2014/main" id="{CC401D8D-6D7D-4351-881B-41A37090EC9E}"/>
              </a:ext>
            </a:extLst>
          </p:cNvPr>
          <p:cNvSpPr>
            <a:spLocks noGrp="1"/>
          </p:cNvSpPr>
          <p:nvPr/>
        </p:nvSpPr>
        <p:spPr>
          <a:xfrm>
            <a:off x="1238250" y="4800600"/>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Print the result</a:t>
            </a:r>
          </a:p>
        </p:txBody>
      </p:sp>
      <p:sp>
        <p:nvSpPr>
          <p:cNvPr id="19" name="Rectangle 18">
            <a:extLst>
              <a:ext uri="{FF2B5EF4-FFF2-40B4-BE49-F238E27FC236}">
                <a16:creationId xmlns:a16="http://schemas.microsoft.com/office/drawing/2014/main" id="{AD3D830A-74D9-4033-8D40-FEDA576FC566}"/>
              </a:ext>
            </a:extLst>
          </p:cNvPr>
          <p:cNvSpPr>
            <a:spLocks noGrp="1"/>
          </p:cNvSpPr>
          <p:nvPr/>
        </p:nvSpPr>
        <p:spPr>
          <a:xfrm>
            <a:off x="552450" y="5267325"/>
            <a:ext cx="504825" cy="428625"/>
          </a:xfrm>
          <a:prstGeom prst="rect">
            <a:avLst/>
          </a:prstGeom>
          <a:noFill/>
          <a:ln w="0">
            <a:noFill/>
          </a:ln>
        </p:spPr>
        <p:txBody>
          <a:bodyPr anchor="ctr">
            <a:noAutofit/>
          </a:bodyPr>
          <a:lstStyle/>
          <a:p>
            <a:pPr algn="r">
              <a:defRPr sz="2550">
                <a:solidFill>
                  <a:srgbClr val="6B7277"/>
                </a:solidFill>
                <a:latin typeface="Menlo"/>
                <a:ea typeface="Menlo"/>
                <a:cs typeface="Menlo"/>
              </a:defRPr>
            </a:pPr>
            <a:r>
              <a:rPr sz="2550">
                <a:solidFill>
                  <a:srgbClr val="6B7277"/>
                </a:solidFill>
                <a:latin typeface="Menlo"/>
                <a:ea typeface="Menlo"/>
                <a:cs typeface="Menlo"/>
              </a:rPr>
              <a:t>8</a:t>
            </a:r>
          </a:p>
        </p:txBody>
      </p:sp>
      <p:sp>
        <p:nvSpPr>
          <p:cNvPr id="20" name="Rectangle 19">
            <a:extLst>
              <a:ext uri="{FF2B5EF4-FFF2-40B4-BE49-F238E27FC236}">
                <a16:creationId xmlns:a16="http://schemas.microsoft.com/office/drawing/2014/main" id="{9F7283A2-6C95-4928-922F-16A6E6369A21}"/>
              </a:ext>
            </a:extLst>
          </p:cNvPr>
          <p:cNvSpPr>
            <a:spLocks noGrp="1"/>
          </p:cNvSpPr>
          <p:nvPr/>
        </p:nvSpPr>
        <p:spPr>
          <a:xfrm>
            <a:off x="1238250" y="5267325"/>
            <a:ext cx="10344150" cy="428625"/>
          </a:xfrm>
          <a:prstGeom prst="rect">
            <a:avLst/>
          </a:prstGeom>
          <a:noFill/>
          <a:ln w="0">
            <a:noFill/>
          </a:ln>
        </p:spPr>
        <p:txBody>
          <a:bodyPr anchor="ctr">
            <a:noAutofit/>
          </a:bodyPr>
          <a:lstStyle/>
          <a:p>
            <a:pPr algn="l">
              <a:defRPr sz="2550">
                <a:solidFill>
                  <a:srgbClr val="202426"/>
                </a:solidFill>
                <a:latin typeface="Menlo"/>
                <a:ea typeface="Menlo"/>
                <a:cs typeface="Menlo"/>
              </a:defRPr>
            </a:pPr>
            <a:r>
              <a:rPr sz="2550">
                <a:solidFill>
                  <a:srgbClr val="202426"/>
                </a:solidFill>
                <a:latin typeface="Menlo"/>
                <a:ea typeface="Menlo"/>
                <a:cs typeface="Menlo"/>
              </a:rPr>
              <a:t>Go back to line 1</a:t>
            </a:r>
          </a:p>
        </p:txBody>
      </p:sp>
    </p:spTree>
    <p:extLst>
      <p:ext uri="{BB962C8B-B14F-4D97-AF65-F5344CB8AC3E}">
        <p14:creationId xmlns:p14="http://schemas.microsoft.com/office/powerpoint/2010/main" val="1266413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7F55D1-63B7-46CC-918F-E2CF9932057B}"/>
              </a:ext>
            </a:extLst>
          </p:cNvPr>
          <p:cNvSpPr>
            <a:spLocks noGrp="1"/>
          </p:cNvSpPr>
          <p:nvPr/>
        </p:nvSpPr>
        <p:spPr>
          <a:xfrm>
            <a:off x="0" y="0"/>
            <a:ext cx="76200" cy="6858000"/>
          </a:xfrm>
          <a:prstGeom prst="rect">
            <a:avLst/>
          </a:prstGeom>
          <a:solidFill>
            <a:srgbClr val="E64519"/>
          </a:solidFill>
          <a:ln w="0">
            <a:noFill/>
          </a:ln>
        </p:spPr>
      </p:sp>
      <p:sp>
        <p:nvSpPr>
          <p:cNvPr id="2" name="text-1">
            <a:extLst>
              <a:ext uri="{FF2B5EF4-FFF2-40B4-BE49-F238E27FC236}">
                <a16:creationId xmlns:a16="http://schemas.microsoft.com/office/drawing/2014/main" id="{D9B2B2B0-AA80-4D14-A59D-2148CD18DD47}"/>
              </a:ext>
            </a:extLst>
          </p:cNvPr>
          <p:cNvSpPr>
            <a:spLocks noGrp="1"/>
          </p:cNvSpPr>
          <p:nvPr/>
        </p:nvSpPr>
        <p:spPr>
          <a:xfrm>
            <a:off x="685800" y="666750"/>
            <a:ext cx="9829800" cy="685800"/>
          </a:xfrm>
          <a:prstGeom prst="rect">
            <a:avLst/>
          </a:prstGeom>
          <a:noFill/>
          <a:ln w="0">
            <a:noFill/>
          </a:ln>
        </p:spPr>
        <p:txBody>
          <a:bodyPr wrap="none" lIns="0" tIns="0" rIns="0" bIns="0" anchor="t">
            <a:noAutofit/>
          </a:bodyPr>
          <a:lstStyle/>
          <a:p>
            <a:pPr algn="l">
              <a:buNone/>
              <a:defRPr sz="3600" b="1">
                <a:solidFill>
                  <a:srgbClr val="202426"/>
                </a:solidFill>
                <a:latin typeface="Arimo"/>
                <a:ea typeface="Arimo"/>
                <a:cs typeface="Arimo"/>
              </a:defRPr>
            </a:pPr>
            <a:r>
              <a:rPr sz="3600" b="1">
                <a:solidFill>
                  <a:srgbClr val="202426"/>
                </a:solidFill>
                <a:latin typeface="Arimo"/>
                <a:ea typeface="Arimo"/>
                <a:cs typeface="Arimo"/>
              </a:rPr>
              <a:t>RAM module</a:t>
            </a:r>
          </a:p>
        </p:txBody>
      </p:sp>
      <p:pic>
        <p:nvPicPr>
          <p:cNvPr id="12" name="Picture 11"/>
          <p:cNvPicPr>
            <a:picLocks noChangeAspect="1"/>
          </p:cNvPicPr>
          <p:nvPr/>
        </p:nvPicPr>
        <p:blipFill>
          <a:blip r:embed="rId3"/>
          <a:stretch/>
        </p:blipFill>
        <p:spPr>
          <a:xfrm>
            <a:off x="10858545" y="306229"/>
            <a:ext cx="723810" cy="473393"/>
          </a:xfrm>
          <a:prstGeom prst="rect">
            <a:avLst/>
          </a:prstGeom>
        </p:spPr>
      </p:pic>
      <p:sp>
        <p:nvSpPr>
          <p:cNvPr id="4" name="text-2">
            <a:extLst>
              <a:ext uri="{FF2B5EF4-FFF2-40B4-BE49-F238E27FC236}">
                <a16:creationId xmlns:a16="http://schemas.microsoft.com/office/drawing/2014/main" id="{875DF69B-D1A4-4B05-9CB1-6543038D1C7A}"/>
              </a:ext>
            </a:extLst>
          </p:cNvPr>
          <p:cNvSpPr>
            <a:spLocks noGrp="1"/>
          </p:cNvSpPr>
          <p:nvPr/>
        </p:nvSpPr>
        <p:spPr>
          <a:xfrm>
            <a:off x="11144250" y="6343650"/>
            <a:ext cx="457200" cy="285750"/>
          </a:xfrm>
          <a:prstGeom prst="rect">
            <a:avLst/>
          </a:prstGeom>
          <a:noFill/>
          <a:ln w="0">
            <a:noFill/>
          </a:ln>
        </p:spPr>
        <p:txBody>
          <a:bodyPr wrap="none" lIns="0" tIns="0" rIns="0" bIns="0" anchor="t">
            <a:noAutofit/>
          </a:bodyPr>
          <a:lstStyle/>
          <a:p>
            <a:pPr algn="r">
              <a:buNone/>
              <a:defRPr sz="1350" b="0">
                <a:solidFill>
                  <a:srgbClr val="596167"/>
                </a:solidFill>
                <a:latin typeface="Arimo"/>
                <a:ea typeface="Arimo"/>
                <a:cs typeface="Arimo"/>
              </a:defRPr>
            </a:pPr>
            <a:r>
              <a:rPr sz="1350" b="0">
                <a:solidFill>
                  <a:srgbClr val="596167"/>
                </a:solidFill>
                <a:latin typeface="Arimo"/>
                <a:ea typeface="Arimo"/>
                <a:cs typeface="Arimo"/>
              </a:rPr>
              <a:t>14</a:t>
            </a:r>
          </a:p>
        </p:txBody>
      </p:sp>
      <p:pic>
        <p:nvPicPr>
          <p:cNvPr id="14" name="Picture 13"/>
          <p:cNvPicPr>
            <a:picLocks noChangeAspect="1"/>
          </p:cNvPicPr>
          <p:nvPr/>
        </p:nvPicPr>
        <p:blipFill>
          <a:blip r:embed="rId4"/>
          <a:stretch/>
        </p:blipFill>
        <p:spPr>
          <a:xfrm>
            <a:off x="1981200" y="1562100"/>
            <a:ext cx="8229600" cy="4629150"/>
          </a:xfrm>
          <a:prstGeom prst="rect">
            <a:avLst/>
          </a:prstGeom>
        </p:spPr>
      </p:pic>
      <p:sp>
        <p:nvSpPr>
          <p:cNvPr id="6" name="text-3">
            <a:extLst>
              <a:ext uri="{FF2B5EF4-FFF2-40B4-BE49-F238E27FC236}">
                <a16:creationId xmlns:a16="http://schemas.microsoft.com/office/drawing/2014/main" id="{263296DA-39DF-41F5-BDE7-3AD01D482D3D}"/>
              </a:ext>
            </a:extLst>
          </p:cNvPr>
          <p:cNvSpPr>
            <a:spLocks noGrp="1"/>
          </p:cNvSpPr>
          <p:nvPr/>
        </p:nvSpPr>
        <p:spPr>
          <a:xfrm>
            <a:off x="762000" y="6391275"/>
            <a:ext cx="9429750" cy="228600"/>
          </a:xfrm>
          <a:prstGeom prst="rect">
            <a:avLst/>
          </a:prstGeom>
          <a:noFill/>
          <a:ln w="0">
            <a:noFill/>
          </a:ln>
        </p:spPr>
        <p:txBody>
          <a:bodyPr wrap="none" lIns="0" tIns="0" rIns="0" bIns="0" anchor="t">
            <a:noAutofit/>
          </a:bodyPr>
          <a:lstStyle/>
          <a:p>
            <a:pPr algn="l">
              <a:buNone/>
              <a:defRPr sz="1300" b="0">
                <a:solidFill>
                  <a:srgbClr val="596167"/>
                </a:solidFill>
                <a:latin typeface="Arimo"/>
                <a:ea typeface="Arimo"/>
                <a:cs typeface="Arimo"/>
              </a:defRPr>
            </a:pPr>
            <a:r>
              <a:rPr sz="1300" b="0">
                <a:solidFill>
                  <a:srgbClr val="596167"/>
                </a:solidFill>
                <a:latin typeface="Arimo"/>
                <a:ea typeface="Arimo"/>
                <a:cs typeface="Arimo"/>
              </a:rPr>
              <a:t>CS50 Lecture 2</a:t>
            </a:r>
          </a:p>
        </p:txBody>
      </p:sp>
    </p:spTree>
    <p:extLst>
      <p:ext uri="{BB962C8B-B14F-4D97-AF65-F5344CB8AC3E}">
        <p14:creationId xmlns:p14="http://schemas.microsoft.com/office/powerpoint/2010/main" val="1572238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8FFC948-D9DA-4D97-8711-603FF6380916}"/>
              </a:ext>
            </a:extLst>
          </p:cNvPr>
          <p:cNvSpPr>
            <a:spLocks noGrp="1"/>
          </p:cNvSpPr>
          <p:nvPr/>
        </p:nvSpPr>
        <p:spPr>
          <a:xfrm>
            <a:off x="0" y="0"/>
            <a:ext cx="76200" cy="6858000"/>
          </a:xfrm>
          <a:prstGeom prst="rect">
            <a:avLst/>
          </a:prstGeom>
          <a:solidFill>
            <a:srgbClr val="E64519"/>
          </a:solidFill>
          <a:ln w="0">
            <a:noFill/>
          </a:ln>
        </p:spPr>
      </p:sp>
      <p:sp>
        <p:nvSpPr>
          <p:cNvPr id="2" name="text-1">
            <a:extLst>
              <a:ext uri="{FF2B5EF4-FFF2-40B4-BE49-F238E27FC236}">
                <a16:creationId xmlns:a16="http://schemas.microsoft.com/office/drawing/2014/main" id="{13D21F39-BF82-4000-B61A-37A4378DF5F7}"/>
              </a:ext>
            </a:extLst>
          </p:cNvPr>
          <p:cNvSpPr>
            <a:spLocks noGrp="1"/>
          </p:cNvSpPr>
          <p:nvPr/>
        </p:nvSpPr>
        <p:spPr>
          <a:xfrm>
            <a:off x="685800" y="666750"/>
            <a:ext cx="9829800" cy="685800"/>
          </a:xfrm>
          <a:prstGeom prst="rect">
            <a:avLst/>
          </a:prstGeom>
          <a:noFill/>
          <a:ln w="0">
            <a:noFill/>
          </a:ln>
        </p:spPr>
        <p:txBody>
          <a:bodyPr wrap="none" lIns="0" tIns="0" rIns="0" bIns="0" anchor="t">
            <a:noAutofit/>
          </a:bodyPr>
          <a:lstStyle/>
          <a:p>
            <a:pPr algn="l">
              <a:buNone/>
              <a:defRPr sz="3600" b="1">
                <a:solidFill>
                  <a:srgbClr val="202426"/>
                </a:solidFill>
                <a:latin typeface="Arimo"/>
                <a:ea typeface="Arimo"/>
                <a:cs typeface="Arimo"/>
              </a:defRPr>
            </a:pPr>
            <a:r>
              <a:rPr sz="3600" b="1">
                <a:solidFill>
                  <a:srgbClr val="202426"/>
                </a:solidFill>
                <a:latin typeface="Arimo"/>
                <a:ea typeface="Arimo"/>
                <a:cs typeface="Arimo"/>
              </a:rPr>
              <a:t>One memory chip</a:t>
            </a:r>
          </a:p>
        </p:txBody>
      </p:sp>
      <p:pic>
        <p:nvPicPr>
          <p:cNvPr id="12" name="Picture 11"/>
          <p:cNvPicPr>
            <a:picLocks noChangeAspect="1"/>
          </p:cNvPicPr>
          <p:nvPr/>
        </p:nvPicPr>
        <p:blipFill>
          <a:blip r:embed="rId3"/>
          <a:stretch/>
        </p:blipFill>
        <p:spPr>
          <a:xfrm>
            <a:off x="10858545" y="306229"/>
            <a:ext cx="723810" cy="473393"/>
          </a:xfrm>
          <a:prstGeom prst="rect">
            <a:avLst/>
          </a:prstGeom>
        </p:spPr>
      </p:pic>
      <p:sp>
        <p:nvSpPr>
          <p:cNvPr id="4" name="text-2">
            <a:extLst>
              <a:ext uri="{FF2B5EF4-FFF2-40B4-BE49-F238E27FC236}">
                <a16:creationId xmlns:a16="http://schemas.microsoft.com/office/drawing/2014/main" id="{732EB65F-EBF5-430A-A35E-41D27E346FF2}"/>
              </a:ext>
            </a:extLst>
          </p:cNvPr>
          <p:cNvSpPr>
            <a:spLocks noGrp="1"/>
          </p:cNvSpPr>
          <p:nvPr/>
        </p:nvSpPr>
        <p:spPr>
          <a:xfrm>
            <a:off x="11144250" y="6343650"/>
            <a:ext cx="457200" cy="285750"/>
          </a:xfrm>
          <a:prstGeom prst="rect">
            <a:avLst/>
          </a:prstGeom>
          <a:noFill/>
          <a:ln w="0">
            <a:noFill/>
          </a:ln>
        </p:spPr>
        <p:txBody>
          <a:bodyPr wrap="none" lIns="0" tIns="0" rIns="0" bIns="0" anchor="t">
            <a:noAutofit/>
          </a:bodyPr>
          <a:lstStyle/>
          <a:p>
            <a:pPr algn="r">
              <a:buNone/>
              <a:defRPr sz="1350" b="0">
                <a:solidFill>
                  <a:srgbClr val="596167"/>
                </a:solidFill>
                <a:latin typeface="Arimo"/>
                <a:ea typeface="Arimo"/>
                <a:cs typeface="Arimo"/>
              </a:defRPr>
            </a:pPr>
            <a:r>
              <a:rPr sz="1350" b="0">
                <a:solidFill>
                  <a:srgbClr val="596167"/>
                </a:solidFill>
                <a:latin typeface="Arimo"/>
                <a:ea typeface="Arimo"/>
                <a:cs typeface="Arimo"/>
              </a:rPr>
              <a:t>15</a:t>
            </a:r>
          </a:p>
        </p:txBody>
      </p:sp>
      <p:pic>
        <p:nvPicPr>
          <p:cNvPr id="14" name="Picture 13"/>
          <p:cNvPicPr>
            <a:picLocks noChangeAspect="1"/>
          </p:cNvPicPr>
          <p:nvPr/>
        </p:nvPicPr>
        <p:blipFill>
          <a:blip r:embed="rId4"/>
          <a:stretch/>
        </p:blipFill>
        <p:spPr>
          <a:xfrm>
            <a:off x="1981200" y="1562100"/>
            <a:ext cx="8229600" cy="4629150"/>
          </a:xfrm>
          <a:prstGeom prst="rect">
            <a:avLst/>
          </a:prstGeom>
        </p:spPr>
      </p:pic>
      <p:sp>
        <p:nvSpPr>
          <p:cNvPr id="6" name="text-3">
            <a:extLst>
              <a:ext uri="{FF2B5EF4-FFF2-40B4-BE49-F238E27FC236}">
                <a16:creationId xmlns:a16="http://schemas.microsoft.com/office/drawing/2014/main" id="{04F5343A-F777-4166-A318-2EBF0F02C341}"/>
              </a:ext>
            </a:extLst>
          </p:cNvPr>
          <p:cNvSpPr>
            <a:spLocks noGrp="1"/>
          </p:cNvSpPr>
          <p:nvPr/>
        </p:nvSpPr>
        <p:spPr>
          <a:xfrm>
            <a:off x="762000" y="6391275"/>
            <a:ext cx="9429750" cy="228600"/>
          </a:xfrm>
          <a:prstGeom prst="rect">
            <a:avLst/>
          </a:prstGeom>
          <a:noFill/>
          <a:ln w="0">
            <a:noFill/>
          </a:ln>
        </p:spPr>
        <p:txBody>
          <a:bodyPr wrap="none" lIns="0" tIns="0" rIns="0" bIns="0" anchor="t">
            <a:noAutofit/>
          </a:bodyPr>
          <a:lstStyle/>
          <a:p>
            <a:pPr algn="l">
              <a:buNone/>
              <a:defRPr sz="1300" b="0">
                <a:solidFill>
                  <a:srgbClr val="596167"/>
                </a:solidFill>
                <a:latin typeface="Arimo"/>
                <a:ea typeface="Arimo"/>
                <a:cs typeface="Arimo"/>
              </a:defRPr>
            </a:pPr>
            <a:r>
              <a:rPr sz="1300" b="0">
                <a:solidFill>
                  <a:srgbClr val="596167"/>
                </a:solidFill>
                <a:latin typeface="Arimo"/>
                <a:ea typeface="Arimo"/>
                <a:cs typeface="Arimo"/>
              </a:rPr>
              <a:t>CS50 Lecture 2</a:t>
            </a:r>
          </a:p>
        </p:txBody>
      </p:sp>
    </p:spTree>
    <p:extLst>
      <p:ext uri="{BB962C8B-B14F-4D97-AF65-F5344CB8AC3E}">
        <p14:creationId xmlns:p14="http://schemas.microsoft.com/office/powerpoint/2010/main" val="1357725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2BE5FCA-A9E2-47C1-BC0F-774F3046EE96}"/>
              </a:ext>
            </a:extLst>
          </p:cNvPr>
          <p:cNvSpPr>
            <a:spLocks noGrp="1"/>
          </p:cNvSpPr>
          <p:nvPr/>
        </p:nvSpPr>
        <p:spPr>
          <a:xfrm>
            <a:off x="0" y="0"/>
            <a:ext cx="76200" cy="6858000"/>
          </a:xfrm>
          <a:prstGeom prst="rect">
            <a:avLst/>
          </a:prstGeom>
          <a:solidFill>
            <a:srgbClr val="E64519"/>
          </a:solidFill>
          <a:ln w="0">
            <a:noFill/>
          </a:ln>
        </p:spPr>
      </p:sp>
      <p:sp>
        <p:nvSpPr>
          <p:cNvPr id="2" name="text-1">
            <a:extLst>
              <a:ext uri="{FF2B5EF4-FFF2-40B4-BE49-F238E27FC236}">
                <a16:creationId xmlns:a16="http://schemas.microsoft.com/office/drawing/2014/main" id="{59D5FFC5-8675-4DBC-9BBB-9646659544A6}"/>
              </a:ext>
            </a:extLst>
          </p:cNvPr>
          <p:cNvSpPr>
            <a:spLocks noGrp="1"/>
          </p:cNvSpPr>
          <p:nvPr/>
        </p:nvSpPr>
        <p:spPr>
          <a:xfrm>
            <a:off x="685800" y="666750"/>
            <a:ext cx="9829800" cy="685800"/>
          </a:xfrm>
          <a:prstGeom prst="rect">
            <a:avLst/>
          </a:prstGeom>
          <a:noFill/>
          <a:ln w="0">
            <a:noFill/>
          </a:ln>
        </p:spPr>
        <p:txBody>
          <a:bodyPr wrap="none" lIns="0" tIns="0" rIns="0" bIns="0" anchor="t">
            <a:noAutofit/>
          </a:bodyPr>
          <a:lstStyle/>
          <a:p>
            <a:pPr algn="l">
              <a:buNone/>
              <a:defRPr sz="3600" b="1">
                <a:solidFill>
                  <a:srgbClr val="202426"/>
                </a:solidFill>
                <a:latin typeface="Arimo"/>
                <a:ea typeface="Arimo"/>
                <a:cs typeface="Arimo"/>
              </a:defRPr>
            </a:pPr>
            <a:r>
              <a:rPr sz="3600" b="1">
                <a:solidFill>
                  <a:srgbClr val="202426"/>
                </a:solidFill>
                <a:latin typeface="Arimo"/>
                <a:ea typeface="Arimo"/>
                <a:cs typeface="Arimo"/>
              </a:rPr>
              <a:t>One byte</a:t>
            </a:r>
          </a:p>
        </p:txBody>
      </p:sp>
      <p:pic>
        <p:nvPicPr>
          <p:cNvPr id="12" name="Picture 11"/>
          <p:cNvPicPr>
            <a:picLocks noChangeAspect="1"/>
          </p:cNvPicPr>
          <p:nvPr/>
        </p:nvPicPr>
        <p:blipFill>
          <a:blip r:embed="rId3"/>
          <a:stretch/>
        </p:blipFill>
        <p:spPr>
          <a:xfrm>
            <a:off x="10858545" y="306229"/>
            <a:ext cx="723810" cy="473393"/>
          </a:xfrm>
          <a:prstGeom prst="rect">
            <a:avLst/>
          </a:prstGeom>
        </p:spPr>
      </p:pic>
      <p:sp>
        <p:nvSpPr>
          <p:cNvPr id="4" name="text-2">
            <a:extLst>
              <a:ext uri="{FF2B5EF4-FFF2-40B4-BE49-F238E27FC236}">
                <a16:creationId xmlns:a16="http://schemas.microsoft.com/office/drawing/2014/main" id="{DBB1942F-7C5F-4587-9036-2BD97DCC1C88}"/>
              </a:ext>
            </a:extLst>
          </p:cNvPr>
          <p:cNvSpPr>
            <a:spLocks noGrp="1"/>
          </p:cNvSpPr>
          <p:nvPr/>
        </p:nvSpPr>
        <p:spPr>
          <a:xfrm>
            <a:off x="11144250" y="6343650"/>
            <a:ext cx="457200" cy="285750"/>
          </a:xfrm>
          <a:prstGeom prst="rect">
            <a:avLst/>
          </a:prstGeom>
          <a:noFill/>
          <a:ln w="0">
            <a:noFill/>
          </a:ln>
        </p:spPr>
        <p:txBody>
          <a:bodyPr wrap="none" lIns="0" tIns="0" rIns="0" bIns="0" anchor="t">
            <a:noAutofit/>
          </a:bodyPr>
          <a:lstStyle/>
          <a:p>
            <a:pPr algn="r">
              <a:buNone/>
              <a:defRPr sz="1350" b="0">
                <a:solidFill>
                  <a:srgbClr val="596167"/>
                </a:solidFill>
                <a:latin typeface="Arimo"/>
                <a:ea typeface="Arimo"/>
                <a:cs typeface="Arimo"/>
              </a:defRPr>
            </a:pPr>
            <a:r>
              <a:rPr sz="1350" b="0">
                <a:solidFill>
                  <a:srgbClr val="596167"/>
                </a:solidFill>
                <a:latin typeface="Arimo"/>
                <a:ea typeface="Arimo"/>
                <a:cs typeface="Arimo"/>
              </a:rPr>
              <a:t>16</a:t>
            </a:r>
          </a:p>
        </p:txBody>
      </p:sp>
      <p:pic>
        <p:nvPicPr>
          <p:cNvPr id="14" name="Picture 13"/>
          <p:cNvPicPr>
            <a:picLocks noChangeAspect="1"/>
          </p:cNvPicPr>
          <p:nvPr/>
        </p:nvPicPr>
        <p:blipFill>
          <a:blip r:embed="rId4"/>
          <a:stretch/>
        </p:blipFill>
        <p:spPr>
          <a:xfrm>
            <a:off x="1981200" y="1562100"/>
            <a:ext cx="8229600" cy="4629150"/>
          </a:xfrm>
          <a:prstGeom prst="rect">
            <a:avLst/>
          </a:prstGeom>
        </p:spPr>
      </p:pic>
      <p:sp>
        <p:nvSpPr>
          <p:cNvPr id="6" name="text-3">
            <a:extLst>
              <a:ext uri="{FF2B5EF4-FFF2-40B4-BE49-F238E27FC236}">
                <a16:creationId xmlns:a16="http://schemas.microsoft.com/office/drawing/2014/main" id="{A62B7682-D6EB-48E8-9FF7-4DCE1C0A7563}"/>
              </a:ext>
            </a:extLst>
          </p:cNvPr>
          <p:cNvSpPr>
            <a:spLocks noGrp="1"/>
          </p:cNvSpPr>
          <p:nvPr/>
        </p:nvSpPr>
        <p:spPr>
          <a:xfrm>
            <a:off x="762000" y="6391275"/>
            <a:ext cx="9429750" cy="228600"/>
          </a:xfrm>
          <a:prstGeom prst="rect">
            <a:avLst/>
          </a:prstGeom>
          <a:noFill/>
          <a:ln w="0">
            <a:noFill/>
          </a:ln>
        </p:spPr>
        <p:txBody>
          <a:bodyPr wrap="none" lIns="0" tIns="0" rIns="0" bIns="0" anchor="t">
            <a:noAutofit/>
          </a:bodyPr>
          <a:lstStyle/>
          <a:p>
            <a:pPr algn="l">
              <a:buNone/>
              <a:defRPr sz="1300" b="0">
                <a:solidFill>
                  <a:srgbClr val="596167"/>
                </a:solidFill>
                <a:latin typeface="Arimo"/>
                <a:ea typeface="Arimo"/>
                <a:cs typeface="Arimo"/>
              </a:defRPr>
            </a:pPr>
            <a:r>
              <a:rPr sz="1300" b="0">
                <a:solidFill>
                  <a:srgbClr val="596167"/>
                </a:solidFill>
                <a:latin typeface="Arimo"/>
                <a:ea typeface="Arimo"/>
                <a:cs typeface="Arimo"/>
              </a:rPr>
              <a:t>CS50 Lecture 2</a:t>
            </a:r>
          </a:p>
        </p:txBody>
      </p:sp>
      <p:sp>
        <p:nvSpPr>
          <p:cNvPr id="15" name="Audit clarification 16"/>
          <p:cNvSpPr txBox="1"/>
          <p:nvPr/>
        </p:nvSpPr>
        <p:spPr>
          <a:xfrm>
            <a:off x="2781300" y="6296025"/>
            <a:ext cx="7858125" cy="323850"/>
          </a:xfrm>
          <a:prstGeom prst="rect">
            <a:avLst/>
          </a:prstGeom>
          <a:noFill/>
          <a:ln>
            <a:noFill/>
          </a:ln>
        </p:spPr>
        <p:txBody>
          <a:bodyPr lIns="0" tIns="0" rIns="0" bIns="0" anchor="ctr">
            <a:noAutofit/>
          </a:bodyPr>
          <a:lstStyle/>
          <a:p>
            <a:r>
              <a:rPr lang="en-US" sz="1575">
                <a:solidFill>
                  <a:srgbClr val="636B70"/>
                </a:solidFill>
                <a:latin typeface="Arimo"/>
              </a:rPr>
              <a:t>Conceptual grid: each square represents one byte</a:t>
            </a:r>
          </a:p>
        </p:txBody>
      </p:sp>
    </p:spTree>
    <p:extLst>
      <p:ext uri="{BB962C8B-B14F-4D97-AF65-F5344CB8AC3E}">
        <p14:creationId xmlns:p14="http://schemas.microsoft.com/office/powerpoint/2010/main" val="446114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1CD7482-5D31-4516-89F2-0ABD8B9263B2}"/>
              </a:ext>
            </a:extLst>
          </p:cNvPr>
          <p:cNvSpPr>
            <a:spLocks noGrp="1"/>
          </p:cNvSpPr>
          <p:nvPr/>
        </p:nvSpPr>
        <p:spPr>
          <a:xfrm>
            <a:off x="0" y="0"/>
            <a:ext cx="76200" cy="6858000"/>
          </a:xfrm>
          <a:prstGeom prst="rect">
            <a:avLst/>
          </a:prstGeom>
          <a:solidFill>
            <a:srgbClr val="E64519"/>
          </a:solidFill>
          <a:ln w="0">
            <a:noFill/>
          </a:ln>
        </p:spPr>
      </p:sp>
      <p:sp>
        <p:nvSpPr>
          <p:cNvPr id="2" name="text-1">
            <a:extLst>
              <a:ext uri="{FF2B5EF4-FFF2-40B4-BE49-F238E27FC236}">
                <a16:creationId xmlns:a16="http://schemas.microsoft.com/office/drawing/2014/main" id="{C58C9771-BF31-426C-AEA6-3E487CA8B02D}"/>
              </a:ext>
            </a:extLst>
          </p:cNvPr>
          <p:cNvSpPr>
            <a:spLocks noGrp="1"/>
          </p:cNvSpPr>
          <p:nvPr/>
        </p:nvSpPr>
        <p:spPr>
          <a:xfrm>
            <a:off x="685800" y="666750"/>
            <a:ext cx="9829800" cy="685800"/>
          </a:xfrm>
          <a:prstGeom prst="rect">
            <a:avLst/>
          </a:prstGeom>
          <a:noFill/>
          <a:ln w="0">
            <a:noFill/>
          </a:ln>
        </p:spPr>
        <p:txBody>
          <a:bodyPr wrap="none" lIns="0" tIns="0" rIns="0" bIns="0" anchor="t">
            <a:noAutofit/>
          </a:bodyPr>
          <a:lstStyle/>
          <a:p>
            <a:pPr algn="l">
              <a:buNone/>
              <a:defRPr sz="3600" b="1">
                <a:solidFill>
                  <a:srgbClr val="202426"/>
                </a:solidFill>
                <a:latin typeface="Arimo"/>
                <a:ea typeface="Arimo"/>
                <a:cs typeface="Arimo"/>
              </a:defRPr>
            </a:pPr>
            <a:r>
              <a:rPr sz="3600" b="1">
                <a:solidFill>
                  <a:srgbClr val="202426"/>
                </a:solidFill>
                <a:latin typeface="Arimo"/>
                <a:ea typeface="Arimo"/>
                <a:cs typeface="Arimo"/>
              </a:rPr>
              <a:t>Four bytes</a:t>
            </a:r>
          </a:p>
        </p:txBody>
      </p:sp>
      <p:pic>
        <p:nvPicPr>
          <p:cNvPr id="12" name="Picture 11"/>
          <p:cNvPicPr>
            <a:picLocks noChangeAspect="1"/>
          </p:cNvPicPr>
          <p:nvPr/>
        </p:nvPicPr>
        <p:blipFill>
          <a:blip r:embed="rId3"/>
          <a:stretch/>
        </p:blipFill>
        <p:spPr>
          <a:xfrm>
            <a:off x="10858545" y="306229"/>
            <a:ext cx="723810" cy="473393"/>
          </a:xfrm>
          <a:prstGeom prst="rect">
            <a:avLst/>
          </a:prstGeom>
        </p:spPr>
      </p:pic>
      <p:sp>
        <p:nvSpPr>
          <p:cNvPr id="4" name="text-2">
            <a:extLst>
              <a:ext uri="{FF2B5EF4-FFF2-40B4-BE49-F238E27FC236}">
                <a16:creationId xmlns:a16="http://schemas.microsoft.com/office/drawing/2014/main" id="{AE29D543-6532-4733-A910-14321960DF17}"/>
              </a:ext>
            </a:extLst>
          </p:cNvPr>
          <p:cNvSpPr>
            <a:spLocks noGrp="1"/>
          </p:cNvSpPr>
          <p:nvPr/>
        </p:nvSpPr>
        <p:spPr>
          <a:xfrm>
            <a:off x="11144250" y="6343650"/>
            <a:ext cx="457200" cy="285750"/>
          </a:xfrm>
          <a:prstGeom prst="rect">
            <a:avLst/>
          </a:prstGeom>
          <a:noFill/>
          <a:ln w="0">
            <a:noFill/>
          </a:ln>
        </p:spPr>
        <p:txBody>
          <a:bodyPr wrap="none" lIns="0" tIns="0" rIns="0" bIns="0" anchor="t">
            <a:noAutofit/>
          </a:bodyPr>
          <a:lstStyle/>
          <a:p>
            <a:pPr algn="r">
              <a:buNone/>
              <a:defRPr sz="1350" b="0">
                <a:solidFill>
                  <a:srgbClr val="596167"/>
                </a:solidFill>
                <a:latin typeface="Arimo"/>
                <a:ea typeface="Arimo"/>
                <a:cs typeface="Arimo"/>
              </a:defRPr>
            </a:pPr>
            <a:r>
              <a:rPr sz="1350" b="0">
                <a:solidFill>
                  <a:srgbClr val="596167"/>
                </a:solidFill>
                <a:latin typeface="Arimo"/>
                <a:ea typeface="Arimo"/>
                <a:cs typeface="Arimo"/>
              </a:rPr>
              <a:t>17</a:t>
            </a:r>
          </a:p>
        </p:txBody>
      </p:sp>
      <p:pic>
        <p:nvPicPr>
          <p:cNvPr id="14" name="Picture 13"/>
          <p:cNvPicPr>
            <a:picLocks noChangeAspect="1"/>
          </p:cNvPicPr>
          <p:nvPr/>
        </p:nvPicPr>
        <p:blipFill>
          <a:blip r:embed="rId4"/>
          <a:stretch/>
        </p:blipFill>
        <p:spPr>
          <a:xfrm>
            <a:off x="1981200" y="1562100"/>
            <a:ext cx="8229600" cy="4629150"/>
          </a:xfrm>
          <a:prstGeom prst="rect">
            <a:avLst/>
          </a:prstGeom>
        </p:spPr>
      </p:pic>
      <p:sp>
        <p:nvSpPr>
          <p:cNvPr id="6" name="text-3">
            <a:extLst>
              <a:ext uri="{FF2B5EF4-FFF2-40B4-BE49-F238E27FC236}">
                <a16:creationId xmlns:a16="http://schemas.microsoft.com/office/drawing/2014/main" id="{6558E2C6-5DFF-4C89-A5EF-10627B4DA27B}"/>
              </a:ext>
            </a:extLst>
          </p:cNvPr>
          <p:cNvSpPr>
            <a:spLocks noGrp="1"/>
          </p:cNvSpPr>
          <p:nvPr/>
        </p:nvSpPr>
        <p:spPr>
          <a:xfrm>
            <a:off x="762000" y="6391275"/>
            <a:ext cx="9429750" cy="228600"/>
          </a:xfrm>
          <a:prstGeom prst="rect">
            <a:avLst/>
          </a:prstGeom>
          <a:noFill/>
          <a:ln w="0">
            <a:noFill/>
          </a:ln>
        </p:spPr>
        <p:txBody>
          <a:bodyPr wrap="none" lIns="0" tIns="0" rIns="0" bIns="0" anchor="t">
            <a:noAutofit/>
          </a:bodyPr>
          <a:lstStyle/>
          <a:p>
            <a:pPr algn="l">
              <a:buNone/>
              <a:defRPr sz="1300" b="0">
                <a:solidFill>
                  <a:srgbClr val="596167"/>
                </a:solidFill>
                <a:latin typeface="Arimo"/>
                <a:ea typeface="Arimo"/>
                <a:cs typeface="Arimo"/>
              </a:defRPr>
            </a:pPr>
            <a:r>
              <a:rPr sz="1300" b="0">
                <a:solidFill>
                  <a:srgbClr val="596167"/>
                </a:solidFill>
                <a:latin typeface="Arimo"/>
                <a:ea typeface="Arimo"/>
                <a:cs typeface="Arimo"/>
              </a:rPr>
              <a:t>CS50 Lecture 2</a:t>
            </a:r>
          </a:p>
        </p:txBody>
      </p:sp>
      <p:sp>
        <p:nvSpPr>
          <p:cNvPr id="15" name="Audit clarification 17"/>
          <p:cNvSpPr txBox="1"/>
          <p:nvPr/>
        </p:nvSpPr>
        <p:spPr>
          <a:xfrm>
            <a:off x="2781300" y="6296025"/>
            <a:ext cx="7858125" cy="323850"/>
          </a:xfrm>
          <a:prstGeom prst="rect">
            <a:avLst/>
          </a:prstGeom>
          <a:noFill/>
          <a:ln>
            <a:noFill/>
          </a:ln>
        </p:spPr>
        <p:txBody>
          <a:bodyPr lIns="0" tIns="0" rIns="0" bIns="0" anchor="ctr">
            <a:noAutofit/>
          </a:bodyPr>
          <a:lstStyle/>
          <a:p>
            <a:r>
              <a:rPr lang="en-US" sz="1575">
                <a:solidFill>
                  <a:srgbClr val="636B70"/>
                </a:solidFill>
                <a:latin typeface="Arimo"/>
              </a:rPr>
              <a:t>Conceptual grid: each square represents one byte</a:t>
            </a:r>
          </a:p>
        </p:txBody>
      </p:sp>
    </p:spTree>
    <p:extLst>
      <p:ext uri="{BB962C8B-B14F-4D97-AF65-F5344CB8AC3E}">
        <p14:creationId xmlns:p14="http://schemas.microsoft.com/office/powerpoint/2010/main" val="504946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456CD1B-DE84-48C7-974E-AB6F6604A325}"/>
              </a:ext>
            </a:extLst>
          </p:cNvPr>
          <p:cNvSpPr>
            <a:spLocks noGrp="1"/>
          </p:cNvSpPr>
          <p:nvPr/>
        </p:nvSpPr>
        <p:spPr>
          <a:xfrm>
            <a:off x="0" y="0"/>
            <a:ext cx="76200" cy="6858000"/>
          </a:xfrm>
          <a:prstGeom prst="rect">
            <a:avLst/>
          </a:prstGeom>
          <a:solidFill>
            <a:srgbClr val="DF4214"/>
          </a:solidFill>
          <a:ln w="0">
            <a:noFill/>
          </a:ln>
        </p:spPr>
      </p:sp>
      <p:pic>
        <p:nvPicPr>
          <p:cNvPr id="9" name="Picture 8"/>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872C1BD6-198F-450D-9FB8-46A60E33E993}"/>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Character arrays</a:t>
            </a:r>
          </a:p>
        </p:txBody>
      </p:sp>
      <p:sp>
        <p:nvSpPr>
          <p:cNvPr id="4" name="Rectangle 3">
            <a:extLst>
              <a:ext uri="{FF2B5EF4-FFF2-40B4-BE49-F238E27FC236}">
                <a16:creationId xmlns:a16="http://schemas.microsoft.com/office/drawing/2014/main" id="{AF00B74C-79B4-4687-B75D-BB3CFD0D4BF5}"/>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18</a:t>
            </a:r>
          </a:p>
        </p:txBody>
      </p:sp>
      <p:sp>
        <p:nvSpPr>
          <p:cNvPr id="5" name="Rectangle 4">
            <a:extLst>
              <a:ext uri="{FF2B5EF4-FFF2-40B4-BE49-F238E27FC236}">
                <a16:creationId xmlns:a16="http://schemas.microsoft.com/office/drawing/2014/main" id="{095EF159-4508-4EC5-9542-7E244AC0B53A}"/>
              </a:ext>
            </a:extLst>
          </p:cNvPr>
          <p:cNvSpPr>
            <a:spLocks noGrp="1"/>
          </p:cNvSpPr>
          <p:nvPr/>
        </p:nvSpPr>
        <p:spPr>
          <a:xfrm>
            <a:off x="1028700" y="1857375"/>
            <a:ext cx="10325100" cy="1295400"/>
          </a:xfrm>
          <a:prstGeom prst="rect">
            <a:avLst/>
          </a:prstGeom>
          <a:noFill/>
          <a:ln w="0">
            <a:noFill/>
          </a:ln>
        </p:spPr>
        <p:txBody>
          <a:bodyPr anchor="ctr">
            <a:noAutofit/>
          </a:bodyPr>
          <a:lstStyle/>
          <a:p>
            <a:pPr algn="l">
              <a:defRPr sz="2325" b="0">
                <a:solidFill>
                  <a:srgbClr val="202426"/>
                </a:solidFill>
                <a:latin typeface="Menlo"/>
                <a:ea typeface="Menlo"/>
                <a:cs typeface="Menlo"/>
              </a:defRPr>
            </a:pPr>
            <a:r>
              <a:rPr>
                <a:solidFill>
                  <a:srgbClr val="005A9C"/>
                </a:solidFill>
              </a:rPr>
              <a:t>char</a:t>
            </a:r>
            <a:r>
              <a:t> first[3]  = {</a:t>
            </a:r>
            <a:r>
              <a:rPr>
                <a:solidFill>
                  <a:srgbClr val="1B6B45"/>
                </a:solidFill>
              </a:rPr>
              <a:t>'d'</a:t>
            </a:r>
            <a:r>
              <a:t>, </a:t>
            </a:r>
            <a:r>
              <a:rPr>
                <a:solidFill>
                  <a:srgbClr val="1B6B45"/>
                </a:solidFill>
              </a:rPr>
              <a:t>'o'</a:t>
            </a:r>
            <a:r>
              <a:t>, </a:t>
            </a:r>
            <a:r>
              <a:rPr>
                <a:solidFill>
                  <a:srgbClr val="1B6B45"/>
                </a:solidFill>
              </a:rPr>
              <a:t>'g'</a:t>
            </a:r>
            <a:r>
              <a:t>};</a:t>
            </a:r>
          </a:p>
          <a:p>
            <a:pPr algn="l">
              <a:defRPr sz="2325" b="0">
                <a:solidFill>
                  <a:srgbClr val="202426"/>
                </a:solidFill>
                <a:latin typeface="Menlo"/>
                <a:ea typeface="Menlo"/>
                <a:cs typeface="Menlo"/>
              </a:defRPr>
            </a:pPr>
            <a:r>
              <a:rPr>
                <a:solidFill>
                  <a:srgbClr val="005A9C"/>
                </a:solidFill>
              </a:rPr>
              <a:t>char</a:t>
            </a:r>
            <a:r>
              <a:t> second[3] = {</a:t>
            </a:r>
            <a:r>
              <a:rPr>
                <a:solidFill>
                  <a:srgbClr val="1B6B45"/>
                </a:solidFill>
              </a:rPr>
              <a:t>'c'</a:t>
            </a:r>
            <a:r>
              <a:t>, </a:t>
            </a:r>
            <a:r>
              <a:rPr>
                <a:solidFill>
                  <a:srgbClr val="1B6B45"/>
                </a:solidFill>
              </a:rPr>
              <a:t>'a'</a:t>
            </a:r>
            <a:r>
              <a:t>, </a:t>
            </a:r>
            <a:r>
              <a:rPr>
                <a:solidFill>
                  <a:srgbClr val="1B6B45"/>
                </a:solidFill>
              </a:rPr>
              <a:t>'t'</a:t>
            </a:r>
            <a:r>
              <a:t>};</a:t>
            </a:r>
          </a:p>
        </p:txBody>
      </p:sp>
      <p:graphicFrame>
        <p:nvGraphicFramePr>
          <p:cNvPr id="13" name="Table 12"/>
          <p:cNvGraphicFramePr/>
          <p:nvPr/>
        </p:nvGraphicFramePr>
        <p:xfrm>
          <a:off x="1028700" y="3571875"/>
          <a:ext cx="10325100" cy="1981200"/>
        </p:xfrm>
        <a:graphic>
          <a:graphicData uri="http://schemas.openxmlformats.org/drawingml/2006/table">
            <a:tbl>
              <a:tblPr/>
              <a:tblGrid>
                <a:gridCol w="26670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gridCol w="2552700">
                  <a:extLst>
                    <a:ext uri="{9D8B030D-6E8A-4147-A177-3AD203B41FA5}">
                      <a16:colId xmlns:a16="http://schemas.microsoft.com/office/drawing/2014/main" val="20002"/>
                    </a:ext>
                  </a:extLst>
                </a:gridCol>
                <a:gridCol w="2552700">
                  <a:extLst>
                    <a:ext uri="{9D8B030D-6E8A-4147-A177-3AD203B41FA5}">
                      <a16:colId xmlns:a16="http://schemas.microsoft.com/office/drawing/2014/main" val="20003"/>
                    </a:ext>
                  </a:extLst>
                </a:gridCol>
              </a:tblGrid>
              <a:tr h="660400">
                <a:tc>
                  <a:txBody>
                    <a:bodyPr/>
                    <a:lstStyle/>
                    <a:p>
                      <a:r>
                        <a:rPr sz="2400" b="1">
                          <a:solidFill>
                            <a:srgbClr val="FFFFFF"/>
                          </a:solidFill>
                          <a:latin typeface="Arimo"/>
                          <a:ea typeface="Arimo"/>
                          <a:cs typeface="Arimo"/>
                        </a:rPr>
                        <a:t>Index</a:t>
                      </a:r>
                    </a:p>
                  </a:txBody>
                  <a:tcPr marL="133350" marR="95250" marT="76200" marB="57150">
                    <a:solidFill>
                      <a:srgbClr val="202426"/>
                    </a:solidFill>
                  </a:tcPr>
                </a:tc>
                <a:tc>
                  <a:txBody>
                    <a:bodyPr/>
                    <a:lstStyle/>
                    <a:p>
                      <a:r>
                        <a:rPr sz="2400" b="1">
                          <a:solidFill>
                            <a:srgbClr val="FFFFFF"/>
                          </a:solidFill>
                          <a:latin typeface="Arimo"/>
                          <a:ea typeface="Arimo"/>
                          <a:cs typeface="Arimo"/>
                        </a:rPr>
                        <a:t>0</a:t>
                      </a:r>
                    </a:p>
                  </a:txBody>
                  <a:tcPr marL="133350" marR="95250" marT="76200" marB="57150">
                    <a:solidFill>
                      <a:srgbClr val="202426"/>
                    </a:solidFill>
                  </a:tcPr>
                </a:tc>
                <a:tc>
                  <a:txBody>
                    <a:bodyPr/>
                    <a:lstStyle/>
                    <a:p>
                      <a:r>
                        <a:rPr sz="2400" b="1">
                          <a:solidFill>
                            <a:srgbClr val="FFFFFF"/>
                          </a:solidFill>
                          <a:latin typeface="Arimo"/>
                          <a:ea typeface="Arimo"/>
                          <a:cs typeface="Arimo"/>
                        </a:rPr>
                        <a:t>1</a:t>
                      </a:r>
                    </a:p>
                  </a:txBody>
                  <a:tcPr marL="133350" marR="95250" marT="76200" marB="57150">
                    <a:solidFill>
                      <a:srgbClr val="202426"/>
                    </a:solidFill>
                  </a:tcPr>
                </a:tc>
                <a:tc>
                  <a:txBody>
                    <a:bodyPr/>
                    <a:lstStyle/>
                    <a:p>
                      <a:r>
                        <a:rPr sz="2400" b="1">
                          <a:solidFill>
                            <a:srgbClr val="FFFFFF"/>
                          </a:solidFill>
                          <a:latin typeface="Arimo"/>
                          <a:ea typeface="Arimo"/>
                          <a:cs typeface="Arimo"/>
                        </a:rPr>
                        <a:t>2</a:t>
                      </a:r>
                    </a:p>
                  </a:txBody>
                  <a:tcPr marL="133350" marR="95250" marT="76200" marB="57150">
                    <a:solidFill>
                      <a:srgbClr val="202426"/>
                    </a:solidFill>
                  </a:tcPr>
                </a:tc>
                <a:extLst>
                  <a:ext uri="{0D108BD9-81ED-4DB2-BD59-A6C34878D82A}">
                    <a16:rowId xmlns:a16="http://schemas.microsoft.com/office/drawing/2014/main" val="10000"/>
                  </a:ext>
                </a:extLst>
              </a:tr>
              <a:tr h="660400">
                <a:tc>
                  <a:txBody>
                    <a:bodyPr/>
                    <a:lstStyle/>
                    <a:p>
                      <a:r>
                        <a:rPr sz="2400" b="0">
                          <a:solidFill>
                            <a:srgbClr val="202426"/>
                          </a:solidFill>
                          <a:latin typeface="Arimo"/>
                          <a:ea typeface="Arimo"/>
                          <a:cs typeface="Arimo"/>
                        </a:rPr>
                        <a:t>first</a:t>
                      </a:r>
                    </a:p>
                  </a:txBody>
                  <a:tcPr marL="133350" marR="95250" marT="76200" marB="57150">
                    <a:solidFill>
                      <a:srgbClr val="FFFFFF"/>
                    </a:solidFill>
                  </a:tcPr>
                </a:tc>
                <a:tc>
                  <a:txBody>
                    <a:bodyPr/>
                    <a:lstStyle/>
                    <a:p>
                      <a:r>
                        <a:rPr sz="2400" b="0">
                          <a:solidFill>
                            <a:srgbClr val="202426"/>
                          </a:solidFill>
                          <a:latin typeface="Arimo"/>
                          <a:ea typeface="Arimo"/>
                          <a:cs typeface="Arimo"/>
                        </a:rPr>
                        <a:t>d</a:t>
                      </a:r>
                    </a:p>
                  </a:txBody>
                  <a:tcPr marL="133350" marR="95250" marT="76200" marB="57150">
                    <a:solidFill>
                      <a:srgbClr val="FFFFFF"/>
                    </a:solidFill>
                  </a:tcPr>
                </a:tc>
                <a:tc>
                  <a:txBody>
                    <a:bodyPr/>
                    <a:lstStyle/>
                    <a:p>
                      <a:r>
                        <a:rPr sz="2400" b="0">
                          <a:solidFill>
                            <a:srgbClr val="202426"/>
                          </a:solidFill>
                          <a:latin typeface="Arimo"/>
                          <a:ea typeface="Arimo"/>
                          <a:cs typeface="Arimo"/>
                        </a:rPr>
                        <a:t>o</a:t>
                      </a:r>
                    </a:p>
                  </a:txBody>
                  <a:tcPr marL="133350" marR="95250" marT="76200" marB="57150">
                    <a:solidFill>
                      <a:srgbClr val="FFFFFF"/>
                    </a:solidFill>
                  </a:tcPr>
                </a:tc>
                <a:tc>
                  <a:txBody>
                    <a:bodyPr/>
                    <a:lstStyle/>
                    <a:p>
                      <a:r>
                        <a:rPr sz="2400" b="0">
                          <a:solidFill>
                            <a:srgbClr val="202426"/>
                          </a:solidFill>
                          <a:latin typeface="Arimo"/>
                          <a:ea typeface="Arimo"/>
                          <a:cs typeface="Arimo"/>
                        </a:rPr>
                        <a:t>g</a:t>
                      </a:r>
                    </a:p>
                  </a:txBody>
                  <a:tcPr marL="133350" marR="95250" marT="76200" marB="57150">
                    <a:solidFill>
                      <a:srgbClr val="FFFFFF"/>
                    </a:solidFill>
                  </a:tcPr>
                </a:tc>
                <a:extLst>
                  <a:ext uri="{0D108BD9-81ED-4DB2-BD59-A6C34878D82A}">
                    <a16:rowId xmlns:a16="http://schemas.microsoft.com/office/drawing/2014/main" val="10001"/>
                  </a:ext>
                </a:extLst>
              </a:tr>
              <a:tr h="660400">
                <a:tc>
                  <a:txBody>
                    <a:bodyPr/>
                    <a:lstStyle/>
                    <a:p>
                      <a:r>
                        <a:rPr sz="2400" b="0">
                          <a:solidFill>
                            <a:srgbClr val="202426"/>
                          </a:solidFill>
                          <a:latin typeface="Arimo"/>
                          <a:ea typeface="Arimo"/>
                          <a:cs typeface="Arimo"/>
                        </a:rPr>
                        <a:t>second</a:t>
                      </a:r>
                    </a:p>
                  </a:txBody>
                  <a:tcPr marL="133350" marR="95250" marT="76200" marB="57150">
                    <a:solidFill>
                      <a:srgbClr val="F3F4F4"/>
                    </a:solidFill>
                  </a:tcPr>
                </a:tc>
                <a:tc>
                  <a:txBody>
                    <a:bodyPr/>
                    <a:lstStyle/>
                    <a:p>
                      <a:r>
                        <a:rPr sz="2400" b="0">
                          <a:solidFill>
                            <a:srgbClr val="202426"/>
                          </a:solidFill>
                          <a:latin typeface="Arimo"/>
                          <a:ea typeface="Arimo"/>
                          <a:cs typeface="Arimo"/>
                        </a:rPr>
                        <a:t>c</a:t>
                      </a:r>
                    </a:p>
                  </a:txBody>
                  <a:tcPr marL="133350" marR="95250" marT="76200" marB="57150">
                    <a:solidFill>
                      <a:srgbClr val="F3F4F4"/>
                    </a:solidFill>
                  </a:tcPr>
                </a:tc>
                <a:tc>
                  <a:txBody>
                    <a:bodyPr/>
                    <a:lstStyle/>
                    <a:p>
                      <a:r>
                        <a:rPr sz="2400" b="0">
                          <a:solidFill>
                            <a:srgbClr val="202426"/>
                          </a:solidFill>
                          <a:latin typeface="Arimo"/>
                          <a:ea typeface="Arimo"/>
                          <a:cs typeface="Arimo"/>
                        </a:rPr>
                        <a:t>a</a:t>
                      </a:r>
                    </a:p>
                  </a:txBody>
                  <a:tcPr marL="133350" marR="95250" marT="76200" marB="57150">
                    <a:solidFill>
                      <a:srgbClr val="F3F4F4"/>
                    </a:solidFill>
                  </a:tcPr>
                </a:tc>
                <a:tc>
                  <a:txBody>
                    <a:bodyPr/>
                    <a:lstStyle/>
                    <a:p>
                      <a:r>
                        <a:rPr sz="2400" b="0">
                          <a:solidFill>
                            <a:srgbClr val="202426"/>
                          </a:solidFill>
                          <a:latin typeface="Arimo"/>
                          <a:ea typeface="Arimo"/>
                          <a:cs typeface="Arimo"/>
                        </a:rPr>
                        <a:t>t</a:t>
                      </a:r>
                    </a:p>
                  </a:txBody>
                  <a:tcPr marL="133350" marR="95250" marT="76200" marB="57150">
                    <a:solidFill>
                      <a:srgbClr val="F3F4F4"/>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7D47463D-BBF2-4D4B-AF08-BD7577D03E23}"/>
              </a:ext>
            </a:extLst>
          </p:cNvPr>
          <p:cNvSpPr>
            <a:spLocks noGrp="1"/>
          </p:cNvSpPr>
          <p:nvPr/>
        </p:nvSpPr>
        <p:spPr>
          <a:xfrm>
            <a:off x="1028700" y="5657850"/>
            <a:ext cx="10325100" cy="523875"/>
          </a:xfrm>
          <a:prstGeom prst="rect">
            <a:avLst/>
          </a:prstGeom>
          <a:noFill/>
          <a:ln w="0">
            <a:noFill/>
          </a:ln>
        </p:spPr>
        <p:txBody>
          <a:bodyPr anchor="ctr">
            <a:noAutofit/>
          </a:bodyPr>
          <a:lstStyle/>
          <a:p>
            <a:pPr algn="l">
              <a:defRPr sz="2025" b="0">
                <a:solidFill>
                  <a:srgbClr val="B73513"/>
                </a:solidFill>
                <a:latin typeface="Arimo"/>
                <a:ea typeface="Arimo"/>
                <a:cs typeface="Arimo"/>
              </a:defRPr>
            </a:pPr>
            <a:r>
              <a:rPr sz="2025" b="0">
                <a:solidFill>
                  <a:srgbClr val="B73513"/>
                </a:solidFill>
                <a:latin typeface="Arimo"/>
                <a:ea typeface="Arimo"/>
                <a:cs typeface="Arimo"/>
              </a:rPr>
              <a:t>Indices 0–2 · no '\0' terminator · not C strings</a:t>
            </a:r>
          </a:p>
        </p:txBody>
      </p:sp>
    </p:spTree>
    <p:extLst>
      <p:ext uri="{BB962C8B-B14F-4D97-AF65-F5344CB8AC3E}">
        <p14:creationId xmlns:p14="http://schemas.microsoft.com/office/powerpoint/2010/main" val="137077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054F65E-2F40-4B60-914D-12D4580FCE56}"/>
              </a:ext>
            </a:extLst>
          </p:cNvPr>
          <p:cNvSpPr>
            <a:spLocks noGrp="1"/>
          </p:cNvSpPr>
          <p:nvPr/>
        </p:nvSpPr>
        <p:spPr>
          <a:xfrm>
            <a:off x="0" y="0"/>
            <a:ext cx="76200" cy="6858000"/>
          </a:xfrm>
          <a:prstGeom prst="rect">
            <a:avLst/>
          </a:prstGeom>
          <a:solidFill>
            <a:srgbClr val="DF4214"/>
          </a:solidFill>
          <a:ln w="0">
            <a:noFill/>
          </a:ln>
        </p:spPr>
      </p:sp>
      <p:pic>
        <p:nvPicPr>
          <p:cNvPr id="9" name="Picture 8"/>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8D9D2487-330D-49C5-9DEC-092E861180A3}"/>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Alphabetical joining</a:t>
            </a:r>
          </a:p>
        </p:txBody>
      </p:sp>
      <p:sp>
        <p:nvSpPr>
          <p:cNvPr id="4" name="Rectangle 3">
            <a:extLst>
              <a:ext uri="{FF2B5EF4-FFF2-40B4-BE49-F238E27FC236}">
                <a16:creationId xmlns:a16="http://schemas.microsoft.com/office/drawing/2014/main" id="{52DD346A-333E-4564-A22A-3E9C3C34C5C2}"/>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19</a:t>
            </a:r>
          </a:p>
        </p:txBody>
      </p:sp>
      <p:sp>
        <p:nvSpPr>
          <p:cNvPr id="5" name="Rectangle 4">
            <a:extLst>
              <a:ext uri="{FF2B5EF4-FFF2-40B4-BE49-F238E27FC236}">
                <a16:creationId xmlns:a16="http://schemas.microsoft.com/office/drawing/2014/main" id="{CBCC1ECB-EDAF-4283-8396-C1208A22F871}"/>
              </a:ext>
            </a:extLst>
          </p:cNvPr>
          <p:cNvSpPr>
            <a:spLocks noGrp="1"/>
          </p:cNvSpPr>
          <p:nvPr/>
        </p:nvSpPr>
        <p:spPr>
          <a:xfrm>
            <a:off x="1028700" y="2000250"/>
            <a:ext cx="10325100" cy="971550"/>
          </a:xfrm>
          <a:prstGeom prst="rect">
            <a:avLst/>
          </a:prstGeom>
          <a:noFill/>
          <a:ln w="0">
            <a:noFill/>
          </a:ln>
        </p:spPr>
        <p:txBody>
          <a:bodyPr anchor="ctr">
            <a:noAutofit/>
          </a:bodyPr>
          <a:lstStyle/>
          <a:p>
            <a:pPr algn="l">
              <a:defRPr sz="4875" b="1">
                <a:solidFill>
                  <a:srgbClr val="202426"/>
                </a:solidFill>
                <a:latin typeface="Menlo"/>
                <a:ea typeface="Menlo"/>
                <a:cs typeface="Menlo"/>
              </a:defRPr>
            </a:pPr>
            <a:r>
              <a:rPr sz="4875" b="1">
                <a:solidFill>
                  <a:srgbClr val="202426"/>
                </a:solidFill>
                <a:latin typeface="Menlo"/>
                <a:ea typeface="Menlo"/>
                <a:cs typeface="Menlo"/>
              </a:rPr>
              <a:t>dog  +  cat</a:t>
            </a:r>
          </a:p>
        </p:txBody>
      </p:sp>
      <p:sp>
        <p:nvSpPr>
          <p:cNvPr id="6" name="Rectangle 5">
            <a:extLst>
              <a:ext uri="{FF2B5EF4-FFF2-40B4-BE49-F238E27FC236}">
                <a16:creationId xmlns:a16="http://schemas.microsoft.com/office/drawing/2014/main" id="{28385AFD-E031-417D-821E-B694607D560D}"/>
              </a:ext>
            </a:extLst>
          </p:cNvPr>
          <p:cNvSpPr>
            <a:spLocks noGrp="1"/>
          </p:cNvSpPr>
          <p:nvPr/>
        </p:nvSpPr>
        <p:spPr>
          <a:xfrm>
            <a:off x="1028700" y="3609975"/>
            <a:ext cx="10325100" cy="981075"/>
          </a:xfrm>
          <a:prstGeom prst="rect">
            <a:avLst/>
          </a:prstGeom>
          <a:noFill/>
          <a:ln w="0">
            <a:noFill/>
          </a:ln>
        </p:spPr>
        <p:txBody>
          <a:bodyPr anchor="ctr">
            <a:noAutofit/>
          </a:bodyPr>
          <a:lstStyle/>
          <a:p>
            <a:pPr algn="l">
              <a:defRPr sz="5250" b="1">
                <a:solidFill>
                  <a:srgbClr val="1B6B45"/>
                </a:solidFill>
                <a:latin typeface="Menlo"/>
                <a:ea typeface="Menlo"/>
                <a:cs typeface="Menlo"/>
              </a:defRPr>
            </a:pPr>
            <a:r>
              <a:rPr sz="5250" b="1">
                <a:solidFill>
                  <a:srgbClr val="1B6B45"/>
                </a:solidFill>
                <a:latin typeface="Menlo"/>
                <a:ea typeface="Menlo"/>
                <a:cs typeface="Menlo"/>
              </a:rPr>
              <a:t>catdog</a:t>
            </a:r>
          </a:p>
        </p:txBody>
      </p:sp>
      <p:sp>
        <p:nvSpPr>
          <p:cNvPr id="7" name="Rectangle 6">
            <a:extLst>
              <a:ext uri="{FF2B5EF4-FFF2-40B4-BE49-F238E27FC236}">
                <a16:creationId xmlns:a16="http://schemas.microsoft.com/office/drawing/2014/main" id="{4C89F402-CBA7-4105-AD4F-0AA1DD06C38C}"/>
              </a:ext>
            </a:extLst>
          </p:cNvPr>
          <p:cNvSpPr>
            <a:spLocks noGrp="1"/>
          </p:cNvSpPr>
          <p:nvPr/>
        </p:nvSpPr>
        <p:spPr>
          <a:xfrm>
            <a:off x="1028700" y="5657850"/>
            <a:ext cx="10325100" cy="523875"/>
          </a:xfrm>
          <a:prstGeom prst="rect">
            <a:avLst/>
          </a:prstGeom>
          <a:noFill/>
          <a:ln w="0">
            <a:noFill/>
          </a:ln>
        </p:spPr>
        <p:txBody>
          <a:bodyPr anchor="ctr">
            <a:noAutofit/>
          </a:bodyPr>
          <a:lstStyle/>
          <a:p>
            <a:pPr algn="l">
              <a:defRPr sz="2025" b="0">
                <a:solidFill>
                  <a:srgbClr val="B73513"/>
                </a:solidFill>
                <a:latin typeface="Arimo"/>
                <a:ea typeface="Arimo"/>
                <a:cs typeface="Arimo"/>
              </a:defRPr>
            </a:pPr>
            <a:r>
              <a:rPr sz="2025" b="0">
                <a:solidFill>
                  <a:srgbClr val="B73513"/>
                </a:solidFill>
                <a:latin typeface="Arimo"/>
                <a:ea typeface="Arimo"/>
                <a:cs typeface="Arimo"/>
              </a:rPr>
              <a:t>Compare the arrays, then copy the earlier one first</a:t>
            </a:r>
          </a:p>
        </p:txBody>
      </p:sp>
      <p:sp>
        <p:nvSpPr>
          <p:cNvPr id="10" name="Audit clarification 19"/>
          <p:cNvSpPr txBox="1"/>
          <p:nvPr/>
        </p:nvSpPr>
        <p:spPr>
          <a:xfrm>
            <a:off x="1047750" y="5219700"/>
            <a:ext cx="10191750" cy="361950"/>
          </a:xfrm>
          <a:prstGeom prst="rect">
            <a:avLst/>
          </a:prstGeom>
          <a:noFill/>
          <a:ln>
            <a:noFill/>
          </a:ln>
        </p:spPr>
        <p:txBody>
          <a:bodyPr lIns="0" tIns="0" rIns="0" bIns="0" anchor="ctr">
            <a:noAutofit/>
          </a:bodyPr>
          <a:lstStyle/>
          <a:p>
            <a:r>
              <a:rPr lang="en-US" sz="1950">
                <a:solidFill>
                  <a:srgbClr val="636B70"/>
                </a:solidFill>
                <a:latin typeface="Arimo"/>
              </a:rPr>
              <a:t>Prepared lowercase ASCII letters</a:t>
            </a:r>
          </a:p>
        </p:txBody>
      </p:sp>
    </p:spTree>
    <p:extLst>
      <p:ext uri="{BB962C8B-B14F-4D97-AF65-F5344CB8AC3E}">
        <p14:creationId xmlns:p14="http://schemas.microsoft.com/office/powerpoint/2010/main" val="186128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2124F5-63EB-4984-A191-DF44932D2C16}"/>
              </a:ext>
            </a:extLst>
          </p:cNvPr>
          <p:cNvSpPr>
            <a:spLocks noGrp="1"/>
          </p:cNvSpPr>
          <p:nvPr/>
        </p:nvSpPr>
        <p:spPr>
          <a:xfrm>
            <a:off x="0" y="0"/>
            <a:ext cx="76200" cy="6858000"/>
          </a:xfrm>
          <a:prstGeom prst="rect">
            <a:avLst/>
          </a:prstGeom>
          <a:solidFill>
            <a:srgbClr val="DF4214"/>
          </a:solidFill>
          <a:ln w="0">
            <a:noFill/>
          </a:ln>
        </p:spPr>
      </p:sp>
      <p:pic>
        <p:nvPicPr>
          <p:cNvPr id="8" name="Picture 7"/>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0BB855D3-AF29-48D0-8244-429EAD42FD27}"/>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The first different character</a:t>
            </a:r>
          </a:p>
        </p:txBody>
      </p:sp>
      <p:sp>
        <p:nvSpPr>
          <p:cNvPr id="4" name="Rectangle 3">
            <a:extLst>
              <a:ext uri="{FF2B5EF4-FFF2-40B4-BE49-F238E27FC236}">
                <a16:creationId xmlns:a16="http://schemas.microsoft.com/office/drawing/2014/main" id="{3CD479B2-A0FF-40B5-9E22-821B72A10A2A}"/>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20</a:t>
            </a:r>
          </a:p>
        </p:txBody>
      </p:sp>
      <p:graphicFrame>
        <p:nvGraphicFramePr>
          <p:cNvPr id="11" name="Table 10"/>
          <p:cNvGraphicFramePr/>
          <p:nvPr/>
        </p:nvGraphicFramePr>
        <p:xfrm>
          <a:off x="1028700" y="2381250"/>
          <a:ext cx="10325100" cy="2571750"/>
        </p:xfrm>
        <a:graphic>
          <a:graphicData uri="http://schemas.openxmlformats.org/drawingml/2006/table">
            <a:tbl>
              <a:tblPr/>
              <a:tblGrid>
                <a:gridCol w="26670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gridCol w="2552700">
                  <a:extLst>
                    <a:ext uri="{9D8B030D-6E8A-4147-A177-3AD203B41FA5}">
                      <a16:colId xmlns:a16="http://schemas.microsoft.com/office/drawing/2014/main" val="20002"/>
                    </a:ext>
                  </a:extLst>
                </a:gridCol>
                <a:gridCol w="2552700">
                  <a:extLst>
                    <a:ext uri="{9D8B030D-6E8A-4147-A177-3AD203B41FA5}">
                      <a16:colId xmlns:a16="http://schemas.microsoft.com/office/drawing/2014/main" val="20003"/>
                    </a:ext>
                  </a:extLst>
                </a:gridCol>
              </a:tblGrid>
              <a:tr h="642937">
                <a:tc>
                  <a:txBody>
                    <a:bodyPr/>
                    <a:lstStyle/>
                    <a:p>
                      <a:r>
                        <a:rPr sz="2025" b="1">
                          <a:solidFill>
                            <a:srgbClr val="FFFFFF"/>
                          </a:solidFill>
                          <a:latin typeface="Arimo"/>
                          <a:ea typeface="Arimo"/>
                          <a:cs typeface="Arimo"/>
                        </a:rPr>
                        <a:t>Index</a:t>
                      </a:r>
                    </a:p>
                  </a:txBody>
                  <a:tcPr marL="133350" marR="95250" marT="76200" marB="57150">
                    <a:solidFill>
                      <a:srgbClr val="202426"/>
                    </a:solidFill>
                  </a:tcPr>
                </a:tc>
                <a:tc>
                  <a:txBody>
                    <a:bodyPr/>
                    <a:lstStyle/>
                    <a:p>
                      <a:r>
                        <a:rPr sz="2025" b="1">
                          <a:solidFill>
                            <a:srgbClr val="FFFFFF"/>
                          </a:solidFill>
                          <a:latin typeface="Arimo"/>
                          <a:ea typeface="Arimo"/>
                          <a:cs typeface="Arimo"/>
                        </a:rPr>
                        <a:t>0</a:t>
                      </a:r>
                    </a:p>
                  </a:txBody>
                  <a:tcPr marL="133350" marR="95250" marT="76200" marB="57150">
                    <a:solidFill>
                      <a:srgbClr val="202426"/>
                    </a:solidFill>
                  </a:tcPr>
                </a:tc>
                <a:tc>
                  <a:txBody>
                    <a:bodyPr/>
                    <a:lstStyle/>
                    <a:p>
                      <a:r>
                        <a:rPr sz="2025" b="1">
                          <a:solidFill>
                            <a:srgbClr val="FFFFFF"/>
                          </a:solidFill>
                          <a:latin typeface="Arimo"/>
                          <a:ea typeface="Arimo"/>
                          <a:cs typeface="Arimo"/>
                        </a:rPr>
                        <a:t>1</a:t>
                      </a:r>
                    </a:p>
                  </a:txBody>
                  <a:tcPr marL="133350" marR="95250" marT="76200" marB="57150">
                    <a:solidFill>
                      <a:srgbClr val="202426"/>
                    </a:solidFill>
                  </a:tcPr>
                </a:tc>
                <a:tc>
                  <a:txBody>
                    <a:bodyPr/>
                    <a:lstStyle/>
                    <a:p>
                      <a:r>
                        <a:rPr sz="2025" b="1">
                          <a:solidFill>
                            <a:srgbClr val="FFFFFF"/>
                          </a:solidFill>
                          <a:latin typeface="Arimo"/>
                          <a:ea typeface="Arimo"/>
                          <a:cs typeface="Arimo"/>
                        </a:rPr>
                        <a:t>2</a:t>
                      </a:r>
                    </a:p>
                  </a:txBody>
                  <a:tcPr marL="133350" marR="95250" marT="76200" marB="57150">
                    <a:solidFill>
                      <a:srgbClr val="202426"/>
                    </a:solidFill>
                  </a:tcPr>
                </a:tc>
                <a:extLst>
                  <a:ext uri="{0D108BD9-81ED-4DB2-BD59-A6C34878D82A}">
                    <a16:rowId xmlns:a16="http://schemas.microsoft.com/office/drawing/2014/main" val="10000"/>
                  </a:ext>
                </a:extLst>
              </a:tr>
              <a:tr h="642937">
                <a:tc>
                  <a:txBody>
                    <a:bodyPr/>
                    <a:lstStyle/>
                    <a:p>
                      <a:r>
                        <a:rPr sz="2025" b="0">
                          <a:solidFill>
                            <a:srgbClr val="202426"/>
                          </a:solidFill>
                          <a:latin typeface="Arimo"/>
                          <a:ea typeface="Arimo"/>
                          <a:cs typeface="Arimo"/>
                        </a:rPr>
                        <a:t>first</a:t>
                      </a:r>
                    </a:p>
                  </a:txBody>
                  <a:tcPr marL="133350" marR="95250" marT="76200" marB="57150">
                    <a:solidFill>
                      <a:srgbClr val="FFFFFF"/>
                    </a:solidFill>
                  </a:tcPr>
                </a:tc>
                <a:tc>
                  <a:txBody>
                    <a:bodyPr/>
                    <a:lstStyle/>
                    <a:p>
                      <a:r>
                        <a:rPr sz="2025" b="0">
                          <a:solidFill>
                            <a:srgbClr val="202426"/>
                          </a:solidFill>
                          <a:latin typeface="Arimo"/>
                          <a:ea typeface="Arimo"/>
                          <a:cs typeface="Arimo"/>
                        </a:rPr>
                        <a:t>c</a:t>
                      </a:r>
                    </a:p>
                  </a:txBody>
                  <a:tcPr marL="133350" marR="95250" marT="76200" marB="57150">
                    <a:solidFill>
                      <a:srgbClr val="FFFFFF"/>
                    </a:solidFill>
                  </a:tcPr>
                </a:tc>
                <a:tc>
                  <a:txBody>
                    <a:bodyPr/>
                    <a:lstStyle/>
                    <a:p>
                      <a:r>
                        <a:rPr sz="2025" b="0">
                          <a:solidFill>
                            <a:srgbClr val="202426"/>
                          </a:solidFill>
                          <a:latin typeface="Arimo"/>
                          <a:ea typeface="Arimo"/>
                          <a:cs typeface="Arimo"/>
                        </a:rPr>
                        <a:t>a</a:t>
                      </a:r>
                    </a:p>
                  </a:txBody>
                  <a:tcPr marL="133350" marR="95250" marT="76200" marB="57150">
                    <a:solidFill>
                      <a:srgbClr val="FFFFFF"/>
                    </a:solidFill>
                  </a:tcPr>
                </a:tc>
                <a:tc>
                  <a:txBody>
                    <a:bodyPr/>
                    <a:lstStyle/>
                    <a:p>
                      <a:r>
                        <a:rPr sz="2025" b="0">
                          <a:solidFill>
                            <a:srgbClr val="202426"/>
                          </a:solidFill>
                          <a:latin typeface="Arimo"/>
                          <a:ea typeface="Arimo"/>
                          <a:cs typeface="Arimo"/>
                        </a:rPr>
                        <a:t>r</a:t>
                      </a:r>
                    </a:p>
                  </a:txBody>
                  <a:tcPr marL="133350" marR="95250" marT="76200" marB="57150">
                    <a:solidFill>
                      <a:srgbClr val="FFFFFF"/>
                    </a:solidFill>
                  </a:tcPr>
                </a:tc>
                <a:extLst>
                  <a:ext uri="{0D108BD9-81ED-4DB2-BD59-A6C34878D82A}">
                    <a16:rowId xmlns:a16="http://schemas.microsoft.com/office/drawing/2014/main" val="10001"/>
                  </a:ext>
                </a:extLst>
              </a:tr>
              <a:tr h="642937">
                <a:tc>
                  <a:txBody>
                    <a:bodyPr/>
                    <a:lstStyle/>
                    <a:p>
                      <a:r>
                        <a:rPr sz="2025" b="0">
                          <a:solidFill>
                            <a:srgbClr val="202426"/>
                          </a:solidFill>
                          <a:latin typeface="Arimo"/>
                          <a:ea typeface="Arimo"/>
                          <a:cs typeface="Arimo"/>
                        </a:rPr>
                        <a:t>second</a:t>
                      </a:r>
                    </a:p>
                  </a:txBody>
                  <a:tcPr marL="133350" marR="95250" marT="76200" marB="57150">
                    <a:solidFill>
                      <a:srgbClr val="F3F4F4"/>
                    </a:solidFill>
                  </a:tcPr>
                </a:tc>
                <a:tc>
                  <a:txBody>
                    <a:bodyPr/>
                    <a:lstStyle/>
                    <a:p>
                      <a:r>
                        <a:rPr sz="2025" b="0">
                          <a:solidFill>
                            <a:srgbClr val="202426"/>
                          </a:solidFill>
                          <a:latin typeface="Arimo"/>
                          <a:ea typeface="Arimo"/>
                          <a:cs typeface="Arimo"/>
                        </a:rPr>
                        <a:t>c</a:t>
                      </a:r>
                    </a:p>
                  </a:txBody>
                  <a:tcPr marL="133350" marR="95250" marT="76200" marB="57150">
                    <a:solidFill>
                      <a:srgbClr val="F3F4F4"/>
                    </a:solidFill>
                  </a:tcPr>
                </a:tc>
                <a:tc>
                  <a:txBody>
                    <a:bodyPr/>
                    <a:lstStyle/>
                    <a:p>
                      <a:r>
                        <a:rPr sz="2025" b="0">
                          <a:solidFill>
                            <a:srgbClr val="202426"/>
                          </a:solidFill>
                          <a:latin typeface="Arimo"/>
                          <a:ea typeface="Arimo"/>
                          <a:cs typeface="Arimo"/>
                        </a:rPr>
                        <a:t>a</a:t>
                      </a:r>
                    </a:p>
                  </a:txBody>
                  <a:tcPr marL="133350" marR="95250" marT="76200" marB="57150">
                    <a:solidFill>
                      <a:srgbClr val="F3F4F4"/>
                    </a:solidFill>
                  </a:tcPr>
                </a:tc>
                <a:tc>
                  <a:txBody>
                    <a:bodyPr/>
                    <a:lstStyle/>
                    <a:p>
                      <a:r>
                        <a:rPr sz="2025" b="0">
                          <a:solidFill>
                            <a:srgbClr val="202426"/>
                          </a:solidFill>
                          <a:latin typeface="Arimo"/>
                          <a:ea typeface="Arimo"/>
                          <a:cs typeface="Arimo"/>
                        </a:rPr>
                        <a:t>t</a:t>
                      </a:r>
                    </a:p>
                  </a:txBody>
                  <a:tcPr marL="133350" marR="95250" marT="76200" marB="57150">
                    <a:solidFill>
                      <a:srgbClr val="F3F4F4"/>
                    </a:solidFill>
                  </a:tcPr>
                </a:tc>
                <a:extLst>
                  <a:ext uri="{0D108BD9-81ED-4DB2-BD59-A6C34878D82A}">
                    <a16:rowId xmlns:a16="http://schemas.microsoft.com/office/drawing/2014/main" val="10002"/>
                  </a:ext>
                </a:extLst>
              </a:tr>
              <a:tr h="642937">
                <a:tc>
                  <a:txBody>
                    <a:bodyPr/>
                    <a:lstStyle/>
                    <a:p>
                      <a:r>
                        <a:rPr sz="2025" b="0">
                          <a:solidFill>
                            <a:srgbClr val="202426"/>
                          </a:solidFill>
                          <a:latin typeface="Arimo"/>
                          <a:ea typeface="Arimo"/>
                          <a:cs typeface="Arimo"/>
                        </a:rPr>
                        <a:t>Equal?</a:t>
                      </a:r>
                    </a:p>
                  </a:txBody>
                  <a:tcPr marL="133350" marR="95250" marT="76200" marB="57150">
                    <a:solidFill>
                      <a:srgbClr val="FFFFFF"/>
                    </a:solidFill>
                  </a:tcPr>
                </a:tc>
                <a:tc>
                  <a:txBody>
                    <a:bodyPr/>
                    <a:lstStyle/>
                    <a:p>
                      <a:r>
                        <a:rPr sz="2025" b="0">
                          <a:solidFill>
                            <a:srgbClr val="202426"/>
                          </a:solidFill>
                          <a:latin typeface="Arimo"/>
                          <a:ea typeface="Arimo"/>
                          <a:cs typeface="Arimo"/>
                        </a:rPr>
                        <a:t>yes</a:t>
                      </a:r>
                    </a:p>
                  </a:txBody>
                  <a:tcPr marL="133350" marR="95250" marT="76200" marB="57150">
                    <a:solidFill>
                      <a:srgbClr val="FFFFFF"/>
                    </a:solidFill>
                  </a:tcPr>
                </a:tc>
                <a:tc>
                  <a:txBody>
                    <a:bodyPr/>
                    <a:lstStyle/>
                    <a:p>
                      <a:r>
                        <a:rPr sz="2025" b="0">
                          <a:solidFill>
                            <a:srgbClr val="202426"/>
                          </a:solidFill>
                          <a:latin typeface="Arimo"/>
                          <a:ea typeface="Arimo"/>
                          <a:cs typeface="Arimo"/>
                        </a:rPr>
                        <a:t>yes</a:t>
                      </a:r>
                    </a:p>
                  </a:txBody>
                  <a:tcPr marL="133350" marR="95250" marT="76200" marB="57150">
                    <a:solidFill>
                      <a:srgbClr val="FFFFFF"/>
                    </a:solidFill>
                  </a:tcPr>
                </a:tc>
                <a:tc>
                  <a:txBody>
                    <a:bodyPr/>
                    <a:lstStyle/>
                    <a:p>
                      <a:r>
                        <a:rPr sz="2025" b="0">
                          <a:solidFill>
                            <a:srgbClr val="202426"/>
                          </a:solidFill>
                          <a:latin typeface="Arimo"/>
                          <a:ea typeface="Arimo"/>
                          <a:cs typeface="Arimo"/>
                        </a:rPr>
                        <a:t>no</a:t>
                      </a:r>
                    </a:p>
                  </a:txBody>
                  <a:tcPr marL="133350" marR="95250" marT="76200" marB="57150">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20542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6426F62-042C-477B-8F2B-E77B4EEC49C2}"/>
              </a:ext>
            </a:extLst>
          </p:cNvPr>
          <p:cNvSpPr>
            <a:spLocks noGrp="1"/>
          </p:cNvSpPr>
          <p:nvPr/>
        </p:nvSpPr>
        <p:spPr>
          <a:xfrm>
            <a:off x="0" y="0"/>
            <a:ext cx="76200" cy="6858000"/>
          </a:xfrm>
          <a:prstGeom prst="rect">
            <a:avLst/>
          </a:prstGeom>
          <a:solidFill>
            <a:srgbClr val="DF4214"/>
          </a:solidFill>
          <a:ln w="0">
            <a:noFill/>
          </a:ln>
        </p:spPr>
      </p:sp>
      <p:pic>
        <p:nvPicPr>
          <p:cNvPr id="16" name="Picture 15"/>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5C500678-1DAF-481A-BA63-59F53A2C9671}"/>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Which bound visits all three safely?</a:t>
            </a:r>
          </a:p>
        </p:txBody>
      </p:sp>
      <p:sp>
        <p:nvSpPr>
          <p:cNvPr id="4" name="Rectangle 3">
            <a:extLst>
              <a:ext uri="{FF2B5EF4-FFF2-40B4-BE49-F238E27FC236}">
                <a16:creationId xmlns:a16="http://schemas.microsoft.com/office/drawing/2014/main" id="{A46CFF25-19A8-40E1-A8DB-F3CEA9074B2D}"/>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21</a:t>
            </a:r>
          </a:p>
        </p:txBody>
      </p:sp>
      <p:sp>
        <p:nvSpPr>
          <p:cNvPr id="5" name="Rectangle 4">
            <a:extLst>
              <a:ext uri="{FF2B5EF4-FFF2-40B4-BE49-F238E27FC236}">
                <a16:creationId xmlns:a16="http://schemas.microsoft.com/office/drawing/2014/main" id="{3C823897-5D39-4153-949A-686ADB65F744}"/>
              </a:ext>
            </a:extLst>
          </p:cNvPr>
          <p:cNvSpPr>
            <a:spLocks noGrp="1"/>
          </p:cNvSpPr>
          <p:nvPr/>
        </p:nvSpPr>
        <p:spPr>
          <a:xfrm>
            <a:off x="1028700" y="1666875"/>
            <a:ext cx="10325100" cy="381000"/>
          </a:xfrm>
          <a:prstGeom prst="rect">
            <a:avLst/>
          </a:prstGeom>
          <a:noFill/>
          <a:ln w="0">
            <a:noFill/>
          </a:ln>
        </p:spPr>
        <p:txBody>
          <a:bodyPr anchor="ctr">
            <a:noAutofit/>
          </a:bodyPr>
          <a:lstStyle/>
          <a:p>
            <a:pPr algn="l">
              <a:defRPr sz="1875" b="0">
                <a:solidFill>
                  <a:srgbClr val="596167"/>
                </a:solidFill>
                <a:latin typeface="Arimo"/>
                <a:ea typeface="Arimo"/>
                <a:cs typeface="Arimo"/>
              </a:defRPr>
            </a:pPr>
            <a:r>
              <a:rPr sz="1875" b="0">
                <a:solidFill>
                  <a:srgbClr val="596167"/>
                </a:solidFill>
                <a:latin typeface="Arimo"/>
                <a:ea typeface="Arimo"/>
                <a:cs typeface="Arimo"/>
              </a:rPr>
              <a:t>Prediction 3</a:t>
            </a:r>
          </a:p>
        </p:txBody>
      </p:sp>
      <p:sp>
        <p:nvSpPr>
          <p:cNvPr id="6" name="Rectangle 5">
            <a:extLst>
              <a:ext uri="{FF2B5EF4-FFF2-40B4-BE49-F238E27FC236}">
                <a16:creationId xmlns:a16="http://schemas.microsoft.com/office/drawing/2014/main" id="{A3C40321-0A3E-4BCC-82A3-888F925CB933}"/>
              </a:ext>
            </a:extLst>
          </p:cNvPr>
          <p:cNvSpPr>
            <a:spLocks noGrp="1"/>
          </p:cNvSpPr>
          <p:nvPr/>
        </p:nvSpPr>
        <p:spPr>
          <a:xfrm>
            <a:off x="1028700" y="2181225"/>
            <a:ext cx="10325100" cy="714375"/>
          </a:xfrm>
          <a:prstGeom prst="rect">
            <a:avLst/>
          </a:prstGeom>
          <a:noFill/>
          <a:ln w="0">
            <a:noFill/>
          </a:ln>
        </p:spPr>
        <p:txBody>
          <a:bodyPr anchor="ctr">
            <a:noAutofit/>
          </a:bodyPr>
          <a:lstStyle/>
          <a:p>
            <a:pPr algn="l">
              <a:defRPr sz="2925" b="1">
                <a:solidFill>
                  <a:srgbClr val="202426"/>
                </a:solidFill>
                <a:latin typeface="Arimo"/>
                <a:ea typeface="Arimo"/>
                <a:cs typeface="Arimo"/>
              </a:defRPr>
            </a:pPr>
            <a:r>
              <a:rPr sz="2925" b="1">
                <a:solidFill>
                  <a:srgbClr val="202426"/>
                </a:solidFill>
                <a:latin typeface="Arimo"/>
                <a:ea typeface="Arimo"/>
                <a:cs typeface="Arimo"/>
              </a:rPr>
              <a:t>i starts at 0 and increases by 1</a:t>
            </a:r>
          </a:p>
        </p:txBody>
      </p:sp>
      <p:sp>
        <p:nvSpPr>
          <p:cNvPr id="7" name="Rectangle 6">
            <a:extLst>
              <a:ext uri="{FF2B5EF4-FFF2-40B4-BE49-F238E27FC236}">
                <a16:creationId xmlns:a16="http://schemas.microsoft.com/office/drawing/2014/main" id="{D12FE01D-7DCB-4F08-8C10-09101582C1A2}"/>
              </a:ext>
            </a:extLst>
          </p:cNvPr>
          <p:cNvSpPr>
            <a:spLocks noGrp="1"/>
          </p:cNvSpPr>
          <p:nvPr/>
        </p:nvSpPr>
        <p:spPr>
          <a:xfrm>
            <a:off x="1028700" y="36671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A</a:t>
            </a:r>
          </a:p>
        </p:txBody>
      </p:sp>
      <p:sp>
        <p:nvSpPr>
          <p:cNvPr id="8" name="Rectangle 7">
            <a:extLst>
              <a:ext uri="{FF2B5EF4-FFF2-40B4-BE49-F238E27FC236}">
                <a16:creationId xmlns:a16="http://schemas.microsoft.com/office/drawing/2014/main" id="{F5F917CD-59CD-4DB9-836A-6DAFDABAEF4D}"/>
              </a:ext>
            </a:extLst>
          </p:cNvPr>
          <p:cNvSpPr>
            <a:spLocks noGrp="1"/>
          </p:cNvSpPr>
          <p:nvPr/>
        </p:nvSpPr>
        <p:spPr>
          <a:xfrm>
            <a:off x="1647825" y="36671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i &lt; 3</a:t>
            </a:r>
          </a:p>
        </p:txBody>
      </p:sp>
      <p:sp>
        <p:nvSpPr>
          <p:cNvPr id="9" name="Rectangle 8">
            <a:extLst>
              <a:ext uri="{FF2B5EF4-FFF2-40B4-BE49-F238E27FC236}">
                <a16:creationId xmlns:a16="http://schemas.microsoft.com/office/drawing/2014/main" id="{98526AB5-E40A-4048-9FEB-BBF25A9E8F85}"/>
              </a:ext>
            </a:extLst>
          </p:cNvPr>
          <p:cNvSpPr>
            <a:spLocks noGrp="1"/>
          </p:cNvSpPr>
          <p:nvPr/>
        </p:nvSpPr>
        <p:spPr>
          <a:xfrm>
            <a:off x="6457950" y="36671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B</a:t>
            </a:r>
          </a:p>
        </p:txBody>
      </p:sp>
      <p:sp>
        <p:nvSpPr>
          <p:cNvPr id="10" name="Rectangle 9">
            <a:extLst>
              <a:ext uri="{FF2B5EF4-FFF2-40B4-BE49-F238E27FC236}">
                <a16:creationId xmlns:a16="http://schemas.microsoft.com/office/drawing/2014/main" id="{AED14718-C745-45EC-8E08-ED69D89DD966}"/>
              </a:ext>
            </a:extLst>
          </p:cNvPr>
          <p:cNvSpPr>
            <a:spLocks noGrp="1"/>
          </p:cNvSpPr>
          <p:nvPr/>
        </p:nvSpPr>
        <p:spPr>
          <a:xfrm>
            <a:off x="7077075" y="36671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i &lt;= 3</a:t>
            </a:r>
          </a:p>
        </p:txBody>
      </p:sp>
      <p:sp>
        <p:nvSpPr>
          <p:cNvPr id="11" name="Rectangle 10">
            <a:extLst>
              <a:ext uri="{FF2B5EF4-FFF2-40B4-BE49-F238E27FC236}">
                <a16:creationId xmlns:a16="http://schemas.microsoft.com/office/drawing/2014/main" id="{2F7F7413-89EF-401E-9F22-04ABF080E54E}"/>
              </a:ext>
            </a:extLst>
          </p:cNvPr>
          <p:cNvSpPr>
            <a:spLocks noGrp="1"/>
          </p:cNvSpPr>
          <p:nvPr/>
        </p:nvSpPr>
        <p:spPr>
          <a:xfrm>
            <a:off x="1028700" y="45053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C</a:t>
            </a:r>
          </a:p>
        </p:txBody>
      </p:sp>
      <p:sp>
        <p:nvSpPr>
          <p:cNvPr id="12" name="Rectangle 11">
            <a:extLst>
              <a:ext uri="{FF2B5EF4-FFF2-40B4-BE49-F238E27FC236}">
                <a16:creationId xmlns:a16="http://schemas.microsoft.com/office/drawing/2014/main" id="{95B535BC-2DE0-486C-B69C-72715765BB0F}"/>
              </a:ext>
            </a:extLst>
          </p:cNvPr>
          <p:cNvSpPr>
            <a:spLocks noGrp="1"/>
          </p:cNvSpPr>
          <p:nvPr/>
        </p:nvSpPr>
        <p:spPr>
          <a:xfrm>
            <a:off x="1647825" y="45053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i &lt; 2</a:t>
            </a:r>
          </a:p>
        </p:txBody>
      </p:sp>
      <p:sp>
        <p:nvSpPr>
          <p:cNvPr id="13" name="Rectangle 12">
            <a:extLst>
              <a:ext uri="{FF2B5EF4-FFF2-40B4-BE49-F238E27FC236}">
                <a16:creationId xmlns:a16="http://schemas.microsoft.com/office/drawing/2014/main" id="{D7E388B7-D172-44DE-B591-05F2E4C11797}"/>
              </a:ext>
            </a:extLst>
          </p:cNvPr>
          <p:cNvSpPr>
            <a:spLocks noGrp="1"/>
          </p:cNvSpPr>
          <p:nvPr/>
        </p:nvSpPr>
        <p:spPr>
          <a:xfrm>
            <a:off x="6457950" y="4505325"/>
            <a:ext cx="495300" cy="476250"/>
          </a:xfrm>
          <a:prstGeom prst="rect">
            <a:avLst/>
          </a:prstGeom>
          <a:noFill/>
          <a:ln w="0">
            <a:noFill/>
          </a:ln>
        </p:spPr>
        <p:txBody>
          <a:bodyPr anchor="ctr">
            <a:noAutofit/>
          </a:bodyPr>
          <a:lstStyle/>
          <a:p>
            <a:pPr algn="l">
              <a:defRPr sz="2100" b="1">
                <a:solidFill>
                  <a:srgbClr val="DF4214"/>
                </a:solidFill>
                <a:latin typeface="Arimo"/>
                <a:ea typeface="Arimo"/>
                <a:cs typeface="Arimo"/>
              </a:defRPr>
            </a:pPr>
            <a:r>
              <a:rPr sz="2100" b="1">
                <a:solidFill>
                  <a:srgbClr val="DF4214"/>
                </a:solidFill>
                <a:latin typeface="Arimo"/>
                <a:ea typeface="Arimo"/>
                <a:cs typeface="Arimo"/>
              </a:rPr>
              <a:t>D</a:t>
            </a:r>
          </a:p>
        </p:txBody>
      </p:sp>
      <p:sp>
        <p:nvSpPr>
          <p:cNvPr id="14" name="Rectangle 13">
            <a:extLst>
              <a:ext uri="{FF2B5EF4-FFF2-40B4-BE49-F238E27FC236}">
                <a16:creationId xmlns:a16="http://schemas.microsoft.com/office/drawing/2014/main" id="{E8583293-458B-4B8A-AC21-9A62383ADB8B}"/>
              </a:ext>
            </a:extLst>
          </p:cNvPr>
          <p:cNvSpPr>
            <a:spLocks noGrp="1"/>
          </p:cNvSpPr>
          <p:nvPr/>
        </p:nvSpPr>
        <p:spPr>
          <a:xfrm>
            <a:off x="7077075" y="4505325"/>
            <a:ext cx="4333875" cy="476250"/>
          </a:xfrm>
          <a:prstGeom prst="rect">
            <a:avLst/>
          </a:prstGeom>
          <a:noFill/>
          <a:ln w="0">
            <a:noFill/>
          </a:ln>
        </p:spPr>
        <p:txBody>
          <a:bodyPr anchor="ctr">
            <a:noAutofit/>
          </a:bodyPr>
          <a:lstStyle/>
          <a:p>
            <a:pPr algn="l">
              <a:defRPr sz="2325" b="0">
                <a:solidFill>
                  <a:srgbClr val="202426"/>
                </a:solidFill>
                <a:latin typeface="Arimo"/>
                <a:ea typeface="Arimo"/>
                <a:cs typeface="Arimo"/>
              </a:defRPr>
            </a:pPr>
            <a:r>
              <a:rPr sz="2325" b="0">
                <a:solidFill>
                  <a:srgbClr val="202426"/>
                </a:solidFill>
                <a:latin typeface="Arimo"/>
                <a:ea typeface="Arimo"/>
                <a:cs typeface="Arimo"/>
              </a:rPr>
              <a:t>i &gt; 3</a:t>
            </a:r>
          </a:p>
        </p:txBody>
      </p:sp>
    </p:spTree>
    <p:extLst>
      <p:ext uri="{BB962C8B-B14F-4D97-AF65-F5344CB8AC3E}">
        <p14:creationId xmlns:p14="http://schemas.microsoft.com/office/powerpoint/2010/main" val="1842923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1A1A1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E6D487-663E-C10F-397D-79434D4E3000}"/>
              </a:ext>
            </a:extLst>
          </p:cNvPr>
          <p:cNvSpPr/>
          <p:nvPr>
            <p:custDataLst>
              <p:tags r:id="rId2"/>
            </p:custDataLst>
          </p:nvPr>
        </p:nvSpPr>
        <p:spPr>
          <a:xfrm>
            <a:off x="444693" y="1742703"/>
            <a:ext cx="2371696" cy="2371696"/>
          </a:xfrm>
          <a:prstGeom prst="rect">
            <a:avLst/>
          </a:prstGeom>
          <a:blipFill>
            <a:blip>
              <a:extLst>
                <a:ext uri="{96DAC541-7B7A-43D3-8B79-37D633B846F1}">
                  <asvg:svgBlip xmlns:asvg="http://schemas.microsoft.com/office/drawing/2016/SVG/main" r:embed="rId7"/>
                </a:ext>
              </a:extLst>
            </a:blip>
            <a:stretch>
              <a:fillRect/>
            </a:stretch>
          </a:blipFill>
          <a:ln w="19050">
            <a:noFill/>
            <a:prstDash val="solid"/>
          </a:ln>
          <a:effectLst/>
          <a:extLs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A4D8123-E2EB-4861-DAA3-A3A642C69B43}"/>
              </a:ext>
            </a:extLst>
          </p:cNvPr>
          <p:cNvSpPr/>
          <p:nvPr>
            <p:custDataLst>
              <p:tags r:id="rId3"/>
            </p:custDataLst>
          </p:nvPr>
        </p:nvSpPr>
        <p:spPr>
          <a:xfrm>
            <a:off x="3112851" y="1000897"/>
            <a:ext cx="8486226" cy="3855308"/>
          </a:xfrm>
          <a:prstGeom prst="rect">
            <a:avLst/>
          </a:prstGeom>
          <a:noFill/>
          <a:ln w="19050">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a:solidFill>
                  <a:srgbClr val="FFFFFF"/>
                </a:solidFill>
              </a:rPr>
              <a:t>Which condition visits all three elements safely?</a:t>
            </a:r>
          </a:p>
        </p:txBody>
      </p:sp>
      <p:sp>
        <p:nvSpPr>
          <p:cNvPr id="4" name="Rectangle 3">
            <a:extLst>
              <a:ext uri="{FF2B5EF4-FFF2-40B4-BE49-F238E27FC236}">
                <a16:creationId xmlns:a16="http://schemas.microsoft.com/office/drawing/2014/main" id="{6EF3F152-707B-269F-D049-11E311345A6D}"/>
              </a:ext>
            </a:extLst>
          </p:cNvPr>
          <p:cNvSpPr/>
          <p:nvPr>
            <p:custDataLst>
              <p:tags r:id="rId4"/>
            </p:custDataLst>
          </p:nvPr>
        </p:nvSpPr>
        <p:spPr>
          <a:xfrm>
            <a:off x="0" y="5820032"/>
            <a:ext cx="12192001" cy="1037968"/>
          </a:xfrm>
          <a:prstGeom prst="rect">
            <a:avLst/>
          </a:prstGeom>
          <a:solidFill>
            <a:srgbClr val="1980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92500"/>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EE3F1BD4-C962-A6B6-F3FC-E75BF23C789C}"/>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C23015A3-ABAF-C88B-D6C7-BEBAFB6883DB}"/>
              </a:ext>
            </a:extLst>
          </p:cNvPr>
          <p:cNvSpPr/>
          <p:nvPr>
            <p:custDataLst>
              <p:tags r:id="rId5"/>
            </p:custDataLst>
          </p:nvPr>
        </p:nvSpPr>
        <p:spPr>
          <a:xfrm rot="2700000">
            <a:off x="9620371" y="514924"/>
            <a:ext cx="3335198" cy="778213"/>
          </a:xfrm>
          <a:prstGeom prst="trapezoid">
            <a:avLst>
              <a:gd name="adj" fmla="val 100000"/>
            </a:avLst>
          </a:prstGeom>
          <a:solidFill>
            <a:srgbClr val="0A3316"/>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42A65F"/>
                </a:solidFill>
              </a:rPr>
              <a:t>Do not edit
</a:t>
            </a:r>
            <a:r>
              <a:rPr lang="en-US" sz="2200">
                <a:solidFill>
                  <a:srgbClr val="42A65F"/>
                </a:solidFill>
                <a:hlinkClick r:id="rId10">
                  <a:extLst>
                    <a:ext uri="{A12FA001-AC4F-418D-AE19-62706E023703}">
                      <ahyp:hlinkClr xmlns:ahyp="http://schemas.microsoft.com/office/drawing/2018/hyperlinkcolor" val="tx"/>
                    </a:ext>
                  </a:extLst>
                </a:hlinkClick>
              </a:rPr>
              <a:t>How to change the design</a:t>
            </a:r>
            <a:endParaRPr lang="en-US" sz="2200">
              <a:solidFill>
                <a:srgbClr val="42A65F"/>
              </a:solidFill>
            </a:endParaRPr>
          </a:p>
        </p:txBody>
      </p:sp>
      <p:pic>
        <p:nvPicPr>
          <p:cNvPr id="9" name="Graphic 8">
            <a:extLst>
              <a:ext uri="{FF2B5EF4-FFF2-40B4-BE49-F238E27FC236}">
                <a16:creationId xmlns:a16="http://schemas.microsoft.com/office/drawing/2014/main" id="{197C9335-272D-4E56-B3A9-E427ABC2F08C}"/>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299833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F9274C-88D5-432C-A45A-1E3B1F564352}"/>
              </a:ext>
            </a:extLst>
          </p:cNvPr>
          <p:cNvSpPr>
            <a:spLocks noGrp="1"/>
          </p:cNvSpPr>
          <p:nvPr/>
        </p:nvSpPr>
        <p:spPr>
          <a:xfrm>
            <a:off x="0" y="0"/>
            <a:ext cx="76200" cy="6858000"/>
          </a:xfrm>
          <a:prstGeom prst="rect">
            <a:avLst/>
          </a:prstGeom>
          <a:solidFill>
            <a:srgbClr val="DF4214"/>
          </a:solidFill>
          <a:ln w="0">
            <a:noFill/>
          </a:ln>
        </p:spPr>
      </p:sp>
      <p:pic>
        <p:nvPicPr>
          <p:cNvPr id="9" name="Picture 8"/>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139E0279-EF89-43F8-AF58-3ADA8C5C11EE}"/>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Equal arrays reach the boundary</a:t>
            </a:r>
          </a:p>
        </p:txBody>
      </p:sp>
      <p:sp>
        <p:nvSpPr>
          <p:cNvPr id="4" name="Rectangle 3">
            <a:extLst>
              <a:ext uri="{FF2B5EF4-FFF2-40B4-BE49-F238E27FC236}">
                <a16:creationId xmlns:a16="http://schemas.microsoft.com/office/drawing/2014/main" id="{483D0962-0E25-4B9E-AB48-4542561AF30C}"/>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22</a:t>
            </a:r>
          </a:p>
        </p:txBody>
      </p:sp>
      <p:sp>
        <p:nvSpPr>
          <p:cNvPr id="5" name="Rectangle 4">
            <a:extLst>
              <a:ext uri="{FF2B5EF4-FFF2-40B4-BE49-F238E27FC236}">
                <a16:creationId xmlns:a16="http://schemas.microsoft.com/office/drawing/2014/main" id="{9F12D37F-4625-4FCD-825F-158C9151CDC4}"/>
              </a:ext>
            </a:extLst>
          </p:cNvPr>
          <p:cNvSpPr>
            <a:spLocks noGrp="1"/>
          </p:cNvSpPr>
          <p:nvPr/>
        </p:nvSpPr>
        <p:spPr>
          <a:xfrm>
            <a:off x="1028700" y="2019300"/>
            <a:ext cx="10325100" cy="762000"/>
          </a:xfrm>
          <a:prstGeom prst="rect">
            <a:avLst/>
          </a:prstGeom>
          <a:noFill/>
          <a:ln w="0">
            <a:noFill/>
          </a:ln>
        </p:spPr>
        <p:txBody>
          <a:bodyPr anchor="ctr">
            <a:noAutofit/>
          </a:bodyPr>
          <a:lstStyle/>
          <a:p>
            <a:pPr algn="l">
              <a:defRPr sz="2625" b="0">
                <a:solidFill>
                  <a:srgbClr val="202426"/>
                </a:solidFill>
                <a:latin typeface="Menlo"/>
                <a:ea typeface="Menlo"/>
                <a:cs typeface="Menlo"/>
              </a:defRPr>
            </a:pPr>
            <a:r>
              <a:t>i &lt; LENGTH &amp;&amp; first[i] == second[i]</a:t>
            </a:r>
          </a:p>
        </p:txBody>
      </p:sp>
      <p:graphicFrame>
        <p:nvGraphicFramePr>
          <p:cNvPr id="13" name="Table 12"/>
          <p:cNvGraphicFramePr/>
          <p:nvPr/>
        </p:nvGraphicFramePr>
        <p:xfrm>
          <a:off x="1028700" y="3343275"/>
          <a:ext cx="10325100" cy="1914525"/>
        </p:xfrm>
        <a:graphic>
          <a:graphicData uri="http://schemas.openxmlformats.org/drawingml/2006/table">
            <a:tbl>
              <a:tblPr/>
              <a:tblGrid>
                <a:gridCol w="2333625">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638175">
                <a:tc>
                  <a:txBody>
                    <a:bodyPr/>
                    <a:lstStyle/>
                    <a:p>
                      <a:r>
                        <a:rPr sz="2325" b="1">
                          <a:solidFill>
                            <a:srgbClr val="FFFFFF"/>
                          </a:solidFill>
                          <a:latin typeface="Arimo"/>
                          <a:ea typeface="Arimo"/>
                          <a:cs typeface="Arimo"/>
                        </a:rPr>
                        <a:t>i</a:t>
                      </a:r>
                    </a:p>
                  </a:txBody>
                  <a:tcPr marL="133350" marR="95250" marT="76200" marB="57150">
                    <a:solidFill>
                      <a:srgbClr val="202426"/>
                    </a:solidFill>
                  </a:tcPr>
                </a:tc>
                <a:tc>
                  <a:txBody>
                    <a:bodyPr/>
                    <a:lstStyle/>
                    <a:p>
                      <a:r>
                        <a:rPr sz="2325" b="1">
                          <a:solidFill>
                            <a:srgbClr val="FFFFFF"/>
                          </a:solidFill>
                          <a:latin typeface="Arimo"/>
                          <a:ea typeface="Arimo"/>
                          <a:cs typeface="Arimo"/>
                        </a:rPr>
                        <a:t>i &lt; 3</a:t>
                      </a:r>
                    </a:p>
                  </a:txBody>
                  <a:tcPr marL="133350" marR="95250" marT="76200" marB="57150">
                    <a:solidFill>
                      <a:srgbClr val="202426"/>
                    </a:solidFill>
                  </a:tcPr>
                </a:tc>
                <a:tc>
                  <a:txBody>
                    <a:bodyPr/>
                    <a:lstStyle/>
                    <a:p>
                      <a:r>
                        <a:rPr sz="2325" b="1">
                          <a:solidFill>
                            <a:srgbClr val="FFFFFF"/>
                          </a:solidFill>
                          <a:latin typeface="Arimo"/>
                          <a:ea typeface="Arimo"/>
                          <a:cs typeface="Arimo"/>
                        </a:rPr>
                        <a:t>Read the characters?</a:t>
                      </a:r>
                    </a:p>
                  </a:txBody>
                  <a:tcPr marL="133350" marR="95250" marT="76200" marB="57150">
                    <a:solidFill>
                      <a:srgbClr val="202426"/>
                    </a:solidFill>
                  </a:tcPr>
                </a:tc>
                <a:extLst>
                  <a:ext uri="{0D108BD9-81ED-4DB2-BD59-A6C34878D82A}">
                    <a16:rowId xmlns:a16="http://schemas.microsoft.com/office/drawing/2014/main" val="10000"/>
                  </a:ext>
                </a:extLst>
              </a:tr>
              <a:tr h="638175">
                <a:tc>
                  <a:txBody>
                    <a:bodyPr/>
                    <a:lstStyle/>
                    <a:p>
                      <a:r>
                        <a:rPr sz="2325" b="0">
                          <a:solidFill>
                            <a:srgbClr val="202426"/>
                          </a:solidFill>
                          <a:latin typeface="Arimo"/>
                          <a:ea typeface="Arimo"/>
                          <a:cs typeface="Arimo"/>
                        </a:rPr>
                        <a:t>0, 1, 2</a:t>
                      </a:r>
                    </a:p>
                  </a:txBody>
                  <a:tcPr marL="133350" marR="95250" marT="76200" marB="57150">
                    <a:solidFill>
                      <a:srgbClr val="FFFFFF"/>
                    </a:solidFill>
                  </a:tcPr>
                </a:tc>
                <a:tc>
                  <a:txBody>
                    <a:bodyPr/>
                    <a:lstStyle/>
                    <a:p>
                      <a:r>
                        <a:rPr sz="2325" b="0">
                          <a:solidFill>
                            <a:srgbClr val="202426"/>
                          </a:solidFill>
                          <a:latin typeface="Arimo"/>
                          <a:ea typeface="Arimo"/>
                          <a:cs typeface="Arimo"/>
                        </a:rPr>
                        <a:t>true</a:t>
                      </a:r>
                    </a:p>
                  </a:txBody>
                  <a:tcPr marL="133350" marR="95250" marT="76200" marB="57150">
                    <a:solidFill>
                      <a:srgbClr val="FFFFFF"/>
                    </a:solidFill>
                  </a:tcPr>
                </a:tc>
                <a:tc>
                  <a:txBody>
                    <a:bodyPr/>
                    <a:lstStyle/>
                    <a:p>
                      <a:r>
                        <a:rPr sz="2325" b="0">
                          <a:solidFill>
                            <a:srgbClr val="202426"/>
                          </a:solidFill>
                          <a:latin typeface="Arimo"/>
                          <a:ea typeface="Arimo"/>
                          <a:cs typeface="Arimo"/>
                        </a:rPr>
                        <a:t>yes</a:t>
                      </a:r>
                    </a:p>
                  </a:txBody>
                  <a:tcPr marL="133350" marR="95250" marT="76200" marB="57150">
                    <a:solidFill>
                      <a:srgbClr val="FFFFFF"/>
                    </a:solidFill>
                  </a:tcPr>
                </a:tc>
                <a:extLst>
                  <a:ext uri="{0D108BD9-81ED-4DB2-BD59-A6C34878D82A}">
                    <a16:rowId xmlns:a16="http://schemas.microsoft.com/office/drawing/2014/main" val="10001"/>
                  </a:ext>
                </a:extLst>
              </a:tr>
              <a:tr h="638175">
                <a:tc>
                  <a:txBody>
                    <a:bodyPr/>
                    <a:lstStyle/>
                    <a:p>
                      <a:r>
                        <a:rPr sz="2325" b="0">
                          <a:solidFill>
                            <a:srgbClr val="202426"/>
                          </a:solidFill>
                          <a:latin typeface="Arimo"/>
                          <a:ea typeface="Arimo"/>
                          <a:cs typeface="Arimo"/>
                        </a:rPr>
                        <a:t>3</a:t>
                      </a:r>
                    </a:p>
                  </a:txBody>
                  <a:tcPr marL="133350" marR="95250" marT="76200" marB="57150">
                    <a:solidFill>
                      <a:srgbClr val="F3F4F4"/>
                    </a:solidFill>
                  </a:tcPr>
                </a:tc>
                <a:tc>
                  <a:txBody>
                    <a:bodyPr/>
                    <a:lstStyle/>
                    <a:p>
                      <a:r>
                        <a:rPr sz="2325" b="0">
                          <a:solidFill>
                            <a:srgbClr val="202426"/>
                          </a:solidFill>
                          <a:latin typeface="Arimo"/>
                          <a:ea typeface="Arimo"/>
                          <a:cs typeface="Arimo"/>
                        </a:rPr>
                        <a:t>false</a:t>
                      </a:r>
                    </a:p>
                  </a:txBody>
                  <a:tcPr marL="133350" marR="95250" marT="76200" marB="57150">
                    <a:solidFill>
                      <a:srgbClr val="F3F4F4"/>
                    </a:solidFill>
                  </a:tcPr>
                </a:tc>
                <a:tc>
                  <a:txBody>
                    <a:bodyPr/>
                    <a:lstStyle/>
                    <a:p>
                      <a:r>
                        <a:rPr sz="2325" b="0">
                          <a:solidFill>
                            <a:srgbClr val="202426"/>
                          </a:solidFill>
                          <a:latin typeface="Arimo"/>
                          <a:ea typeface="Arimo"/>
                          <a:cs typeface="Arimo"/>
                        </a:rPr>
                        <a:t>no</a:t>
                      </a:r>
                    </a:p>
                  </a:txBody>
                  <a:tcPr marL="133350" marR="95250" marT="76200" marB="57150">
                    <a:solidFill>
                      <a:srgbClr val="F3F4F4"/>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47F07238-FD44-4F29-96C0-47DF867A2AFE}"/>
              </a:ext>
            </a:extLst>
          </p:cNvPr>
          <p:cNvSpPr>
            <a:spLocks noGrp="1"/>
          </p:cNvSpPr>
          <p:nvPr/>
        </p:nvSpPr>
        <p:spPr>
          <a:xfrm>
            <a:off x="1028700" y="5657850"/>
            <a:ext cx="10325100" cy="523875"/>
          </a:xfrm>
          <a:prstGeom prst="rect">
            <a:avLst/>
          </a:prstGeom>
          <a:noFill/>
          <a:ln w="0">
            <a:noFill/>
          </a:ln>
        </p:spPr>
        <p:txBody>
          <a:bodyPr anchor="ctr">
            <a:noAutofit/>
          </a:bodyPr>
          <a:lstStyle/>
          <a:p>
            <a:pPr algn="l">
              <a:defRPr sz="2025" b="0">
                <a:solidFill>
                  <a:srgbClr val="B73513"/>
                </a:solidFill>
                <a:latin typeface="Arimo"/>
                <a:ea typeface="Arimo"/>
                <a:cs typeface="Arimo"/>
              </a:defRPr>
            </a:pPr>
            <a:r>
              <a:rPr sz="2025" b="0">
                <a:solidFill>
                  <a:srgbClr val="B73513"/>
                </a:solidFill>
                <a:latin typeface="Arimo"/>
                <a:ea typeface="Arimo"/>
                <a:cs typeface="Arimo"/>
              </a:rPr>
              <a:t>&amp;&amp; skips the right side when the left side is false</a:t>
            </a:r>
          </a:p>
        </p:txBody>
      </p:sp>
    </p:spTree>
    <p:extLst>
      <p:ext uri="{BB962C8B-B14F-4D97-AF65-F5344CB8AC3E}">
        <p14:creationId xmlns:p14="http://schemas.microsoft.com/office/powerpoint/2010/main" val="1279951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9D5C370-8E27-4DE2-B8C5-1EE4F45F3172}"/>
              </a:ext>
            </a:extLst>
          </p:cNvPr>
          <p:cNvSpPr>
            <a:spLocks noGrp="1"/>
          </p:cNvSpPr>
          <p:nvPr/>
        </p:nvSpPr>
        <p:spPr>
          <a:xfrm>
            <a:off x="0" y="0"/>
            <a:ext cx="76200" cy="6858000"/>
          </a:xfrm>
          <a:prstGeom prst="rect">
            <a:avLst/>
          </a:prstGeom>
          <a:solidFill>
            <a:srgbClr val="DF4214"/>
          </a:solidFill>
          <a:ln w="0">
            <a:noFill/>
          </a:ln>
        </p:spPr>
      </p:sp>
      <p:pic>
        <p:nvPicPr>
          <p:cNvPr id="9" name="Picture 8"/>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E9AD8C02-4A44-4056-99F1-912CEC45688B}"/>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The copy offset</a:t>
            </a:r>
          </a:p>
        </p:txBody>
      </p:sp>
      <p:sp>
        <p:nvSpPr>
          <p:cNvPr id="4" name="Rectangle 3">
            <a:extLst>
              <a:ext uri="{FF2B5EF4-FFF2-40B4-BE49-F238E27FC236}">
                <a16:creationId xmlns:a16="http://schemas.microsoft.com/office/drawing/2014/main" id="{588A75C8-A6CF-4BF5-B936-5E31849C58C1}"/>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23</a:t>
            </a:r>
          </a:p>
        </p:txBody>
      </p:sp>
      <p:graphicFrame>
        <p:nvGraphicFramePr>
          <p:cNvPr id="13" name="Table 12"/>
          <p:cNvGraphicFramePr/>
          <p:nvPr/>
        </p:nvGraphicFramePr>
        <p:xfrm>
          <a:off x="1028700" y="2619375"/>
          <a:ext cx="10325100" cy="2000250"/>
        </p:xfrm>
        <a:graphic>
          <a:graphicData uri="http://schemas.openxmlformats.org/drawingml/2006/table">
            <a:tbl>
              <a:tblPr/>
              <a:tblGrid>
                <a:gridCol w="2381250">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323975">
                  <a:extLst>
                    <a:ext uri="{9D8B030D-6E8A-4147-A177-3AD203B41FA5}">
                      <a16:colId xmlns:a16="http://schemas.microsoft.com/office/drawing/2014/main" val="20002"/>
                    </a:ext>
                  </a:extLst>
                </a:gridCol>
                <a:gridCol w="1323975">
                  <a:extLst>
                    <a:ext uri="{9D8B030D-6E8A-4147-A177-3AD203B41FA5}">
                      <a16:colId xmlns:a16="http://schemas.microsoft.com/office/drawing/2014/main" val="20003"/>
                    </a:ext>
                  </a:extLst>
                </a:gridCol>
                <a:gridCol w="1323975">
                  <a:extLst>
                    <a:ext uri="{9D8B030D-6E8A-4147-A177-3AD203B41FA5}">
                      <a16:colId xmlns:a16="http://schemas.microsoft.com/office/drawing/2014/main" val="20004"/>
                    </a:ext>
                  </a:extLst>
                </a:gridCol>
                <a:gridCol w="1323975">
                  <a:extLst>
                    <a:ext uri="{9D8B030D-6E8A-4147-A177-3AD203B41FA5}">
                      <a16:colId xmlns:a16="http://schemas.microsoft.com/office/drawing/2014/main" val="20005"/>
                    </a:ext>
                  </a:extLst>
                </a:gridCol>
                <a:gridCol w="1323975">
                  <a:extLst>
                    <a:ext uri="{9D8B030D-6E8A-4147-A177-3AD203B41FA5}">
                      <a16:colId xmlns:a16="http://schemas.microsoft.com/office/drawing/2014/main" val="20006"/>
                    </a:ext>
                  </a:extLst>
                </a:gridCol>
              </a:tblGrid>
              <a:tr h="1000125">
                <a:tc>
                  <a:txBody>
                    <a:bodyPr/>
                    <a:lstStyle/>
                    <a:p>
                      <a:r>
                        <a:rPr sz="2400" b="1">
                          <a:solidFill>
                            <a:srgbClr val="FFFFFF"/>
                          </a:solidFill>
                          <a:latin typeface="Arimo"/>
                          <a:ea typeface="Arimo"/>
                          <a:cs typeface="Arimo"/>
                        </a:rPr>
                        <a:t>Index</a:t>
                      </a:r>
                    </a:p>
                  </a:txBody>
                  <a:tcPr marL="133350" marR="95250" marT="76200" marB="57150">
                    <a:solidFill>
                      <a:srgbClr val="202426"/>
                    </a:solidFill>
                  </a:tcPr>
                </a:tc>
                <a:tc>
                  <a:txBody>
                    <a:bodyPr/>
                    <a:lstStyle/>
                    <a:p>
                      <a:r>
                        <a:rPr sz="2400" b="1">
                          <a:solidFill>
                            <a:srgbClr val="FFFFFF"/>
                          </a:solidFill>
                          <a:latin typeface="Arimo"/>
                          <a:ea typeface="Arimo"/>
                          <a:cs typeface="Arimo"/>
                        </a:rPr>
                        <a:t>0</a:t>
                      </a:r>
                    </a:p>
                  </a:txBody>
                  <a:tcPr marL="133350" marR="95250" marT="76200" marB="57150">
                    <a:solidFill>
                      <a:srgbClr val="202426"/>
                    </a:solidFill>
                  </a:tcPr>
                </a:tc>
                <a:tc>
                  <a:txBody>
                    <a:bodyPr/>
                    <a:lstStyle/>
                    <a:p>
                      <a:r>
                        <a:rPr sz="2400" b="1">
                          <a:solidFill>
                            <a:srgbClr val="FFFFFF"/>
                          </a:solidFill>
                          <a:latin typeface="Arimo"/>
                          <a:ea typeface="Arimo"/>
                          <a:cs typeface="Arimo"/>
                        </a:rPr>
                        <a:t>1</a:t>
                      </a:r>
                    </a:p>
                  </a:txBody>
                  <a:tcPr marL="133350" marR="95250" marT="76200" marB="57150">
                    <a:solidFill>
                      <a:srgbClr val="202426"/>
                    </a:solidFill>
                  </a:tcPr>
                </a:tc>
                <a:tc>
                  <a:txBody>
                    <a:bodyPr/>
                    <a:lstStyle/>
                    <a:p>
                      <a:r>
                        <a:rPr sz="2400" b="1">
                          <a:solidFill>
                            <a:srgbClr val="FFFFFF"/>
                          </a:solidFill>
                          <a:latin typeface="Arimo"/>
                          <a:ea typeface="Arimo"/>
                          <a:cs typeface="Arimo"/>
                        </a:rPr>
                        <a:t>2</a:t>
                      </a:r>
                    </a:p>
                  </a:txBody>
                  <a:tcPr marL="133350" marR="95250" marT="76200" marB="57150">
                    <a:solidFill>
                      <a:srgbClr val="202426"/>
                    </a:solidFill>
                  </a:tcPr>
                </a:tc>
                <a:tc>
                  <a:txBody>
                    <a:bodyPr/>
                    <a:lstStyle/>
                    <a:p>
                      <a:r>
                        <a:rPr sz="2400" b="1">
                          <a:solidFill>
                            <a:srgbClr val="FFFFFF"/>
                          </a:solidFill>
                          <a:latin typeface="Arimo"/>
                          <a:ea typeface="Arimo"/>
                          <a:cs typeface="Arimo"/>
                        </a:rPr>
                        <a:t>3</a:t>
                      </a:r>
                    </a:p>
                  </a:txBody>
                  <a:tcPr marL="133350" marR="95250" marT="76200" marB="57150">
                    <a:solidFill>
                      <a:srgbClr val="202426"/>
                    </a:solidFill>
                  </a:tcPr>
                </a:tc>
                <a:tc>
                  <a:txBody>
                    <a:bodyPr/>
                    <a:lstStyle/>
                    <a:p>
                      <a:r>
                        <a:rPr sz="2400" b="1">
                          <a:solidFill>
                            <a:srgbClr val="FFFFFF"/>
                          </a:solidFill>
                          <a:latin typeface="Arimo"/>
                          <a:ea typeface="Arimo"/>
                          <a:cs typeface="Arimo"/>
                        </a:rPr>
                        <a:t>4</a:t>
                      </a:r>
                    </a:p>
                  </a:txBody>
                  <a:tcPr marL="133350" marR="95250" marT="76200" marB="57150">
                    <a:solidFill>
                      <a:srgbClr val="202426"/>
                    </a:solidFill>
                  </a:tcPr>
                </a:tc>
                <a:tc>
                  <a:txBody>
                    <a:bodyPr/>
                    <a:lstStyle/>
                    <a:p>
                      <a:r>
                        <a:rPr sz="2400" b="1">
                          <a:solidFill>
                            <a:srgbClr val="FFFFFF"/>
                          </a:solidFill>
                          <a:latin typeface="Arimo"/>
                          <a:ea typeface="Arimo"/>
                          <a:cs typeface="Arimo"/>
                        </a:rPr>
                        <a:t>5</a:t>
                      </a:r>
                    </a:p>
                  </a:txBody>
                  <a:tcPr marL="133350" marR="95250" marT="76200" marB="57150">
                    <a:solidFill>
                      <a:srgbClr val="202426"/>
                    </a:solidFill>
                  </a:tcPr>
                </a:tc>
                <a:extLst>
                  <a:ext uri="{0D108BD9-81ED-4DB2-BD59-A6C34878D82A}">
                    <a16:rowId xmlns:a16="http://schemas.microsoft.com/office/drawing/2014/main" val="10000"/>
                  </a:ext>
                </a:extLst>
              </a:tr>
              <a:tr h="1000125">
                <a:tc>
                  <a:txBody>
                    <a:bodyPr/>
                    <a:lstStyle/>
                    <a:p>
                      <a:r>
                        <a:rPr sz="2400" b="0">
                          <a:solidFill>
                            <a:srgbClr val="202426"/>
                          </a:solidFill>
                          <a:latin typeface="Arimo"/>
                          <a:ea typeface="Arimo"/>
                          <a:cs typeface="Arimo"/>
                        </a:rPr>
                        <a:t>joined</a:t>
                      </a:r>
                    </a:p>
                  </a:txBody>
                  <a:tcPr marL="133350" marR="95250" marT="76200" marB="57150">
                    <a:solidFill>
                      <a:srgbClr val="FFFFFF"/>
                    </a:solidFill>
                  </a:tcPr>
                </a:tc>
                <a:tc>
                  <a:txBody>
                    <a:bodyPr/>
                    <a:lstStyle/>
                    <a:p>
                      <a:r>
                        <a:rPr sz="2400" b="0">
                          <a:solidFill>
                            <a:srgbClr val="202426"/>
                          </a:solidFill>
                          <a:latin typeface="Arimo"/>
                          <a:ea typeface="Arimo"/>
                          <a:cs typeface="Arimo"/>
                        </a:rPr>
                        <a:t>c</a:t>
                      </a:r>
                    </a:p>
                  </a:txBody>
                  <a:tcPr marL="133350" marR="95250" marT="76200" marB="57150">
                    <a:solidFill>
                      <a:srgbClr val="FFFFFF"/>
                    </a:solidFill>
                  </a:tcPr>
                </a:tc>
                <a:tc>
                  <a:txBody>
                    <a:bodyPr/>
                    <a:lstStyle/>
                    <a:p>
                      <a:r>
                        <a:rPr sz="2400" b="0">
                          <a:solidFill>
                            <a:srgbClr val="202426"/>
                          </a:solidFill>
                          <a:latin typeface="Arimo"/>
                          <a:ea typeface="Arimo"/>
                          <a:cs typeface="Arimo"/>
                        </a:rPr>
                        <a:t>a</a:t>
                      </a:r>
                    </a:p>
                  </a:txBody>
                  <a:tcPr marL="133350" marR="95250" marT="76200" marB="57150">
                    <a:solidFill>
                      <a:srgbClr val="FFFFFF"/>
                    </a:solidFill>
                  </a:tcPr>
                </a:tc>
                <a:tc>
                  <a:txBody>
                    <a:bodyPr/>
                    <a:lstStyle/>
                    <a:p>
                      <a:r>
                        <a:rPr sz="2400" b="0">
                          <a:solidFill>
                            <a:srgbClr val="202426"/>
                          </a:solidFill>
                          <a:latin typeface="Arimo"/>
                          <a:ea typeface="Arimo"/>
                          <a:cs typeface="Arimo"/>
                        </a:rPr>
                        <a:t>t</a:t>
                      </a:r>
                    </a:p>
                  </a:txBody>
                  <a:tcPr marL="133350" marR="95250" marT="76200" marB="57150">
                    <a:solidFill>
                      <a:srgbClr val="FFFFFF"/>
                    </a:solidFill>
                  </a:tcPr>
                </a:tc>
                <a:tc>
                  <a:txBody>
                    <a:bodyPr/>
                    <a:lstStyle/>
                    <a:p>
                      <a:r>
                        <a:rPr sz="2400" b="0">
                          <a:solidFill>
                            <a:srgbClr val="202426"/>
                          </a:solidFill>
                          <a:latin typeface="Arimo"/>
                          <a:ea typeface="Arimo"/>
                          <a:cs typeface="Arimo"/>
                        </a:rPr>
                        <a:t>d</a:t>
                      </a:r>
                    </a:p>
                  </a:txBody>
                  <a:tcPr marL="133350" marR="95250" marT="76200" marB="57150">
                    <a:solidFill>
                      <a:srgbClr val="FFFFFF"/>
                    </a:solidFill>
                  </a:tcPr>
                </a:tc>
                <a:tc>
                  <a:txBody>
                    <a:bodyPr/>
                    <a:lstStyle/>
                    <a:p>
                      <a:r>
                        <a:rPr sz="2400" b="0">
                          <a:solidFill>
                            <a:srgbClr val="202426"/>
                          </a:solidFill>
                          <a:latin typeface="Arimo"/>
                          <a:ea typeface="Arimo"/>
                          <a:cs typeface="Arimo"/>
                        </a:rPr>
                        <a:t>o</a:t>
                      </a:r>
                    </a:p>
                  </a:txBody>
                  <a:tcPr marL="133350" marR="95250" marT="76200" marB="57150">
                    <a:solidFill>
                      <a:srgbClr val="FFFFFF"/>
                    </a:solidFill>
                  </a:tcPr>
                </a:tc>
                <a:tc>
                  <a:txBody>
                    <a:bodyPr/>
                    <a:lstStyle/>
                    <a:p>
                      <a:r>
                        <a:rPr sz="2400" b="0">
                          <a:solidFill>
                            <a:srgbClr val="202426"/>
                          </a:solidFill>
                          <a:latin typeface="Arimo"/>
                          <a:ea typeface="Arimo"/>
                          <a:cs typeface="Arimo"/>
                        </a:rPr>
                        <a:t>g</a:t>
                      </a:r>
                    </a:p>
                  </a:txBody>
                  <a:tcPr marL="133350" marR="95250" marT="76200" marB="57150">
                    <a:solidFill>
                      <a:srgbClr val="FFFFFF"/>
                    </a:solid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71405EE0-9951-4049-B5F1-7DC4B4DF81D0}"/>
              </a:ext>
            </a:extLst>
          </p:cNvPr>
          <p:cNvSpPr>
            <a:spLocks noGrp="1"/>
          </p:cNvSpPr>
          <p:nvPr/>
        </p:nvSpPr>
        <p:spPr>
          <a:xfrm>
            <a:off x="1028700" y="5657850"/>
            <a:ext cx="10325100" cy="523875"/>
          </a:xfrm>
          <a:prstGeom prst="rect">
            <a:avLst/>
          </a:prstGeom>
          <a:noFill/>
          <a:ln w="0">
            <a:noFill/>
          </a:ln>
        </p:spPr>
        <p:txBody>
          <a:bodyPr anchor="ctr">
            <a:noAutofit/>
          </a:bodyPr>
          <a:lstStyle/>
          <a:p>
            <a:pPr algn="l">
              <a:defRPr sz="2025" b="0">
                <a:solidFill>
                  <a:srgbClr val="B73513"/>
                </a:solidFill>
                <a:latin typeface="Arimo"/>
                <a:ea typeface="Arimo"/>
                <a:cs typeface="Arimo"/>
              </a:defRPr>
            </a:pPr>
            <a:r>
              <a:rPr sz="2025" b="0">
                <a:solidFill>
                  <a:srgbClr val="B73513"/>
                </a:solidFill>
                <a:latin typeface="Arimo"/>
                <a:ea typeface="Arimo"/>
                <a:cs typeface="Arimo"/>
              </a:rPr>
              <a:t>i fills 0–2. LENGTH + i fills 3–5.</a:t>
            </a:r>
          </a:p>
        </p:txBody>
      </p:sp>
    </p:spTree>
    <p:extLst>
      <p:ext uri="{BB962C8B-B14F-4D97-AF65-F5344CB8AC3E}">
        <p14:creationId xmlns:p14="http://schemas.microsoft.com/office/powerpoint/2010/main" val="1872664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4DD31E40-0680-4049-95AD-08ACFFCAC2B2}"/>
              </a:ext>
            </a:extLst>
          </p:cNvPr>
          <p:cNvSpPr>
            <a:spLocks noGrp="1"/>
          </p:cNvSpPr>
          <p:nvPr/>
        </p:nvSpPr>
        <p:spPr>
          <a:xfrm>
            <a:off x="0" y="0"/>
            <a:ext cx="76200" cy="6858000"/>
          </a:xfrm>
          <a:prstGeom prst="rect">
            <a:avLst/>
          </a:prstGeom>
          <a:solidFill>
            <a:srgbClr val="DF4214"/>
          </a:solidFill>
          <a:ln w="0">
            <a:noFill/>
          </a:ln>
        </p:spPr>
      </p:sp>
      <p:pic>
        <p:nvPicPr>
          <p:cNvPr id="38" name="Picture 37"/>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D7FAEB0C-E921-49DD-8B69-49AA72F25A73}"/>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Alphabetical joining</a:t>
            </a:r>
          </a:p>
        </p:txBody>
      </p:sp>
      <p:sp>
        <p:nvSpPr>
          <p:cNvPr id="4" name="Rectangle 3">
            <a:extLst>
              <a:ext uri="{FF2B5EF4-FFF2-40B4-BE49-F238E27FC236}">
                <a16:creationId xmlns:a16="http://schemas.microsoft.com/office/drawing/2014/main" id="{0C3871BF-786D-4E52-9A72-B16FC5523013}"/>
              </a:ext>
            </a:extLst>
          </p:cNvPr>
          <p:cNvSpPr>
            <a:spLocks noGrp="1"/>
          </p:cNvSpPr>
          <p:nvPr/>
        </p:nvSpPr>
        <p:spPr>
          <a:xfrm>
            <a:off x="11144250" y="6343650"/>
            <a:ext cx="457200" cy="266700"/>
          </a:xfrm>
          <a:prstGeom prst="rect">
            <a:avLst/>
          </a:prstGeom>
          <a:noFill/>
          <a:ln w="0">
            <a:noFill/>
          </a:ln>
        </p:spPr>
        <p:txBody>
          <a:bodyPr anchor="ctr">
            <a:noAutofit/>
          </a:bodyPr>
          <a:lstStyle/>
          <a:p>
            <a:pPr algn="r">
              <a:defRPr sz="1350">
                <a:solidFill>
                  <a:srgbClr val="6B7277"/>
                </a:solidFill>
                <a:latin typeface="Arimo"/>
                <a:ea typeface="Arimo"/>
                <a:cs typeface="Arimo"/>
              </a:defRPr>
            </a:pPr>
            <a:r>
              <a:rPr sz="1350">
                <a:solidFill>
                  <a:srgbClr val="6B7277"/>
                </a:solidFill>
                <a:latin typeface="Arimo"/>
                <a:ea typeface="Arimo"/>
                <a:cs typeface="Arimo"/>
              </a:rPr>
              <a:t>24</a:t>
            </a:r>
          </a:p>
        </p:txBody>
      </p:sp>
      <p:sp>
        <p:nvSpPr>
          <p:cNvPr id="5" name="Rounded Rectangle 4">
            <a:extLst>
              <a:ext uri="{FF2B5EF4-FFF2-40B4-BE49-F238E27FC236}">
                <a16:creationId xmlns:a16="http://schemas.microsoft.com/office/drawing/2014/main" id="{72EDDEA0-B537-4FA1-BA16-0856F070DD57}"/>
              </a:ext>
            </a:extLst>
          </p:cNvPr>
          <p:cNvSpPr>
            <a:spLocks noGrp="1"/>
          </p:cNvSpPr>
          <p:nvPr/>
        </p:nvSpPr>
        <p:spPr>
          <a:xfrm>
            <a:off x="4827270" y="1810893"/>
            <a:ext cx="1973580" cy="394716"/>
          </a:xfrm>
          <a:prstGeom prst="roundRect">
            <a:avLst>
              <a:gd name="adj" fmla="val 42857"/>
            </a:avLst>
          </a:prstGeom>
          <a:noFill/>
          <a:ln w="14288">
            <a:solidFill>
              <a:srgbClr val="303436"/>
            </a:solidFill>
          </a:ln>
        </p:spPr>
      </p:sp>
      <p:sp>
        <p:nvSpPr>
          <p:cNvPr id="6" name="Rectangle 5">
            <a:extLst>
              <a:ext uri="{FF2B5EF4-FFF2-40B4-BE49-F238E27FC236}">
                <a16:creationId xmlns:a16="http://schemas.microsoft.com/office/drawing/2014/main" id="{AEF43923-A711-41FC-9828-6537776EBEAA}"/>
              </a:ext>
            </a:extLst>
          </p:cNvPr>
          <p:cNvSpPr>
            <a:spLocks noGrp="1"/>
          </p:cNvSpPr>
          <p:nvPr/>
        </p:nvSpPr>
        <p:spPr>
          <a:xfrm>
            <a:off x="4876610" y="1839087"/>
            <a:ext cx="1874901" cy="338328"/>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Start at index 0</a:t>
            </a:r>
          </a:p>
        </p:txBody>
      </p:sp>
      <p:sp>
        <p:nvSpPr>
          <p:cNvPr id="7" name="Diamond 6">
            <a:extLst>
              <a:ext uri="{FF2B5EF4-FFF2-40B4-BE49-F238E27FC236}">
                <a16:creationId xmlns:a16="http://schemas.microsoft.com/office/drawing/2014/main" id="{C6F6C93A-6647-4376-A40D-12BB8F035590}"/>
              </a:ext>
            </a:extLst>
          </p:cNvPr>
          <p:cNvSpPr>
            <a:spLocks noGrp="1"/>
          </p:cNvSpPr>
          <p:nvPr/>
        </p:nvSpPr>
        <p:spPr>
          <a:xfrm>
            <a:off x="4827270" y="2543937"/>
            <a:ext cx="1973580" cy="986790"/>
          </a:xfrm>
          <a:prstGeom prst="diamond">
            <a:avLst/>
          </a:prstGeom>
          <a:noFill/>
          <a:ln w="14288">
            <a:solidFill>
              <a:srgbClr val="303436"/>
            </a:solidFill>
          </a:ln>
        </p:spPr>
      </p:sp>
      <p:sp>
        <p:nvSpPr>
          <p:cNvPr id="8" name="Rectangle 7">
            <a:extLst>
              <a:ext uri="{FF2B5EF4-FFF2-40B4-BE49-F238E27FC236}">
                <a16:creationId xmlns:a16="http://schemas.microsoft.com/office/drawing/2014/main" id="{8521A796-7DD5-4EEA-9CAF-3B8393C93C86}"/>
              </a:ext>
            </a:extLst>
          </p:cNvPr>
          <p:cNvSpPr>
            <a:spLocks noGrp="1"/>
          </p:cNvSpPr>
          <p:nvPr/>
        </p:nvSpPr>
        <p:spPr>
          <a:xfrm>
            <a:off x="4876610" y="2572131"/>
            <a:ext cx="1874901" cy="930402"/>
          </a:xfrm>
          <a:prstGeom prst="rect">
            <a:avLst/>
          </a:prstGeom>
          <a:noFill/>
          <a:ln w="0">
            <a:noFill/>
          </a:ln>
        </p:spPr>
        <p:txBody>
          <a:bodyPr anchor="ctr">
            <a:noAutofit/>
          </a:bodyPr>
          <a:lstStyle/>
          <a:p>
            <a:pPr algn="ctr">
              <a:defRPr sz="1554">
                <a:solidFill>
                  <a:srgbClr val="202426"/>
                </a:solidFill>
                <a:latin typeface="Arimo"/>
                <a:ea typeface="Arimo"/>
                <a:cs typeface="Arimo"/>
              </a:defRPr>
            </a:pPr>
            <a:r>
              <a:rPr sz="1554">
                <a:solidFill>
                  <a:srgbClr val="202426"/>
                </a:solidFill>
                <a:latin typeface="Arimo"/>
                <a:ea typeface="Arimo"/>
                <a:cs typeface="Arimo"/>
              </a:rPr>
              <a:t>Inside</a:t>
            </a:r>
          </a:p>
          <a:p>
            <a:pPr algn="ctr">
              <a:defRPr sz="1554">
                <a:solidFill>
                  <a:srgbClr val="202426"/>
                </a:solidFill>
                <a:latin typeface="Arimo"/>
                <a:ea typeface="Arimo"/>
                <a:cs typeface="Arimo"/>
              </a:defRPr>
            </a:pPr>
            <a:r>
              <a:rPr sz="1554">
                <a:solidFill>
                  <a:srgbClr val="202426"/>
                </a:solidFill>
                <a:latin typeface="Arimo"/>
                <a:ea typeface="Arimo"/>
                <a:cs typeface="Arimo"/>
              </a:rPr>
              <a:t>both arrays?</a:t>
            </a:r>
          </a:p>
        </p:txBody>
      </p:sp>
      <p:sp>
        <p:nvSpPr>
          <p:cNvPr id="9" name="Diamond 8">
            <a:extLst>
              <a:ext uri="{FF2B5EF4-FFF2-40B4-BE49-F238E27FC236}">
                <a16:creationId xmlns:a16="http://schemas.microsoft.com/office/drawing/2014/main" id="{EA777CEE-5916-49CD-9EA9-E406748A85E3}"/>
              </a:ext>
            </a:extLst>
          </p:cNvPr>
          <p:cNvSpPr>
            <a:spLocks noGrp="1"/>
          </p:cNvSpPr>
          <p:nvPr/>
        </p:nvSpPr>
        <p:spPr>
          <a:xfrm>
            <a:off x="4827270" y="3918395"/>
            <a:ext cx="1973580" cy="986790"/>
          </a:xfrm>
          <a:prstGeom prst="diamond">
            <a:avLst/>
          </a:prstGeom>
          <a:noFill/>
          <a:ln w="14288">
            <a:solidFill>
              <a:srgbClr val="303436"/>
            </a:solidFill>
          </a:ln>
        </p:spPr>
      </p:sp>
      <p:sp>
        <p:nvSpPr>
          <p:cNvPr id="10" name="Rectangle 9">
            <a:extLst>
              <a:ext uri="{FF2B5EF4-FFF2-40B4-BE49-F238E27FC236}">
                <a16:creationId xmlns:a16="http://schemas.microsoft.com/office/drawing/2014/main" id="{FE42380F-01AC-4E0D-8989-EF1674CF6881}"/>
              </a:ext>
            </a:extLst>
          </p:cNvPr>
          <p:cNvSpPr>
            <a:spLocks noGrp="1"/>
          </p:cNvSpPr>
          <p:nvPr/>
        </p:nvSpPr>
        <p:spPr>
          <a:xfrm>
            <a:off x="4876610" y="3946588"/>
            <a:ext cx="1874901" cy="930402"/>
          </a:xfrm>
          <a:prstGeom prst="rect">
            <a:avLst/>
          </a:prstGeom>
          <a:noFill/>
          <a:ln w="0">
            <a:noFill/>
          </a:ln>
        </p:spPr>
        <p:txBody>
          <a:bodyPr anchor="ctr">
            <a:noAutofit/>
          </a:bodyPr>
          <a:lstStyle/>
          <a:p>
            <a:pPr algn="ctr">
              <a:defRPr sz="1554">
                <a:solidFill>
                  <a:srgbClr val="202426"/>
                </a:solidFill>
                <a:latin typeface="Arimo"/>
                <a:ea typeface="Arimo"/>
                <a:cs typeface="Arimo"/>
              </a:defRPr>
            </a:pPr>
            <a:r>
              <a:rPr sz="1554">
                <a:solidFill>
                  <a:srgbClr val="202426"/>
                </a:solidFill>
                <a:latin typeface="Arimo"/>
                <a:ea typeface="Arimo"/>
                <a:cs typeface="Arimo"/>
              </a:rPr>
              <a:t>Characters</a:t>
            </a:r>
          </a:p>
          <a:p>
            <a:pPr algn="ctr">
              <a:defRPr sz="1554">
                <a:solidFill>
                  <a:srgbClr val="202426"/>
                </a:solidFill>
                <a:latin typeface="Arimo"/>
                <a:ea typeface="Arimo"/>
                <a:cs typeface="Arimo"/>
              </a:defRPr>
            </a:pPr>
            <a:r>
              <a:rPr sz="1554">
                <a:solidFill>
                  <a:srgbClr val="202426"/>
                </a:solidFill>
                <a:latin typeface="Arimo"/>
                <a:ea typeface="Arimo"/>
                <a:cs typeface="Arimo"/>
              </a:rPr>
              <a:t>match?</a:t>
            </a:r>
          </a:p>
        </p:txBody>
      </p:sp>
      <p:sp>
        <p:nvSpPr>
          <p:cNvPr id="11" name="Rectangle 10">
            <a:extLst>
              <a:ext uri="{FF2B5EF4-FFF2-40B4-BE49-F238E27FC236}">
                <a16:creationId xmlns:a16="http://schemas.microsoft.com/office/drawing/2014/main" id="{259F1DA8-BDA8-410E-A638-9420AFB42A54}"/>
              </a:ext>
            </a:extLst>
          </p:cNvPr>
          <p:cNvSpPr>
            <a:spLocks noGrp="1"/>
          </p:cNvSpPr>
          <p:nvPr/>
        </p:nvSpPr>
        <p:spPr>
          <a:xfrm>
            <a:off x="2007870" y="4115753"/>
            <a:ext cx="2290763" cy="592074"/>
          </a:xfrm>
          <a:prstGeom prst="rect">
            <a:avLst/>
          </a:prstGeom>
          <a:noFill/>
          <a:ln w="14288">
            <a:solidFill>
              <a:srgbClr val="303436"/>
            </a:solidFill>
          </a:ln>
        </p:spPr>
      </p:sp>
      <p:sp>
        <p:nvSpPr>
          <p:cNvPr id="12" name="Rectangle 11">
            <a:extLst>
              <a:ext uri="{FF2B5EF4-FFF2-40B4-BE49-F238E27FC236}">
                <a16:creationId xmlns:a16="http://schemas.microsoft.com/office/drawing/2014/main" id="{B5C577D0-6421-483E-80A5-37577A863B6F}"/>
              </a:ext>
            </a:extLst>
          </p:cNvPr>
          <p:cNvSpPr>
            <a:spLocks noGrp="1"/>
          </p:cNvSpPr>
          <p:nvPr/>
        </p:nvSpPr>
        <p:spPr>
          <a:xfrm>
            <a:off x="2057210" y="4143947"/>
            <a:ext cx="2192084" cy="535686"/>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Move to next</a:t>
            </a:r>
          </a:p>
          <a:p>
            <a:pPr algn="ctr">
              <a:defRPr sz="1610">
                <a:solidFill>
                  <a:srgbClr val="202426"/>
                </a:solidFill>
                <a:latin typeface="Arimo"/>
                <a:ea typeface="Arimo"/>
                <a:cs typeface="Arimo"/>
              </a:defRPr>
            </a:pPr>
            <a:r>
              <a:rPr sz="1610">
                <a:solidFill>
                  <a:srgbClr val="202426"/>
                </a:solidFill>
                <a:latin typeface="Arimo"/>
                <a:ea typeface="Arimo"/>
                <a:cs typeface="Arimo"/>
              </a:rPr>
              <a:t>character</a:t>
            </a:r>
          </a:p>
        </p:txBody>
      </p:sp>
      <p:sp>
        <p:nvSpPr>
          <p:cNvPr id="13" name="Rectangle 12">
            <a:extLst>
              <a:ext uri="{FF2B5EF4-FFF2-40B4-BE49-F238E27FC236}">
                <a16:creationId xmlns:a16="http://schemas.microsoft.com/office/drawing/2014/main" id="{2930FAA7-8DD9-43DB-8102-835F581A3479}"/>
              </a:ext>
            </a:extLst>
          </p:cNvPr>
          <p:cNvSpPr>
            <a:spLocks noGrp="1"/>
          </p:cNvSpPr>
          <p:nvPr/>
        </p:nvSpPr>
        <p:spPr>
          <a:xfrm>
            <a:off x="7646670" y="2741295"/>
            <a:ext cx="2466975" cy="592074"/>
          </a:xfrm>
          <a:prstGeom prst="rect">
            <a:avLst/>
          </a:prstGeom>
          <a:noFill/>
          <a:ln w="14288">
            <a:solidFill>
              <a:srgbClr val="303436"/>
            </a:solidFill>
          </a:ln>
        </p:spPr>
      </p:sp>
      <p:sp>
        <p:nvSpPr>
          <p:cNvPr id="14" name="Rectangle 13">
            <a:extLst>
              <a:ext uri="{FF2B5EF4-FFF2-40B4-BE49-F238E27FC236}">
                <a16:creationId xmlns:a16="http://schemas.microsoft.com/office/drawing/2014/main" id="{E36A1065-A39A-4B40-BDE4-19D6D1035352}"/>
              </a:ext>
            </a:extLst>
          </p:cNvPr>
          <p:cNvSpPr>
            <a:spLocks noGrp="1"/>
          </p:cNvSpPr>
          <p:nvPr/>
        </p:nvSpPr>
        <p:spPr>
          <a:xfrm>
            <a:off x="7696010" y="2769489"/>
            <a:ext cx="2368296" cy="535686"/>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Keep the</a:t>
            </a:r>
          </a:p>
          <a:p>
            <a:pPr algn="ctr">
              <a:defRPr sz="1610">
                <a:solidFill>
                  <a:srgbClr val="202426"/>
                </a:solidFill>
                <a:latin typeface="Arimo"/>
                <a:ea typeface="Arimo"/>
                <a:cs typeface="Arimo"/>
              </a:defRPr>
            </a:pPr>
            <a:r>
              <a:rPr sz="1610">
                <a:solidFill>
                  <a:srgbClr val="202426"/>
                </a:solidFill>
                <a:latin typeface="Arimo"/>
                <a:ea typeface="Arimo"/>
                <a:cs typeface="Arimo"/>
              </a:rPr>
              <a:t>original order</a:t>
            </a:r>
          </a:p>
        </p:txBody>
      </p:sp>
      <p:sp>
        <p:nvSpPr>
          <p:cNvPr id="15" name="Rectangle 14">
            <a:extLst>
              <a:ext uri="{FF2B5EF4-FFF2-40B4-BE49-F238E27FC236}">
                <a16:creationId xmlns:a16="http://schemas.microsoft.com/office/drawing/2014/main" id="{B464A482-2843-470F-87AD-40F050E4B6E7}"/>
              </a:ext>
            </a:extLst>
          </p:cNvPr>
          <p:cNvSpPr>
            <a:spLocks noGrp="1"/>
          </p:cNvSpPr>
          <p:nvPr/>
        </p:nvSpPr>
        <p:spPr>
          <a:xfrm>
            <a:off x="7576185" y="4115753"/>
            <a:ext cx="2537460" cy="592074"/>
          </a:xfrm>
          <a:prstGeom prst="rect">
            <a:avLst/>
          </a:prstGeom>
          <a:noFill/>
          <a:ln w="14288">
            <a:solidFill>
              <a:srgbClr val="303436"/>
            </a:solidFill>
          </a:ln>
        </p:spPr>
      </p:sp>
      <p:sp>
        <p:nvSpPr>
          <p:cNvPr id="16" name="Rectangle 15">
            <a:extLst>
              <a:ext uri="{FF2B5EF4-FFF2-40B4-BE49-F238E27FC236}">
                <a16:creationId xmlns:a16="http://schemas.microsoft.com/office/drawing/2014/main" id="{7614256E-B684-4565-A37B-E340ABEAAA4C}"/>
              </a:ext>
            </a:extLst>
          </p:cNvPr>
          <p:cNvSpPr>
            <a:spLocks noGrp="1"/>
          </p:cNvSpPr>
          <p:nvPr/>
        </p:nvSpPr>
        <p:spPr>
          <a:xfrm>
            <a:off x="7625524" y="4143947"/>
            <a:ext cx="2438781" cy="535686"/>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Earlier letter’s</a:t>
            </a:r>
          </a:p>
          <a:p>
            <a:pPr algn="ctr">
              <a:defRPr sz="1610">
                <a:solidFill>
                  <a:srgbClr val="202426"/>
                </a:solidFill>
                <a:latin typeface="Arimo"/>
                <a:ea typeface="Arimo"/>
                <a:cs typeface="Arimo"/>
              </a:defRPr>
            </a:pPr>
            <a:r>
              <a:rPr sz="1610">
                <a:solidFill>
                  <a:srgbClr val="202426"/>
                </a:solidFill>
                <a:latin typeface="Arimo"/>
                <a:ea typeface="Arimo"/>
                <a:cs typeface="Arimo"/>
              </a:rPr>
              <a:t>array first</a:t>
            </a:r>
          </a:p>
        </p:txBody>
      </p:sp>
      <p:sp>
        <p:nvSpPr>
          <p:cNvPr id="17" name="Rounded Rectangle 16">
            <a:extLst>
              <a:ext uri="{FF2B5EF4-FFF2-40B4-BE49-F238E27FC236}">
                <a16:creationId xmlns:a16="http://schemas.microsoft.com/office/drawing/2014/main" id="{30C3EF93-8EFD-4CA8-A94A-14C650300A69}"/>
              </a:ext>
            </a:extLst>
          </p:cNvPr>
          <p:cNvSpPr>
            <a:spLocks noGrp="1"/>
          </p:cNvSpPr>
          <p:nvPr/>
        </p:nvSpPr>
        <p:spPr>
          <a:xfrm>
            <a:off x="7294245" y="5349240"/>
            <a:ext cx="3101340" cy="592074"/>
          </a:xfrm>
          <a:prstGeom prst="roundRect">
            <a:avLst>
              <a:gd name="adj" fmla="val 28571"/>
            </a:avLst>
          </a:prstGeom>
          <a:noFill/>
          <a:ln w="14288">
            <a:solidFill>
              <a:srgbClr val="303436"/>
            </a:solidFill>
          </a:ln>
        </p:spPr>
      </p:sp>
      <p:sp>
        <p:nvSpPr>
          <p:cNvPr id="18" name="Rectangle 17">
            <a:extLst>
              <a:ext uri="{FF2B5EF4-FFF2-40B4-BE49-F238E27FC236}">
                <a16:creationId xmlns:a16="http://schemas.microsoft.com/office/drawing/2014/main" id="{24ABA39C-7D06-453C-BA5D-224DA83C38DF}"/>
              </a:ext>
            </a:extLst>
          </p:cNvPr>
          <p:cNvSpPr>
            <a:spLocks noGrp="1"/>
          </p:cNvSpPr>
          <p:nvPr/>
        </p:nvSpPr>
        <p:spPr>
          <a:xfrm>
            <a:off x="7343585" y="5377434"/>
            <a:ext cx="3002661" cy="535686"/>
          </a:xfrm>
          <a:prstGeom prst="rect">
            <a:avLst/>
          </a:prstGeom>
          <a:noFill/>
          <a:ln w="0">
            <a:noFill/>
          </a:ln>
        </p:spPr>
        <p:txBody>
          <a:bodyPr anchor="ctr">
            <a:noAutofit/>
          </a:bodyPr>
          <a:lstStyle/>
          <a:p>
            <a:pPr algn="ctr">
              <a:defRPr sz="1610">
                <a:solidFill>
                  <a:srgbClr val="202426"/>
                </a:solidFill>
                <a:latin typeface="Arimo"/>
                <a:ea typeface="Arimo"/>
                <a:cs typeface="Arimo"/>
              </a:defRPr>
            </a:pPr>
            <a:r>
              <a:rPr sz="1610">
                <a:solidFill>
                  <a:srgbClr val="202426"/>
                </a:solidFill>
                <a:latin typeface="Arimo"/>
                <a:ea typeface="Arimo"/>
                <a:cs typeface="Arimo"/>
              </a:rPr>
              <a:t>Copy both arrays</a:t>
            </a:r>
          </a:p>
          <a:p>
            <a:pPr algn="ctr">
              <a:defRPr sz="1610">
                <a:solidFill>
                  <a:srgbClr val="202426"/>
                </a:solidFill>
                <a:latin typeface="Arimo"/>
                <a:ea typeface="Arimo"/>
                <a:cs typeface="Arimo"/>
              </a:defRPr>
            </a:pPr>
            <a:r>
              <a:rPr sz="1610">
                <a:solidFill>
                  <a:srgbClr val="202426"/>
                </a:solidFill>
                <a:latin typeface="Arimo"/>
                <a:ea typeface="Arimo"/>
                <a:cs typeface="Arimo"/>
              </a:rPr>
              <a:t>Print 6 characters</a:t>
            </a:r>
          </a:p>
        </p:txBody>
      </p:sp>
      <p:cxnSp>
        <p:nvCxnSpPr>
          <p:cNvPr id="55" name="Straight Arrow Connector 54"/>
          <p:cNvCxnSpPr>
            <a:stCxn id="5" idx="2"/>
            <a:endCxn id="7" idx="0"/>
          </p:cNvCxnSpPr>
          <p:nvPr/>
        </p:nvCxnSpPr>
        <p:spPr>
          <a:xfrm>
            <a:off x="5814060" y="2205609"/>
            <a:ext cx="0" cy="338328"/>
          </a:xfrm>
          <a:prstGeom prst="straightConnector1">
            <a:avLst/>
          </a:prstGeom>
          <a:ln w="22860">
            <a:solidFill>
              <a:srgbClr val="303436"/>
            </a:solidFill>
            <a:tailEnd type="triangle" w="med" len="med"/>
          </a:ln>
        </p:spPr>
      </p:cxnSp>
      <p:cxnSp>
        <p:nvCxnSpPr>
          <p:cNvPr id="56" name="Straight Arrow Connector 55"/>
          <p:cNvCxnSpPr>
            <a:stCxn id="7" idx="2"/>
            <a:endCxn id="9" idx="0"/>
          </p:cNvCxnSpPr>
          <p:nvPr/>
        </p:nvCxnSpPr>
        <p:spPr>
          <a:xfrm>
            <a:off x="5814060" y="3530727"/>
            <a:ext cx="0" cy="387668"/>
          </a:xfrm>
          <a:prstGeom prst="straightConnector1">
            <a:avLst/>
          </a:prstGeom>
          <a:ln w="22860">
            <a:solidFill>
              <a:srgbClr val="303436"/>
            </a:solidFill>
            <a:tailEnd type="triangle" w="med" len="med"/>
          </a:ln>
        </p:spPr>
      </p:cxnSp>
      <p:cxnSp>
        <p:nvCxnSpPr>
          <p:cNvPr id="57" name="Straight Arrow Connector 56"/>
          <p:cNvCxnSpPr>
            <a:stCxn id="7" idx="3"/>
            <a:endCxn id="13" idx="1"/>
          </p:cNvCxnSpPr>
          <p:nvPr/>
        </p:nvCxnSpPr>
        <p:spPr>
          <a:xfrm>
            <a:off x="6800850" y="3037332"/>
            <a:ext cx="845820" cy="0"/>
          </a:xfrm>
          <a:prstGeom prst="straightConnector1">
            <a:avLst/>
          </a:prstGeom>
          <a:ln w="22860">
            <a:solidFill>
              <a:srgbClr val="303436"/>
            </a:solidFill>
            <a:tailEnd type="triangle" w="med" len="med"/>
          </a:ln>
        </p:spPr>
      </p:cxnSp>
      <p:cxnSp>
        <p:nvCxnSpPr>
          <p:cNvPr id="58" name="Straight Arrow Connector 57"/>
          <p:cNvCxnSpPr>
            <a:stCxn id="9" idx="1"/>
            <a:endCxn id="11" idx="3"/>
          </p:cNvCxnSpPr>
          <p:nvPr/>
        </p:nvCxnSpPr>
        <p:spPr>
          <a:xfrm flipH="1">
            <a:off x="4298633" y="4411790"/>
            <a:ext cx="528637" cy="0"/>
          </a:xfrm>
          <a:prstGeom prst="straightConnector1">
            <a:avLst/>
          </a:prstGeom>
          <a:ln w="22860">
            <a:solidFill>
              <a:srgbClr val="303436"/>
            </a:solidFill>
            <a:tailEnd type="triangle" w="med" len="med"/>
          </a:ln>
        </p:spPr>
      </p:cxnSp>
      <p:sp>
        <p:nvSpPr>
          <p:cNvPr id="23" name="Rectangle 22">
            <a:extLst>
              <a:ext uri="{FF2B5EF4-FFF2-40B4-BE49-F238E27FC236}">
                <a16:creationId xmlns:a16="http://schemas.microsoft.com/office/drawing/2014/main" id="{1BF92F94-3833-47C3-9BFB-E739F32EA038}"/>
              </a:ext>
            </a:extLst>
          </p:cNvPr>
          <p:cNvSpPr>
            <a:spLocks noGrp="1"/>
          </p:cNvSpPr>
          <p:nvPr/>
        </p:nvSpPr>
        <p:spPr>
          <a:xfrm>
            <a:off x="3148489" y="3032570"/>
            <a:ext cx="9525" cy="9525"/>
          </a:xfrm>
          <a:prstGeom prst="rect">
            <a:avLst/>
          </a:prstGeom>
          <a:noFill/>
          <a:ln w="0">
            <a:noFill/>
          </a:ln>
        </p:spPr>
      </p:sp>
      <p:cxnSp>
        <p:nvCxnSpPr>
          <p:cNvPr id="60" name="Straight Arrow Connector 59"/>
          <p:cNvCxnSpPr>
            <a:stCxn id="11" idx="0"/>
            <a:endCxn id="23" idx="2"/>
          </p:cNvCxnSpPr>
          <p:nvPr/>
        </p:nvCxnSpPr>
        <p:spPr>
          <a:xfrm flipV="1">
            <a:off x="3153252" y="3042095"/>
            <a:ext cx="0" cy="1073658"/>
          </a:xfrm>
          <a:prstGeom prst="straightConnector1">
            <a:avLst/>
          </a:prstGeom>
          <a:ln w="22860">
            <a:solidFill>
              <a:srgbClr val="303436"/>
            </a:solidFill>
            <a:tailEnd type="none" w="med" len="med"/>
          </a:ln>
        </p:spPr>
      </p:cxnSp>
      <p:cxnSp>
        <p:nvCxnSpPr>
          <p:cNvPr id="61" name="Straight Arrow Connector 60"/>
          <p:cNvCxnSpPr>
            <a:stCxn id="23" idx="3"/>
            <a:endCxn id="7" idx="1"/>
          </p:cNvCxnSpPr>
          <p:nvPr/>
        </p:nvCxnSpPr>
        <p:spPr>
          <a:xfrm flipV="1">
            <a:off x="3158014" y="3037332"/>
            <a:ext cx="1669256" cy="0"/>
          </a:xfrm>
          <a:prstGeom prst="straightConnector1">
            <a:avLst/>
          </a:prstGeom>
          <a:ln w="22860">
            <a:solidFill>
              <a:srgbClr val="303436"/>
            </a:solidFill>
            <a:tailEnd type="triangle" w="med" len="med"/>
          </a:ln>
        </p:spPr>
      </p:cxnSp>
      <p:cxnSp>
        <p:nvCxnSpPr>
          <p:cNvPr id="62" name="Straight Arrow Connector 61"/>
          <p:cNvCxnSpPr>
            <a:stCxn id="9" idx="3"/>
            <a:endCxn id="15" idx="1"/>
          </p:cNvCxnSpPr>
          <p:nvPr/>
        </p:nvCxnSpPr>
        <p:spPr>
          <a:xfrm>
            <a:off x="6800850" y="4411790"/>
            <a:ext cx="775335" cy="0"/>
          </a:xfrm>
          <a:prstGeom prst="straightConnector1">
            <a:avLst/>
          </a:prstGeom>
          <a:ln w="22860">
            <a:solidFill>
              <a:srgbClr val="303436"/>
            </a:solidFill>
            <a:tailEnd type="triangle" w="med" len="med"/>
          </a:ln>
        </p:spPr>
      </p:cxnSp>
      <p:sp>
        <p:nvSpPr>
          <p:cNvPr id="27" name="Rectangle 26">
            <a:extLst>
              <a:ext uri="{FF2B5EF4-FFF2-40B4-BE49-F238E27FC236}">
                <a16:creationId xmlns:a16="http://schemas.microsoft.com/office/drawing/2014/main" id="{A762027D-E6EB-4031-B601-B0B414FAD056}"/>
              </a:ext>
            </a:extLst>
          </p:cNvPr>
          <p:cNvSpPr>
            <a:spLocks noGrp="1"/>
          </p:cNvSpPr>
          <p:nvPr/>
        </p:nvSpPr>
        <p:spPr>
          <a:xfrm>
            <a:off x="10602278" y="3032570"/>
            <a:ext cx="9525" cy="9525"/>
          </a:xfrm>
          <a:prstGeom prst="rect">
            <a:avLst/>
          </a:prstGeom>
          <a:noFill/>
          <a:ln w="0">
            <a:noFill/>
          </a:ln>
        </p:spPr>
      </p:sp>
      <p:cxnSp>
        <p:nvCxnSpPr>
          <p:cNvPr id="64" name="Straight Arrow Connector 63"/>
          <p:cNvCxnSpPr>
            <a:stCxn id="13" idx="3"/>
            <a:endCxn id="27" idx="1"/>
          </p:cNvCxnSpPr>
          <p:nvPr/>
        </p:nvCxnSpPr>
        <p:spPr>
          <a:xfrm>
            <a:off x="10113645" y="3037332"/>
            <a:ext cx="488633" cy="0"/>
          </a:xfrm>
          <a:prstGeom prst="straightConnector1">
            <a:avLst/>
          </a:prstGeom>
          <a:ln w="22860">
            <a:solidFill>
              <a:srgbClr val="303436"/>
            </a:solidFill>
            <a:tailEnd type="none" w="med" len="med"/>
          </a:ln>
        </p:spPr>
      </p:cxnSp>
      <p:sp>
        <p:nvSpPr>
          <p:cNvPr id="29" name="Rectangle 28">
            <a:extLst>
              <a:ext uri="{FF2B5EF4-FFF2-40B4-BE49-F238E27FC236}">
                <a16:creationId xmlns:a16="http://schemas.microsoft.com/office/drawing/2014/main" id="{B8C41DAF-85B0-412A-9BB0-2137583173CD}"/>
              </a:ext>
            </a:extLst>
          </p:cNvPr>
          <p:cNvSpPr>
            <a:spLocks noGrp="1"/>
          </p:cNvSpPr>
          <p:nvPr/>
        </p:nvSpPr>
        <p:spPr>
          <a:xfrm>
            <a:off x="10602278" y="5640515"/>
            <a:ext cx="9525" cy="9525"/>
          </a:xfrm>
          <a:prstGeom prst="rect">
            <a:avLst/>
          </a:prstGeom>
          <a:noFill/>
          <a:ln w="0">
            <a:noFill/>
          </a:ln>
        </p:spPr>
      </p:sp>
      <p:cxnSp>
        <p:nvCxnSpPr>
          <p:cNvPr id="66" name="Straight Arrow Connector 65"/>
          <p:cNvCxnSpPr>
            <a:stCxn id="27" idx="2"/>
            <a:endCxn id="29" idx="0"/>
          </p:cNvCxnSpPr>
          <p:nvPr/>
        </p:nvCxnSpPr>
        <p:spPr>
          <a:xfrm>
            <a:off x="10607041" y="3042095"/>
            <a:ext cx="0" cy="2598420"/>
          </a:xfrm>
          <a:prstGeom prst="straightConnector1">
            <a:avLst/>
          </a:prstGeom>
          <a:ln w="22860">
            <a:solidFill>
              <a:srgbClr val="303436"/>
            </a:solidFill>
            <a:tailEnd type="none" w="med" len="med"/>
          </a:ln>
        </p:spPr>
      </p:cxnSp>
      <p:cxnSp>
        <p:nvCxnSpPr>
          <p:cNvPr id="67" name="Straight Arrow Connector 66"/>
          <p:cNvCxnSpPr>
            <a:stCxn id="29" idx="1"/>
            <a:endCxn id="17" idx="3"/>
          </p:cNvCxnSpPr>
          <p:nvPr/>
        </p:nvCxnSpPr>
        <p:spPr>
          <a:xfrm flipH="1" flipV="1">
            <a:off x="10395585" y="5645277"/>
            <a:ext cx="206693" cy="0"/>
          </a:xfrm>
          <a:prstGeom prst="straightConnector1">
            <a:avLst/>
          </a:prstGeom>
          <a:ln w="22860">
            <a:solidFill>
              <a:srgbClr val="303436"/>
            </a:solidFill>
            <a:tailEnd type="triangle" w="med" len="med"/>
          </a:ln>
        </p:spPr>
      </p:cxnSp>
      <p:cxnSp>
        <p:nvCxnSpPr>
          <p:cNvPr id="68" name="Straight Arrow Connector 67"/>
          <p:cNvCxnSpPr>
            <a:stCxn id="15" idx="2"/>
            <a:endCxn id="17" idx="0"/>
          </p:cNvCxnSpPr>
          <p:nvPr/>
        </p:nvCxnSpPr>
        <p:spPr>
          <a:xfrm>
            <a:off x="8844915" y="4707827"/>
            <a:ext cx="0" cy="641413"/>
          </a:xfrm>
          <a:prstGeom prst="straightConnector1">
            <a:avLst/>
          </a:prstGeom>
          <a:ln w="22860">
            <a:solidFill>
              <a:srgbClr val="303436"/>
            </a:solidFill>
            <a:tailEnd type="triangle" w="med" len="med"/>
          </a:ln>
        </p:spPr>
      </p:cxnSp>
      <p:sp>
        <p:nvSpPr>
          <p:cNvPr id="33" name="Rectangle 32">
            <a:extLst>
              <a:ext uri="{FF2B5EF4-FFF2-40B4-BE49-F238E27FC236}">
                <a16:creationId xmlns:a16="http://schemas.microsoft.com/office/drawing/2014/main" id="{57E0021B-3C2E-4E44-A2CB-7DE9BEFF5EEB}"/>
              </a:ext>
            </a:extLst>
          </p:cNvPr>
          <p:cNvSpPr>
            <a:spLocks noGrp="1"/>
          </p:cNvSpPr>
          <p:nvPr/>
        </p:nvSpPr>
        <p:spPr>
          <a:xfrm>
            <a:off x="5947982" y="3587115"/>
            <a:ext cx="704850"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true</a:t>
            </a:r>
          </a:p>
        </p:txBody>
      </p:sp>
      <p:sp>
        <p:nvSpPr>
          <p:cNvPr id="34" name="Rectangle 33">
            <a:extLst>
              <a:ext uri="{FF2B5EF4-FFF2-40B4-BE49-F238E27FC236}">
                <a16:creationId xmlns:a16="http://schemas.microsoft.com/office/drawing/2014/main" id="{CAABC047-4401-4BCC-B419-0DC43D7710DB}"/>
              </a:ext>
            </a:extLst>
          </p:cNvPr>
          <p:cNvSpPr>
            <a:spLocks noGrp="1"/>
          </p:cNvSpPr>
          <p:nvPr/>
        </p:nvSpPr>
        <p:spPr>
          <a:xfrm>
            <a:off x="6871335" y="2713101"/>
            <a:ext cx="775335"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false</a:t>
            </a:r>
          </a:p>
        </p:txBody>
      </p:sp>
      <p:sp>
        <p:nvSpPr>
          <p:cNvPr id="35" name="Rectangle 34">
            <a:extLst>
              <a:ext uri="{FF2B5EF4-FFF2-40B4-BE49-F238E27FC236}">
                <a16:creationId xmlns:a16="http://schemas.microsoft.com/office/drawing/2014/main" id="{8F5CD6BC-B9D3-4EED-A6B0-7FAF2477F315}"/>
              </a:ext>
            </a:extLst>
          </p:cNvPr>
          <p:cNvSpPr>
            <a:spLocks noGrp="1"/>
          </p:cNvSpPr>
          <p:nvPr/>
        </p:nvSpPr>
        <p:spPr>
          <a:xfrm>
            <a:off x="4178808" y="4087559"/>
            <a:ext cx="775335"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true</a:t>
            </a:r>
          </a:p>
        </p:txBody>
      </p:sp>
      <p:sp>
        <p:nvSpPr>
          <p:cNvPr id="36" name="Rectangle 35">
            <a:extLst>
              <a:ext uri="{FF2B5EF4-FFF2-40B4-BE49-F238E27FC236}">
                <a16:creationId xmlns:a16="http://schemas.microsoft.com/office/drawing/2014/main" id="{01BDEFD0-BF8E-405C-B9FB-9947D3E03E64}"/>
              </a:ext>
            </a:extLst>
          </p:cNvPr>
          <p:cNvSpPr>
            <a:spLocks noGrp="1"/>
          </p:cNvSpPr>
          <p:nvPr/>
        </p:nvSpPr>
        <p:spPr>
          <a:xfrm>
            <a:off x="6821996" y="4087559"/>
            <a:ext cx="775335" cy="239649"/>
          </a:xfrm>
          <a:prstGeom prst="rect">
            <a:avLst/>
          </a:prstGeom>
          <a:noFill/>
          <a:ln w="0">
            <a:noFill/>
          </a:ln>
        </p:spPr>
        <p:txBody>
          <a:bodyPr anchor="ctr">
            <a:noAutofit/>
          </a:bodyPr>
          <a:lstStyle/>
          <a:p>
            <a:pPr algn="ctr">
              <a:defRPr sz="1388">
                <a:solidFill>
                  <a:srgbClr val="6B7277"/>
                </a:solidFill>
                <a:latin typeface="Arimo"/>
                <a:ea typeface="Arimo"/>
                <a:cs typeface="Arimo"/>
              </a:defRPr>
            </a:pPr>
            <a:r>
              <a:rPr sz="1388">
                <a:solidFill>
                  <a:srgbClr val="6B7277"/>
                </a:solidFill>
                <a:latin typeface="Arimo"/>
                <a:ea typeface="Arimo"/>
                <a:cs typeface="Arimo"/>
              </a:rPr>
              <a:t>false</a:t>
            </a:r>
          </a:p>
        </p:txBody>
      </p:sp>
    </p:spTree>
    <p:extLst>
      <p:ext uri="{BB962C8B-B14F-4D97-AF65-F5344CB8AC3E}">
        <p14:creationId xmlns:p14="http://schemas.microsoft.com/office/powerpoint/2010/main" val="2560380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F601557-5855-4F3A-BD3B-4371D7694A7D}"/>
              </a:ext>
            </a:extLst>
          </p:cNvPr>
          <p:cNvSpPr>
            <a:spLocks noGrp="1"/>
          </p:cNvSpPr>
          <p:nvPr/>
        </p:nvSpPr>
        <p:spPr>
          <a:xfrm>
            <a:off x="0" y="0"/>
            <a:ext cx="76200" cy="6858000"/>
          </a:xfrm>
          <a:prstGeom prst="rect">
            <a:avLst/>
          </a:prstGeom>
          <a:solidFill>
            <a:srgbClr val="DF4214"/>
          </a:solidFill>
          <a:ln w="0">
            <a:noFill/>
          </a:ln>
        </p:spPr>
      </p:sp>
      <p:pic>
        <p:nvPicPr>
          <p:cNvPr id="24" name="Picture 23"/>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70155C8C-48DD-4A06-9370-3A34395E5485}"/>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Alphabetical joining</a:t>
            </a:r>
          </a:p>
        </p:txBody>
      </p:sp>
      <p:sp>
        <p:nvSpPr>
          <p:cNvPr id="4" name="Rectangle 3">
            <a:extLst>
              <a:ext uri="{FF2B5EF4-FFF2-40B4-BE49-F238E27FC236}">
                <a16:creationId xmlns:a16="http://schemas.microsoft.com/office/drawing/2014/main" id="{7A334867-4B20-4E6C-B3D1-AC6482CADE12}"/>
              </a:ext>
            </a:extLst>
          </p:cNvPr>
          <p:cNvSpPr>
            <a:spLocks noGrp="1"/>
          </p:cNvSpPr>
          <p:nvPr/>
        </p:nvSpPr>
        <p:spPr>
          <a:xfrm>
            <a:off x="11144250" y="6343650"/>
            <a:ext cx="457200" cy="266700"/>
          </a:xfrm>
          <a:prstGeom prst="rect">
            <a:avLst/>
          </a:prstGeom>
          <a:noFill/>
          <a:ln w="0">
            <a:noFill/>
          </a:ln>
        </p:spPr>
        <p:txBody>
          <a:bodyPr anchor="ctr">
            <a:noAutofit/>
          </a:bodyPr>
          <a:lstStyle/>
          <a:p>
            <a:pPr algn="r">
              <a:defRPr sz="1350">
                <a:solidFill>
                  <a:srgbClr val="6B7277"/>
                </a:solidFill>
                <a:latin typeface="Arimo"/>
                <a:ea typeface="Arimo"/>
                <a:cs typeface="Arimo"/>
              </a:defRPr>
            </a:pPr>
            <a:r>
              <a:rPr sz="1350">
                <a:solidFill>
                  <a:srgbClr val="6B7277"/>
                </a:solidFill>
                <a:latin typeface="Arimo"/>
                <a:ea typeface="Arimo"/>
                <a:cs typeface="Arimo"/>
              </a:rPr>
              <a:t>25</a:t>
            </a:r>
          </a:p>
        </p:txBody>
      </p:sp>
      <p:sp>
        <p:nvSpPr>
          <p:cNvPr id="5" name="Rectangle 4">
            <a:extLst>
              <a:ext uri="{FF2B5EF4-FFF2-40B4-BE49-F238E27FC236}">
                <a16:creationId xmlns:a16="http://schemas.microsoft.com/office/drawing/2014/main" id="{7D398FB3-6F72-42CD-A77A-5CB446692176}"/>
              </a:ext>
            </a:extLst>
          </p:cNvPr>
          <p:cNvSpPr>
            <a:spLocks noGrp="1"/>
          </p:cNvSpPr>
          <p:nvPr/>
        </p:nvSpPr>
        <p:spPr>
          <a:xfrm>
            <a:off x="552450" y="1714500"/>
            <a:ext cx="504825" cy="428625"/>
          </a:xfrm>
          <a:prstGeom prst="rect">
            <a:avLst/>
          </a:prstGeom>
          <a:noFill/>
          <a:ln w="0">
            <a:noFill/>
          </a:ln>
        </p:spPr>
        <p:txBody>
          <a:bodyPr anchor="ctr">
            <a:noAutofit/>
          </a:bodyPr>
          <a:lstStyle/>
          <a:p>
            <a:pPr algn="r">
              <a:defRPr sz="2325">
                <a:solidFill>
                  <a:srgbClr val="6B7277"/>
                </a:solidFill>
                <a:latin typeface="Menlo"/>
                <a:ea typeface="Menlo"/>
                <a:cs typeface="Menlo"/>
              </a:defRPr>
            </a:pPr>
            <a:r>
              <a:rPr sz="2325">
                <a:solidFill>
                  <a:srgbClr val="6B7277"/>
                </a:solidFill>
                <a:latin typeface="Menlo"/>
                <a:ea typeface="Menlo"/>
                <a:cs typeface="Menlo"/>
              </a:rPr>
              <a:t>1</a:t>
            </a:r>
          </a:p>
        </p:txBody>
      </p:sp>
      <p:sp>
        <p:nvSpPr>
          <p:cNvPr id="6" name="Rectangle 5">
            <a:extLst>
              <a:ext uri="{FF2B5EF4-FFF2-40B4-BE49-F238E27FC236}">
                <a16:creationId xmlns:a16="http://schemas.microsoft.com/office/drawing/2014/main" id="{76568C9A-770A-4D87-AE7B-57EFDBD6AA1A}"/>
              </a:ext>
            </a:extLst>
          </p:cNvPr>
          <p:cNvSpPr>
            <a:spLocks noGrp="1"/>
          </p:cNvSpPr>
          <p:nvPr/>
        </p:nvSpPr>
        <p:spPr>
          <a:xfrm>
            <a:off x="1238250" y="1714500"/>
            <a:ext cx="10344150" cy="428625"/>
          </a:xfrm>
          <a:prstGeom prst="rect">
            <a:avLst/>
          </a:prstGeom>
          <a:noFill/>
          <a:ln w="0">
            <a:noFill/>
          </a:ln>
        </p:spPr>
        <p:txBody>
          <a:bodyPr anchor="ctr">
            <a:noAutofit/>
          </a:bodyPr>
          <a:lstStyle/>
          <a:p>
            <a:pPr algn="l">
              <a:defRPr sz="2325">
                <a:solidFill>
                  <a:srgbClr val="202426"/>
                </a:solidFill>
                <a:latin typeface="Menlo"/>
                <a:ea typeface="Menlo"/>
                <a:cs typeface="Menlo"/>
              </a:defRPr>
            </a:pPr>
            <a:r>
              <a:rPr sz="2325">
                <a:solidFill>
                  <a:srgbClr val="202426"/>
                </a:solidFill>
                <a:latin typeface="Menlo"/>
                <a:ea typeface="Menlo"/>
                <a:cs typeface="Menlo"/>
              </a:rPr>
              <a:t>Start at the first character of each array</a:t>
            </a:r>
          </a:p>
        </p:txBody>
      </p:sp>
      <p:sp>
        <p:nvSpPr>
          <p:cNvPr id="7" name="Rectangle 6">
            <a:extLst>
              <a:ext uri="{FF2B5EF4-FFF2-40B4-BE49-F238E27FC236}">
                <a16:creationId xmlns:a16="http://schemas.microsoft.com/office/drawing/2014/main" id="{B47A83C5-06A2-42B0-A7B2-AD6738416984}"/>
              </a:ext>
            </a:extLst>
          </p:cNvPr>
          <p:cNvSpPr>
            <a:spLocks noGrp="1"/>
          </p:cNvSpPr>
          <p:nvPr/>
        </p:nvSpPr>
        <p:spPr>
          <a:xfrm>
            <a:off x="552450" y="2181225"/>
            <a:ext cx="504825" cy="428625"/>
          </a:xfrm>
          <a:prstGeom prst="rect">
            <a:avLst/>
          </a:prstGeom>
          <a:noFill/>
          <a:ln w="0">
            <a:noFill/>
          </a:ln>
        </p:spPr>
        <p:txBody>
          <a:bodyPr anchor="ctr">
            <a:noAutofit/>
          </a:bodyPr>
          <a:lstStyle/>
          <a:p>
            <a:pPr algn="r">
              <a:defRPr sz="2325">
                <a:solidFill>
                  <a:srgbClr val="6B7277"/>
                </a:solidFill>
                <a:latin typeface="Menlo"/>
                <a:ea typeface="Menlo"/>
                <a:cs typeface="Menlo"/>
              </a:defRPr>
            </a:pPr>
            <a:r>
              <a:rPr sz="2325">
                <a:solidFill>
                  <a:srgbClr val="6B7277"/>
                </a:solidFill>
                <a:latin typeface="Menlo"/>
                <a:ea typeface="Menlo"/>
                <a:cs typeface="Menlo"/>
              </a:rPr>
              <a:t>2</a:t>
            </a:r>
          </a:p>
        </p:txBody>
      </p:sp>
      <p:sp>
        <p:nvSpPr>
          <p:cNvPr id="8" name="Rectangle 7">
            <a:extLst>
              <a:ext uri="{FF2B5EF4-FFF2-40B4-BE49-F238E27FC236}">
                <a16:creationId xmlns:a16="http://schemas.microsoft.com/office/drawing/2014/main" id="{EF2FC867-0114-4001-B319-797898F93C1D}"/>
              </a:ext>
            </a:extLst>
          </p:cNvPr>
          <p:cNvSpPr>
            <a:spLocks noGrp="1"/>
          </p:cNvSpPr>
          <p:nvPr/>
        </p:nvSpPr>
        <p:spPr>
          <a:xfrm>
            <a:off x="1238250" y="2181225"/>
            <a:ext cx="10344150" cy="428625"/>
          </a:xfrm>
          <a:prstGeom prst="rect">
            <a:avLst/>
          </a:prstGeom>
          <a:noFill/>
          <a:ln w="0">
            <a:noFill/>
          </a:ln>
        </p:spPr>
        <p:txBody>
          <a:bodyPr anchor="ctr">
            <a:noAutofit/>
          </a:bodyPr>
          <a:lstStyle/>
          <a:p>
            <a:pPr algn="l">
              <a:defRPr sz="2325">
                <a:solidFill>
                  <a:srgbClr val="202426"/>
                </a:solidFill>
                <a:latin typeface="Menlo"/>
                <a:ea typeface="Menlo"/>
                <a:cs typeface="Menlo"/>
              </a:defRPr>
            </a:pPr>
            <a:r>
              <a:rPr sz="2325">
                <a:solidFill>
                  <a:srgbClr val="202426"/>
                </a:solidFill>
                <a:latin typeface="Menlo"/>
                <a:ea typeface="Menlo"/>
                <a:cs typeface="Menlo"/>
              </a:rPr>
              <a:t>While both characters exist and match</a:t>
            </a:r>
          </a:p>
        </p:txBody>
      </p:sp>
      <p:sp>
        <p:nvSpPr>
          <p:cNvPr id="9" name="Rectangle 8">
            <a:extLst>
              <a:ext uri="{FF2B5EF4-FFF2-40B4-BE49-F238E27FC236}">
                <a16:creationId xmlns:a16="http://schemas.microsoft.com/office/drawing/2014/main" id="{D27E0FA6-DA1E-40B2-92B9-44542B37CC25}"/>
              </a:ext>
            </a:extLst>
          </p:cNvPr>
          <p:cNvSpPr>
            <a:spLocks noGrp="1"/>
          </p:cNvSpPr>
          <p:nvPr/>
        </p:nvSpPr>
        <p:spPr>
          <a:xfrm>
            <a:off x="552450" y="2647950"/>
            <a:ext cx="504825" cy="428625"/>
          </a:xfrm>
          <a:prstGeom prst="rect">
            <a:avLst/>
          </a:prstGeom>
          <a:noFill/>
          <a:ln w="0">
            <a:noFill/>
          </a:ln>
        </p:spPr>
        <p:txBody>
          <a:bodyPr anchor="ctr">
            <a:noAutofit/>
          </a:bodyPr>
          <a:lstStyle/>
          <a:p>
            <a:pPr algn="r">
              <a:defRPr sz="2325">
                <a:solidFill>
                  <a:srgbClr val="6B7277"/>
                </a:solidFill>
                <a:latin typeface="Menlo"/>
                <a:ea typeface="Menlo"/>
                <a:cs typeface="Menlo"/>
              </a:defRPr>
            </a:pPr>
            <a:r>
              <a:rPr sz="2325">
                <a:solidFill>
                  <a:srgbClr val="6B7277"/>
                </a:solidFill>
                <a:latin typeface="Menlo"/>
                <a:ea typeface="Menlo"/>
                <a:cs typeface="Menlo"/>
              </a:rPr>
              <a:t>3</a:t>
            </a:r>
          </a:p>
        </p:txBody>
      </p:sp>
      <p:sp>
        <p:nvSpPr>
          <p:cNvPr id="10" name="Rectangle 9">
            <a:extLst>
              <a:ext uri="{FF2B5EF4-FFF2-40B4-BE49-F238E27FC236}">
                <a16:creationId xmlns:a16="http://schemas.microsoft.com/office/drawing/2014/main" id="{A5C1A386-C3EB-48B9-A557-54D82BA4196E}"/>
              </a:ext>
            </a:extLst>
          </p:cNvPr>
          <p:cNvSpPr>
            <a:spLocks noGrp="1"/>
          </p:cNvSpPr>
          <p:nvPr/>
        </p:nvSpPr>
        <p:spPr>
          <a:xfrm>
            <a:off x="2000250" y="2647950"/>
            <a:ext cx="9582150" cy="428625"/>
          </a:xfrm>
          <a:prstGeom prst="rect">
            <a:avLst/>
          </a:prstGeom>
          <a:noFill/>
          <a:ln w="0">
            <a:noFill/>
          </a:ln>
        </p:spPr>
        <p:txBody>
          <a:bodyPr anchor="ctr">
            <a:noAutofit/>
          </a:bodyPr>
          <a:lstStyle/>
          <a:p>
            <a:pPr algn="l">
              <a:defRPr sz="2325">
                <a:solidFill>
                  <a:srgbClr val="202426"/>
                </a:solidFill>
                <a:latin typeface="Menlo"/>
                <a:ea typeface="Menlo"/>
                <a:cs typeface="Menlo"/>
              </a:defRPr>
            </a:pPr>
            <a:r>
              <a:rPr sz="2325">
                <a:solidFill>
                  <a:srgbClr val="202426"/>
                </a:solidFill>
                <a:latin typeface="Menlo"/>
                <a:ea typeface="Menlo"/>
                <a:cs typeface="Menlo"/>
              </a:rPr>
              <a:t>Move to the next character</a:t>
            </a:r>
          </a:p>
        </p:txBody>
      </p:sp>
      <p:sp>
        <p:nvSpPr>
          <p:cNvPr id="11" name="Rectangle 10">
            <a:extLst>
              <a:ext uri="{FF2B5EF4-FFF2-40B4-BE49-F238E27FC236}">
                <a16:creationId xmlns:a16="http://schemas.microsoft.com/office/drawing/2014/main" id="{9D6D2317-2087-4C6B-B83B-3F8FE7BDADC0}"/>
              </a:ext>
            </a:extLst>
          </p:cNvPr>
          <p:cNvSpPr>
            <a:spLocks noGrp="1"/>
          </p:cNvSpPr>
          <p:nvPr/>
        </p:nvSpPr>
        <p:spPr>
          <a:xfrm>
            <a:off x="552450" y="3114675"/>
            <a:ext cx="504825" cy="428625"/>
          </a:xfrm>
          <a:prstGeom prst="rect">
            <a:avLst/>
          </a:prstGeom>
          <a:noFill/>
          <a:ln w="0">
            <a:noFill/>
          </a:ln>
        </p:spPr>
        <p:txBody>
          <a:bodyPr anchor="ctr">
            <a:noAutofit/>
          </a:bodyPr>
          <a:lstStyle/>
          <a:p>
            <a:pPr algn="r">
              <a:defRPr sz="2325">
                <a:solidFill>
                  <a:srgbClr val="6B7277"/>
                </a:solidFill>
                <a:latin typeface="Menlo"/>
                <a:ea typeface="Menlo"/>
                <a:cs typeface="Menlo"/>
              </a:defRPr>
            </a:pPr>
            <a:r>
              <a:rPr sz="2325">
                <a:solidFill>
                  <a:srgbClr val="6B7277"/>
                </a:solidFill>
                <a:latin typeface="Menlo"/>
                <a:ea typeface="Menlo"/>
                <a:cs typeface="Menlo"/>
              </a:rPr>
              <a:t>4</a:t>
            </a:r>
          </a:p>
        </p:txBody>
      </p:sp>
      <p:sp>
        <p:nvSpPr>
          <p:cNvPr id="12" name="Rectangle 11">
            <a:extLst>
              <a:ext uri="{FF2B5EF4-FFF2-40B4-BE49-F238E27FC236}">
                <a16:creationId xmlns:a16="http://schemas.microsoft.com/office/drawing/2014/main" id="{8ADB5EBE-72D0-4A30-9A37-5E49073A7D09}"/>
              </a:ext>
            </a:extLst>
          </p:cNvPr>
          <p:cNvSpPr>
            <a:spLocks noGrp="1"/>
          </p:cNvSpPr>
          <p:nvPr/>
        </p:nvSpPr>
        <p:spPr>
          <a:xfrm>
            <a:off x="1238250" y="3114675"/>
            <a:ext cx="10344150" cy="428625"/>
          </a:xfrm>
          <a:prstGeom prst="rect">
            <a:avLst/>
          </a:prstGeom>
          <a:noFill/>
          <a:ln w="0">
            <a:noFill/>
          </a:ln>
        </p:spPr>
        <p:txBody>
          <a:bodyPr anchor="ctr">
            <a:noAutofit/>
          </a:bodyPr>
          <a:lstStyle/>
          <a:p>
            <a:pPr algn="l">
              <a:defRPr sz="2325">
                <a:solidFill>
                  <a:srgbClr val="202426"/>
                </a:solidFill>
                <a:latin typeface="Menlo"/>
                <a:ea typeface="Menlo"/>
                <a:cs typeface="Menlo"/>
              </a:defRPr>
            </a:pPr>
            <a:r>
              <a:rPr sz="2325">
                <a:solidFill>
                  <a:srgbClr val="202426"/>
                </a:solidFill>
                <a:latin typeface="Menlo"/>
                <a:ea typeface="Menlo"/>
                <a:cs typeface="Menlo"/>
              </a:rPr>
              <a:t>If all characters matched</a:t>
            </a:r>
          </a:p>
        </p:txBody>
      </p:sp>
      <p:sp>
        <p:nvSpPr>
          <p:cNvPr id="13" name="Rectangle 12">
            <a:extLst>
              <a:ext uri="{FF2B5EF4-FFF2-40B4-BE49-F238E27FC236}">
                <a16:creationId xmlns:a16="http://schemas.microsoft.com/office/drawing/2014/main" id="{1BCC3144-1A16-455D-913D-AB87B2A07DEF}"/>
              </a:ext>
            </a:extLst>
          </p:cNvPr>
          <p:cNvSpPr>
            <a:spLocks noGrp="1"/>
          </p:cNvSpPr>
          <p:nvPr/>
        </p:nvSpPr>
        <p:spPr>
          <a:xfrm>
            <a:off x="552450" y="3581400"/>
            <a:ext cx="504825" cy="428625"/>
          </a:xfrm>
          <a:prstGeom prst="rect">
            <a:avLst/>
          </a:prstGeom>
          <a:noFill/>
          <a:ln w="0">
            <a:noFill/>
          </a:ln>
        </p:spPr>
        <p:txBody>
          <a:bodyPr anchor="ctr">
            <a:noAutofit/>
          </a:bodyPr>
          <a:lstStyle/>
          <a:p>
            <a:pPr algn="r">
              <a:defRPr sz="2325">
                <a:solidFill>
                  <a:srgbClr val="6B7277"/>
                </a:solidFill>
                <a:latin typeface="Menlo"/>
                <a:ea typeface="Menlo"/>
                <a:cs typeface="Menlo"/>
              </a:defRPr>
            </a:pPr>
            <a:r>
              <a:rPr sz="2325">
                <a:solidFill>
                  <a:srgbClr val="6B7277"/>
                </a:solidFill>
                <a:latin typeface="Menlo"/>
                <a:ea typeface="Menlo"/>
                <a:cs typeface="Menlo"/>
              </a:rPr>
              <a:t>5</a:t>
            </a:r>
          </a:p>
        </p:txBody>
      </p:sp>
      <p:sp>
        <p:nvSpPr>
          <p:cNvPr id="14" name="Rectangle 13">
            <a:extLst>
              <a:ext uri="{FF2B5EF4-FFF2-40B4-BE49-F238E27FC236}">
                <a16:creationId xmlns:a16="http://schemas.microsoft.com/office/drawing/2014/main" id="{439EE8F8-51C4-4C40-9A40-D3E1C94B834F}"/>
              </a:ext>
            </a:extLst>
          </p:cNvPr>
          <p:cNvSpPr>
            <a:spLocks noGrp="1"/>
          </p:cNvSpPr>
          <p:nvPr/>
        </p:nvSpPr>
        <p:spPr>
          <a:xfrm>
            <a:off x="2000250" y="3581400"/>
            <a:ext cx="9582150" cy="428625"/>
          </a:xfrm>
          <a:prstGeom prst="rect">
            <a:avLst/>
          </a:prstGeom>
          <a:noFill/>
          <a:ln w="0">
            <a:noFill/>
          </a:ln>
        </p:spPr>
        <p:txBody>
          <a:bodyPr anchor="ctr">
            <a:noAutofit/>
          </a:bodyPr>
          <a:lstStyle/>
          <a:p>
            <a:pPr algn="l">
              <a:defRPr sz="2325">
                <a:solidFill>
                  <a:srgbClr val="202426"/>
                </a:solidFill>
                <a:latin typeface="Menlo"/>
                <a:ea typeface="Menlo"/>
                <a:cs typeface="Menlo"/>
              </a:defRPr>
            </a:pPr>
            <a:r>
              <a:rPr sz="2325">
                <a:solidFill>
                  <a:srgbClr val="202426"/>
                </a:solidFill>
                <a:latin typeface="Menlo"/>
                <a:ea typeface="Menlo"/>
                <a:cs typeface="Menlo"/>
              </a:rPr>
              <a:t>Keep the original order</a:t>
            </a:r>
          </a:p>
        </p:txBody>
      </p:sp>
      <p:sp>
        <p:nvSpPr>
          <p:cNvPr id="15" name="Rectangle 14">
            <a:extLst>
              <a:ext uri="{FF2B5EF4-FFF2-40B4-BE49-F238E27FC236}">
                <a16:creationId xmlns:a16="http://schemas.microsoft.com/office/drawing/2014/main" id="{0D6763D4-C35B-42BC-AF7B-0352E8AAE288}"/>
              </a:ext>
            </a:extLst>
          </p:cNvPr>
          <p:cNvSpPr>
            <a:spLocks noGrp="1"/>
          </p:cNvSpPr>
          <p:nvPr/>
        </p:nvSpPr>
        <p:spPr>
          <a:xfrm>
            <a:off x="552450" y="4048125"/>
            <a:ext cx="504825" cy="428625"/>
          </a:xfrm>
          <a:prstGeom prst="rect">
            <a:avLst/>
          </a:prstGeom>
          <a:noFill/>
          <a:ln w="0">
            <a:noFill/>
          </a:ln>
        </p:spPr>
        <p:txBody>
          <a:bodyPr anchor="ctr">
            <a:noAutofit/>
          </a:bodyPr>
          <a:lstStyle/>
          <a:p>
            <a:pPr algn="r">
              <a:defRPr sz="2325">
                <a:solidFill>
                  <a:srgbClr val="6B7277"/>
                </a:solidFill>
                <a:latin typeface="Menlo"/>
                <a:ea typeface="Menlo"/>
                <a:cs typeface="Menlo"/>
              </a:defRPr>
            </a:pPr>
            <a:r>
              <a:rPr sz="2325">
                <a:solidFill>
                  <a:srgbClr val="6B7277"/>
                </a:solidFill>
                <a:latin typeface="Menlo"/>
                <a:ea typeface="Menlo"/>
                <a:cs typeface="Menlo"/>
              </a:rPr>
              <a:t>6</a:t>
            </a:r>
          </a:p>
        </p:txBody>
      </p:sp>
      <p:sp>
        <p:nvSpPr>
          <p:cNvPr id="16" name="Rectangle 15">
            <a:extLst>
              <a:ext uri="{FF2B5EF4-FFF2-40B4-BE49-F238E27FC236}">
                <a16:creationId xmlns:a16="http://schemas.microsoft.com/office/drawing/2014/main" id="{17B31C0C-F684-4BE6-A6A0-C801919807C0}"/>
              </a:ext>
            </a:extLst>
          </p:cNvPr>
          <p:cNvSpPr>
            <a:spLocks noGrp="1"/>
          </p:cNvSpPr>
          <p:nvPr/>
        </p:nvSpPr>
        <p:spPr>
          <a:xfrm>
            <a:off x="1238250" y="4048125"/>
            <a:ext cx="10344150" cy="428625"/>
          </a:xfrm>
          <a:prstGeom prst="rect">
            <a:avLst/>
          </a:prstGeom>
          <a:noFill/>
          <a:ln w="0">
            <a:noFill/>
          </a:ln>
        </p:spPr>
        <p:txBody>
          <a:bodyPr anchor="ctr">
            <a:noAutofit/>
          </a:bodyPr>
          <a:lstStyle/>
          <a:p>
            <a:pPr algn="l">
              <a:defRPr sz="2325">
                <a:solidFill>
                  <a:srgbClr val="202426"/>
                </a:solidFill>
                <a:latin typeface="Menlo"/>
                <a:ea typeface="Menlo"/>
                <a:cs typeface="Menlo"/>
              </a:defRPr>
            </a:pPr>
            <a:r>
              <a:rPr sz="2325">
                <a:solidFill>
                  <a:srgbClr val="202426"/>
                </a:solidFill>
                <a:latin typeface="Menlo"/>
                <a:ea typeface="Menlo"/>
                <a:cs typeface="Menlo"/>
              </a:rPr>
              <a:t>Else</a:t>
            </a:r>
          </a:p>
        </p:txBody>
      </p:sp>
      <p:sp>
        <p:nvSpPr>
          <p:cNvPr id="17" name="Rectangle 16">
            <a:extLst>
              <a:ext uri="{FF2B5EF4-FFF2-40B4-BE49-F238E27FC236}">
                <a16:creationId xmlns:a16="http://schemas.microsoft.com/office/drawing/2014/main" id="{35B0BAC0-E218-4046-A464-81451F54072E}"/>
              </a:ext>
            </a:extLst>
          </p:cNvPr>
          <p:cNvSpPr>
            <a:spLocks noGrp="1"/>
          </p:cNvSpPr>
          <p:nvPr/>
        </p:nvSpPr>
        <p:spPr>
          <a:xfrm>
            <a:off x="552450" y="4514850"/>
            <a:ext cx="504825" cy="428625"/>
          </a:xfrm>
          <a:prstGeom prst="rect">
            <a:avLst/>
          </a:prstGeom>
          <a:noFill/>
          <a:ln w="0">
            <a:noFill/>
          </a:ln>
        </p:spPr>
        <p:txBody>
          <a:bodyPr anchor="ctr">
            <a:noAutofit/>
          </a:bodyPr>
          <a:lstStyle/>
          <a:p>
            <a:pPr algn="r">
              <a:defRPr sz="2325">
                <a:solidFill>
                  <a:srgbClr val="6B7277"/>
                </a:solidFill>
                <a:latin typeface="Menlo"/>
                <a:ea typeface="Menlo"/>
                <a:cs typeface="Menlo"/>
              </a:defRPr>
            </a:pPr>
            <a:r>
              <a:rPr sz="2325">
                <a:solidFill>
                  <a:srgbClr val="6B7277"/>
                </a:solidFill>
                <a:latin typeface="Menlo"/>
                <a:ea typeface="Menlo"/>
                <a:cs typeface="Menlo"/>
              </a:rPr>
              <a:t>7</a:t>
            </a:r>
          </a:p>
        </p:txBody>
      </p:sp>
      <p:sp>
        <p:nvSpPr>
          <p:cNvPr id="18" name="Rectangle 17">
            <a:extLst>
              <a:ext uri="{FF2B5EF4-FFF2-40B4-BE49-F238E27FC236}">
                <a16:creationId xmlns:a16="http://schemas.microsoft.com/office/drawing/2014/main" id="{89C76BA8-9D2F-465B-AF0A-5ED3D560D7FA}"/>
              </a:ext>
            </a:extLst>
          </p:cNvPr>
          <p:cNvSpPr>
            <a:spLocks noGrp="1"/>
          </p:cNvSpPr>
          <p:nvPr/>
        </p:nvSpPr>
        <p:spPr>
          <a:xfrm>
            <a:off x="2000250" y="4514850"/>
            <a:ext cx="9582150" cy="428625"/>
          </a:xfrm>
          <a:prstGeom prst="rect">
            <a:avLst/>
          </a:prstGeom>
          <a:noFill/>
          <a:ln w="0">
            <a:noFill/>
          </a:ln>
        </p:spPr>
        <p:txBody>
          <a:bodyPr anchor="ctr">
            <a:noAutofit/>
          </a:bodyPr>
          <a:lstStyle/>
          <a:p>
            <a:pPr algn="l">
              <a:defRPr sz="2325">
                <a:solidFill>
                  <a:srgbClr val="202426"/>
                </a:solidFill>
                <a:latin typeface="Menlo"/>
                <a:ea typeface="Menlo"/>
                <a:cs typeface="Menlo"/>
              </a:defRPr>
            </a:pPr>
            <a:r>
              <a:rPr sz="2325">
                <a:solidFill>
                  <a:srgbClr val="202426"/>
                </a:solidFill>
                <a:latin typeface="Menlo"/>
                <a:ea typeface="Menlo"/>
                <a:cs typeface="Menlo"/>
              </a:rPr>
              <a:t>Put the array with the earlier letter first</a:t>
            </a:r>
          </a:p>
        </p:txBody>
      </p:sp>
      <p:sp>
        <p:nvSpPr>
          <p:cNvPr id="19" name="Rectangle 18">
            <a:extLst>
              <a:ext uri="{FF2B5EF4-FFF2-40B4-BE49-F238E27FC236}">
                <a16:creationId xmlns:a16="http://schemas.microsoft.com/office/drawing/2014/main" id="{1CA6DC2D-387B-482B-A317-DFA2EAFA58D5}"/>
              </a:ext>
            </a:extLst>
          </p:cNvPr>
          <p:cNvSpPr>
            <a:spLocks noGrp="1"/>
          </p:cNvSpPr>
          <p:nvPr/>
        </p:nvSpPr>
        <p:spPr>
          <a:xfrm>
            <a:off x="552450" y="4981575"/>
            <a:ext cx="504825" cy="428625"/>
          </a:xfrm>
          <a:prstGeom prst="rect">
            <a:avLst/>
          </a:prstGeom>
          <a:noFill/>
          <a:ln w="0">
            <a:noFill/>
          </a:ln>
        </p:spPr>
        <p:txBody>
          <a:bodyPr anchor="ctr">
            <a:noAutofit/>
          </a:bodyPr>
          <a:lstStyle/>
          <a:p>
            <a:pPr algn="r">
              <a:defRPr sz="2325">
                <a:solidFill>
                  <a:srgbClr val="6B7277"/>
                </a:solidFill>
                <a:latin typeface="Menlo"/>
                <a:ea typeface="Menlo"/>
                <a:cs typeface="Menlo"/>
              </a:defRPr>
            </a:pPr>
            <a:r>
              <a:rPr sz="2325">
                <a:solidFill>
                  <a:srgbClr val="6B7277"/>
                </a:solidFill>
                <a:latin typeface="Menlo"/>
                <a:ea typeface="Menlo"/>
                <a:cs typeface="Menlo"/>
              </a:rPr>
              <a:t>8</a:t>
            </a:r>
          </a:p>
        </p:txBody>
      </p:sp>
      <p:sp>
        <p:nvSpPr>
          <p:cNvPr id="20" name="Rectangle 19">
            <a:extLst>
              <a:ext uri="{FF2B5EF4-FFF2-40B4-BE49-F238E27FC236}">
                <a16:creationId xmlns:a16="http://schemas.microsoft.com/office/drawing/2014/main" id="{DA7921A7-83E0-415A-8D24-8AEA2561E128}"/>
              </a:ext>
            </a:extLst>
          </p:cNvPr>
          <p:cNvSpPr>
            <a:spLocks noGrp="1"/>
          </p:cNvSpPr>
          <p:nvPr/>
        </p:nvSpPr>
        <p:spPr>
          <a:xfrm>
            <a:off x="1238250" y="4981575"/>
            <a:ext cx="10344150" cy="428625"/>
          </a:xfrm>
          <a:prstGeom prst="rect">
            <a:avLst/>
          </a:prstGeom>
          <a:noFill/>
          <a:ln w="0">
            <a:noFill/>
          </a:ln>
        </p:spPr>
        <p:txBody>
          <a:bodyPr anchor="ctr">
            <a:noAutofit/>
          </a:bodyPr>
          <a:lstStyle/>
          <a:p>
            <a:pPr algn="l">
              <a:defRPr sz="2325">
                <a:solidFill>
                  <a:srgbClr val="202426"/>
                </a:solidFill>
                <a:latin typeface="Menlo"/>
                <a:ea typeface="Menlo"/>
                <a:cs typeface="Menlo"/>
              </a:defRPr>
            </a:pPr>
            <a:r>
              <a:rPr sz="2325">
                <a:solidFill>
                  <a:srgbClr val="202426"/>
                </a:solidFill>
                <a:latin typeface="Menlo"/>
                <a:ea typeface="Menlo"/>
                <a:cs typeface="Menlo"/>
              </a:rPr>
              <a:t>Copy both arrays in that order</a:t>
            </a:r>
          </a:p>
        </p:txBody>
      </p:sp>
      <p:sp>
        <p:nvSpPr>
          <p:cNvPr id="21" name="Rectangle 20">
            <a:extLst>
              <a:ext uri="{FF2B5EF4-FFF2-40B4-BE49-F238E27FC236}">
                <a16:creationId xmlns:a16="http://schemas.microsoft.com/office/drawing/2014/main" id="{B2B0B405-35AF-4823-A9BD-CDCC48A140FE}"/>
              </a:ext>
            </a:extLst>
          </p:cNvPr>
          <p:cNvSpPr>
            <a:spLocks noGrp="1"/>
          </p:cNvSpPr>
          <p:nvPr/>
        </p:nvSpPr>
        <p:spPr>
          <a:xfrm>
            <a:off x="552450" y="5448300"/>
            <a:ext cx="504825" cy="428625"/>
          </a:xfrm>
          <a:prstGeom prst="rect">
            <a:avLst/>
          </a:prstGeom>
          <a:noFill/>
          <a:ln w="0">
            <a:noFill/>
          </a:ln>
        </p:spPr>
        <p:txBody>
          <a:bodyPr anchor="ctr">
            <a:noAutofit/>
          </a:bodyPr>
          <a:lstStyle/>
          <a:p>
            <a:pPr algn="r">
              <a:defRPr sz="2325">
                <a:solidFill>
                  <a:srgbClr val="6B7277"/>
                </a:solidFill>
                <a:latin typeface="Menlo"/>
                <a:ea typeface="Menlo"/>
                <a:cs typeface="Menlo"/>
              </a:defRPr>
            </a:pPr>
            <a:r>
              <a:rPr sz="2325">
                <a:solidFill>
                  <a:srgbClr val="6B7277"/>
                </a:solidFill>
                <a:latin typeface="Menlo"/>
                <a:ea typeface="Menlo"/>
                <a:cs typeface="Menlo"/>
              </a:rPr>
              <a:t>9</a:t>
            </a:r>
          </a:p>
        </p:txBody>
      </p:sp>
      <p:sp>
        <p:nvSpPr>
          <p:cNvPr id="22" name="Rectangle 21">
            <a:extLst>
              <a:ext uri="{FF2B5EF4-FFF2-40B4-BE49-F238E27FC236}">
                <a16:creationId xmlns:a16="http://schemas.microsoft.com/office/drawing/2014/main" id="{FCC987A8-9BAA-4229-BA20-0ABE6BE70B7A}"/>
              </a:ext>
            </a:extLst>
          </p:cNvPr>
          <p:cNvSpPr>
            <a:spLocks noGrp="1"/>
          </p:cNvSpPr>
          <p:nvPr/>
        </p:nvSpPr>
        <p:spPr>
          <a:xfrm>
            <a:off x="1238250" y="5448300"/>
            <a:ext cx="10344150" cy="428625"/>
          </a:xfrm>
          <a:prstGeom prst="rect">
            <a:avLst/>
          </a:prstGeom>
          <a:noFill/>
          <a:ln w="0">
            <a:noFill/>
          </a:ln>
        </p:spPr>
        <p:txBody>
          <a:bodyPr anchor="ctr">
            <a:noAutofit/>
          </a:bodyPr>
          <a:lstStyle/>
          <a:p>
            <a:pPr algn="l">
              <a:defRPr sz="2325">
                <a:solidFill>
                  <a:srgbClr val="202426"/>
                </a:solidFill>
                <a:latin typeface="Menlo"/>
                <a:ea typeface="Menlo"/>
                <a:cs typeface="Menlo"/>
              </a:defRPr>
            </a:pPr>
            <a:r>
              <a:rPr sz="2325">
                <a:solidFill>
                  <a:srgbClr val="202426"/>
                </a:solidFill>
                <a:latin typeface="Menlo"/>
                <a:ea typeface="Menlo"/>
                <a:cs typeface="Menlo"/>
              </a:rPr>
              <a:t>Print exactly six characters</a:t>
            </a:r>
          </a:p>
        </p:txBody>
      </p:sp>
    </p:spTree>
    <p:extLst>
      <p:ext uri="{BB962C8B-B14F-4D97-AF65-F5344CB8AC3E}">
        <p14:creationId xmlns:p14="http://schemas.microsoft.com/office/powerpoint/2010/main" val="2467065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481E42-AFCC-4735-9C48-C84E159F0BEF}"/>
              </a:ext>
            </a:extLst>
          </p:cNvPr>
          <p:cNvSpPr>
            <a:spLocks noGrp="1"/>
          </p:cNvSpPr>
          <p:nvPr/>
        </p:nvSpPr>
        <p:spPr>
          <a:xfrm>
            <a:off x="0" y="0"/>
            <a:ext cx="76200" cy="6858000"/>
          </a:xfrm>
          <a:prstGeom prst="rect">
            <a:avLst/>
          </a:prstGeom>
          <a:solidFill>
            <a:srgbClr val="DF4214"/>
          </a:solidFill>
          <a:ln w="0">
            <a:noFill/>
          </a:ln>
        </p:spPr>
      </p:sp>
      <p:pic>
        <p:nvPicPr>
          <p:cNvPr id="12" name="Picture 11"/>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34637035-0C89-4C8F-8868-181BCCA3DE39}"/>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Three exit checks</a:t>
            </a:r>
          </a:p>
        </p:txBody>
      </p:sp>
      <p:sp>
        <p:nvSpPr>
          <p:cNvPr id="4" name="Rectangle 3">
            <a:extLst>
              <a:ext uri="{FF2B5EF4-FFF2-40B4-BE49-F238E27FC236}">
                <a16:creationId xmlns:a16="http://schemas.microsoft.com/office/drawing/2014/main" id="{BC070846-DA41-4A09-8F01-456AC0574C73}"/>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26</a:t>
            </a:r>
          </a:p>
        </p:txBody>
      </p:sp>
      <p:sp>
        <p:nvSpPr>
          <p:cNvPr id="5" name="Rectangle 4">
            <a:extLst>
              <a:ext uri="{FF2B5EF4-FFF2-40B4-BE49-F238E27FC236}">
                <a16:creationId xmlns:a16="http://schemas.microsoft.com/office/drawing/2014/main" id="{DD7BE56C-D627-48B8-BE60-1B557EC744B3}"/>
              </a:ext>
            </a:extLst>
          </p:cNvPr>
          <p:cNvSpPr>
            <a:spLocks noGrp="1"/>
          </p:cNvSpPr>
          <p:nvPr/>
        </p:nvSpPr>
        <p:spPr>
          <a:xfrm>
            <a:off x="1028700" y="1933575"/>
            <a:ext cx="628650" cy="790575"/>
          </a:xfrm>
          <a:prstGeom prst="rect">
            <a:avLst/>
          </a:prstGeom>
          <a:noFill/>
          <a:ln w="0">
            <a:noFill/>
          </a:ln>
        </p:spPr>
        <p:txBody>
          <a:bodyPr anchor="ctr">
            <a:noAutofit/>
          </a:bodyPr>
          <a:lstStyle/>
          <a:p>
            <a:pPr algn="l">
              <a:defRPr sz="3000" b="1">
                <a:solidFill>
                  <a:srgbClr val="DF4214"/>
                </a:solidFill>
                <a:latin typeface="Arimo"/>
                <a:ea typeface="Arimo"/>
                <a:cs typeface="Arimo"/>
              </a:defRPr>
            </a:pPr>
            <a:r>
              <a:rPr sz="3000" b="1">
                <a:solidFill>
                  <a:srgbClr val="DF4214"/>
                </a:solidFill>
                <a:latin typeface="Arimo"/>
                <a:ea typeface="Arimo"/>
                <a:cs typeface="Arimo"/>
              </a:rPr>
              <a:t>1</a:t>
            </a:r>
          </a:p>
        </p:txBody>
      </p:sp>
      <p:sp>
        <p:nvSpPr>
          <p:cNvPr id="6" name="Rectangle 5">
            <a:extLst>
              <a:ext uri="{FF2B5EF4-FFF2-40B4-BE49-F238E27FC236}">
                <a16:creationId xmlns:a16="http://schemas.microsoft.com/office/drawing/2014/main" id="{3AC1F5DF-19C3-4C24-B952-ABAA6EACF57B}"/>
              </a:ext>
            </a:extLst>
          </p:cNvPr>
          <p:cNvSpPr>
            <a:spLocks noGrp="1"/>
          </p:cNvSpPr>
          <p:nvPr/>
        </p:nvSpPr>
        <p:spPr>
          <a:xfrm>
            <a:off x="1971675" y="1933575"/>
            <a:ext cx="9286875" cy="809625"/>
          </a:xfrm>
          <a:prstGeom prst="rect">
            <a:avLst/>
          </a:prstGeom>
          <a:noFill/>
          <a:ln w="0">
            <a:noFill/>
          </a:ln>
        </p:spPr>
        <p:txBody>
          <a:bodyPr anchor="ctr">
            <a:noAutofit/>
          </a:bodyPr>
          <a:lstStyle/>
          <a:p>
            <a:pPr algn="l">
              <a:defRPr sz="2625" b="0">
                <a:solidFill>
                  <a:srgbClr val="202426"/>
                </a:solidFill>
                <a:latin typeface="Arimo"/>
                <a:ea typeface="Arimo"/>
                <a:cs typeface="Arimo"/>
              </a:defRPr>
            </a:pPr>
            <a:r>
              <a:rPr sz="2625" b="0">
                <a:solidFill>
                  <a:srgbClr val="202426"/>
                </a:solidFill>
                <a:latin typeface="Arimo"/>
                <a:ea typeface="Arimo"/>
                <a:cs typeface="Arimo"/>
              </a:rPr>
              <a:t>Why does double x = 4 / 3 still lose the fraction?</a:t>
            </a:r>
          </a:p>
        </p:txBody>
      </p:sp>
      <p:sp>
        <p:nvSpPr>
          <p:cNvPr id="7" name="Rectangle 6">
            <a:extLst>
              <a:ext uri="{FF2B5EF4-FFF2-40B4-BE49-F238E27FC236}">
                <a16:creationId xmlns:a16="http://schemas.microsoft.com/office/drawing/2014/main" id="{6193E2A6-592B-4826-AE3C-2B7EDE09E394}"/>
              </a:ext>
            </a:extLst>
          </p:cNvPr>
          <p:cNvSpPr>
            <a:spLocks noGrp="1"/>
          </p:cNvSpPr>
          <p:nvPr/>
        </p:nvSpPr>
        <p:spPr>
          <a:xfrm>
            <a:off x="1028700" y="3143250"/>
            <a:ext cx="628650" cy="790575"/>
          </a:xfrm>
          <a:prstGeom prst="rect">
            <a:avLst/>
          </a:prstGeom>
          <a:noFill/>
          <a:ln w="0">
            <a:noFill/>
          </a:ln>
        </p:spPr>
        <p:txBody>
          <a:bodyPr anchor="ctr">
            <a:noAutofit/>
          </a:bodyPr>
          <a:lstStyle/>
          <a:p>
            <a:pPr algn="l">
              <a:defRPr sz="3000" b="1">
                <a:solidFill>
                  <a:srgbClr val="DF4214"/>
                </a:solidFill>
                <a:latin typeface="Arimo"/>
                <a:ea typeface="Arimo"/>
                <a:cs typeface="Arimo"/>
              </a:defRPr>
            </a:pPr>
            <a:r>
              <a:rPr sz="3000" b="1">
                <a:solidFill>
                  <a:srgbClr val="DF4214"/>
                </a:solidFill>
                <a:latin typeface="Arimo"/>
                <a:ea typeface="Arimo"/>
                <a:cs typeface="Arimo"/>
              </a:rPr>
              <a:t>2</a:t>
            </a:r>
          </a:p>
        </p:txBody>
      </p:sp>
      <p:sp>
        <p:nvSpPr>
          <p:cNvPr id="8" name="Rectangle 7">
            <a:extLst>
              <a:ext uri="{FF2B5EF4-FFF2-40B4-BE49-F238E27FC236}">
                <a16:creationId xmlns:a16="http://schemas.microsoft.com/office/drawing/2014/main" id="{8E336F0D-9A45-4E4F-AE43-6D1992CEE8D4}"/>
              </a:ext>
            </a:extLst>
          </p:cNvPr>
          <p:cNvSpPr>
            <a:spLocks noGrp="1"/>
          </p:cNvSpPr>
          <p:nvPr/>
        </p:nvSpPr>
        <p:spPr>
          <a:xfrm>
            <a:off x="1971675" y="3143250"/>
            <a:ext cx="9286875" cy="809625"/>
          </a:xfrm>
          <a:prstGeom prst="rect">
            <a:avLst/>
          </a:prstGeom>
          <a:noFill/>
          <a:ln w="0">
            <a:noFill/>
          </a:ln>
        </p:spPr>
        <p:txBody>
          <a:bodyPr anchor="ctr">
            <a:noAutofit/>
          </a:bodyPr>
          <a:lstStyle/>
          <a:p>
            <a:pPr algn="l">
              <a:defRPr sz="2625" b="0">
                <a:solidFill>
                  <a:srgbClr val="202426"/>
                </a:solidFill>
                <a:latin typeface="Arimo"/>
                <a:ea typeface="Arimo"/>
                <a:cs typeface="Arimo"/>
              </a:defRPr>
            </a:pPr>
            <a:r>
              <a:rPr sz="2625" b="0">
                <a:solidFill>
                  <a:srgbClr val="202426"/>
                </a:solidFill>
                <a:latin typeface="Arimo"/>
                <a:ea typeface="Arimo"/>
                <a:cs typeface="Arimo"/>
              </a:rPr>
              <a:t>Why is 2100 a common year?</a:t>
            </a:r>
          </a:p>
        </p:txBody>
      </p:sp>
      <p:sp>
        <p:nvSpPr>
          <p:cNvPr id="9" name="Rectangle 8">
            <a:extLst>
              <a:ext uri="{FF2B5EF4-FFF2-40B4-BE49-F238E27FC236}">
                <a16:creationId xmlns:a16="http://schemas.microsoft.com/office/drawing/2014/main" id="{5557F07C-C438-4DF6-B5E2-30FEBAFB9997}"/>
              </a:ext>
            </a:extLst>
          </p:cNvPr>
          <p:cNvSpPr>
            <a:spLocks noGrp="1"/>
          </p:cNvSpPr>
          <p:nvPr/>
        </p:nvSpPr>
        <p:spPr>
          <a:xfrm>
            <a:off x="1028700" y="4352925"/>
            <a:ext cx="628650" cy="790575"/>
          </a:xfrm>
          <a:prstGeom prst="rect">
            <a:avLst/>
          </a:prstGeom>
          <a:noFill/>
          <a:ln w="0">
            <a:noFill/>
          </a:ln>
        </p:spPr>
        <p:txBody>
          <a:bodyPr anchor="ctr">
            <a:noAutofit/>
          </a:bodyPr>
          <a:lstStyle/>
          <a:p>
            <a:pPr algn="l">
              <a:defRPr sz="3000" b="1">
                <a:solidFill>
                  <a:srgbClr val="DF4214"/>
                </a:solidFill>
                <a:latin typeface="Arimo"/>
                <a:ea typeface="Arimo"/>
                <a:cs typeface="Arimo"/>
              </a:defRPr>
            </a:pPr>
            <a:r>
              <a:rPr sz="3000" b="1">
                <a:solidFill>
                  <a:srgbClr val="DF4214"/>
                </a:solidFill>
                <a:latin typeface="Arimo"/>
                <a:ea typeface="Arimo"/>
                <a:cs typeface="Arimo"/>
              </a:rPr>
              <a:t>3</a:t>
            </a:r>
          </a:p>
        </p:txBody>
      </p:sp>
      <p:sp>
        <p:nvSpPr>
          <p:cNvPr id="10" name="Rectangle 9">
            <a:extLst>
              <a:ext uri="{FF2B5EF4-FFF2-40B4-BE49-F238E27FC236}">
                <a16:creationId xmlns:a16="http://schemas.microsoft.com/office/drawing/2014/main" id="{4A722534-A645-4C27-9DCC-AB40FDFE4ADA}"/>
              </a:ext>
            </a:extLst>
          </p:cNvPr>
          <p:cNvSpPr>
            <a:spLocks noGrp="1"/>
          </p:cNvSpPr>
          <p:nvPr/>
        </p:nvSpPr>
        <p:spPr>
          <a:xfrm>
            <a:off x="1971675" y="4352925"/>
            <a:ext cx="9286875" cy="809625"/>
          </a:xfrm>
          <a:prstGeom prst="rect">
            <a:avLst/>
          </a:prstGeom>
          <a:noFill/>
          <a:ln w="0">
            <a:noFill/>
          </a:ln>
        </p:spPr>
        <p:txBody>
          <a:bodyPr anchor="ctr">
            <a:noAutofit/>
          </a:bodyPr>
          <a:lstStyle/>
          <a:p>
            <a:pPr algn="l">
              <a:defRPr sz="2625" b="0">
                <a:solidFill>
                  <a:srgbClr val="202426"/>
                </a:solidFill>
                <a:latin typeface="Arimo"/>
                <a:ea typeface="Arimo"/>
                <a:cs typeface="Arimo"/>
              </a:defRPr>
            </a:pPr>
            <a:r>
              <a:rPr sz="2625" b="0">
                <a:solidFill>
                  <a:srgbClr val="202426"/>
                </a:solidFill>
                <a:latin typeface="Arimo"/>
                <a:ea typeface="Arimo"/>
                <a:cs typeface="Arimo"/>
              </a:rPr>
              <a:t>Why must i &lt; LENGTH come first in the loop test?</a:t>
            </a:r>
          </a:p>
        </p:txBody>
      </p:sp>
    </p:spTree>
    <p:extLst>
      <p:ext uri="{BB962C8B-B14F-4D97-AF65-F5344CB8AC3E}">
        <p14:creationId xmlns:p14="http://schemas.microsoft.com/office/powerpoint/2010/main" val="1661981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E11B829-7747-4078-8216-90619161C173}"/>
              </a:ext>
            </a:extLst>
          </p:cNvPr>
          <p:cNvSpPr>
            <a:spLocks noGrp="1"/>
          </p:cNvSpPr>
          <p:nvPr/>
        </p:nvSpPr>
        <p:spPr>
          <a:xfrm>
            <a:off x="0" y="0"/>
            <a:ext cx="76200" cy="6858000"/>
          </a:xfrm>
          <a:prstGeom prst="rect">
            <a:avLst/>
          </a:prstGeom>
          <a:solidFill>
            <a:srgbClr val="E64519"/>
          </a:solidFill>
          <a:ln w="0">
            <a:noFill/>
          </a:ln>
        </p:spPr>
      </p:sp>
      <p:sp>
        <p:nvSpPr>
          <p:cNvPr id="2" name="text-1">
            <a:extLst>
              <a:ext uri="{FF2B5EF4-FFF2-40B4-BE49-F238E27FC236}">
                <a16:creationId xmlns:a16="http://schemas.microsoft.com/office/drawing/2014/main" id="{F3104568-F3C9-412B-B77F-933330FC8317}"/>
              </a:ext>
            </a:extLst>
          </p:cNvPr>
          <p:cNvSpPr>
            <a:spLocks noGrp="1"/>
          </p:cNvSpPr>
          <p:nvPr/>
        </p:nvSpPr>
        <p:spPr>
          <a:xfrm>
            <a:off x="685800" y="666750"/>
            <a:ext cx="9829800" cy="685800"/>
          </a:xfrm>
          <a:prstGeom prst="rect">
            <a:avLst/>
          </a:prstGeom>
          <a:noFill/>
          <a:ln w="0">
            <a:noFill/>
          </a:ln>
        </p:spPr>
        <p:txBody>
          <a:bodyPr wrap="none" lIns="0" tIns="0" rIns="0" bIns="0" anchor="t">
            <a:noAutofit/>
          </a:bodyPr>
          <a:lstStyle/>
          <a:p>
            <a:pPr algn="l">
              <a:buNone/>
              <a:defRPr sz="3600" b="1">
                <a:solidFill>
                  <a:srgbClr val="202426"/>
                </a:solidFill>
                <a:latin typeface="Arimo"/>
                <a:ea typeface="Arimo"/>
                <a:cs typeface="Arimo"/>
              </a:defRPr>
            </a:pPr>
            <a:r>
              <a:rPr sz="3600" b="1">
                <a:solidFill>
                  <a:srgbClr val="202426"/>
                </a:solidFill>
                <a:latin typeface="Arimo"/>
                <a:ea typeface="Arimo"/>
                <a:cs typeface="Arimo"/>
              </a:rPr>
              <a:t>Integer sizes and ranges</a:t>
            </a:r>
          </a:p>
        </p:txBody>
      </p:sp>
      <p:pic>
        <p:nvPicPr>
          <p:cNvPr id="14" name="Picture 13"/>
          <p:cNvPicPr>
            <a:picLocks noChangeAspect="1"/>
          </p:cNvPicPr>
          <p:nvPr/>
        </p:nvPicPr>
        <p:blipFill>
          <a:blip r:embed="rId3"/>
          <a:stretch/>
        </p:blipFill>
        <p:spPr>
          <a:xfrm>
            <a:off x="10858545" y="306229"/>
            <a:ext cx="723810" cy="473393"/>
          </a:xfrm>
          <a:prstGeom prst="rect">
            <a:avLst/>
          </a:prstGeom>
        </p:spPr>
      </p:pic>
      <p:sp>
        <p:nvSpPr>
          <p:cNvPr id="4" name="text-2">
            <a:extLst>
              <a:ext uri="{FF2B5EF4-FFF2-40B4-BE49-F238E27FC236}">
                <a16:creationId xmlns:a16="http://schemas.microsoft.com/office/drawing/2014/main" id="{B175A53A-1A5B-400D-864F-1767417EC4A7}"/>
              </a:ext>
            </a:extLst>
          </p:cNvPr>
          <p:cNvSpPr>
            <a:spLocks noGrp="1"/>
          </p:cNvSpPr>
          <p:nvPr/>
        </p:nvSpPr>
        <p:spPr>
          <a:xfrm>
            <a:off x="11144250" y="6343650"/>
            <a:ext cx="457200" cy="285750"/>
          </a:xfrm>
          <a:prstGeom prst="rect">
            <a:avLst/>
          </a:prstGeom>
          <a:noFill/>
          <a:ln w="0">
            <a:noFill/>
          </a:ln>
        </p:spPr>
        <p:txBody>
          <a:bodyPr wrap="none" lIns="0" tIns="0" rIns="0" bIns="0" anchor="t">
            <a:noAutofit/>
          </a:bodyPr>
          <a:lstStyle/>
          <a:p>
            <a:pPr algn="r">
              <a:buNone/>
              <a:defRPr sz="1350" b="0">
                <a:solidFill>
                  <a:srgbClr val="596167"/>
                </a:solidFill>
                <a:latin typeface="Arimo"/>
                <a:ea typeface="Arimo"/>
                <a:cs typeface="Arimo"/>
              </a:defRPr>
            </a:pPr>
            <a:r>
              <a:rPr sz="1350" b="0">
                <a:solidFill>
                  <a:srgbClr val="596167"/>
                </a:solidFill>
                <a:latin typeface="Arimo"/>
                <a:ea typeface="Arimo"/>
                <a:cs typeface="Arimo"/>
              </a:rPr>
              <a:t>27</a:t>
            </a:r>
          </a:p>
        </p:txBody>
      </p:sp>
      <p:sp>
        <p:nvSpPr>
          <p:cNvPr id="15" name="reference-subtitle">
            <a:extLst>
              <a:ext uri="{FF2B5EF4-FFF2-40B4-BE49-F238E27FC236}">
                <a16:creationId xmlns:a16="http://schemas.microsoft.com/office/drawing/2014/main" id="{2080A9F4-F333-4BB2-A9C0-D67D5BE1D40E}"/>
              </a:ext>
            </a:extLst>
          </p:cNvPr>
          <p:cNvSpPr>
            <a:spLocks noGrp="1"/>
          </p:cNvSpPr>
          <p:nvPr/>
        </p:nvSpPr>
        <p:spPr>
          <a:xfrm>
            <a:off x="1028700" y="1695450"/>
            <a:ext cx="10382250" cy="400050"/>
          </a:xfrm>
          <a:prstGeom prst="rect">
            <a:avLst/>
          </a:prstGeom>
          <a:noFill/>
          <a:ln w="0">
            <a:noFill/>
          </a:ln>
        </p:spPr>
        <p:txBody>
          <a:bodyPr wrap="none" lIns="0" tIns="0" rIns="0" bIns="0" anchor="ctr">
            <a:noAutofit/>
          </a:bodyPr>
          <a:lstStyle/>
          <a:p>
            <a:pPr algn="l">
              <a:defRPr sz="1875" b="0">
                <a:solidFill>
                  <a:srgbClr val="596167"/>
                </a:solidFill>
                <a:latin typeface="Arimo"/>
                <a:ea typeface="Arimo"/>
                <a:cs typeface="Arimo"/>
              </a:defRPr>
            </a:pPr>
            <a:r>
              <a:rPr sz="1875" b="0">
                <a:solidFill>
                  <a:srgbClr val="596167"/>
                </a:solidFill>
                <a:latin typeface="Arimo"/>
                <a:ea typeface="Arimo"/>
                <a:cs typeface="Arimo"/>
              </a:rPr>
              <a:t>Reference · measured on macOS arm64 · 8 bits per byte</a:t>
            </a:r>
          </a:p>
        </p:txBody>
      </p:sp>
      <p:graphicFrame>
        <p:nvGraphicFramePr>
          <p:cNvPr id="16" name="Table 15"/>
          <p:cNvGraphicFramePr/>
          <p:nvPr/>
        </p:nvGraphicFramePr>
        <p:xfrm>
          <a:off x="1028700" y="2057400"/>
          <a:ext cx="10382250" cy="3962400"/>
        </p:xfrm>
        <a:graphic>
          <a:graphicData uri="http://schemas.openxmlformats.org/drawingml/2006/table">
            <a:tbl>
              <a:tblPr/>
              <a:tblGrid>
                <a:gridCol w="323850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6096000">
                  <a:extLst>
                    <a:ext uri="{9D8B030D-6E8A-4147-A177-3AD203B41FA5}">
                      <a16:colId xmlns:a16="http://schemas.microsoft.com/office/drawing/2014/main" val="20002"/>
                    </a:ext>
                  </a:extLst>
                </a:gridCol>
              </a:tblGrid>
              <a:tr h="495300">
                <a:tc>
                  <a:txBody>
                    <a:bodyPr/>
                    <a:lstStyle/>
                    <a:p>
                      <a:pPr algn="l"/>
                      <a:r>
                        <a:rPr sz="2025" b="1">
                          <a:solidFill>
                            <a:srgbClr val="FFFFFF"/>
                          </a:solidFill>
                          <a:latin typeface="Arimo"/>
                          <a:ea typeface="Arimo"/>
                          <a:cs typeface="Arimo"/>
                        </a:rPr>
                        <a:t>Type</a:t>
                      </a:r>
                    </a:p>
                  </a:txBody>
                  <a:tcPr anchor="ctr">
                    <a:solidFill>
                      <a:srgbClr val="202426"/>
                    </a:solidFill>
                  </a:tcPr>
                </a:tc>
                <a:tc>
                  <a:txBody>
                    <a:bodyPr/>
                    <a:lstStyle/>
                    <a:p>
                      <a:pPr algn="l"/>
                      <a:r>
                        <a:rPr sz="2025" b="1">
                          <a:solidFill>
                            <a:srgbClr val="FFFFFF"/>
                          </a:solidFill>
                          <a:latin typeface="Arimo"/>
                          <a:ea typeface="Arimo"/>
                          <a:cs typeface="Arimo"/>
                        </a:rPr>
                        <a:t>Bits</a:t>
                      </a:r>
                    </a:p>
                  </a:txBody>
                  <a:tcPr anchor="ctr">
                    <a:solidFill>
                      <a:srgbClr val="202426"/>
                    </a:solidFill>
                  </a:tcPr>
                </a:tc>
                <a:tc>
                  <a:txBody>
                    <a:bodyPr/>
                    <a:lstStyle/>
                    <a:p>
                      <a:pPr algn="l"/>
                      <a:r>
                        <a:rPr sz="2025" b="1">
                          <a:solidFill>
                            <a:srgbClr val="FFFFFF"/>
                          </a:solidFill>
                          <a:latin typeface="Arimo"/>
                          <a:ea typeface="Arimo"/>
                          <a:cs typeface="Arimo"/>
                        </a:rPr>
                        <a:t>Range</a:t>
                      </a:r>
                    </a:p>
                  </a:txBody>
                  <a:tcPr anchor="ctr">
                    <a:solidFill>
                      <a:srgbClr val="202426"/>
                    </a:solidFill>
                  </a:tcPr>
                </a:tc>
                <a:extLst>
                  <a:ext uri="{0D108BD9-81ED-4DB2-BD59-A6C34878D82A}">
                    <a16:rowId xmlns:a16="http://schemas.microsoft.com/office/drawing/2014/main" val="10000"/>
                  </a:ext>
                </a:extLst>
              </a:tr>
              <a:tr h="495300">
                <a:tc>
                  <a:txBody>
                    <a:bodyPr/>
                    <a:lstStyle/>
                    <a:p>
                      <a:pPr algn="l"/>
                      <a:r>
                        <a:rPr sz="2025" b="0">
                          <a:solidFill>
                            <a:srgbClr val="202426"/>
                          </a:solidFill>
                          <a:latin typeface="Arimo"/>
                          <a:ea typeface="Arimo"/>
                          <a:cs typeface="Arimo"/>
                        </a:rPr>
                        <a:t>char</a:t>
                      </a:r>
                    </a:p>
                  </a:txBody>
                  <a:tcPr anchor="ctr">
                    <a:solidFill>
                      <a:srgbClr val="FFFFFF"/>
                    </a:solidFill>
                  </a:tcPr>
                </a:tc>
                <a:tc>
                  <a:txBody>
                    <a:bodyPr/>
                    <a:lstStyle/>
                    <a:p>
                      <a:pPr algn="l"/>
                      <a:r>
                        <a:rPr sz="2025" b="0">
                          <a:solidFill>
                            <a:srgbClr val="202426"/>
                          </a:solidFill>
                          <a:latin typeface="Arimo"/>
                          <a:ea typeface="Arimo"/>
                          <a:cs typeface="Arimo"/>
                        </a:rPr>
                        <a:t>8</a:t>
                      </a:r>
                    </a:p>
                  </a:txBody>
                  <a:tcPr anchor="ctr">
                    <a:solidFill>
                      <a:srgbClr val="FFFFFF"/>
                    </a:solidFill>
                  </a:tcPr>
                </a:tc>
                <a:tc>
                  <a:txBody>
                    <a:bodyPr/>
                    <a:lstStyle/>
                    <a:p>
                      <a:pPr algn="l"/>
                      <a:r>
                        <a:rPr sz="2025" b="0">
                          <a:solidFill>
                            <a:srgbClr val="202426"/>
                          </a:solidFill>
                          <a:latin typeface="Arimo"/>
                          <a:ea typeface="Arimo"/>
                          <a:cs typeface="Arimo"/>
                        </a:rPr>
                        <a:t>−128 to 127</a:t>
                      </a:r>
                    </a:p>
                  </a:txBody>
                  <a:tcPr anchor="ctr">
                    <a:solidFill>
                      <a:srgbClr val="FFFFFF"/>
                    </a:solidFill>
                  </a:tcPr>
                </a:tc>
                <a:extLst>
                  <a:ext uri="{0D108BD9-81ED-4DB2-BD59-A6C34878D82A}">
                    <a16:rowId xmlns:a16="http://schemas.microsoft.com/office/drawing/2014/main" val="10001"/>
                  </a:ext>
                </a:extLst>
              </a:tr>
              <a:tr h="495300">
                <a:tc>
                  <a:txBody>
                    <a:bodyPr/>
                    <a:lstStyle/>
                    <a:p>
                      <a:pPr algn="l"/>
                      <a:r>
                        <a:rPr sz="2025" b="0">
                          <a:solidFill>
                            <a:srgbClr val="202426"/>
                          </a:solidFill>
                          <a:latin typeface="Arimo"/>
                          <a:ea typeface="Arimo"/>
                          <a:cs typeface="Arimo"/>
                        </a:rPr>
                        <a:t>signed char</a:t>
                      </a:r>
                    </a:p>
                  </a:txBody>
                  <a:tcPr anchor="ctr">
                    <a:solidFill>
                      <a:srgbClr val="F3F4F4"/>
                    </a:solidFill>
                  </a:tcPr>
                </a:tc>
                <a:tc>
                  <a:txBody>
                    <a:bodyPr/>
                    <a:lstStyle/>
                    <a:p>
                      <a:pPr algn="l"/>
                      <a:r>
                        <a:rPr sz="2025" b="0">
                          <a:solidFill>
                            <a:srgbClr val="202426"/>
                          </a:solidFill>
                          <a:latin typeface="Arimo"/>
                          <a:ea typeface="Arimo"/>
                          <a:cs typeface="Arimo"/>
                        </a:rPr>
                        <a:t>8</a:t>
                      </a:r>
                    </a:p>
                  </a:txBody>
                  <a:tcPr anchor="ctr">
                    <a:solidFill>
                      <a:srgbClr val="F3F4F4"/>
                    </a:solidFill>
                  </a:tcPr>
                </a:tc>
                <a:tc>
                  <a:txBody>
                    <a:bodyPr/>
                    <a:lstStyle/>
                    <a:p>
                      <a:pPr algn="l"/>
                      <a:r>
                        <a:rPr sz="2025" b="0">
                          <a:solidFill>
                            <a:srgbClr val="202426"/>
                          </a:solidFill>
                          <a:latin typeface="Arimo"/>
                          <a:ea typeface="Arimo"/>
                          <a:cs typeface="Arimo"/>
                        </a:rPr>
                        <a:t>−128 to 127</a:t>
                      </a:r>
                    </a:p>
                  </a:txBody>
                  <a:tcPr anchor="ctr">
                    <a:solidFill>
                      <a:srgbClr val="F3F4F4"/>
                    </a:solidFill>
                  </a:tcPr>
                </a:tc>
                <a:extLst>
                  <a:ext uri="{0D108BD9-81ED-4DB2-BD59-A6C34878D82A}">
                    <a16:rowId xmlns:a16="http://schemas.microsoft.com/office/drawing/2014/main" val="10002"/>
                  </a:ext>
                </a:extLst>
              </a:tr>
              <a:tr h="495300">
                <a:tc>
                  <a:txBody>
                    <a:bodyPr/>
                    <a:lstStyle/>
                    <a:p>
                      <a:pPr algn="l"/>
                      <a:r>
                        <a:rPr sz="2025" b="0">
                          <a:solidFill>
                            <a:srgbClr val="202426"/>
                          </a:solidFill>
                          <a:latin typeface="Arimo"/>
                          <a:ea typeface="Arimo"/>
                          <a:cs typeface="Arimo"/>
                        </a:rPr>
                        <a:t>unsigned char</a:t>
                      </a:r>
                    </a:p>
                  </a:txBody>
                  <a:tcPr anchor="ctr">
                    <a:solidFill>
                      <a:srgbClr val="FFFFFF"/>
                    </a:solidFill>
                  </a:tcPr>
                </a:tc>
                <a:tc>
                  <a:txBody>
                    <a:bodyPr/>
                    <a:lstStyle/>
                    <a:p>
                      <a:pPr algn="l"/>
                      <a:r>
                        <a:rPr sz="2025" b="0">
                          <a:solidFill>
                            <a:srgbClr val="202426"/>
                          </a:solidFill>
                          <a:latin typeface="Arimo"/>
                          <a:ea typeface="Arimo"/>
                          <a:cs typeface="Arimo"/>
                        </a:rPr>
                        <a:t>8</a:t>
                      </a:r>
                    </a:p>
                  </a:txBody>
                  <a:tcPr anchor="ctr">
                    <a:solidFill>
                      <a:srgbClr val="FFFFFF"/>
                    </a:solidFill>
                  </a:tcPr>
                </a:tc>
                <a:tc>
                  <a:txBody>
                    <a:bodyPr/>
                    <a:lstStyle/>
                    <a:p>
                      <a:pPr algn="l"/>
                      <a:r>
                        <a:rPr sz="2025" b="0">
                          <a:solidFill>
                            <a:srgbClr val="202426"/>
                          </a:solidFill>
                          <a:latin typeface="Arimo"/>
                          <a:ea typeface="Arimo"/>
                          <a:cs typeface="Arimo"/>
                        </a:rPr>
                        <a:t>0 to 255</a:t>
                      </a:r>
                    </a:p>
                  </a:txBody>
                  <a:tcPr anchor="ctr">
                    <a:solidFill>
                      <a:srgbClr val="FFFFFF"/>
                    </a:solidFill>
                  </a:tcPr>
                </a:tc>
                <a:extLst>
                  <a:ext uri="{0D108BD9-81ED-4DB2-BD59-A6C34878D82A}">
                    <a16:rowId xmlns:a16="http://schemas.microsoft.com/office/drawing/2014/main" val="10003"/>
                  </a:ext>
                </a:extLst>
              </a:tr>
              <a:tr h="495300">
                <a:tc>
                  <a:txBody>
                    <a:bodyPr/>
                    <a:lstStyle/>
                    <a:p>
                      <a:pPr algn="l"/>
                      <a:r>
                        <a:rPr sz="2025" b="0">
                          <a:solidFill>
                            <a:srgbClr val="202426"/>
                          </a:solidFill>
                          <a:latin typeface="Arimo"/>
                          <a:ea typeface="Arimo"/>
                          <a:cs typeface="Arimo"/>
                        </a:rPr>
                        <a:t>short</a:t>
                      </a:r>
                    </a:p>
                  </a:txBody>
                  <a:tcPr anchor="ctr">
                    <a:solidFill>
                      <a:srgbClr val="F3F4F4"/>
                    </a:solidFill>
                  </a:tcPr>
                </a:tc>
                <a:tc>
                  <a:txBody>
                    <a:bodyPr/>
                    <a:lstStyle/>
                    <a:p>
                      <a:pPr algn="l"/>
                      <a:r>
                        <a:rPr sz="2025" b="0">
                          <a:solidFill>
                            <a:srgbClr val="202426"/>
                          </a:solidFill>
                          <a:latin typeface="Arimo"/>
                          <a:ea typeface="Arimo"/>
                          <a:cs typeface="Arimo"/>
                        </a:rPr>
                        <a:t>16</a:t>
                      </a:r>
                    </a:p>
                  </a:txBody>
                  <a:tcPr anchor="ctr">
                    <a:solidFill>
                      <a:srgbClr val="F3F4F4"/>
                    </a:solidFill>
                  </a:tcPr>
                </a:tc>
                <a:tc>
                  <a:txBody>
                    <a:bodyPr/>
                    <a:lstStyle/>
                    <a:p>
                      <a:pPr algn="l"/>
                      <a:r>
                        <a:rPr sz="2025" b="0">
                          <a:solidFill>
                            <a:srgbClr val="202426"/>
                          </a:solidFill>
                          <a:latin typeface="Arimo"/>
                          <a:ea typeface="Arimo"/>
                          <a:cs typeface="Arimo"/>
                        </a:rPr>
                        <a:t>−32,768 to 32,767</a:t>
                      </a:r>
                    </a:p>
                  </a:txBody>
                  <a:tcPr anchor="ctr">
                    <a:solidFill>
                      <a:srgbClr val="F3F4F4"/>
                    </a:solidFill>
                  </a:tcPr>
                </a:tc>
                <a:extLst>
                  <a:ext uri="{0D108BD9-81ED-4DB2-BD59-A6C34878D82A}">
                    <a16:rowId xmlns:a16="http://schemas.microsoft.com/office/drawing/2014/main" val="10004"/>
                  </a:ext>
                </a:extLst>
              </a:tr>
              <a:tr h="495300">
                <a:tc>
                  <a:txBody>
                    <a:bodyPr/>
                    <a:lstStyle/>
                    <a:p>
                      <a:pPr algn="l"/>
                      <a:r>
                        <a:rPr sz="2025" b="0">
                          <a:solidFill>
                            <a:srgbClr val="202426"/>
                          </a:solidFill>
                          <a:latin typeface="Arimo"/>
                          <a:ea typeface="Arimo"/>
                          <a:cs typeface="Arimo"/>
                        </a:rPr>
                        <a:t>unsigned short</a:t>
                      </a:r>
                    </a:p>
                  </a:txBody>
                  <a:tcPr anchor="ctr">
                    <a:solidFill>
                      <a:srgbClr val="FFFFFF"/>
                    </a:solidFill>
                  </a:tcPr>
                </a:tc>
                <a:tc>
                  <a:txBody>
                    <a:bodyPr/>
                    <a:lstStyle/>
                    <a:p>
                      <a:pPr algn="l"/>
                      <a:r>
                        <a:rPr sz="2025" b="0">
                          <a:solidFill>
                            <a:srgbClr val="202426"/>
                          </a:solidFill>
                          <a:latin typeface="Arimo"/>
                          <a:ea typeface="Arimo"/>
                          <a:cs typeface="Arimo"/>
                        </a:rPr>
                        <a:t>16</a:t>
                      </a:r>
                    </a:p>
                  </a:txBody>
                  <a:tcPr anchor="ctr">
                    <a:solidFill>
                      <a:srgbClr val="FFFFFF"/>
                    </a:solidFill>
                  </a:tcPr>
                </a:tc>
                <a:tc>
                  <a:txBody>
                    <a:bodyPr/>
                    <a:lstStyle/>
                    <a:p>
                      <a:pPr algn="l"/>
                      <a:r>
                        <a:rPr sz="2025" b="0">
                          <a:solidFill>
                            <a:srgbClr val="202426"/>
                          </a:solidFill>
                          <a:latin typeface="Arimo"/>
                          <a:ea typeface="Arimo"/>
                          <a:cs typeface="Arimo"/>
                        </a:rPr>
                        <a:t>0 to 65,535</a:t>
                      </a:r>
                    </a:p>
                  </a:txBody>
                  <a:tcPr anchor="ctr">
                    <a:solidFill>
                      <a:srgbClr val="FFFFFF"/>
                    </a:solidFill>
                  </a:tcPr>
                </a:tc>
                <a:extLst>
                  <a:ext uri="{0D108BD9-81ED-4DB2-BD59-A6C34878D82A}">
                    <a16:rowId xmlns:a16="http://schemas.microsoft.com/office/drawing/2014/main" val="10005"/>
                  </a:ext>
                </a:extLst>
              </a:tr>
              <a:tr h="495300">
                <a:tc>
                  <a:txBody>
                    <a:bodyPr/>
                    <a:lstStyle/>
                    <a:p>
                      <a:pPr algn="l"/>
                      <a:r>
                        <a:rPr sz="2025" b="0">
                          <a:solidFill>
                            <a:srgbClr val="202426"/>
                          </a:solidFill>
                          <a:latin typeface="Arimo"/>
                          <a:ea typeface="Arimo"/>
                          <a:cs typeface="Arimo"/>
                        </a:rPr>
                        <a:t>int</a:t>
                      </a:r>
                    </a:p>
                  </a:txBody>
                  <a:tcPr anchor="ctr">
                    <a:solidFill>
                      <a:srgbClr val="F3F4F4"/>
                    </a:solidFill>
                  </a:tcPr>
                </a:tc>
                <a:tc>
                  <a:txBody>
                    <a:bodyPr/>
                    <a:lstStyle/>
                    <a:p>
                      <a:pPr algn="l"/>
                      <a:r>
                        <a:rPr sz="2025" b="0">
                          <a:solidFill>
                            <a:srgbClr val="202426"/>
                          </a:solidFill>
                          <a:latin typeface="Arimo"/>
                          <a:ea typeface="Arimo"/>
                          <a:cs typeface="Arimo"/>
                        </a:rPr>
                        <a:t>32</a:t>
                      </a:r>
                    </a:p>
                  </a:txBody>
                  <a:tcPr anchor="ctr">
                    <a:solidFill>
                      <a:srgbClr val="F3F4F4"/>
                    </a:solidFill>
                  </a:tcPr>
                </a:tc>
                <a:tc>
                  <a:txBody>
                    <a:bodyPr/>
                    <a:lstStyle/>
                    <a:p>
                      <a:pPr algn="l"/>
                      <a:r>
                        <a:rPr sz="2025" b="0">
                          <a:solidFill>
                            <a:srgbClr val="202426"/>
                          </a:solidFill>
                          <a:latin typeface="Arimo"/>
                          <a:ea typeface="Arimo"/>
                          <a:cs typeface="Arimo"/>
                        </a:rPr>
                        <a:t>−2,147,483,648 to 2,147,483,647</a:t>
                      </a:r>
                    </a:p>
                  </a:txBody>
                  <a:tcPr anchor="ctr">
                    <a:solidFill>
                      <a:srgbClr val="F3F4F4"/>
                    </a:solidFill>
                  </a:tcPr>
                </a:tc>
                <a:extLst>
                  <a:ext uri="{0D108BD9-81ED-4DB2-BD59-A6C34878D82A}">
                    <a16:rowId xmlns:a16="http://schemas.microsoft.com/office/drawing/2014/main" val="10006"/>
                  </a:ext>
                </a:extLst>
              </a:tr>
              <a:tr h="495300">
                <a:tc>
                  <a:txBody>
                    <a:bodyPr/>
                    <a:lstStyle/>
                    <a:p>
                      <a:pPr algn="l"/>
                      <a:r>
                        <a:rPr sz="2025" b="0">
                          <a:solidFill>
                            <a:srgbClr val="202426"/>
                          </a:solidFill>
                          <a:latin typeface="Arimo"/>
                          <a:ea typeface="Arimo"/>
                          <a:cs typeface="Arimo"/>
                        </a:rPr>
                        <a:t>unsigned int</a:t>
                      </a:r>
                    </a:p>
                  </a:txBody>
                  <a:tcPr anchor="ctr">
                    <a:solidFill>
                      <a:srgbClr val="FFFFFF"/>
                    </a:solidFill>
                  </a:tcPr>
                </a:tc>
                <a:tc>
                  <a:txBody>
                    <a:bodyPr/>
                    <a:lstStyle/>
                    <a:p>
                      <a:pPr algn="l"/>
                      <a:r>
                        <a:rPr sz="2025" b="0">
                          <a:solidFill>
                            <a:srgbClr val="202426"/>
                          </a:solidFill>
                          <a:latin typeface="Arimo"/>
                          <a:ea typeface="Arimo"/>
                          <a:cs typeface="Arimo"/>
                        </a:rPr>
                        <a:t>32</a:t>
                      </a:r>
                    </a:p>
                  </a:txBody>
                  <a:tcPr anchor="ctr">
                    <a:solidFill>
                      <a:srgbClr val="FFFFFF"/>
                    </a:solidFill>
                  </a:tcPr>
                </a:tc>
                <a:tc>
                  <a:txBody>
                    <a:bodyPr/>
                    <a:lstStyle/>
                    <a:p>
                      <a:pPr algn="l"/>
                      <a:r>
                        <a:rPr sz="2025" b="0">
                          <a:solidFill>
                            <a:srgbClr val="202426"/>
                          </a:solidFill>
                          <a:latin typeface="Arimo"/>
                          <a:ea typeface="Arimo"/>
                          <a:cs typeface="Arimo"/>
                        </a:rPr>
                        <a:t>0 to 4,294,967,295</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17" name="integer-platform-note">
            <a:extLst>
              <a:ext uri="{FF2B5EF4-FFF2-40B4-BE49-F238E27FC236}">
                <a16:creationId xmlns:a16="http://schemas.microsoft.com/office/drawing/2014/main" id="{2B55F3F6-93F2-4062-A7D3-4B9F04BB517C}"/>
              </a:ext>
            </a:extLst>
          </p:cNvPr>
          <p:cNvSpPr>
            <a:spLocks noGrp="1"/>
          </p:cNvSpPr>
          <p:nvPr/>
        </p:nvSpPr>
        <p:spPr>
          <a:xfrm>
            <a:off x="1028700" y="6153150"/>
            <a:ext cx="10382250" cy="400050"/>
          </a:xfrm>
          <a:prstGeom prst="rect">
            <a:avLst/>
          </a:prstGeom>
          <a:noFill/>
          <a:ln w="0">
            <a:noFill/>
          </a:ln>
        </p:spPr>
        <p:txBody>
          <a:bodyPr wrap="none" lIns="0" tIns="0" rIns="0" bIns="0" anchor="ctr">
            <a:noAutofit/>
          </a:bodyPr>
          <a:lstStyle/>
          <a:p>
            <a:pPr algn="l">
              <a:defRPr sz="1875" b="0">
                <a:solidFill>
                  <a:srgbClr val="596167"/>
                </a:solidFill>
                <a:latin typeface="Arimo"/>
                <a:ea typeface="Arimo"/>
                <a:cs typeface="Arimo"/>
              </a:defRPr>
            </a:pPr>
            <a:r>
              <a:rPr sz="1875" b="0">
                <a:solidFill>
                  <a:srgbClr val="596167"/>
                </a:solidFill>
                <a:latin typeface="Arimo"/>
                <a:ea typeface="Arimo"/>
                <a:cs typeface="Arimo"/>
              </a:rPr>
              <a:t>Plain char signedness and integer limits depend on the implementation.</a:t>
            </a:r>
          </a:p>
        </p:txBody>
      </p:sp>
    </p:spTree>
    <p:extLst>
      <p:ext uri="{BB962C8B-B14F-4D97-AF65-F5344CB8AC3E}">
        <p14:creationId xmlns:p14="http://schemas.microsoft.com/office/powerpoint/2010/main" val="1479585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E11B829-7747-4078-8216-90619161C173}"/>
              </a:ext>
            </a:extLst>
          </p:cNvPr>
          <p:cNvSpPr>
            <a:spLocks noGrp="1"/>
          </p:cNvSpPr>
          <p:nvPr/>
        </p:nvSpPr>
        <p:spPr>
          <a:xfrm>
            <a:off x="0" y="0"/>
            <a:ext cx="76200" cy="6858000"/>
          </a:xfrm>
          <a:prstGeom prst="rect">
            <a:avLst/>
          </a:prstGeom>
          <a:solidFill>
            <a:srgbClr val="E64519"/>
          </a:solidFill>
          <a:ln w="0">
            <a:noFill/>
          </a:ln>
        </p:spPr>
      </p:sp>
      <p:sp>
        <p:nvSpPr>
          <p:cNvPr id="2" name="text-1">
            <a:extLst>
              <a:ext uri="{FF2B5EF4-FFF2-40B4-BE49-F238E27FC236}">
                <a16:creationId xmlns:a16="http://schemas.microsoft.com/office/drawing/2014/main" id="{F3104568-F3C9-412B-B77F-933330FC8317}"/>
              </a:ext>
            </a:extLst>
          </p:cNvPr>
          <p:cNvSpPr>
            <a:spLocks noGrp="1"/>
          </p:cNvSpPr>
          <p:nvPr/>
        </p:nvSpPr>
        <p:spPr>
          <a:xfrm>
            <a:off x="685800" y="666750"/>
            <a:ext cx="9829800" cy="685800"/>
          </a:xfrm>
          <a:prstGeom prst="rect">
            <a:avLst/>
          </a:prstGeom>
          <a:noFill/>
          <a:ln w="0">
            <a:noFill/>
          </a:ln>
        </p:spPr>
        <p:txBody>
          <a:bodyPr wrap="none" lIns="0" tIns="0" rIns="0" bIns="0" anchor="t">
            <a:noAutofit/>
          </a:bodyPr>
          <a:lstStyle/>
          <a:p>
            <a:pPr algn="l">
              <a:buNone/>
              <a:defRPr sz="3600" b="1">
                <a:solidFill>
                  <a:srgbClr val="202426"/>
                </a:solidFill>
                <a:latin typeface="Arimo"/>
                <a:ea typeface="Arimo"/>
                <a:cs typeface="Arimo"/>
              </a:defRPr>
            </a:pPr>
            <a:r>
              <a:rPr sz="3600" b="1">
                <a:solidFill>
                  <a:srgbClr val="202426"/>
                </a:solidFill>
                <a:latin typeface="Arimo"/>
                <a:ea typeface="Arimo"/>
                <a:cs typeface="Arimo"/>
              </a:rPr>
              <a:t>Larger integer types</a:t>
            </a:r>
          </a:p>
        </p:txBody>
      </p:sp>
      <p:pic>
        <p:nvPicPr>
          <p:cNvPr id="14" name="Picture 13"/>
          <p:cNvPicPr>
            <a:picLocks noChangeAspect="1"/>
          </p:cNvPicPr>
          <p:nvPr/>
        </p:nvPicPr>
        <p:blipFill>
          <a:blip r:embed="rId3"/>
          <a:stretch/>
        </p:blipFill>
        <p:spPr>
          <a:xfrm>
            <a:off x="10858545" y="306229"/>
            <a:ext cx="723810" cy="473393"/>
          </a:xfrm>
          <a:prstGeom prst="rect">
            <a:avLst/>
          </a:prstGeom>
        </p:spPr>
      </p:pic>
      <p:sp>
        <p:nvSpPr>
          <p:cNvPr id="4" name="text-2">
            <a:extLst>
              <a:ext uri="{FF2B5EF4-FFF2-40B4-BE49-F238E27FC236}">
                <a16:creationId xmlns:a16="http://schemas.microsoft.com/office/drawing/2014/main" id="{B175A53A-1A5B-400D-864F-1767417EC4A7}"/>
              </a:ext>
            </a:extLst>
          </p:cNvPr>
          <p:cNvSpPr>
            <a:spLocks noGrp="1"/>
          </p:cNvSpPr>
          <p:nvPr/>
        </p:nvSpPr>
        <p:spPr>
          <a:xfrm>
            <a:off x="11144250" y="6343650"/>
            <a:ext cx="457200" cy="285750"/>
          </a:xfrm>
          <a:prstGeom prst="rect">
            <a:avLst/>
          </a:prstGeom>
          <a:noFill/>
          <a:ln w="0">
            <a:noFill/>
          </a:ln>
        </p:spPr>
        <p:txBody>
          <a:bodyPr wrap="none" lIns="0" tIns="0" rIns="0" bIns="0" anchor="t">
            <a:noAutofit/>
          </a:bodyPr>
          <a:lstStyle/>
          <a:p>
            <a:pPr algn="r">
              <a:buNone/>
              <a:defRPr sz="1350" b="0">
                <a:solidFill>
                  <a:srgbClr val="596167"/>
                </a:solidFill>
                <a:latin typeface="Arimo"/>
                <a:ea typeface="Arimo"/>
                <a:cs typeface="Arimo"/>
              </a:defRPr>
            </a:pPr>
            <a:r>
              <a:rPr sz="1350" b="0">
                <a:solidFill>
                  <a:srgbClr val="596167"/>
                </a:solidFill>
                <a:latin typeface="Arimo"/>
                <a:ea typeface="Arimo"/>
                <a:cs typeface="Arimo"/>
              </a:rPr>
              <a:t>28</a:t>
            </a:r>
          </a:p>
        </p:txBody>
      </p:sp>
      <p:sp>
        <p:nvSpPr>
          <p:cNvPr id="15" name="reference-subtitle">
            <a:extLst>
              <a:ext uri="{FF2B5EF4-FFF2-40B4-BE49-F238E27FC236}">
                <a16:creationId xmlns:a16="http://schemas.microsoft.com/office/drawing/2014/main" id="{0F88E0DD-80B2-4E44-858F-F961C2F9D7D7}"/>
              </a:ext>
            </a:extLst>
          </p:cNvPr>
          <p:cNvSpPr>
            <a:spLocks noGrp="1"/>
          </p:cNvSpPr>
          <p:nvPr/>
        </p:nvSpPr>
        <p:spPr>
          <a:xfrm>
            <a:off x="1028700" y="1695450"/>
            <a:ext cx="10382250" cy="400050"/>
          </a:xfrm>
          <a:prstGeom prst="rect">
            <a:avLst/>
          </a:prstGeom>
          <a:noFill/>
          <a:ln w="0">
            <a:noFill/>
          </a:ln>
        </p:spPr>
        <p:txBody>
          <a:bodyPr wrap="none" lIns="0" tIns="0" rIns="0" bIns="0" anchor="ctr">
            <a:noAutofit/>
          </a:bodyPr>
          <a:lstStyle/>
          <a:p>
            <a:pPr algn="l">
              <a:defRPr sz="1875" b="0">
                <a:solidFill>
                  <a:srgbClr val="596167"/>
                </a:solidFill>
                <a:latin typeface="Arimo"/>
                <a:ea typeface="Arimo"/>
                <a:cs typeface="Arimo"/>
              </a:defRPr>
            </a:pPr>
            <a:r>
              <a:rPr sz="1875" b="0">
                <a:solidFill>
                  <a:srgbClr val="596167"/>
                </a:solidFill>
                <a:latin typeface="Arimo"/>
                <a:ea typeface="Arimo"/>
                <a:cs typeface="Arimo"/>
              </a:rPr>
              <a:t>Reference · measured on macOS arm64 · 8 bits per byte</a:t>
            </a:r>
          </a:p>
        </p:txBody>
      </p:sp>
      <p:graphicFrame>
        <p:nvGraphicFramePr>
          <p:cNvPr id="16" name="Table 15"/>
          <p:cNvGraphicFramePr/>
          <p:nvPr/>
        </p:nvGraphicFramePr>
        <p:xfrm>
          <a:off x="1028700" y="2057400"/>
          <a:ext cx="10382250" cy="3524250"/>
        </p:xfrm>
        <a:graphic>
          <a:graphicData uri="http://schemas.openxmlformats.org/drawingml/2006/table">
            <a:tbl>
              <a:tblPr/>
              <a:tblGrid>
                <a:gridCol w="33813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6096000">
                  <a:extLst>
                    <a:ext uri="{9D8B030D-6E8A-4147-A177-3AD203B41FA5}">
                      <a16:colId xmlns:a16="http://schemas.microsoft.com/office/drawing/2014/main" val="20002"/>
                    </a:ext>
                  </a:extLst>
                </a:gridCol>
              </a:tblGrid>
              <a:tr h="704850">
                <a:tc>
                  <a:txBody>
                    <a:bodyPr/>
                    <a:lstStyle/>
                    <a:p>
                      <a:pPr algn="l"/>
                      <a:r>
                        <a:rPr sz="2025" b="1">
                          <a:solidFill>
                            <a:srgbClr val="FFFFFF"/>
                          </a:solidFill>
                          <a:latin typeface="Arimo"/>
                          <a:ea typeface="Arimo"/>
                          <a:cs typeface="Arimo"/>
                        </a:rPr>
                        <a:t>Type</a:t>
                      </a:r>
                    </a:p>
                  </a:txBody>
                  <a:tcPr anchor="ctr">
                    <a:solidFill>
                      <a:srgbClr val="202426"/>
                    </a:solidFill>
                  </a:tcPr>
                </a:tc>
                <a:tc>
                  <a:txBody>
                    <a:bodyPr/>
                    <a:lstStyle/>
                    <a:p>
                      <a:pPr algn="l"/>
                      <a:r>
                        <a:rPr sz="2025" b="1">
                          <a:solidFill>
                            <a:srgbClr val="FFFFFF"/>
                          </a:solidFill>
                          <a:latin typeface="Arimo"/>
                          <a:ea typeface="Arimo"/>
                          <a:cs typeface="Arimo"/>
                        </a:rPr>
                        <a:t>Bits</a:t>
                      </a:r>
                    </a:p>
                  </a:txBody>
                  <a:tcPr anchor="ctr">
                    <a:solidFill>
                      <a:srgbClr val="202426"/>
                    </a:solidFill>
                  </a:tcPr>
                </a:tc>
                <a:tc>
                  <a:txBody>
                    <a:bodyPr/>
                    <a:lstStyle/>
                    <a:p>
                      <a:pPr algn="l"/>
                      <a:r>
                        <a:rPr sz="2025" b="1">
                          <a:solidFill>
                            <a:srgbClr val="FFFFFF"/>
                          </a:solidFill>
                          <a:latin typeface="Arimo"/>
                          <a:ea typeface="Arimo"/>
                          <a:cs typeface="Arimo"/>
                        </a:rPr>
                        <a:t>Range</a:t>
                      </a:r>
                    </a:p>
                  </a:txBody>
                  <a:tcPr anchor="ctr">
                    <a:solidFill>
                      <a:srgbClr val="202426"/>
                    </a:solidFill>
                  </a:tcPr>
                </a:tc>
                <a:extLst>
                  <a:ext uri="{0D108BD9-81ED-4DB2-BD59-A6C34878D82A}">
                    <a16:rowId xmlns:a16="http://schemas.microsoft.com/office/drawing/2014/main" val="10000"/>
                  </a:ext>
                </a:extLst>
              </a:tr>
              <a:tr h="704850">
                <a:tc>
                  <a:txBody>
                    <a:bodyPr/>
                    <a:lstStyle/>
                    <a:p>
                      <a:pPr algn="l"/>
                      <a:r>
                        <a:rPr sz="2025" b="0">
                          <a:solidFill>
                            <a:srgbClr val="202426"/>
                          </a:solidFill>
                          <a:latin typeface="Arimo"/>
                          <a:ea typeface="Arimo"/>
                          <a:cs typeface="Arimo"/>
                        </a:rPr>
                        <a:t>long</a:t>
                      </a:r>
                    </a:p>
                  </a:txBody>
                  <a:tcPr anchor="ctr">
                    <a:solidFill>
                      <a:srgbClr val="FFFFFF"/>
                    </a:solidFill>
                  </a:tcPr>
                </a:tc>
                <a:tc>
                  <a:txBody>
                    <a:bodyPr/>
                    <a:lstStyle/>
                    <a:p>
                      <a:pPr algn="l"/>
                      <a:r>
                        <a:rPr sz="2025" b="0">
                          <a:solidFill>
                            <a:srgbClr val="202426"/>
                          </a:solidFill>
                          <a:latin typeface="Arimo"/>
                          <a:ea typeface="Arimo"/>
                          <a:cs typeface="Arimo"/>
                        </a:rPr>
                        <a:t>64</a:t>
                      </a:r>
                    </a:p>
                  </a:txBody>
                  <a:tcPr anchor="ctr">
                    <a:solidFill>
                      <a:srgbClr val="FFFFFF"/>
                    </a:solidFill>
                  </a:tcPr>
                </a:tc>
                <a:tc>
                  <a:txBody>
                    <a:bodyPr/>
                    <a:lstStyle/>
                    <a:p>
                      <a:pPr algn="l"/>
                      <a:r>
                        <a:rPr sz="2025" b="0">
                          <a:solidFill>
                            <a:srgbClr val="202426"/>
                          </a:solidFill>
                          <a:latin typeface="Arimo"/>
                          <a:ea typeface="Arimo"/>
                          <a:cs typeface="Arimo"/>
                        </a:rPr>
                        <a:t>−9,223,372,036,854,775,808</a:t>
                      </a:r>
                    </a:p>
                    <a:p>
                      <a:pPr algn="l"/>
                      <a:r>
                        <a:rPr sz="2025" b="0">
                          <a:solidFill>
                            <a:srgbClr val="202426"/>
                          </a:solidFill>
                          <a:latin typeface="Arimo"/>
                          <a:ea typeface="Arimo"/>
                          <a:cs typeface="Arimo"/>
                        </a:rPr>
                        <a:t>to 9,223,372,036,854,775,807</a:t>
                      </a:r>
                    </a:p>
                  </a:txBody>
                  <a:tcPr anchor="ctr">
                    <a:solidFill>
                      <a:srgbClr val="FFFFFF"/>
                    </a:solidFill>
                  </a:tcPr>
                </a:tc>
                <a:extLst>
                  <a:ext uri="{0D108BD9-81ED-4DB2-BD59-A6C34878D82A}">
                    <a16:rowId xmlns:a16="http://schemas.microsoft.com/office/drawing/2014/main" val="10001"/>
                  </a:ext>
                </a:extLst>
              </a:tr>
              <a:tr h="704850">
                <a:tc>
                  <a:txBody>
                    <a:bodyPr/>
                    <a:lstStyle/>
                    <a:p>
                      <a:pPr algn="l"/>
                      <a:r>
                        <a:rPr sz="2025" b="0">
                          <a:solidFill>
                            <a:srgbClr val="202426"/>
                          </a:solidFill>
                          <a:latin typeface="Arimo"/>
                          <a:ea typeface="Arimo"/>
                          <a:cs typeface="Arimo"/>
                        </a:rPr>
                        <a:t>unsigned long</a:t>
                      </a:r>
                    </a:p>
                  </a:txBody>
                  <a:tcPr anchor="ctr">
                    <a:solidFill>
                      <a:srgbClr val="F3F4F4"/>
                    </a:solidFill>
                  </a:tcPr>
                </a:tc>
                <a:tc>
                  <a:txBody>
                    <a:bodyPr/>
                    <a:lstStyle/>
                    <a:p>
                      <a:pPr algn="l"/>
                      <a:r>
                        <a:rPr sz="2025" b="0">
                          <a:solidFill>
                            <a:srgbClr val="202426"/>
                          </a:solidFill>
                          <a:latin typeface="Arimo"/>
                          <a:ea typeface="Arimo"/>
                          <a:cs typeface="Arimo"/>
                        </a:rPr>
                        <a:t>64</a:t>
                      </a:r>
                    </a:p>
                  </a:txBody>
                  <a:tcPr anchor="ctr">
                    <a:solidFill>
                      <a:srgbClr val="F3F4F4"/>
                    </a:solidFill>
                  </a:tcPr>
                </a:tc>
                <a:tc>
                  <a:txBody>
                    <a:bodyPr/>
                    <a:lstStyle/>
                    <a:p>
                      <a:pPr algn="l"/>
                      <a:r>
                        <a:rPr sz="2025" b="0">
                          <a:solidFill>
                            <a:srgbClr val="202426"/>
                          </a:solidFill>
                          <a:latin typeface="Arimo"/>
                          <a:ea typeface="Arimo"/>
                          <a:cs typeface="Arimo"/>
                        </a:rPr>
                        <a:t>0 to 18,446,744,073,709,551,615</a:t>
                      </a:r>
                    </a:p>
                  </a:txBody>
                  <a:tcPr anchor="ctr">
                    <a:solidFill>
                      <a:srgbClr val="F3F4F4"/>
                    </a:solidFill>
                  </a:tcPr>
                </a:tc>
                <a:extLst>
                  <a:ext uri="{0D108BD9-81ED-4DB2-BD59-A6C34878D82A}">
                    <a16:rowId xmlns:a16="http://schemas.microsoft.com/office/drawing/2014/main" val="10002"/>
                  </a:ext>
                </a:extLst>
              </a:tr>
              <a:tr h="704850">
                <a:tc>
                  <a:txBody>
                    <a:bodyPr/>
                    <a:lstStyle/>
                    <a:p>
                      <a:pPr algn="l"/>
                      <a:r>
                        <a:rPr sz="2025" b="0">
                          <a:solidFill>
                            <a:srgbClr val="202426"/>
                          </a:solidFill>
                          <a:latin typeface="Arimo"/>
                          <a:ea typeface="Arimo"/>
                          <a:cs typeface="Arimo"/>
                        </a:rPr>
                        <a:t>long long</a:t>
                      </a:r>
                    </a:p>
                  </a:txBody>
                  <a:tcPr anchor="ctr">
                    <a:solidFill>
                      <a:srgbClr val="FFFFFF"/>
                    </a:solidFill>
                  </a:tcPr>
                </a:tc>
                <a:tc>
                  <a:txBody>
                    <a:bodyPr/>
                    <a:lstStyle/>
                    <a:p>
                      <a:pPr algn="l"/>
                      <a:r>
                        <a:rPr sz="2025" b="0">
                          <a:solidFill>
                            <a:srgbClr val="202426"/>
                          </a:solidFill>
                          <a:latin typeface="Arimo"/>
                          <a:ea typeface="Arimo"/>
                          <a:cs typeface="Arimo"/>
                        </a:rPr>
                        <a:t>64</a:t>
                      </a:r>
                    </a:p>
                  </a:txBody>
                  <a:tcPr anchor="ctr">
                    <a:solidFill>
                      <a:srgbClr val="FFFFFF"/>
                    </a:solidFill>
                  </a:tcPr>
                </a:tc>
                <a:tc>
                  <a:txBody>
                    <a:bodyPr/>
                    <a:lstStyle/>
                    <a:p>
                      <a:pPr algn="l"/>
                      <a:r>
                        <a:rPr sz="2025" b="0">
                          <a:solidFill>
                            <a:srgbClr val="202426"/>
                          </a:solidFill>
                          <a:latin typeface="Arimo"/>
                          <a:ea typeface="Arimo"/>
                          <a:cs typeface="Arimo"/>
                        </a:rPr>
                        <a:t>−9,223,372,036,854,775,808</a:t>
                      </a:r>
                    </a:p>
                    <a:p>
                      <a:pPr algn="l"/>
                      <a:r>
                        <a:rPr sz="2025" b="0">
                          <a:solidFill>
                            <a:srgbClr val="202426"/>
                          </a:solidFill>
                          <a:latin typeface="Arimo"/>
                          <a:ea typeface="Arimo"/>
                          <a:cs typeface="Arimo"/>
                        </a:rPr>
                        <a:t>to 9,223,372,036,854,775,807</a:t>
                      </a:r>
                    </a:p>
                  </a:txBody>
                  <a:tcPr anchor="ctr">
                    <a:solidFill>
                      <a:srgbClr val="FFFFFF"/>
                    </a:solidFill>
                  </a:tcPr>
                </a:tc>
                <a:extLst>
                  <a:ext uri="{0D108BD9-81ED-4DB2-BD59-A6C34878D82A}">
                    <a16:rowId xmlns:a16="http://schemas.microsoft.com/office/drawing/2014/main" val="10003"/>
                  </a:ext>
                </a:extLst>
              </a:tr>
              <a:tr h="704850">
                <a:tc>
                  <a:txBody>
                    <a:bodyPr/>
                    <a:lstStyle/>
                    <a:p>
                      <a:pPr algn="l"/>
                      <a:r>
                        <a:rPr sz="2025" b="0">
                          <a:solidFill>
                            <a:srgbClr val="202426"/>
                          </a:solidFill>
                          <a:latin typeface="Arimo"/>
                          <a:ea typeface="Arimo"/>
                          <a:cs typeface="Arimo"/>
                        </a:rPr>
                        <a:t>unsigned long long</a:t>
                      </a:r>
                    </a:p>
                  </a:txBody>
                  <a:tcPr anchor="ctr">
                    <a:solidFill>
                      <a:srgbClr val="F3F4F4"/>
                    </a:solidFill>
                  </a:tcPr>
                </a:tc>
                <a:tc>
                  <a:txBody>
                    <a:bodyPr/>
                    <a:lstStyle/>
                    <a:p>
                      <a:pPr algn="l"/>
                      <a:r>
                        <a:rPr sz="2025" b="0">
                          <a:solidFill>
                            <a:srgbClr val="202426"/>
                          </a:solidFill>
                          <a:latin typeface="Arimo"/>
                          <a:ea typeface="Arimo"/>
                          <a:cs typeface="Arimo"/>
                        </a:rPr>
                        <a:t>64</a:t>
                      </a:r>
                    </a:p>
                  </a:txBody>
                  <a:tcPr anchor="ctr">
                    <a:solidFill>
                      <a:srgbClr val="F3F4F4"/>
                    </a:solidFill>
                  </a:tcPr>
                </a:tc>
                <a:tc>
                  <a:txBody>
                    <a:bodyPr/>
                    <a:lstStyle/>
                    <a:p>
                      <a:pPr algn="l"/>
                      <a:r>
                        <a:rPr sz="2025" b="0">
                          <a:solidFill>
                            <a:srgbClr val="202426"/>
                          </a:solidFill>
                          <a:latin typeface="Arimo"/>
                          <a:ea typeface="Arimo"/>
                          <a:cs typeface="Arimo"/>
                        </a:rPr>
                        <a:t>0 to 18,446,744,073,709,551,615</a:t>
                      </a:r>
                    </a:p>
                  </a:txBody>
                  <a:tcPr anchor="ctr">
                    <a:solidFill>
                      <a:srgbClr val="F3F4F4"/>
                    </a:solidFill>
                  </a:tcPr>
                </a:tc>
                <a:extLst>
                  <a:ext uri="{0D108BD9-81ED-4DB2-BD59-A6C34878D82A}">
                    <a16:rowId xmlns:a16="http://schemas.microsoft.com/office/drawing/2014/main" val="10004"/>
                  </a:ext>
                </a:extLst>
              </a:tr>
            </a:tbl>
          </a:graphicData>
        </a:graphic>
      </p:graphicFrame>
      <p:sp>
        <p:nvSpPr>
          <p:cNvPr id="17" name="long-sizes-note">
            <a:extLst>
              <a:ext uri="{FF2B5EF4-FFF2-40B4-BE49-F238E27FC236}">
                <a16:creationId xmlns:a16="http://schemas.microsoft.com/office/drawing/2014/main" id="{EA3806E9-52E4-404F-A5DB-D805DAEF6710}"/>
              </a:ext>
            </a:extLst>
          </p:cNvPr>
          <p:cNvSpPr>
            <a:spLocks noGrp="1"/>
          </p:cNvSpPr>
          <p:nvPr/>
        </p:nvSpPr>
        <p:spPr>
          <a:xfrm>
            <a:off x="1028700" y="5762625"/>
            <a:ext cx="10382250" cy="400050"/>
          </a:xfrm>
          <a:prstGeom prst="rect">
            <a:avLst/>
          </a:prstGeom>
          <a:noFill/>
          <a:ln w="0">
            <a:noFill/>
          </a:ln>
        </p:spPr>
        <p:txBody>
          <a:bodyPr wrap="none" lIns="0" tIns="0" rIns="0" bIns="0" anchor="ctr">
            <a:noAutofit/>
          </a:bodyPr>
          <a:lstStyle/>
          <a:p>
            <a:pPr algn="l">
              <a:defRPr sz="1950" b="0">
                <a:solidFill>
                  <a:srgbClr val="596167"/>
                </a:solidFill>
                <a:latin typeface="Arimo"/>
                <a:ea typeface="Arimo"/>
                <a:cs typeface="Arimo"/>
              </a:defRPr>
            </a:pPr>
            <a:r>
              <a:rPr sz="1950" b="0">
                <a:solidFill>
                  <a:srgbClr val="596167"/>
                </a:solidFill>
                <a:latin typeface="Arimo"/>
                <a:ea typeface="Arimo"/>
                <a:cs typeface="Arimo"/>
              </a:rPr>
              <a:t>Other environments can use different sizes, especially for long.</a:t>
            </a:r>
          </a:p>
        </p:txBody>
      </p:sp>
      <p:sp>
        <p:nvSpPr>
          <p:cNvPr id="18" name="signed-alias-note">
            <a:extLst>
              <a:ext uri="{FF2B5EF4-FFF2-40B4-BE49-F238E27FC236}">
                <a16:creationId xmlns:a16="http://schemas.microsoft.com/office/drawing/2014/main" id="{3FBCA4C0-3050-4C7F-8800-B3C9CDD504DB}"/>
              </a:ext>
            </a:extLst>
          </p:cNvPr>
          <p:cNvSpPr>
            <a:spLocks noGrp="1"/>
          </p:cNvSpPr>
          <p:nvPr/>
        </p:nvSpPr>
        <p:spPr>
          <a:xfrm>
            <a:off x="1028700" y="6172200"/>
            <a:ext cx="10382250" cy="400050"/>
          </a:xfrm>
          <a:prstGeom prst="rect">
            <a:avLst/>
          </a:prstGeom>
          <a:noFill/>
          <a:ln w="0">
            <a:noFill/>
          </a:ln>
        </p:spPr>
        <p:txBody>
          <a:bodyPr wrap="none" lIns="0" tIns="0" rIns="0" bIns="0" anchor="ctr">
            <a:noAutofit/>
          </a:bodyPr>
          <a:lstStyle/>
          <a:p>
            <a:pPr algn="l">
              <a:defRPr sz="1875" b="0">
                <a:solidFill>
                  <a:srgbClr val="596167"/>
                </a:solidFill>
                <a:latin typeface="Arimo"/>
                <a:ea typeface="Arimo"/>
                <a:cs typeface="Arimo"/>
              </a:defRPr>
            </a:pPr>
            <a:r>
              <a:rPr sz="1875" b="0">
                <a:solidFill>
                  <a:srgbClr val="596167"/>
                </a:solidFill>
                <a:latin typeface="Arimo"/>
                <a:ea typeface="Arimo"/>
                <a:cs typeface="Arimo"/>
              </a:rPr>
              <a:t>signed int = int     short int = short     long int = long</a:t>
            </a:r>
          </a:p>
        </p:txBody>
      </p:sp>
    </p:spTree>
    <p:extLst>
      <p:ext uri="{BB962C8B-B14F-4D97-AF65-F5344CB8AC3E}">
        <p14:creationId xmlns:p14="http://schemas.microsoft.com/office/powerpoint/2010/main" val="1479585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E11B829-7747-4078-8216-90619161C173}"/>
              </a:ext>
            </a:extLst>
          </p:cNvPr>
          <p:cNvSpPr>
            <a:spLocks noGrp="1"/>
          </p:cNvSpPr>
          <p:nvPr/>
        </p:nvSpPr>
        <p:spPr>
          <a:xfrm>
            <a:off x="0" y="0"/>
            <a:ext cx="76200" cy="6858000"/>
          </a:xfrm>
          <a:prstGeom prst="rect">
            <a:avLst/>
          </a:prstGeom>
          <a:solidFill>
            <a:srgbClr val="E64519"/>
          </a:solidFill>
          <a:ln w="0">
            <a:noFill/>
          </a:ln>
        </p:spPr>
      </p:sp>
      <p:sp>
        <p:nvSpPr>
          <p:cNvPr id="2" name="text-1">
            <a:extLst>
              <a:ext uri="{FF2B5EF4-FFF2-40B4-BE49-F238E27FC236}">
                <a16:creationId xmlns:a16="http://schemas.microsoft.com/office/drawing/2014/main" id="{F3104568-F3C9-412B-B77F-933330FC8317}"/>
              </a:ext>
            </a:extLst>
          </p:cNvPr>
          <p:cNvSpPr>
            <a:spLocks noGrp="1"/>
          </p:cNvSpPr>
          <p:nvPr/>
        </p:nvSpPr>
        <p:spPr>
          <a:xfrm>
            <a:off x="685800" y="666750"/>
            <a:ext cx="9829800" cy="685800"/>
          </a:xfrm>
          <a:prstGeom prst="rect">
            <a:avLst/>
          </a:prstGeom>
          <a:noFill/>
          <a:ln w="0">
            <a:noFill/>
          </a:ln>
        </p:spPr>
        <p:txBody>
          <a:bodyPr wrap="none" lIns="0" tIns="0" rIns="0" bIns="0" anchor="t">
            <a:noAutofit/>
          </a:bodyPr>
          <a:lstStyle/>
          <a:p>
            <a:pPr algn="l">
              <a:buNone/>
              <a:defRPr sz="3600" b="1">
                <a:solidFill>
                  <a:srgbClr val="202426"/>
                </a:solidFill>
                <a:latin typeface="Arimo"/>
                <a:ea typeface="Arimo"/>
                <a:cs typeface="Arimo"/>
              </a:defRPr>
            </a:pPr>
            <a:r>
              <a:rPr sz="3600" b="1">
                <a:solidFill>
                  <a:srgbClr val="202426"/>
                </a:solidFill>
                <a:latin typeface="Arimo"/>
                <a:ea typeface="Arimo"/>
                <a:cs typeface="Arimo"/>
              </a:rPr>
              <a:t>Floating-point sizes and precision</a:t>
            </a:r>
          </a:p>
        </p:txBody>
      </p:sp>
      <p:pic>
        <p:nvPicPr>
          <p:cNvPr id="14" name="Picture 13"/>
          <p:cNvPicPr>
            <a:picLocks noChangeAspect="1"/>
          </p:cNvPicPr>
          <p:nvPr/>
        </p:nvPicPr>
        <p:blipFill>
          <a:blip r:embed="rId3"/>
          <a:stretch/>
        </p:blipFill>
        <p:spPr>
          <a:xfrm>
            <a:off x="10858545" y="306229"/>
            <a:ext cx="723810" cy="473393"/>
          </a:xfrm>
          <a:prstGeom prst="rect">
            <a:avLst/>
          </a:prstGeom>
        </p:spPr>
      </p:pic>
      <p:sp>
        <p:nvSpPr>
          <p:cNvPr id="4" name="text-2">
            <a:extLst>
              <a:ext uri="{FF2B5EF4-FFF2-40B4-BE49-F238E27FC236}">
                <a16:creationId xmlns:a16="http://schemas.microsoft.com/office/drawing/2014/main" id="{B175A53A-1A5B-400D-864F-1767417EC4A7}"/>
              </a:ext>
            </a:extLst>
          </p:cNvPr>
          <p:cNvSpPr>
            <a:spLocks noGrp="1"/>
          </p:cNvSpPr>
          <p:nvPr/>
        </p:nvSpPr>
        <p:spPr>
          <a:xfrm>
            <a:off x="11144250" y="6343650"/>
            <a:ext cx="457200" cy="285750"/>
          </a:xfrm>
          <a:prstGeom prst="rect">
            <a:avLst/>
          </a:prstGeom>
          <a:noFill/>
          <a:ln w="0">
            <a:noFill/>
          </a:ln>
        </p:spPr>
        <p:txBody>
          <a:bodyPr wrap="none" lIns="0" tIns="0" rIns="0" bIns="0" anchor="t">
            <a:noAutofit/>
          </a:bodyPr>
          <a:lstStyle/>
          <a:p>
            <a:pPr algn="r">
              <a:buNone/>
              <a:defRPr sz="1350" b="0">
                <a:solidFill>
                  <a:srgbClr val="596167"/>
                </a:solidFill>
                <a:latin typeface="Arimo"/>
                <a:ea typeface="Arimo"/>
                <a:cs typeface="Arimo"/>
              </a:defRPr>
            </a:pPr>
            <a:r>
              <a:rPr sz="1350" b="0">
                <a:solidFill>
                  <a:srgbClr val="596167"/>
                </a:solidFill>
                <a:latin typeface="Arimo"/>
                <a:ea typeface="Arimo"/>
                <a:cs typeface="Arimo"/>
              </a:rPr>
              <a:t>29</a:t>
            </a:r>
          </a:p>
        </p:txBody>
      </p:sp>
      <p:sp>
        <p:nvSpPr>
          <p:cNvPr id="15" name="reference-subtitle">
            <a:extLst>
              <a:ext uri="{FF2B5EF4-FFF2-40B4-BE49-F238E27FC236}">
                <a16:creationId xmlns:a16="http://schemas.microsoft.com/office/drawing/2014/main" id="{F49883E1-E69C-4F7F-A183-3EA39A22C87B}"/>
              </a:ext>
            </a:extLst>
          </p:cNvPr>
          <p:cNvSpPr>
            <a:spLocks noGrp="1"/>
          </p:cNvSpPr>
          <p:nvPr/>
        </p:nvSpPr>
        <p:spPr>
          <a:xfrm>
            <a:off x="1028700" y="1695450"/>
            <a:ext cx="10382250" cy="400050"/>
          </a:xfrm>
          <a:prstGeom prst="rect">
            <a:avLst/>
          </a:prstGeom>
          <a:noFill/>
          <a:ln w="0">
            <a:noFill/>
          </a:ln>
        </p:spPr>
        <p:txBody>
          <a:bodyPr wrap="none" lIns="0" tIns="0" rIns="0" bIns="0" anchor="ctr">
            <a:noAutofit/>
          </a:bodyPr>
          <a:lstStyle/>
          <a:p>
            <a:pPr algn="l">
              <a:defRPr sz="1875" b="0">
                <a:solidFill>
                  <a:srgbClr val="596167"/>
                </a:solidFill>
                <a:latin typeface="Arimo"/>
                <a:ea typeface="Arimo"/>
                <a:cs typeface="Arimo"/>
              </a:defRPr>
            </a:pPr>
            <a:r>
              <a:rPr sz="1875" b="0">
                <a:solidFill>
                  <a:srgbClr val="596167"/>
                </a:solidFill>
                <a:latin typeface="Arimo"/>
                <a:ea typeface="Arimo"/>
                <a:cs typeface="Arimo"/>
              </a:rPr>
              <a:t>Reference · measured on macOS arm64 · 8 bits per byte</a:t>
            </a:r>
          </a:p>
        </p:txBody>
      </p:sp>
      <p:graphicFrame>
        <p:nvGraphicFramePr>
          <p:cNvPr id="16" name="Table 15"/>
          <p:cNvGraphicFramePr/>
          <p:nvPr/>
        </p:nvGraphicFramePr>
        <p:xfrm>
          <a:off x="1028700" y="2228850"/>
          <a:ext cx="10382250" cy="2895600"/>
        </p:xfrm>
        <a:graphic>
          <a:graphicData uri="http://schemas.openxmlformats.org/drawingml/2006/table">
            <a:tbl>
              <a:tblPr/>
              <a:tblGrid>
                <a:gridCol w="3619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5238750">
                  <a:extLst>
                    <a:ext uri="{9D8B030D-6E8A-4147-A177-3AD203B41FA5}">
                      <a16:colId xmlns:a16="http://schemas.microsoft.com/office/drawing/2014/main" val="20002"/>
                    </a:ext>
                  </a:extLst>
                </a:gridCol>
              </a:tblGrid>
              <a:tr h="723900">
                <a:tc>
                  <a:txBody>
                    <a:bodyPr/>
                    <a:lstStyle/>
                    <a:p>
                      <a:pPr algn="l"/>
                      <a:r>
                        <a:rPr sz="2325" b="1">
                          <a:solidFill>
                            <a:srgbClr val="FFFFFF"/>
                          </a:solidFill>
                          <a:latin typeface="Arimo"/>
                          <a:ea typeface="Arimo"/>
                          <a:cs typeface="Arimo"/>
                        </a:rPr>
                        <a:t>Type</a:t>
                      </a:r>
                    </a:p>
                  </a:txBody>
                  <a:tcPr anchor="ctr">
                    <a:solidFill>
                      <a:srgbClr val="202426"/>
                    </a:solidFill>
                  </a:tcPr>
                </a:tc>
                <a:tc>
                  <a:txBody>
                    <a:bodyPr/>
                    <a:lstStyle/>
                    <a:p>
                      <a:pPr algn="l"/>
                      <a:r>
                        <a:rPr sz="2325" b="1">
                          <a:solidFill>
                            <a:srgbClr val="FFFFFF"/>
                          </a:solidFill>
                          <a:latin typeface="Arimo"/>
                          <a:ea typeface="Arimo"/>
                          <a:cs typeface="Arimo"/>
                        </a:rPr>
                        <a:t>Bits</a:t>
                      </a:r>
                    </a:p>
                  </a:txBody>
                  <a:tcPr anchor="ctr">
                    <a:solidFill>
                      <a:srgbClr val="202426"/>
                    </a:solidFill>
                  </a:tcPr>
                </a:tc>
                <a:tc>
                  <a:txBody>
                    <a:bodyPr/>
                    <a:lstStyle/>
                    <a:p>
                      <a:pPr algn="l"/>
                      <a:r>
                        <a:rPr sz="2325" b="1">
                          <a:solidFill>
                            <a:srgbClr val="FFFFFF"/>
                          </a:solidFill>
                          <a:latin typeface="Arimo"/>
                          <a:ea typeface="Arimo"/>
                          <a:cs typeface="Arimo"/>
                        </a:rPr>
                        <a:t>Decimal precision</a:t>
                      </a:r>
                    </a:p>
                  </a:txBody>
                  <a:tcPr anchor="ctr">
                    <a:solidFill>
                      <a:srgbClr val="202426"/>
                    </a:solidFill>
                  </a:tcPr>
                </a:tc>
                <a:extLst>
                  <a:ext uri="{0D108BD9-81ED-4DB2-BD59-A6C34878D82A}">
                    <a16:rowId xmlns:a16="http://schemas.microsoft.com/office/drawing/2014/main" val="10000"/>
                  </a:ext>
                </a:extLst>
              </a:tr>
              <a:tr h="723900">
                <a:tc>
                  <a:txBody>
                    <a:bodyPr/>
                    <a:lstStyle/>
                    <a:p>
                      <a:pPr algn="l"/>
                      <a:r>
                        <a:rPr sz="2325" b="0">
                          <a:solidFill>
                            <a:srgbClr val="202426"/>
                          </a:solidFill>
                          <a:latin typeface="Arimo"/>
                          <a:ea typeface="Arimo"/>
                          <a:cs typeface="Arimo"/>
                        </a:rPr>
                        <a:t>float</a:t>
                      </a:r>
                    </a:p>
                  </a:txBody>
                  <a:tcPr anchor="ctr">
                    <a:solidFill>
                      <a:srgbClr val="FFFFFF"/>
                    </a:solidFill>
                  </a:tcPr>
                </a:tc>
                <a:tc>
                  <a:txBody>
                    <a:bodyPr/>
                    <a:lstStyle/>
                    <a:p>
                      <a:pPr algn="l"/>
                      <a:r>
                        <a:rPr sz="2325" b="0">
                          <a:solidFill>
                            <a:srgbClr val="202426"/>
                          </a:solidFill>
                          <a:latin typeface="Arimo"/>
                          <a:ea typeface="Arimo"/>
                          <a:cs typeface="Arimo"/>
                        </a:rPr>
                        <a:t>32</a:t>
                      </a:r>
                    </a:p>
                  </a:txBody>
                  <a:tcPr anchor="ctr">
                    <a:solidFill>
                      <a:srgbClr val="FFFFFF"/>
                    </a:solidFill>
                  </a:tcPr>
                </a:tc>
                <a:tc>
                  <a:txBody>
                    <a:bodyPr/>
                    <a:lstStyle/>
                    <a:p>
                      <a:pPr algn="l"/>
                      <a:r>
                        <a:rPr sz="2325" b="0">
                          <a:solidFill>
                            <a:srgbClr val="202426"/>
                          </a:solidFill>
                          <a:latin typeface="Arimo"/>
                          <a:ea typeface="Arimo"/>
                          <a:cs typeface="Arimo"/>
                        </a:rPr>
                        <a:t>6 significant digits</a:t>
                      </a:r>
                    </a:p>
                  </a:txBody>
                  <a:tcPr anchor="ctr">
                    <a:solidFill>
                      <a:srgbClr val="FFFFFF"/>
                    </a:solidFill>
                  </a:tcPr>
                </a:tc>
                <a:extLst>
                  <a:ext uri="{0D108BD9-81ED-4DB2-BD59-A6C34878D82A}">
                    <a16:rowId xmlns:a16="http://schemas.microsoft.com/office/drawing/2014/main" val="10001"/>
                  </a:ext>
                </a:extLst>
              </a:tr>
              <a:tr h="723900">
                <a:tc>
                  <a:txBody>
                    <a:bodyPr/>
                    <a:lstStyle/>
                    <a:p>
                      <a:pPr algn="l"/>
                      <a:r>
                        <a:rPr sz="2325" b="0">
                          <a:solidFill>
                            <a:srgbClr val="202426"/>
                          </a:solidFill>
                          <a:latin typeface="Arimo"/>
                          <a:ea typeface="Arimo"/>
                          <a:cs typeface="Arimo"/>
                        </a:rPr>
                        <a:t>double</a:t>
                      </a:r>
                    </a:p>
                  </a:txBody>
                  <a:tcPr anchor="ctr">
                    <a:solidFill>
                      <a:srgbClr val="F3F4F4"/>
                    </a:solidFill>
                  </a:tcPr>
                </a:tc>
                <a:tc>
                  <a:txBody>
                    <a:bodyPr/>
                    <a:lstStyle/>
                    <a:p>
                      <a:pPr algn="l"/>
                      <a:r>
                        <a:rPr sz="2325" b="0">
                          <a:solidFill>
                            <a:srgbClr val="202426"/>
                          </a:solidFill>
                          <a:latin typeface="Arimo"/>
                          <a:ea typeface="Arimo"/>
                          <a:cs typeface="Arimo"/>
                        </a:rPr>
                        <a:t>64</a:t>
                      </a:r>
                    </a:p>
                  </a:txBody>
                  <a:tcPr anchor="ctr">
                    <a:solidFill>
                      <a:srgbClr val="F3F4F4"/>
                    </a:solidFill>
                  </a:tcPr>
                </a:tc>
                <a:tc>
                  <a:txBody>
                    <a:bodyPr/>
                    <a:lstStyle/>
                    <a:p>
                      <a:pPr algn="l"/>
                      <a:r>
                        <a:rPr sz="2325" b="0">
                          <a:solidFill>
                            <a:srgbClr val="202426"/>
                          </a:solidFill>
                          <a:latin typeface="Arimo"/>
                          <a:ea typeface="Arimo"/>
                          <a:cs typeface="Arimo"/>
                        </a:rPr>
                        <a:t>15 significant digits</a:t>
                      </a:r>
                    </a:p>
                  </a:txBody>
                  <a:tcPr anchor="ctr">
                    <a:solidFill>
                      <a:srgbClr val="F3F4F4"/>
                    </a:solidFill>
                  </a:tcPr>
                </a:tc>
                <a:extLst>
                  <a:ext uri="{0D108BD9-81ED-4DB2-BD59-A6C34878D82A}">
                    <a16:rowId xmlns:a16="http://schemas.microsoft.com/office/drawing/2014/main" val="10002"/>
                  </a:ext>
                </a:extLst>
              </a:tr>
              <a:tr h="723900">
                <a:tc>
                  <a:txBody>
                    <a:bodyPr/>
                    <a:lstStyle/>
                    <a:p>
                      <a:pPr algn="l"/>
                      <a:r>
                        <a:rPr sz="2325" b="0">
                          <a:solidFill>
                            <a:srgbClr val="202426"/>
                          </a:solidFill>
                          <a:latin typeface="Arimo"/>
                          <a:ea typeface="Arimo"/>
                          <a:cs typeface="Arimo"/>
                        </a:rPr>
                        <a:t>long double</a:t>
                      </a:r>
                    </a:p>
                  </a:txBody>
                  <a:tcPr anchor="ctr">
                    <a:solidFill>
                      <a:srgbClr val="FFFFFF"/>
                    </a:solidFill>
                  </a:tcPr>
                </a:tc>
                <a:tc>
                  <a:txBody>
                    <a:bodyPr/>
                    <a:lstStyle/>
                    <a:p>
                      <a:pPr algn="l"/>
                      <a:r>
                        <a:rPr sz="2325" b="0">
                          <a:solidFill>
                            <a:srgbClr val="202426"/>
                          </a:solidFill>
                          <a:latin typeface="Arimo"/>
                          <a:ea typeface="Arimo"/>
                          <a:cs typeface="Arimo"/>
                        </a:rPr>
                        <a:t>64</a:t>
                      </a:r>
                    </a:p>
                  </a:txBody>
                  <a:tcPr anchor="ctr">
                    <a:solidFill>
                      <a:srgbClr val="FFFFFF"/>
                    </a:solidFill>
                  </a:tcPr>
                </a:tc>
                <a:tc>
                  <a:txBody>
                    <a:bodyPr/>
                    <a:lstStyle/>
                    <a:p>
                      <a:pPr algn="l"/>
                      <a:r>
                        <a:rPr sz="2325" b="0">
                          <a:solidFill>
                            <a:srgbClr val="202426"/>
                          </a:solidFill>
                          <a:latin typeface="Arimo"/>
                          <a:ea typeface="Arimo"/>
                          <a:cs typeface="Arimo"/>
                        </a:rPr>
                        <a:t>15 significant digits</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7" name="precision-macros">
            <a:extLst>
              <a:ext uri="{FF2B5EF4-FFF2-40B4-BE49-F238E27FC236}">
                <a16:creationId xmlns:a16="http://schemas.microsoft.com/office/drawing/2014/main" id="{6640CFE2-30CE-48C5-8E07-326E430AA6D3}"/>
              </a:ext>
            </a:extLst>
          </p:cNvPr>
          <p:cNvSpPr>
            <a:spLocks noGrp="1"/>
          </p:cNvSpPr>
          <p:nvPr/>
        </p:nvSpPr>
        <p:spPr>
          <a:xfrm>
            <a:off x="1028700" y="5400675"/>
            <a:ext cx="10382250" cy="400050"/>
          </a:xfrm>
          <a:prstGeom prst="rect">
            <a:avLst/>
          </a:prstGeom>
          <a:noFill/>
          <a:ln w="0">
            <a:noFill/>
          </a:ln>
        </p:spPr>
        <p:txBody>
          <a:bodyPr wrap="none" lIns="0" tIns="0" rIns="0" bIns="0" anchor="ctr">
            <a:noAutofit/>
          </a:bodyPr>
          <a:lstStyle/>
          <a:p>
            <a:pPr algn="l">
              <a:defRPr sz="1950" b="0">
                <a:solidFill>
                  <a:srgbClr val="596167"/>
                </a:solidFill>
                <a:latin typeface="Arimo"/>
                <a:ea typeface="Arimo"/>
                <a:cs typeface="Arimo"/>
              </a:defRPr>
            </a:pPr>
            <a:r>
              <a:rPr sz="1950" b="0">
                <a:solidFill>
                  <a:srgbClr val="596167"/>
                </a:solidFill>
                <a:latin typeface="Arimo"/>
                <a:ea typeface="Arimo"/>
                <a:cs typeface="Arimo"/>
              </a:rPr>
              <a:t>Precision from FLT_DIG, DBL_DIG and LDBL_DIG in &lt;float.h&gt;.</a:t>
            </a:r>
          </a:p>
        </p:txBody>
      </p:sp>
      <p:sp>
        <p:nvSpPr>
          <p:cNvPr id="18" name="precision-size-note">
            <a:extLst>
              <a:ext uri="{FF2B5EF4-FFF2-40B4-BE49-F238E27FC236}">
                <a16:creationId xmlns:a16="http://schemas.microsoft.com/office/drawing/2014/main" id="{C4FAFA33-1F26-4EE7-B576-8FAC433AA5C3}"/>
              </a:ext>
            </a:extLst>
          </p:cNvPr>
          <p:cNvSpPr>
            <a:spLocks noGrp="1"/>
          </p:cNvSpPr>
          <p:nvPr/>
        </p:nvSpPr>
        <p:spPr>
          <a:xfrm>
            <a:off x="1028700" y="5800725"/>
            <a:ext cx="10382250" cy="400050"/>
          </a:xfrm>
          <a:prstGeom prst="rect">
            <a:avLst/>
          </a:prstGeom>
          <a:noFill/>
          <a:ln w="0">
            <a:noFill/>
          </a:ln>
        </p:spPr>
        <p:txBody>
          <a:bodyPr wrap="none" lIns="0" tIns="0" rIns="0" bIns="0" anchor="ctr">
            <a:noAutofit/>
          </a:bodyPr>
          <a:lstStyle/>
          <a:p>
            <a:pPr algn="l">
              <a:defRPr sz="1950" b="0">
                <a:solidFill>
                  <a:srgbClr val="596167"/>
                </a:solidFill>
                <a:latin typeface="Arimo"/>
                <a:ea typeface="Arimo"/>
                <a:cs typeface="Arimo"/>
              </a:defRPr>
            </a:pPr>
            <a:r>
              <a:rPr sz="1950" b="0">
                <a:solidFill>
                  <a:srgbClr val="596167"/>
                </a:solidFill>
                <a:latin typeface="Arimo"/>
                <a:ea typeface="Arimo"/>
                <a:cs typeface="Arimo"/>
              </a:rPr>
              <a:t>long double has the same precision as double on this platform.</a:t>
            </a:r>
          </a:p>
        </p:txBody>
      </p:sp>
      <p:sp>
        <p:nvSpPr>
          <p:cNvPr id="19" name="precision-format-note">
            <a:extLst>
              <a:ext uri="{FF2B5EF4-FFF2-40B4-BE49-F238E27FC236}">
                <a16:creationId xmlns:a16="http://schemas.microsoft.com/office/drawing/2014/main" id="{A4ACF7DF-A911-4A55-8002-934192104268}"/>
              </a:ext>
            </a:extLst>
          </p:cNvPr>
          <p:cNvSpPr>
            <a:spLocks noGrp="1"/>
          </p:cNvSpPr>
          <p:nvPr/>
        </p:nvSpPr>
        <p:spPr>
          <a:xfrm>
            <a:off x="1028700" y="6200775"/>
            <a:ext cx="10382250" cy="400050"/>
          </a:xfrm>
          <a:prstGeom prst="rect">
            <a:avLst/>
          </a:prstGeom>
          <a:noFill/>
          <a:ln w="0">
            <a:noFill/>
          </a:ln>
        </p:spPr>
        <p:txBody>
          <a:bodyPr wrap="none" lIns="0" tIns="0" rIns="0" bIns="0" anchor="ctr">
            <a:noAutofit/>
          </a:bodyPr>
          <a:lstStyle/>
          <a:p>
            <a:pPr algn="l">
              <a:defRPr sz="1950" b="0">
                <a:solidFill>
                  <a:srgbClr val="596167"/>
                </a:solidFill>
                <a:latin typeface="Arimo"/>
                <a:ea typeface="Arimo"/>
                <a:cs typeface="Arimo"/>
              </a:defRPr>
            </a:pPr>
            <a:r>
              <a:rPr sz="1950" b="0">
                <a:solidFill>
                  <a:srgbClr val="596167"/>
                </a:solidFill>
                <a:latin typeface="Arimo"/>
                <a:ea typeface="Arimo"/>
                <a:cs typeface="Arimo"/>
              </a:rPr>
              <a:t>printf precision controls the display, not the stored value.</a:t>
            </a:r>
          </a:p>
        </p:txBody>
      </p:sp>
    </p:spTree>
    <p:extLst>
      <p:ext uri="{BB962C8B-B14F-4D97-AF65-F5344CB8AC3E}">
        <p14:creationId xmlns:p14="http://schemas.microsoft.com/office/powerpoint/2010/main" val="147958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52114D-3EF7-46BA-8F90-F9C10CD1F34E}"/>
              </a:ext>
            </a:extLst>
          </p:cNvPr>
          <p:cNvSpPr>
            <a:spLocks noGrp="1"/>
          </p:cNvSpPr>
          <p:nvPr/>
        </p:nvSpPr>
        <p:spPr>
          <a:xfrm>
            <a:off x="0" y="0"/>
            <a:ext cx="76200" cy="6858000"/>
          </a:xfrm>
          <a:prstGeom prst="rect">
            <a:avLst/>
          </a:prstGeom>
          <a:solidFill>
            <a:srgbClr val="DF4214"/>
          </a:solidFill>
          <a:ln w="0">
            <a:noFill/>
          </a:ln>
        </p:spPr>
      </p:sp>
      <p:pic>
        <p:nvPicPr>
          <p:cNvPr id="11" name="Picture 10"/>
          <p:cNvPicPr>
            <a:picLocks noChangeAspect="1"/>
          </p:cNvPicPr>
          <p:nvPr/>
        </p:nvPicPr>
        <p:blipFill>
          <a:blip r:embed="rId3"/>
          <a:stretch/>
        </p:blipFill>
        <p:spPr>
          <a:xfrm>
            <a:off x="10858500" y="306199"/>
            <a:ext cx="723900" cy="473451"/>
          </a:xfrm>
          <a:prstGeom prst="rect">
            <a:avLst/>
          </a:prstGeom>
        </p:spPr>
      </p:pic>
      <p:sp>
        <p:nvSpPr>
          <p:cNvPr id="3" name="Rectangle 2">
            <a:extLst>
              <a:ext uri="{FF2B5EF4-FFF2-40B4-BE49-F238E27FC236}">
                <a16:creationId xmlns:a16="http://schemas.microsoft.com/office/drawing/2014/main" id="{09363F14-B1E6-49E8-AA6A-2C8CA8622700}"/>
              </a:ext>
            </a:extLst>
          </p:cNvPr>
          <p:cNvSpPr>
            <a:spLocks noGrp="1"/>
          </p:cNvSpPr>
          <p:nvPr/>
        </p:nvSpPr>
        <p:spPr>
          <a:xfrm>
            <a:off x="685800" y="666750"/>
            <a:ext cx="9906000" cy="809625"/>
          </a:xfrm>
          <a:prstGeom prst="rect">
            <a:avLst/>
          </a:prstGeom>
          <a:noFill/>
          <a:ln w="0">
            <a:noFill/>
          </a:ln>
        </p:spPr>
        <p:txBody>
          <a:bodyPr anchor="ctr">
            <a:noAutofit/>
          </a:bodyPr>
          <a:lstStyle/>
          <a:p>
            <a:pPr algn="l">
              <a:defRPr sz="3600" b="1">
                <a:solidFill>
                  <a:srgbClr val="202426"/>
                </a:solidFill>
                <a:latin typeface="Arimo"/>
                <a:ea typeface="Arimo"/>
                <a:cs typeface="Arimo"/>
              </a:defRPr>
            </a:pPr>
            <a:r>
              <a:rPr sz="3600" b="1">
                <a:solidFill>
                  <a:srgbClr val="202426"/>
                </a:solidFill>
                <a:latin typeface="Arimo"/>
                <a:ea typeface="Arimo"/>
                <a:cs typeface="Arimo"/>
              </a:rPr>
              <a:t>Sources</a:t>
            </a:r>
          </a:p>
        </p:txBody>
      </p:sp>
      <p:sp>
        <p:nvSpPr>
          <p:cNvPr id="4" name="Rectangle 3">
            <a:extLst>
              <a:ext uri="{FF2B5EF4-FFF2-40B4-BE49-F238E27FC236}">
                <a16:creationId xmlns:a16="http://schemas.microsoft.com/office/drawing/2014/main" id="{A1238BE2-6061-4E79-ADCF-F01382A8588C}"/>
              </a:ext>
            </a:extLst>
          </p:cNvPr>
          <p:cNvSpPr>
            <a:spLocks noGrp="1"/>
          </p:cNvSpPr>
          <p:nvPr/>
        </p:nvSpPr>
        <p:spPr>
          <a:xfrm>
            <a:off x="11144250" y="6343650"/>
            <a:ext cx="457200" cy="266700"/>
          </a:xfrm>
          <a:prstGeom prst="rect">
            <a:avLst/>
          </a:prstGeom>
          <a:noFill/>
          <a:ln w="0">
            <a:noFill/>
          </a:ln>
        </p:spPr>
        <p:txBody>
          <a:bodyPr anchor="ctr">
            <a:noAutofit/>
          </a:bodyPr>
          <a:lstStyle/>
          <a:p>
            <a:pPr algn="l">
              <a:defRPr sz="1350" b="0">
                <a:solidFill>
                  <a:srgbClr val="596167"/>
                </a:solidFill>
                <a:latin typeface="Arimo"/>
                <a:ea typeface="Arimo"/>
                <a:cs typeface="Arimo"/>
              </a:defRPr>
            </a:pPr>
            <a:r>
              <a:rPr sz="1350" b="0">
                <a:solidFill>
                  <a:srgbClr val="596167"/>
                </a:solidFill>
                <a:latin typeface="Arimo"/>
                <a:ea typeface="Arimo"/>
                <a:cs typeface="Arimo"/>
              </a:rPr>
              <a:t>30</a:t>
            </a:r>
          </a:p>
        </p:txBody>
      </p:sp>
      <p:sp>
        <p:nvSpPr>
          <p:cNvPr id="5" name="Rectangle 4">
            <a:extLst>
              <a:ext uri="{FF2B5EF4-FFF2-40B4-BE49-F238E27FC236}">
                <a16:creationId xmlns:a16="http://schemas.microsoft.com/office/drawing/2014/main" id="{E7806046-0CF2-4F0F-B8D3-46A6EBA195E9}"/>
              </a:ext>
            </a:extLst>
          </p:cNvPr>
          <p:cNvSpPr>
            <a:spLocks noGrp="1"/>
          </p:cNvSpPr>
          <p:nvPr/>
        </p:nvSpPr>
        <p:spPr>
          <a:xfrm>
            <a:off x="1028700" y="1847850"/>
            <a:ext cx="10325100" cy="609600"/>
          </a:xfrm>
          <a:prstGeom prst="rect">
            <a:avLst/>
          </a:prstGeom>
          <a:noFill/>
          <a:ln w="0">
            <a:noFill/>
          </a:ln>
        </p:spPr>
        <p:txBody>
          <a:bodyPr anchor="ctr">
            <a:noAutofit/>
          </a:bodyPr>
          <a:lstStyle/>
          <a:p>
            <a:pPr algn="l">
              <a:defRPr sz="2925" b="1">
                <a:solidFill>
                  <a:srgbClr val="202426"/>
                </a:solidFill>
                <a:latin typeface="Arimo"/>
                <a:ea typeface="Arimo"/>
                <a:cs typeface="Arimo"/>
              </a:defRPr>
            </a:pPr>
            <a:r>
              <a:rPr sz="2925" b="1">
                <a:solidFill>
                  <a:srgbClr val="202426"/>
                </a:solidFill>
                <a:latin typeface="Arimo"/>
                <a:ea typeface="Arimo"/>
                <a:cs typeface="Arimo"/>
              </a:rPr>
              <a:t>The Art and Craft of Computing</a:t>
            </a:r>
          </a:p>
        </p:txBody>
      </p:sp>
      <p:sp>
        <p:nvSpPr>
          <p:cNvPr id="6" name="Rectangle 5">
            <a:extLst>
              <a:ext uri="{FF2B5EF4-FFF2-40B4-BE49-F238E27FC236}">
                <a16:creationId xmlns:a16="http://schemas.microsoft.com/office/drawing/2014/main" id="{0067B83C-8314-4C69-83C2-ED58D644D212}"/>
              </a:ext>
            </a:extLst>
          </p:cNvPr>
          <p:cNvSpPr>
            <a:spLocks noGrp="1"/>
          </p:cNvSpPr>
          <p:nvPr/>
        </p:nvSpPr>
        <p:spPr>
          <a:xfrm>
            <a:off x="1028700" y="2562225"/>
            <a:ext cx="10325100" cy="457200"/>
          </a:xfrm>
          <a:prstGeom prst="rect">
            <a:avLst/>
          </a:prstGeom>
          <a:noFill/>
          <a:ln w="0">
            <a:noFill/>
          </a:ln>
        </p:spPr>
        <p:txBody>
          <a:bodyPr anchor="ctr">
            <a:noAutofit/>
          </a:bodyPr>
          <a:lstStyle/>
          <a:p>
            <a:pPr algn="l">
              <a:defRPr sz="2325" b="0">
                <a:solidFill>
                  <a:srgbClr val="596167"/>
                </a:solidFill>
                <a:latin typeface="Arimo"/>
                <a:ea typeface="Arimo"/>
                <a:cs typeface="Arimo"/>
              </a:defRPr>
            </a:pPr>
            <a:r>
              <a:rPr sz="2325" b="0">
                <a:solidFill>
                  <a:srgbClr val="596167"/>
                </a:solidFill>
                <a:latin typeface="Arimo"/>
                <a:ea typeface="Arimo"/>
                <a:cs typeface="Arimo"/>
              </a:rPr>
              <a:t>Examples 5.1, 5.3 and 5.6</a:t>
            </a:r>
          </a:p>
        </p:txBody>
      </p:sp>
      <p:sp>
        <p:nvSpPr>
          <p:cNvPr id="7" name="Rectangle 6">
            <a:extLst>
              <a:ext uri="{FF2B5EF4-FFF2-40B4-BE49-F238E27FC236}">
                <a16:creationId xmlns:a16="http://schemas.microsoft.com/office/drawing/2014/main" id="{F225614E-93B7-428A-8137-17E351F86C73}"/>
              </a:ext>
            </a:extLst>
          </p:cNvPr>
          <p:cNvSpPr>
            <a:spLocks noGrp="1"/>
          </p:cNvSpPr>
          <p:nvPr/>
        </p:nvSpPr>
        <p:spPr>
          <a:xfrm>
            <a:off x="1028700" y="3514725"/>
            <a:ext cx="10325100" cy="609600"/>
          </a:xfrm>
          <a:prstGeom prst="rect">
            <a:avLst/>
          </a:prstGeom>
          <a:noFill/>
          <a:ln w="0">
            <a:noFill/>
          </a:ln>
        </p:spPr>
        <p:txBody>
          <a:bodyPr anchor="ctr">
            <a:noAutofit/>
          </a:bodyPr>
          <a:lstStyle/>
          <a:p>
            <a:pPr algn="l">
              <a:defRPr sz="2925" b="1">
                <a:solidFill>
                  <a:srgbClr val="202426"/>
                </a:solidFill>
                <a:latin typeface="Arimo"/>
                <a:ea typeface="Arimo"/>
                <a:cs typeface="Arimo"/>
              </a:defRPr>
            </a:pPr>
            <a:r>
              <a:rPr sz="2925" b="1">
                <a:solidFill>
                  <a:srgbClr val="202426"/>
                </a:solidFill>
                <a:latin typeface="Arimo"/>
                <a:ea typeface="Arimo"/>
                <a:cs typeface="Arimo"/>
              </a:rPr>
              <a:t>CS50 Lectures 0–2</a:t>
            </a:r>
          </a:p>
        </p:txBody>
      </p:sp>
      <p:sp>
        <p:nvSpPr>
          <p:cNvPr id="8" name="Rectangle 7">
            <a:extLst>
              <a:ext uri="{FF2B5EF4-FFF2-40B4-BE49-F238E27FC236}">
                <a16:creationId xmlns:a16="http://schemas.microsoft.com/office/drawing/2014/main" id="{38C02E11-B305-4ECA-9241-E6606EE8B71C}"/>
              </a:ext>
            </a:extLst>
          </p:cNvPr>
          <p:cNvSpPr>
            <a:spLocks noGrp="1"/>
          </p:cNvSpPr>
          <p:nvPr/>
        </p:nvSpPr>
        <p:spPr>
          <a:xfrm>
            <a:off x="1028700" y="4229100"/>
            <a:ext cx="10325100" cy="457200"/>
          </a:xfrm>
          <a:prstGeom prst="rect">
            <a:avLst/>
          </a:prstGeom>
          <a:noFill/>
          <a:ln w="0">
            <a:noFill/>
          </a:ln>
        </p:spPr>
        <p:txBody>
          <a:bodyPr anchor="ctr">
            <a:noAutofit/>
          </a:bodyPr>
          <a:lstStyle/>
          <a:p>
            <a:pPr algn="l">
              <a:defRPr sz="2325" b="0">
                <a:solidFill>
                  <a:srgbClr val="596167"/>
                </a:solidFill>
                <a:latin typeface="Arimo"/>
                <a:ea typeface="Arimo"/>
                <a:cs typeface="Arimo"/>
              </a:defRPr>
            </a:pPr>
            <a:r>
              <a:rPr sz="2325" b="0">
                <a:solidFill>
                  <a:srgbClr val="596167"/>
                </a:solidFill>
                <a:latin typeface="Arimo"/>
                <a:ea typeface="Arimo"/>
                <a:cs typeface="Arimo"/>
              </a:rPr>
              <a:t>Pseudocode, flowcharts and memory visuals</a:t>
            </a:r>
          </a:p>
        </p:txBody>
      </p:sp>
      <p:sp>
        <p:nvSpPr>
          <p:cNvPr id="9" name="Rectangle 8">
            <a:extLst>
              <a:ext uri="{FF2B5EF4-FFF2-40B4-BE49-F238E27FC236}">
                <a16:creationId xmlns:a16="http://schemas.microsoft.com/office/drawing/2014/main" id="{8410D62D-D1F9-4EE5-B268-9F037E0AB36F}"/>
              </a:ext>
            </a:extLst>
          </p:cNvPr>
          <p:cNvSpPr>
            <a:spLocks noGrp="1"/>
          </p:cNvSpPr>
          <p:nvPr/>
        </p:nvSpPr>
        <p:spPr>
          <a:xfrm>
            <a:off x="1028700" y="5514975"/>
            <a:ext cx="10325100" cy="542925"/>
          </a:xfrm>
          <a:prstGeom prst="rect">
            <a:avLst/>
          </a:prstGeom>
          <a:noFill/>
          <a:ln w="0">
            <a:noFill/>
          </a:ln>
        </p:spPr>
        <p:txBody>
          <a:bodyPr anchor="ctr">
            <a:noAutofit/>
          </a:bodyPr>
          <a:lstStyle/>
          <a:p>
            <a:pPr algn="l">
              <a:defRPr sz="1875" b="0">
                <a:solidFill>
                  <a:srgbClr val="596167"/>
                </a:solidFill>
                <a:latin typeface="Arimo"/>
                <a:ea typeface="Arimo"/>
                <a:cs typeface="Arimo"/>
              </a:defRPr>
            </a:pPr>
            <a:r>
              <a:rPr sz="1875" b="0">
                <a:solidFill>
                  <a:srgbClr val="596167"/>
                </a:solidFill>
                <a:latin typeface="Arimo"/>
                <a:ea typeface="Arimo"/>
                <a:cs typeface="Arimo"/>
              </a:rPr>
              <a:t>C11 / CS50 library · Gregorian rule: USNO · BBC News</a:t>
            </a:r>
          </a:p>
        </p:txBody>
      </p:sp>
      <p:sp>
        <p:nvSpPr>
          <p:cNvPr id="12" name="Audit clarification 30"/>
          <p:cNvSpPr txBox="1"/>
          <p:nvPr/>
        </p:nvSpPr>
        <p:spPr>
          <a:xfrm>
            <a:off x="1047750" y="5924550"/>
            <a:ext cx="10191750" cy="323850"/>
          </a:xfrm>
          <a:prstGeom prst="rect">
            <a:avLst/>
          </a:prstGeom>
          <a:noFill/>
          <a:ln>
            <a:noFill/>
          </a:ln>
        </p:spPr>
        <p:txBody>
          <a:bodyPr lIns="0" tIns="0" rIns="0" bIns="0" anchor="ctr">
            <a:noAutofit/>
          </a:bodyPr>
          <a:lstStyle/>
          <a:p>
            <a:r>
              <a:rPr lang="en-US" sz="1725">
                <a:solidFill>
                  <a:srgbClr val="636B70"/>
                </a:solidFill>
                <a:latin typeface="Arimo"/>
              </a:rPr>
              <a:t>Full references and adaptations in presenter notes</a:t>
            </a:r>
          </a:p>
        </p:txBody>
      </p:sp>
    </p:spTree>
    <p:extLst>
      <p:ext uri="{BB962C8B-B14F-4D97-AF65-F5344CB8AC3E}">
        <p14:creationId xmlns:p14="http://schemas.microsoft.com/office/powerpoint/2010/main" val="17161358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eef89b16-9694-4f62-b4c9-19c70d229b8b"/>
  <p:tag name="SLIDO_EVENT_UUID" val="f8307046-a3a0-4b59-afbb-0c6cf9d1eb63"/>
  <p:tag name="SLIDO_EVENT_SECTION_UUID" val="4fb2e90f-75db-4dc2-a6e0-1cb59653df3c"/>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b54933f1-4ee2-4d04-808e-5f83ec44b488"/>
  <p:tag name="SLIDO_KEEP_POLL_ACTIVE" val="false"/>
  <p:tag name="SLIDO_TIMELINE" val="W3sic2hvd1Jlc3VsdHMiOnRydWUsInBvbGxRdWVzdGlvblV1aWQiOiIxNTNlMjI3OC05ZWNiLTRiM2QtOGQ4My0xMDRiNmU0MGQ0NWEiLCJzaG93Q29ycmVjdEFuc3dlcnMiOmZhbHNlfSx7InNob3dSZXN1bHRzIjp0cnVlLCJwb2xsUXVlc3Rpb25VdWlkIjoiMTUzZTIyNzgtOWVjYi00YjNkLThkODMtMTA0YjZlNDBkNDVhIiwic2hvd0NvcnJlY3RBbnN3ZXJzIjp0cnVlfV0="/>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ELEMENT" val="footer"/>
</p:tagLst>
</file>

<file path=ppt/tags/tag6.xml><?xml version="1.0" encoding="utf-8"?>
<p:tagLst xmlns:a="http://schemas.openxmlformats.org/drawingml/2006/main" xmlns:r="http://schemas.openxmlformats.org/officeDocument/2006/relationships" xmlns:p="http://schemas.openxmlformats.org/presentationml/2006/main">
  <p:tag name="SLIDO_ELEMENT" val="corner"/>
</p:tagLst>
</file>

<file path=ppt/tags/tag7.xml><?xml version="1.0" encoding="utf-8"?>
<p:tagLst xmlns:a="http://schemas.openxmlformats.org/drawingml/2006/main" xmlns:r="http://schemas.openxmlformats.org/officeDocument/2006/relationships" xmlns:p="http://schemas.openxmlformats.org/presentationml/2006/main">
  <p:tag name="SLIDO_TYPE" val="SlidoPoll"/>
  <p:tag name="SLIDO_POLL_UUID" val="5b629895-9365-4a2d-b108-a31f319310a0"/>
  <p:tag name="SLIDO_KEEP_POLL_ACTIVE" val="false"/>
  <p:tag name="SLIDO_TIMELINE" val="W3sic2hvd1Jlc3VsdHMiOnRydWUsInNob3dDb3JyZWN0QW5zd2VycyI6ZmFsc2UsInBvbGxRdWVzdGlvblV1aWQiOiJjYzk3MGE1My1jZjIzLTRmNjgtOGJiMi0yZTg3YWI2OTgzZjIifSx7InNob3dSZXN1bHRzIjp0cnVlLCJzaG93Q29ycmVjdEFuc3dlcnMiOnRydWUsInBvbGxRdWVzdGlvblV1aWQiOiJjYzk3MGE1My1jZjIzLTRmNjgtOGJiMi0yZTg3YWI2OTgzZjIifV0="/>
</p:tagLst>
</file>

<file path=ppt/tags/tag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9.xml><?xml version="1.0" encoding="utf-8"?>
<p:tagLst xmlns:a="http://schemas.openxmlformats.org/drawingml/2006/main" xmlns:r="http://schemas.openxmlformats.org/officeDocument/2006/relationships" xmlns:p="http://schemas.openxmlformats.org/presentationml/2006/main">
  <p:tag name="SLIDO_ELEMENT" val="title"/>
</p:tagLst>
</file>

<file path=ppt/tags/tag10.xml><?xml version="1.0" encoding="utf-8"?>
<p:tagLst xmlns:a="http://schemas.openxmlformats.org/drawingml/2006/main" xmlns:r="http://schemas.openxmlformats.org/officeDocument/2006/relationships" xmlns:p="http://schemas.openxmlformats.org/presentationml/2006/main">
  <p:tag name="SLIDO_ELEMENT" val="footer"/>
</p:tagLst>
</file>

<file path=ppt/tags/tag11.xml><?xml version="1.0" encoding="utf-8"?>
<p:tagLst xmlns:a="http://schemas.openxmlformats.org/drawingml/2006/main" xmlns:r="http://schemas.openxmlformats.org/officeDocument/2006/relationships" xmlns:p="http://schemas.openxmlformats.org/presentationml/2006/main">
  <p:tag name="SLIDO_ELEMENT" val="corner"/>
</p:tagLst>
</file>

<file path=ppt/tags/tag12.xml><?xml version="1.0" encoding="utf-8"?>
<p:tagLst xmlns:a="http://schemas.openxmlformats.org/drawingml/2006/main" xmlns:r="http://schemas.openxmlformats.org/officeDocument/2006/relationships" xmlns:p="http://schemas.openxmlformats.org/presentationml/2006/main">
  <p:tag name="SLIDO_TYPE" val="SlidoPoll"/>
  <p:tag name="SLIDO_POLL_UUID" val="735cd28d-0794-4963-9e4d-2c4893a55680"/>
  <p:tag name="SLIDO_KEEP_POLL_ACTIVE" val="false"/>
  <p:tag name="SLIDO_TIMELINE" val="W3sic2hvd1Jlc3VsdHMiOnRydWUsInBvbGxRdWVzdGlvblV1aWQiOiJhOTU2YjA3NC01NmM2LTQyYWEtOTg0OC01YTQzOTZmMzdiMDUiLCJzaG93Q29ycmVjdEFuc3dlcnMiOmZhbHNlfSx7InNob3dSZXN1bHRzIjp0cnVlLCJwb2xsUXVlc3Rpb25VdWlkIjoiYTk1NmIwNzQtNTZjNi00MmFhLTk4NDgtNWE0Mzk2ZjM3YjA1Iiwic2hvd0NvcnJlY3RBbnN3ZXJzIjp0cnVlfV0="/>
</p:tagLst>
</file>

<file path=ppt/tags/tag1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4.xml><?xml version="1.0" encoding="utf-8"?>
<p:tagLst xmlns:a="http://schemas.openxmlformats.org/drawingml/2006/main" xmlns:r="http://schemas.openxmlformats.org/officeDocument/2006/relationships" xmlns:p="http://schemas.openxmlformats.org/presentationml/2006/main">
  <p:tag name="SLIDO_ELEMENT" val="title"/>
</p:tagLst>
</file>

<file path=ppt/tags/tag15.xml><?xml version="1.0" encoding="utf-8"?>
<p:tagLst xmlns:a="http://schemas.openxmlformats.org/drawingml/2006/main" xmlns:r="http://schemas.openxmlformats.org/officeDocument/2006/relationships" xmlns:p="http://schemas.openxmlformats.org/presentationml/2006/main">
  <p:tag name="SLIDO_ELEMENT" val="footer"/>
</p:tagLst>
</file>

<file path=ppt/tags/tag16.xml><?xml version="1.0" encoding="utf-8"?>
<p:tagLst xmlns:a="http://schemas.openxmlformats.org/drawingml/2006/main" xmlns:r="http://schemas.openxmlformats.org/officeDocument/2006/relationships" xmlns:p="http://schemas.openxmlformats.org/presentationml/2006/main">
  <p:tag name="SLIDO_ELEMENT" val="corner"/>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6.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12346</Words>
  <Application>Microsoft Macintosh PowerPoint</Application>
  <DocSecurity>0</DocSecurity>
  <PresentationFormat>Widescreen</PresentationFormat>
  <Paragraphs>456</Paragraphs>
  <Slides>33</Slides>
  <Notes>30</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33</vt:i4>
      </vt:variant>
    </vt:vector>
  </HeadingPairs>
  <TitlesOfParts>
    <vt:vector size="41" baseType="lpstr">
      <vt:lpstr>Arimo</vt:lpstr>
      <vt:lpstr>Calibri</vt:lpstr>
      <vt:lpstr>Menlo</vt:lpstr>
      <vt:lpstr>ChatGPT</vt:lpstr>
      <vt:lpstr>ChatGPT</vt:lpstr>
      <vt:lpstr>ChatGPT</vt:lpstr>
      <vt:lpstr>ChatGPT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Rakhmonberdi Khajiyev</cp:lastModifiedBy>
  <cp:revision>2</cp:revision>
  <dcterms:created xsi:type="dcterms:W3CDTF">2026-10-05T06:56:15Z</dcterms:created>
  <dcterms:modified xsi:type="dcterms:W3CDTF">2026-10-05T19:49:07Z</dcterms:modified>
</cp:coreProperties>
</file>