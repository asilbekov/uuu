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85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</p:sldIdLst>
  <p:sldSz cx="4610100" cy="3460750"/>
  <p:notesSz cx="4610100" cy="34607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81" d="100"/>
          <a:sy n="181" d="100"/>
        </p:scale>
        <p:origin x="963" y="69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45757" y="1072832"/>
            <a:ext cx="3918585" cy="72675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1" i="0">
                <a:solidFill>
                  <a:srgbClr val="993333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691515" y="1938020"/>
            <a:ext cx="3227070" cy="8651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6858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993333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6858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993333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30505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2374201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10/5/2026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6858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4532363" y="671474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AFAFA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4532363" y="658774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CECEC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4532363" y="646074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EFEF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993333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10/5/2026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6858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10/5/2026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6858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-50"/>
            <a:ext cx="4608195" cy="3456304"/>
          </a:xfrm>
          <a:custGeom>
            <a:avLst/>
            <a:gdLst/>
            <a:ahLst/>
            <a:cxnLst/>
            <a:rect l="l" t="t" r="r" b="b"/>
            <a:pathLst>
              <a:path w="4608195" h="3456304">
                <a:moveTo>
                  <a:pt x="0" y="3456051"/>
                </a:moveTo>
                <a:lnTo>
                  <a:pt x="4608055" y="3456051"/>
                </a:lnTo>
                <a:lnTo>
                  <a:pt x="4608055" y="0"/>
                </a:lnTo>
                <a:lnTo>
                  <a:pt x="0" y="0"/>
                </a:lnTo>
                <a:lnTo>
                  <a:pt x="0" y="3456051"/>
                </a:lnTo>
                <a:close/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08000" y="331152"/>
            <a:ext cx="4392295" cy="29209"/>
          </a:xfrm>
          <a:custGeom>
            <a:avLst/>
            <a:gdLst/>
            <a:ahLst/>
            <a:cxnLst/>
            <a:rect l="l" t="t" r="r" b="b"/>
            <a:pathLst>
              <a:path w="4392295" h="29210">
                <a:moveTo>
                  <a:pt x="4392053" y="0"/>
                </a:moveTo>
                <a:lnTo>
                  <a:pt x="0" y="0"/>
                </a:lnTo>
                <a:lnTo>
                  <a:pt x="0" y="28803"/>
                </a:lnTo>
                <a:lnTo>
                  <a:pt x="4392053" y="28803"/>
                </a:lnTo>
                <a:lnTo>
                  <a:pt x="4392053" y="0"/>
                </a:lnTo>
                <a:close/>
              </a:path>
            </a:pathLst>
          </a:custGeom>
          <a:solidFill>
            <a:srgbClr val="63636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08000" y="3225596"/>
            <a:ext cx="4392295" cy="14604"/>
          </a:xfrm>
          <a:custGeom>
            <a:avLst/>
            <a:gdLst/>
            <a:ahLst/>
            <a:cxnLst/>
            <a:rect l="l" t="t" r="r" b="b"/>
            <a:pathLst>
              <a:path w="4392295" h="14605">
                <a:moveTo>
                  <a:pt x="4392053" y="0"/>
                </a:moveTo>
                <a:lnTo>
                  <a:pt x="0" y="0"/>
                </a:lnTo>
                <a:lnTo>
                  <a:pt x="0" y="14401"/>
                </a:lnTo>
                <a:lnTo>
                  <a:pt x="4392053" y="14401"/>
                </a:lnTo>
                <a:lnTo>
                  <a:pt x="439205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5300" y="61452"/>
            <a:ext cx="3157220" cy="244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1" i="0">
                <a:solidFill>
                  <a:srgbClr val="993333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47294" y="523225"/>
            <a:ext cx="3913504" cy="21463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567434" y="3218497"/>
            <a:ext cx="1475232" cy="1730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230505" y="3218497"/>
            <a:ext cx="1060323" cy="1730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4300486" y="3276263"/>
            <a:ext cx="176529" cy="1530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6858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en.wikipedia.org/wiki/Little_endian" TargetMode="Externa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300" y="61452"/>
            <a:ext cx="3003550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n-US" sz="1400" b="1" spc="60" dirty="0" err="1">
                <a:solidFill>
                  <a:srgbClr val="993333"/>
                </a:solidFill>
                <a:latin typeface="Arial"/>
                <a:cs typeface="Arial"/>
              </a:rPr>
              <a:t>FoCS</a:t>
            </a:r>
            <a:r>
              <a:rPr sz="1400" b="1" spc="60" dirty="0">
                <a:solidFill>
                  <a:srgbClr val="993333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993333"/>
                </a:solidFill>
                <a:latin typeface="Arial"/>
                <a:cs typeface="Arial"/>
              </a:rPr>
              <a:t>Lecture</a:t>
            </a:r>
            <a:r>
              <a:rPr sz="1400" b="1" spc="60" dirty="0">
                <a:solidFill>
                  <a:srgbClr val="993333"/>
                </a:solidFill>
                <a:latin typeface="Arial"/>
                <a:cs typeface="Arial"/>
              </a:rPr>
              <a:t> </a:t>
            </a:r>
            <a:r>
              <a:rPr lang="en-US" sz="1400" b="1" spc="60" dirty="0">
                <a:solidFill>
                  <a:srgbClr val="993333"/>
                </a:solidFill>
                <a:latin typeface="Arial"/>
                <a:cs typeface="Arial"/>
              </a:rPr>
              <a:t>4</a:t>
            </a:r>
            <a:r>
              <a:rPr sz="1400" b="1" spc="65" dirty="0">
                <a:solidFill>
                  <a:srgbClr val="993333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993333"/>
                </a:solidFill>
                <a:latin typeface="Arial"/>
                <a:cs typeface="Arial"/>
              </a:rPr>
              <a:t>–</a:t>
            </a:r>
            <a:r>
              <a:rPr sz="1400" b="1" spc="60" dirty="0">
                <a:solidFill>
                  <a:srgbClr val="993333"/>
                </a:solidFill>
                <a:latin typeface="Arial"/>
                <a:cs typeface="Arial"/>
              </a:rPr>
              <a:t> </a:t>
            </a:r>
            <a:r>
              <a:rPr lang="en-US" sz="1400" b="1" spc="60" dirty="0">
                <a:solidFill>
                  <a:srgbClr val="993333"/>
                </a:solidFill>
                <a:latin typeface="Arial"/>
                <a:cs typeface="Arial"/>
              </a:rPr>
              <a:t>October</a:t>
            </a:r>
            <a:r>
              <a:rPr sz="1400" b="1" spc="65" dirty="0">
                <a:solidFill>
                  <a:srgbClr val="993333"/>
                </a:solidFill>
                <a:latin typeface="Arial"/>
                <a:cs typeface="Arial"/>
              </a:rPr>
              <a:t> </a:t>
            </a:r>
            <a:r>
              <a:rPr lang="en-US" sz="1400" b="1" spc="65" dirty="0">
                <a:solidFill>
                  <a:srgbClr val="993333"/>
                </a:solidFill>
                <a:latin typeface="Arial"/>
                <a:cs typeface="Arial"/>
              </a:rPr>
              <a:t>6</a:t>
            </a:r>
            <a:r>
              <a:rPr sz="1400" b="1" dirty="0">
                <a:solidFill>
                  <a:srgbClr val="993333"/>
                </a:solidFill>
                <a:latin typeface="Arial"/>
                <a:cs typeface="Arial"/>
              </a:rPr>
              <a:t>,</a:t>
            </a:r>
            <a:r>
              <a:rPr sz="1400" b="1" spc="60" dirty="0">
                <a:solidFill>
                  <a:srgbClr val="993333"/>
                </a:solidFill>
                <a:latin typeface="Arial"/>
                <a:cs typeface="Arial"/>
              </a:rPr>
              <a:t> </a:t>
            </a:r>
            <a:r>
              <a:rPr sz="1400" b="1" spc="-20" dirty="0">
                <a:solidFill>
                  <a:srgbClr val="993333"/>
                </a:solidFill>
                <a:latin typeface="Arial"/>
                <a:cs typeface="Arial"/>
              </a:rPr>
              <a:t>20</a:t>
            </a:r>
            <a:r>
              <a:rPr lang="en-US" sz="1400" b="1" spc="-20" dirty="0">
                <a:solidFill>
                  <a:srgbClr val="993333"/>
                </a:solidFill>
                <a:latin typeface="Arial"/>
                <a:cs typeface="Arial"/>
              </a:rPr>
              <a:t>26</a:t>
            </a:r>
            <a:endParaRPr sz="1400" dirty="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14680" y="878775"/>
            <a:ext cx="47307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10" dirty="0">
                <a:latin typeface="Arial"/>
                <a:cs typeface="Arial"/>
              </a:rPr>
              <a:t>Review</a:t>
            </a:r>
            <a:endParaRPr sz="11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14680" y="1383270"/>
            <a:ext cx="1539875" cy="12007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20" dirty="0">
                <a:solidFill>
                  <a:srgbClr val="CCCCCC"/>
                </a:solidFill>
                <a:latin typeface="Arial"/>
                <a:cs typeface="Arial"/>
              </a:rPr>
              <a:t>Variables </a:t>
            </a:r>
            <a:r>
              <a:rPr sz="1100" dirty="0">
                <a:solidFill>
                  <a:srgbClr val="CCCCCC"/>
                </a:solidFill>
                <a:latin typeface="Arial"/>
                <a:cs typeface="Arial"/>
              </a:rPr>
              <a:t>and</a:t>
            </a:r>
            <a:r>
              <a:rPr sz="1100" spc="-15" dirty="0">
                <a:solidFill>
                  <a:srgbClr val="CCCCCC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CCCCC"/>
                </a:solidFill>
                <a:latin typeface="Arial"/>
                <a:cs typeface="Arial"/>
              </a:rPr>
              <a:t>data</a:t>
            </a:r>
            <a:r>
              <a:rPr sz="1100" spc="-15" dirty="0">
                <a:solidFill>
                  <a:srgbClr val="CCCCCC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CCCCCC"/>
                </a:solidFill>
                <a:latin typeface="Arial"/>
                <a:cs typeface="Arial"/>
              </a:rPr>
              <a:t>types</a:t>
            </a:r>
            <a:endParaRPr sz="1100">
              <a:latin typeface="Arial"/>
              <a:cs typeface="Arial"/>
            </a:endParaRPr>
          </a:p>
          <a:p>
            <a:pPr marL="12700" marR="904875">
              <a:lnSpc>
                <a:spcPct val="300900"/>
              </a:lnSpc>
            </a:pPr>
            <a:r>
              <a:rPr sz="1100" spc="-10" dirty="0">
                <a:solidFill>
                  <a:srgbClr val="CCCCCC"/>
                </a:solidFill>
                <a:latin typeface="Arial"/>
                <a:cs typeface="Arial"/>
              </a:rPr>
              <a:t>Operators Epilogue</a:t>
            </a:r>
            <a:endParaRPr sz="11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356760" y="3278333"/>
            <a:ext cx="81915" cy="151130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800" spc="-50" dirty="0">
                <a:latin typeface="Arial"/>
                <a:cs typeface="Arial"/>
              </a:rPr>
              <a:t>1</a:t>
            </a:r>
            <a:endParaRPr sz="8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Review:</a:t>
            </a:r>
            <a:r>
              <a:rPr spc="180" dirty="0"/>
              <a:t> </a:t>
            </a:r>
            <a:r>
              <a:rPr dirty="0"/>
              <a:t>C</a:t>
            </a:r>
            <a:r>
              <a:rPr spc="70" dirty="0"/>
              <a:t> </a:t>
            </a:r>
            <a:r>
              <a:rPr dirty="0"/>
              <a:t>Programming</a:t>
            </a:r>
            <a:r>
              <a:rPr spc="70" dirty="0"/>
              <a:t> </a:t>
            </a:r>
            <a:r>
              <a:rPr spc="-10" dirty="0"/>
              <a:t>language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91858" y="828724"/>
            <a:ext cx="3599179" cy="133858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42875" marR="46355" indent="-130810">
              <a:lnSpc>
                <a:spcPct val="102600"/>
              </a:lnSpc>
              <a:spcBef>
                <a:spcPts val="55"/>
              </a:spcBef>
              <a:buSzPct val="90909"/>
              <a:buFont typeface="Arial"/>
              <a:buChar char="•"/>
              <a:tabLst>
                <a:tab pos="144780" algn="l"/>
              </a:tabLst>
            </a:pPr>
            <a:r>
              <a:rPr sz="1100" dirty="0">
                <a:latin typeface="Arial"/>
                <a:cs typeface="Arial"/>
              </a:rPr>
              <a:t>C is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fast,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small,general-purpose,platform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independent 	programming</a:t>
            </a:r>
            <a:r>
              <a:rPr sz="1100" spc="1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language.</a:t>
            </a:r>
            <a:endParaRPr sz="1100">
              <a:latin typeface="Arial"/>
              <a:cs typeface="Arial"/>
            </a:endParaRPr>
          </a:p>
          <a:p>
            <a:pPr marL="142875" marR="20955" indent="-130810">
              <a:lnSpc>
                <a:spcPct val="102600"/>
              </a:lnSpc>
              <a:spcBef>
                <a:spcPts val="300"/>
              </a:spcBef>
              <a:buSzPct val="90909"/>
              <a:buFont typeface="Arial"/>
              <a:buChar char="•"/>
              <a:tabLst>
                <a:tab pos="144780" algn="l"/>
              </a:tabLst>
            </a:pPr>
            <a:r>
              <a:rPr sz="1100" dirty="0">
                <a:latin typeface="Arial"/>
                <a:cs typeface="Arial"/>
              </a:rPr>
              <a:t>C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used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for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systems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programming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(</a:t>
            </a:r>
            <a:r>
              <a:rPr sz="1100" i="1" dirty="0">
                <a:latin typeface="Arial"/>
                <a:cs typeface="Arial"/>
              </a:rPr>
              <a:t>e.g.,</a:t>
            </a:r>
            <a:r>
              <a:rPr sz="1100" i="1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compilers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and 	</a:t>
            </a:r>
            <a:r>
              <a:rPr sz="1100" dirty="0">
                <a:latin typeface="Arial"/>
                <a:cs typeface="Arial"/>
              </a:rPr>
              <a:t>interpreters,</a:t>
            </a:r>
            <a:r>
              <a:rPr sz="1100" spc="-6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operating</a:t>
            </a:r>
            <a:r>
              <a:rPr sz="1100" spc="-5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systems,</a:t>
            </a:r>
            <a:r>
              <a:rPr sz="1100" spc="-5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database</a:t>
            </a:r>
            <a:r>
              <a:rPr sz="1100" spc="-6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systems, 	microcontrollers</a:t>
            </a:r>
            <a:r>
              <a:rPr sz="1100" spc="75" dirty="0">
                <a:latin typeface="Arial"/>
                <a:cs typeface="Arial"/>
              </a:rPr>
              <a:t> </a:t>
            </a:r>
            <a:r>
              <a:rPr sz="1100" i="1" spc="-10" dirty="0">
                <a:latin typeface="Arial"/>
                <a:cs typeface="Arial"/>
              </a:rPr>
              <a:t>etc.</a:t>
            </a:r>
            <a:r>
              <a:rPr sz="1100" spc="-10" dirty="0">
                <a:latin typeface="Arial"/>
                <a:cs typeface="Arial"/>
              </a:rPr>
              <a:t>)</a:t>
            </a:r>
            <a:endParaRPr sz="1100">
              <a:latin typeface="Arial"/>
              <a:cs typeface="Arial"/>
            </a:endParaRPr>
          </a:p>
          <a:p>
            <a:pPr marL="143510" indent="-130810">
              <a:lnSpc>
                <a:spcPct val="100000"/>
              </a:lnSpc>
              <a:spcBef>
                <a:spcPts val="334"/>
              </a:spcBef>
              <a:buSzPct val="90909"/>
              <a:buFont typeface="Arial"/>
              <a:buChar char="•"/>
              <a:tabLst>
                <a:tab pos="143510" algn="l"/>
              </a:tabLst>
            </a:pPr>
            <a:r>
              <a:rPr sz="1100" dirty="0">
                <a:latin typeface="Arial"/>
                <a:cs typeface="Arial"/>
              </a:rPr>
              <a:t>C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static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(compiled),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typed,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structured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and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imperative.</a:t>
            </a:r>
            <a:endParaRPr sz="1100">
              <a:latin typeface="Arial"/>
              <a:cs typeface="Arial"/>
            </a:endParaRPr>
          </a:p>
          <a:p>
            <a:pPr marL="143510" indent="-130810">
              <a:lnSpc>
                <a:spcPct val="100000"/>
              </a:lnSpc>
              <a:spcBef>
                <a:spcPts val="330"/>
              </a:spcBef>
              <a:buSzPct val="90909"/>
              <a:buFont typeface="Arial"/>
              <a:buChar char="•"/>
              <a:tabLst>
                <a:tab pos="143510" algn="l"/>
              </a:tabLst>
            </a:pPr>
            <a:r>
              <a:rPr sz="1100" dirty="0">
                <a:latin typeface="Arial"/>
                <a:cs typeface="Arial"/>
              </a:rPr>
              <a:t>"C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quirky,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flawed,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and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an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enormous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success."–Ritchie</a:t>
            </a:r>
            <a:endParaRPr sz="11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356760" y="3278333"/>
            <a:ext cx="81915" cy="151130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800" spc="-50" dirty="0">
                <a:latin typeface="Arial"/>
                <a:cs typeface="Arial"/>
              </a:rPr>
              <a:t>1</a:t>
            </a:r>
            <a:endParaRPr sz="8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Review:</a:t>
            </a:r>
            <a:r>
              <a:rPr spc="155" dirty="0"/>
              <a:t> </a:t>
            </a:r>
            <a:r>
              <a:rPr spc="-10" dirty="0"/>
              <a:t>Basics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91858" y="873923"/>
            <a:ext cx="3690620" cy="107569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43510" indent="-130810">
              <a:lnSpc>
                <a:spcPct val="100000"/>
              </a:lnSpc>
              <a:spcBef>
                <a:spcPts val="434"/>
              </a:spcBef>
              <a:buSzPct val="90909"/>
              <a:buFont typeface="Arial"/>
              <a:buChar char="•"/>
              <a:tabLst>
                <a:tab pos="143510" algn="l"/>
              </a:tabLst>
            </a:pPr>
            <a:r>
              <a:rPr sz="1100" spc="-20" dirty="0">
                <a:latin typeface="Arial"/>
                <a:cs typeface="Arial"/>
              </a:rPr>
              <a:t>Variable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declarations:</a:t>
            </a:r>
            <a:r>
              <a:rPr sz="1100" spc="110" dirty="0"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0000FF"/>
                </a:solidFill>
                <a:latin typeface="Arial"/>
                <a:cs typeface="Arial"/>
              </a:rPr>
              <a:t>int</a:t>
            </a:r>
            <a:r>
              <a:rPr sz="900" b="1" spc="29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i</a:t>
            </a:r>
            <a:r>
              <a:rPr sz="900" spc="-7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;</a:t>
            </a:r>
            <a:r>
              <a:rPr sz="900" spc="270" dirty="0"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0000FF"/>
                </a:solidFill>
                <a:latin typeface="Arial"/>
                <a:cs typeface="Arial"/>
              </a:rPr>
              <a:t>float</a:t>
            </a:r>
            <a:r>
              <a:rPr sz="900" b="1" spc="27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f</a:t>
            </a:r>
            <a:r>
              <a:rPr sz="900" spc="-100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;</a:t>
            </a:r>
            <a:endParaRPr sz="900">
              <a:latin typeface="Arial"/>
              <a:cs typeface="Arial"/>
            </a:endParaRPr>
          </a:p>
          <a:p>
            <a:pPr marL="143510" indent="-130810">
              <a:lnSpc>
                <a:spcPct val="100000"/>
              </a:lnSpc>
              <a:spcBef>
                <a:spcPts val="334"/>
              </a:spcBef>
              <a:buSzPct val="90909"/>
              <a:buFont typeface="Arial"/>
              <a:buChar char="•"/>
              <a:tabLst>
                <a:tab pos="143510" algn="l"/>
              </a:tabLst>
            </a:pPr>
            <a:r>
              <a:rPr sz="1100" dirty="0">
                <a:latin typeface="Arial"/>
                <a:cs typeface="Arial"/>
              </a:rPr>
              <a:t>Intialization: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0000FF"/>
                </a:solidFill>
                <a:latin typeface="Arial"/>
                <a:cs typeface="Arial"/>
              </a:rPr>
              <a:t>char</a:t>
            </a:r>
            <a:r>
              <a:rPr sz="900" b="1" spc="-3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c=</a:t>
            </a:r>
            <a:r>
              <a:rPr sz="900" dirty="0">
                <a:latin typeface="Courier New"/>
                <a:cs typeface="Courier New"/>
              </a:rPr>
              <a:t>’A’</a:t>
            </a:r>
            <a:r>
              <a:rPr sz="900" dirty="0">
                <a:latin typeface="Arial"/>
                <a:cs typeface="Arial"/>
              </a:rPr>
              <a:t>;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0000FF"/>
                </a:solidFill>
                <a:latin typeface="Arial"/>
                <a:cs typeface="Arial"/>
              </a:rPr>
              <a:t>int</a:t>
            </a:r>
            <a:r>
              <a:rPr sz="900" b="1" spc="-3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x=y=10;</a:t>
            </a:r>
            <a:endParaRPr sz="900">
              <a:latin typeface="Arial"/>
              <a:cs typeface="Arial"/>
            </a:endParaRPr>
          </a:p>
          <a:p>
            <a:pPr marL="143510" indent="-130810">
              <a:lnSpc>
                <a:spcPct val="100000"/>
              </a:lnSpc>
              <a:spcBef>
                <a:spcPts val="330"/>
              </a:spcBef>
              <a:buSzPct val="90909"/>
              <a:buFont typeface="Arial"/>
              <a:buChar char="•"/>
              <a:tabLst>
                <a:tab pos="143510" algn="l"/>
              </a:tabLst>
            </a:pPr>
            <a:r>
              <a:rPr sz="1100" dirty="0">
                <a:latin typeface="Arial"/>
                <a:cs typeface="Arial"/>
              </a:rPr>
              <a:t>Operators: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+,</a:t>
            </a:r>
            <a:r>
              <a:rPr sz="900" spc="-10" dirty="0">
                <a:latin typeface="Lucida Sans Unicode"/>
                <a:cs typeface="Lucida Sans Unicode"/>
              </a:rPr>
              <a:t>−</a:t>
            </a:r>
            <a:r>
              <a:rPr sz="900" spc="-10" dirty="0">
                <a:latin typeface="Arial"/>
                <a:cs typeface="Arial"/>
              </a:rPr>
              <a:t>,</a:t>
            </a:r>
            <a:r>
              <a:rPr sz="900" spc="-10" dirty="0">
                <a:latin typeface="Lucida Sans Unicode"/>
                <a:cs typeface="Lucida Sans Unicode"/>
              </a:rPr>
              <a:t>∗</a:t>
            </a:r>
            <a:r>
              <a:rPr sz="900" spc="-10" dirty="0">
                <a:latin typeface="Arial"/>
                <a:cs typeface="Arial"/>
              </a:rPr>
              <a:t>,/,%</a:t>
            </a:r>
            <a:endParaRPr sz="900">
              <a:latin typeface="Arial"/>
              <a:cs typeface="Arial"/>
            </a:endParaRPr>
          </a:p>
          <a:p>
            <a:pPr marL="143510" indent="-130810">
              <a:lnSpc>
                <a:spcPct val="100000"/>
              </a:lnSpc>
              <a:spcBef>
                <a:spcPts val="335"/>
              </a:spcBef>
              <a:buSzPct val="90909"/>
              <a:buFont typeface="Arial"/>
              <a:buChar char="•"/>
              <a:tabLst>
                <a:tab pos="143510" algn="l"/>
              </a:tabLst>
            </a:pPr>
            <a:r>
              <a:rPr sz="1100" dirty="0">
                <a:latin typeface="Arial"/>
                <a:cs typeface="Arial"/>
              </a:rPr>
              <a:t>Expressions:</a:t>
            </a:r>
            <a:r>
              <a:rPr sz="1100" spc="170" dirty="0"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0000FF"/>
                </a:solidFill>
                <a:latin typeface="Arial"/>
                <a:cs typeface="Arial"/>
              </a:rPr>
              <a:t>int</a:t>
            </a:r>
            <a:r>
              <a:rPr sz="900" b="1" spc="26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x,y,z;</a:t>
            </a:r>
            <a:r>
              <a:rPr sz="900" spc="26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x=y</a:t>
            </a:r>
            <a:r>
              <a:rPr sz="900" spc="-10" dirty="0">
                <a:latin typeface="Lucida Sans Unicode"/>
                <a:cs typeface="Lucida Sans Unicode"/>
              </a:rPr>
              <a:t>∗</a:t>
            </a:r>
            <a:r>
              <a:rPr sz="900" spc="-10" dirty="0">
                <a:latin typeface="Arial"/>
                <a:cs typeface="Arial"/>
              </a:rPr>
              <a:t>2+z</a:t>
            </a:r>
            <a:r>
              <a:rPr sz="900" spc="-10" dirty="0">
                <a:latin typeface="Lucida Sans Unicode"/>
                <a:cs typeface="Lucida Sans Unicode"/>
              </a:rPr>
              <a:t>∗</a:t>
            </a:r>
            <a:r>
              <a:rPr sz="900" spc="-10" dirty="0">
                <a:latin typeface="Arial"/>
                <a:cs typeface="Arial"/>
              </a:rPr>
              <a:t>3;</a:t>
            </a:r>
            <a:endParaRPr sz="900">
              <a:latin typeface="Arial"/>
              <a:cs typeface="Arial"/>
            </a:endParaRPr>
          </a:p>
          <a:p>
            <a:pPr marL="143510" indent="-130810">
              <a:lnSpc>
                <a:spcPct val="100000"/>
              </a:lnSpc>
              <a:spcBef>
                <a:spcPts val="335"/>
              </a:spcBef>
              <a:buSzPct val="90909"/>
              <a:buFont typeface="Arial"/>
              <a:buChar char="•"/>
              <a:tabLst>
                <a:tab pos="143510" algn="l"/>
              </a:tabLst>
            </a:pPr>
            <a:r>
              <a:rPr sz="1100" dirty="0">
                <a:latin typeface="Arial"/>
                <a:cs typeface="Arial"/>
              </a:rPr>
              <a:t>Function:</a:t>
            </a:r>
            <a:r>
              <a:rPr sz="1100" spc="95" dirty="0"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0000FF"/>
                </a:solidFill>
                <a:latin typeface="Arial"/>
                <a:cs typeface="Arial"/>
              </a:rPr>
              <a:t>int</a:t>
            </a:r>
            <a:r>
              <a:rPr sz="900" b="1" spc="434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factorial</a:t>
            </a:r>
            <a:r>
              <a:rPr sz="900" spc="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(</a:t>
            </a:r>
            <a:r>
              <a:rPr sz="900" spc="-140" dirty="0"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0000FF"/>
                </a:solidFill>
                <a:latin typeface="Arial"/>
                <a:cs typeface="Arial"/>
              </a:rPr>
              <a:t>int</a:t>
            </a:r>
            <a:r>
              <a:rPr sz="900" b="1" spc="19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n);</a:t>
            </a:r>
            <a:r>
              <a:rPr sz="900" spc="260" dirty="0"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/</a:t>
            </a:r>
            <a:r>
              <a:rPr sz="900" spc="-10" dirty="0">
                <a:solidFill>
                  <a:srgbClr val="B50A0A"/>
                </a:solidFill>
                <a:latin typeface="Lucida Sans Unicode"/>
                <a:cs typeface="Lucida Sans Unicode"/>
              </a:rPr>
              <a:t>∗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function</a:t>
            </a:r>
            <a:r>
              <a:rPr sz="900" spc="175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takes</a:t>
            </a:r>
            <a:r>
              <a:rPr sz="900" spc="16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int</a:t>
            </a:r>
            <a:r>
              <a:rPr sz="900" spc="-5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,</a:t>
            </a:r>
            <a:r>
              <a:rPr sz="900" spc="215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returns</a:t>
            </a:r>
            <a:r>
              <a:rPr sz="900" spc="27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int</a:t>
            </a:r>
            <a:r>
              <a:rPr sz="900" spc="-7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B50A0A"/>
                </a:solidFill>
                <a:latin typeface="Lucida Sans Unicode"/>
                <a:cs typeface="Lucida Sans Unicode"/>
              </a:rPr>
              <a:t>∗</a:t>
            </a:r>
            <a:r>
              <a:rPr sz="900" spc="-25" dirty="0">
                <a:solidFill>
                  <a:srgbClr val="B50A0A"/>
                </a:solidFill>
                <a:latin typeface="Arial"/>
                <a:cs typeface="Arial"/>
              </a:rPr>
              <a:t>/</a:t>
            </a:r>
            <a:endParaRPr sz="90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68580">
              <a:lnSpc>
                <a:spcPct val="100000"/>
              </a:lnSpc>
              <a:spcBef>
                <a:spcPts val="60"/>
              </a:spcBef>
            </a:pPr>
            <a:r>
              <a:rPr spc="-50" dirty="0"/>
              <a:t>2</a:t>
            </a:r>
          </a:p>
        </p:txBody>
      </p:sp>
    </p:spTree>
  </p:cSld>
  <p:clrMapOvr>
    <a:masterClrMapping/>
  </p:clrMapOvr>
  <p:transition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300" y="61452"/>
            <a:ext cx="3003550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n-US" sz="1400" b="1" spc="60" dirty="0" err="1">
                <a:solidFill>
                  <a:srgbClr val="993333"/>
                </a:solidFill>
                <a:latin typeface="Arial"/>
                <a:cs typeface="Arial"/>
              </a:rPr>
              <a:t>FoCS</a:t>
            </a:r>
            <a:r>
              <a:rPr lang="en-US" sz="1400" b="1" spc="60" dirty="0">
                <a:solidFill>
                  <a:srgbClr val="993333"/>
                </a:solidFill>
                <a:latin typeface="Arial"/>
                <a:cs typeface="Arial"/>
              </a:rPr>
              <a:t> </a:t>
            </a:r>
            <a:r>
              <a:rPr lang="en-US" sz="1400" b="1" dirty="0">
                <a:solidFill>
                  <a:srgbClr val="993333"/>
                </a:solidFill>
                <a:latin typeface="Arial"/>
                <a:cs typeface="Arial"/>
              </a:rPr>
              <a:t>Lecture</a:t>
            </a:r>
            <a:r>
              <a:rPr lang="en-US" sz="1400" b="1" spc="60" dirty="0">
                <a:solidFill>
                  <a:srgbClr val="993333"/>
                </a:solidFill>
                <a:latin typeface="Arial"/>
                <a:cs typeface="Arial"/>
              </a:rPr>
              <a:t> 4</a:t>
            </a:r>
            <a:r>
              <a:rPr lang="en-US" sz="1400" b="1" spc="65" dirty="0">
                <a:solidFill>
                  <a:srgbClr val="993333"/>
                </a:solidFill>
                <a:latin typeface="Arial"/>
                <a:cs typeface="Arial"/>
              </a:rPr>
              <a:t> </a:t>
            </a:r>
            <a:r>
              <a:rPr lang="en-US" sz="1400" b="1" dirty="0">
                <a:solidFill>
                  <a:srgbClr val="993333"/>
                </a:solidFill>
                <a:latin typeface="Arial"/>
                <a:cs typeface="Arial"/>
              </a:rPr>
              <a:t>–</a:t>
            </a:r>
            <a:r>
              <a:rPr lang="en-US" sz="1400" b="1" spc="60" dirty="0">
                <a:solidFill>
                  <a:srgbClr val="993333"/>
                </a:solidFill>
                <a:latin typeface="Arial"/>
                <a:cs typeface="Arial"/>
              </a:rPr>
              <a:t> October</a:t>
            </a:r>
            <a:r>
              <a:rPr lang="en-US" sz="1400" b="1" spc="65" dirty="0">
                <a:solidFill>
                  <a:srgbClr val="993333"/>
                </a:solidFill>
                <a:latin typeface="Arial"/>
                <a:cs typeface="Arial"/>
              </a:rPr>
              <a:t> 6</a:t>
            </a:r>
            <a:r>
              <a:rPr lang="en-US" sz="1400" b="1" dirty="0">
                <a:solidFill>
                  <a:srgbClr val="993333"/>
                </a:solidFill>
                <a:latin typeface="Arial"/>
                <a:cs typeface="Arial"/>
              </a:rPr>
              <a:t>,</a:t>
            </a:r>
            <a:r>
              <a:rPr lang="en-US" sz="1400" b="1" spc="60" dirty="0">
                <a:solidFill>
                  <a:srgbClr val="993333"/>
                </a:solidFill>
                <a:latin typeface="Arial"/>
                <a:cs typeface="Arial"/>
              </a:rPr>
              <a:t> </a:t>
            </a:r>
            <a:r>
              <a:rPr lang="en-US" sz="1400" b="1" spc="-20" dirty="0">
                <a:solidFill>
                  <a:srgbClr val="993333"/>
                </a:solidFill>
                <a:latin typeface="Arial"/>
                <a:cs typeface="Arial"/>
              </a:rPr>
              <a:t>2026</a:t>
            </a:r>
            <a:endParaRPr lang="en-US" sz="1400" dirty="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14680" y="878775"/>
            <a:ext cx="47307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10" dirty="0">
                <a:solidFill>
                  <a:srgbClr val="CCCCCC"/>
                </a:solidFill>
                <a:latin typeface="Arial"/>
                <a:cs typeface="Arial"/>
              </a:rPr>
              <a:t>Review</a:t>
            </a:r>
            <a:endParaRPr sz="11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14680" y="1383270"/>
            <a:ext cx="153987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20" dirty="0">
                <a:latin typeface="Arial"/>
                <a:cs typeface="Arial"/>
              </a:rPr>
              <a:t>Variables </a:t>
            </a:r>
            <a:r>
              <a:rPr sz="1100" dirty="0">
                <a:latin typeface="Arial"/>
                <a:cs typeface="Arial"/>
              </a:rPr>
              <a:t>and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data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types</a:t>
            </a:r>
            <a:endParaRPr sz="11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14680" y="1887765"/>
            <a:ext cx="640080" cy="69659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10" dirty="0">
                <a:solidFill>
                  <a:srgbClr val="CCCCCC"/>
                </a:solidFill>
                <a:latin typeface="Arial"/>
                <a:cs typeface="Arial"/>
              </a:rPr>
              <a:t>Operators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20"/>
              </a:spcBef>
            </a:pP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100" spc="-10" dirty="0">
                <a:solidFill>
                  <a:srgbClr val="CCCCCC"/>
                </a:solidFill>
                <a:latin typeface="Arial"/>
                <a:cs typeface="Arial"/>
              </a:rPr>
              <a:t>Epilogue</a:t>
            </a:r>
            <a:endParaRPr sz="11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356760" y="3276263"/>
            <a:ext cx="81915" cy="151130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800" spc="-50" dirty="0">
                <a:latin typeface="Arial"/>
                <a:cs typeface="Arial"/>
              </a:rPr>
              <a:t>3</a:t>
            </a:r>
            <a:endParaRPr sz="8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Definitions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pc="-10" dirty="0"/>
              <a:t>Datatypes:</a:t>
            </a:r>
          </a:p>
          <a:p>
            <a:pPr marL="287655" marR="142875" indent="-130810">
              <a:lnSpc>
                <a:spcPct val="102600"/>
              </a:lnSpc>
              <a:spcBef>
                <a:spcPts val="300"/>
              </a:spcBef>
              <a:buSzPct val="90909"/>
              <a:buFont typeface="Arial"/>
              <a:buChar char="•"/>
              <a:tabLst>
                <a:tab pos="289560" algn="l"/>
              </a:tabLst>
            </a:pPr>
            <a:r>
              <a:rPr sz="1100" dirty="0"/>
              <a:t>The</a:t>
            </a:r>
            <a:r>
              <a:rPr sz="1100" spc="-30" dirty="0"/>
              <a:t> </a:t>
            </a:r>
            <a:r>
              <a:rPr sz="1100" b="1" dirty="0">
                <a:latin typeface="Arial"/>
                <a:cs typeface="Arial"/>
              </a:rPr>
              <a:t>datatype</a:t>
            </a:r>
            <a:r>
              <a:rPr sz="1100" b="1" spc="-30" dirty="0">
                <a:latin typeface="Arial"/>
                <a:cs typeface="Arial"/>
              </a:rPr>
              <a:t> </a:t>
            </a:r>
            <a:r>
              <a:rPr sz="1100" dirty="0"/>
              <a:t>of</a:t>
            </a:r>
            <a:r>
              <a:rPr sz="1100" spc="-25" dirty="0"/>
              <a:t> </a:t>
            </a:r>
            <a:r>
              <a:rPr sz="1100" dirty="0"/>
              <a:t>an</a:t>
            </a:r>
            <a:r>
              <a:rPr sz="1100" spc="-30" dirty="0"/>
              <a:t> </a:t>
            </a:r>
            <a:r>
              <a:rPr sz="1100" dirty="0"/>
              <a:t>object</a:t>
            </a:r>
            <a:r>
              <a:rPr sz="1100" spc="-25" dirty="0"/>
              <a:t> </a:t>
            </a:r>
            <a:r>
              <a:rPr sz="1100" dirty="0"/>
              <a:t>in</a:t>
            </a:r>
            <a:r>
              <a:rPr sz="1100" spc="-30" dirty="0"/>
              <a:t> </a:t>
            </a:r>
            <a:r>
              <a:rPr sz="1100" dirty="0"/>
              <a:t>memory</a:t>
            </a:r>
            <a:r>
              <a:rPr sz="1100" spc="-25" dirty="0"/>
              <a:t> </a:t>
            </a:r>
            <a:r>
              <a:rPr sz="1100" dirty="0"/>
              <a:t>determines</a:t>
            </a:r>
            <a:r>
              <a:rPr sz="1100" spc="-30" dirty="0"/>
              <a:t> </a:t>
            </a:r>
            <a:r>
              <a:rPr sz="1100" dirty="0"/>
              <a:t>the</a:t>
            </a:r>
            <a:r>
              <a:rPr sz="1100" spc="-30" dirty="0"/>
              <a:t> </a:t>
            </a:r>
            <a:r>
              <a:rPr sz="1100" spc="-25" dirty="0"/>
              <a:t>set 	</a:t>
            </a:r>
            <a:r>
              <a:rPr sz="1100" dirty="0"/>
              <a:t>of</a:t>
            </a:r>
            <a:r>
              <a:rPr sz="1100" spc="-30" dirty="0"/>
              <a:t> </a:t>
            </a:r>
            <a:r>
              <a:rPr sz="1100" spc="-10" dirty="0"/>
              <a:t>values</a:t>
            </a:r>
            <a:r>
              <a:rPr sz="1100" spc="-30" dirty="0"/>
              <a:t> </a:t>
            </a:r>
            <a:r>
              <a:rPr sz="1100" dirty="0"/>
              <a:t>it</a:t>
            </a:r>
            <a:r>
              <a:rPr sz="1100" spc="-30" dirty="0"/>
              <a:t> </a:t>
            </a:r>
            <a:r>
              <a:rPr sz="1100" dirty="0"/>
              <a:t>can</a:t>
            </a:r>
            <a:r>
              <a:rPr sz="1100" spc="-30" dirty="0"/>
              <a:t> </a:t>
            </a:r>
            <a:r>
              <a:rPr sz="1100" spc="-10" dirty="0"/>
              <a:t>have</a:t>
            </a:r>
            <a:r>
              <a:rPr sz="1100" spc="-30" dirty="0"/>
              <a:t> </a:t>
            </a:r>
            <a:r>
              <a:rPr sz="1100" dirty="0"/>
              <a:t>and</a:t>
            </a:r>
            <a:r>
              <a:rPr sz="1100" spc="-30" dirty="0"/>
              <a:t> </a:t>
            </a:r>
            <a:r>
              <a:rPr sz="1100" dirty="0"/>
              <a:t>what</a:t>
            </a:r>
            <a:r>
              <a:rPr sz="1100" spc="-30" dirty="0"/>
              <a:t> </a:t>
            </a:r>
            <a:r>
              <a:rPr sz="1100" dirty="0"/>
              <a:t>operations</a:t>
            </a:r>
            <a:r>
              <a:rPr sz="1100" spc="-25" dirty="0"/>
              <a:t> </a:t>
            </a:r>
            <a:r>
              <a:rPr sz="1100" dirty="0"/>
              <a:t>that</a:t>
            </a:r>
            <a:r>
              <a:rPr sz="1100" spc="-30" dirty="0"/>
              <a:t> </a:t>
            </a:r>
            <a:r>
              <a:rPr sz="1100" dirty="0"/>
              <a:t>can</a:t>
            </a:r>
            <a:r>
              <a:rPr sz="1100" spc="-30" dirty="0"/>
              <a:t> </a:t>
            </a:r>
            <a:r>
              <a:rPr sz="1100" spc="-25" dirty="0"/>
              <a:t>be 	</a:t>
            </a:r>
            <a:r>
              <a:rPr sz="1100" dirty="0"/>
              <a:t>performed</a:t>
            </a:r>
            <a:r>
              <a:rPr sz="1100" spc="-45" dirty="0"/>
              <a:t> </a:t>
            </a:r>
            <a:r>
              <a:rPr sz="1100" dirty="0"/>
              <a:t>on</a:t>
            </a:r>
            <a:r>
              <a:rPr sz="1100" spc="-40" dirty="0"/>
              <a:t> </a:t>
            </a:r>
            <a:r>
              <a:rPr sz="1100" spc="-25" dirty="0"/>
              <a:t>it.</a:t>
            </a:r>
            <a:endParaRPr sz="1100">
              <a:latin typeface="Arial"/>
              <a:cs typeface="Arial"/>
            </a:endParaRPr>
          </a:p>
          <a:p>
            <a:pPr marL="287655" marR="5080" indent="-130810">
              <a:lnSpc>
                <a:spcPct val="102699"/>
              </a:lnSpc>
              <a:spcBef>
                <a:spcPts val="295"/>
              </a:spcBef>
              <a:buSzPct val="90909"/>
              <a:buFont typeface="Arial"/>
              <a:buChar char="•"/>
              <a:tabLst>
                <a:tab pos="289560" algn="l"/>
              </a:tabLst>
            </a:pPr>
            <a:r>
              <a:rPr sz="1100" dirty="0"/>
              <a:t>C</a:t>
            </a:r>
            <a:r>
              <a:rPr sz="1100" spc="-35" dirty="0"/>
              <a:t> </a:t>
            </a:r>
            <a:r>
              <a:rPr sz="1100" dirty="0"/>
              <a:t>is</a:t>
            </a:r>
            <a:r>
              <a:rPr sz="1100" spc="-30" dirty="0"/>
              <a:t> </a:t>
            </a:r>
            <a:r>
              <a:rPr sz="1100" dirty="0"/>
              <a:t>a</a:t>
            </a:r>
            <a:r>
              <a:rPr sz="1100" spc="-30" dirty="0"/>
              <a:t> </a:t>
            </a:r>
            <a:r>
              <a:rPr sz="1100" i="1" spc="-10" dirty="0">
                <a:latin typeface="Arial"/>
                <a:cs typeface="Arial"/>
              </a:rPr>
              <a:t>weakly</a:t>
            </a:r>
            <a:r>
              <a:rPr sz="1100" i="1" spc="-35" dirty="0">
                <a:latin typeface="Arial"/>
                <a:cs typeface="Arial"/>
              </a:rPr>
              <a:t> </a:t>
            </a:r>
            <a:r>
              <a:rPr sz="1100" dirty="0"/>
              <a:t>typed</a:t>
            </a:r>
            <a:r>
              <a:rPr sz="1100" spc="-30" dirty="0"/>
              <a:t> </a:t>
            </a:r>
            <a:r>
              <a:rPr sz="1100" dirty="0"/>
              <a:t>language.</a:t>
            </a:r>
            <a:r>
              <a:rPr sz="1100" spc="40" dirty="0"/>
              <a:t> </a:t>
            </a:r>
            <a:r>
              <a:rPr sz="1100" dirty="0"/>
              <a:t>It</a:t>
            </a:r>
            <a:r>
              <a:rPr sz="1100" spc="-35" dirty="0"/>
              <a:t> </a:t>
            </a:r>
            <a:r>
              <a:rPr sz="1100" spc="-10" dirty="0"/>
              <a:t>allows</a:t>
            </a:r>
            <a:r>
              <a:rPr sz="1100" spc="-30" dirty="0"/>
              <a:t> </a:t>
            </a:r>
            <a:r>
              <a:rPr sz="1100" spc="-10" dirty="0"/>
              <a:t>implicit</a:t>
            </a:r>
            <a:r>
              <a:rPr sz="1100" spc="-30" dirty="0"/>
              <a:t> </a:t>
            </a:r>
            <a:r>
              <a:rPr sz="1100" spc="-10" dirty="0"/>
              <a:t>conversions 	</a:t>
            </a:r>
            <a:r>
              <a:rPr sz="1100" dirty="0"/>
              <a:t>as</a:t>
            </a:r>
            <a:r>
              <a:rPr sz="1100" spc="-50" dirty="0"/>
              <a:t> </a:t>
            </a:r>
            <a:r>
              <a:rPr sz="1100" dirty="0"/>
              <a:t>well</a:t>
            </a:r>
            <a:r>
              <a:rPr sz="1100" spc="-45" dirty="0"/>
              <a:t> </a:t>
            </a:r>
            <a:r>
              <a:rPr sz="1100" dirty="0"/>
              <a:t>as</a:t>
            </a:r>
            <a:r>
              <a:rPr sz="1100" spc="-45" dirty="0"/>
              <a:t> </a:t>
            </a:r>
            <a:r>
              <a:rPr sz="1100" dirty="0"/>
              <a:t>forced</a:t>
            </a:r>
            <a:r>
              <a:rPr sz="1100" spc="-45" dirty="0"/>
              <a:t> </a:t>
            </a:r>
            <a:r>
              <a:rPr sz="1100" dirty="0"/>
              <a:t>(potentially</a:t>
            </a:r>
            <a:r>
              <a:rPr sz="1100" spc="-45" dirty="0"/>
              <a:t> </a:t>
            </a:r>
            <a:r>
              <a:rPr sz="1100" dirty="0"/>
              <a:t>dangerous)</a:t>
            </a:r>
            <a:r>
              <a:rPr sz="1100" spc="-45" dirty="0"/>
              <a:t> </a:t>
            </a:r>
            <a:r>
              <a:rPr sz="1100" spc="-10" dirty="0"/>
              <a:t>casting.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spc="-10" dirty="0"/>
              <a:t>Operators:</a:t>
            </a:r>
          </a:p>
          <a:p>
            <a:pPr marL="287655" marR="346710" indent="-130810">
              <a:lnSpc>
                <a:spcPct val="102600"/>
              </a:lnSpc>
              <a:spcBef>
                <a:spcPts val="300"/>
              </a:spcBef>
              <a:buSzPct val="90909"/>
              <a:buFont typeface="Arial"/>
              <a:buChar char="•"/>
              <a:tabLst>
                <a:tab pos="289560" algn="l"/>
              </a:tabLst>
            </a:pPr>
            <a:r>
              <a:rPr sz="1100" b="1" spc="-10" dirty="0">
                <a:latin typeface="Arial"/>
                <a:cs typeface="Arial"/>
              </a:rPr>
              <a:t>Operators</a:t>
            </a:r>
            <a:r>
              <a:rPr sz="1100" b="1" spc="-25" dirty="0">
                <a:latin typeface="Arial"/>
                <a:cs typeface="Arial"/>
              </a:rPr>
              <a:t> </a:t>
            </a:r>
            <a:r>
              <a:rPr sz="1100" dirty="0"/>
              <a:t>specify</a:t>
            </a:r>
            <a:r>
              <a:rPr sz="1100" spc="-25" dirty="0"/>
              <a:t> </a:t>
            </a:r>
            <a:r>
              <a:rPr sz="1100" dirty="0"/>
              <a:t>how</a:t>
            </a:r>
            <a:r>
              <a:rPr sz="1100" spc="-25" dirty="0"/>
              <a:t> </a:t>
            </a:r>
            <a:r>
              <a:rPr sz="1100" dirty="0"/>
              <a:t>an</a:t>
            </a:r>
            <a:r>
              <a:rPr sz="1100" spc="-25" dirty="0"/>
              <a:t> </a:t>
            </a:r>
            <a:r>
              <a:rPr sz="1100" dirty="0"/>
              <a:t>object</a:t>
            </a:r>
            <a:r>
              <a:rPr sz="1100" spc="-25" dirty="0"/>
              <a:t> </a:t>
            </a:r>
            <a:r>
              <a:rPr sz="1100" dirty="0"/>
              <a:t>can</a:t>
            </a:r>
            <a:r>
              <a:rPr sz="1100" spc="-25" dirty="0"/>
              <a:t> </a:t>
            </a:r>
            <a:r>
              <a:rPr sz="1100" dirty="0"/>
              <a:t>be</a:t>
            </a:r>
            <a:r>
              <a:rPr sz="1100" spc="-25" dirty="0"/>
              <a:t> </a:t>
            </a:r>
            <a:r>
              <a:rPr sz="1100" spc="-10" dirty="0"/>
              <a:t>manipulated 	</a:t>
            </a:r>
            <a:r>
              <a:rPr sz="1100" dirty="0"/>
              <a:t>(</a:t>
            </a:r>
            <a:r>
              <a:rPr sz="1100" i="1" dirty="0">
                <a:latin typeface="Arial"/>
                <a:cs typeface="Arial"/>
              </a:rPr>
              <a:t>e.g.,</a:t>
            </a:r>
            <a:r>
              <a:rPr sz="1100" dirty="0"/>
              <a:t>,</a:t>
            </a:r>
            <a:r>
              <a:rPr sz="1100" spc="-35" dirty="0"/>
              <a:t> </a:t>
            </a:r>
            <a:r>
              <a:rPr sz="1100" dirty="0"/>
              <a:t>numeric</a:t>
            </a:r>
            <a:r>
              <a:rPr sz="1100" spc="-35" dirty="0"/>
              <a:t> </a:t>
            </a:r>
            <a:r>
              <a:rPr sz="1100" dirty="0"/>
              <a:t>vs.</a:t>
            </a:r>
            <a:r>
              <a:rPr sz="1100" spc="25" dirty="0"/>
              <a:t> </a:t>
            </a:r>
            <a:r>
              <a:rPr sz="1100" dirty="0"/>
              <a:t>string</a:t>
            </a:r>
            <a:r>
              <a:rPr sz="1100" spc="-30" dirty="0"/>
              <a:t> </a:t>
            </a:r>
            <a:r>
              <a:rPr sz="1100" spc="-10" dirty="0"/>
              <a:t>operations).</a:t>
            </a:r>
            <a:endParaRPr sz="1100">
              <a:latin typeface="Arial"/>
              <a:cs typeface="Arial"/>
            </a:endParaRPr>
          </a:p>
          <a:p>
            <a:pPr marL="287655" indent="-130810">
              <a:lnSpc>
                <a:spcPct val="100000"/>
              </a:lnSpc>
              <a:spcBef>
                <a:spcPts val="335"/>
              </a:spcBef>
              <a:buSzPct val="90909"/>
              <a:buFont typeface="Arial"/>
              <a:buChar char="•"/>
              <a:tabLst>
                <a:tab pos="287655" algn="l"/>
              </a:tabLst>
            </a:pPr>
            <a:r>
              <a:rPr sz="1100" dirty="0"/>
              <a:t>operators</a:t>
            </a:r>
            <a:r>
              <a:rPr sz="1100" spc="-35" dirty="0"/>
              <a:t> </a:t>
            </a:r>
            <a:r>
              <a:rPr sz="1100" dirty="0"/>
              <a:t>can</a:t>
            </a:r>
            <a:r>
              <a:rPr sz="1100" spc="-30" dirty="0"/>
              <a:t> </a:t>
            </a:r>
            <a:r>
              <a:rPr sz="1100" dirty="0"/>
              <a:t>be</a:t>
            </a:r>
            <a:r>
              <a:rPr sz="1100" spc="-35" dirty="0"/>
              <a:t> </a:t>
            </a:r>
            <a:r>
              <a:rPr sz="1100" dirty="0"/>
              <a:t>unary(</a:t>
            </a:r>
            <a:r>
              <a:rPr sz="1100" i="1" dirty="0">
                <a:latin typeface="Arial"/>
                <a:cs typeface="Arial"/>
              </a:rPr>
              <a:t>e.g.,</a:t>
            </a:r>
            <a:r>
              <a:rPr sz="1100" i="1" spc="-30" dirty="0">
                <a:latin typeface="Arial"/>
                <a:cs typeface="Arial"/>
              </a:rPr>
              <a:t> </a:t>
            </a:r>
            <a:r>
              <a:rPr sz="1100" spc="-10" dirty="0"/>
              <a:t>-</a:t>
            </a:r>
            <a:r>
              <a:rPr sz="1100" dirty="0"/>
              <a:t>,++),binary</a:t>
            </a:r>
            <a:r>
              <a:rPr sz="1100" spc="-30" dirty="0"/>
              <a:t> </a:t>
            </a:r>
            <a:r>
              <a:rPr sz="1100" spc="-10" dirty="0"/>
              <a:t>(</a:t>
            </a:r>
            <a:r>
              <a:rPr sz="1100" i="1" spc="-10" dirty="0">
                <a:latin typeface="Arial"/>
                <a:cs typeface="Arial"/>
              </a:rPr>
              <a:t>e.g.,</a:t>
            </a:r>
            <a:endParaRPr sz="1100">
              <a:latin typeface="Arial"/>
              <a:cs typeface="Arial"/>
            </a:endParaRPr>
          </a:p>
          <a:p>
            <a:pPr marL="289560">
              <a:lnSpc>
                <a:spcPct val="100000"/>
              </a:lnSpc>
              <a:spcBef>
                <a:spcPts val="35"/>
              </a:spcBef>
            </a:pPr>
            <a:r>
              <a:rPr dirty="0"/>
              <a:t>+,-,*,/),ternary</a:t>
            </a:r>
            <a:r>
              <a:rPr spc="25" dirty="0"/>
              <a:t> </a:t>
            </a:r>
            <a:r>
              <a:rPr spc="-20" dirty="0"/>
              <a:t>(?:)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356760" y="3276263"/>
            <a:ext cx="81915" cy="151130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800" spc="-50" dirty="0">
                <a:latin typeface="Arial"/>
                <a:cs typeface="Arial"/>
              </a:rPr>
              <a:t>3</a:t>
            </a:r>
            <a:endParaRPr sz="8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Definitions</a:t>
            </a:r>
            <a:r>
              <a:rPr spc="145" dirty="0"/>
              <a:t> </a:t>
            </a:r>
            <a:r>
              <a:rPr spc="-10" dirty="0"/>
              <a:t>(contd.)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7294" y="501533"/>
            <a:ext cx="3822065" cy="222250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z="1100" spc="-10" dirty="0">
                <a:latin typeface="Arial"/>
                <a:cs typeface="Arial"/>
              </a:rPr>
              <a:t>Expressions:</a:t>
            </a:r>
            <a:endParaRPr sz="1100" dirty="0">
              <a:latin typeface="Arial"/>
              <a:cs typeface="Arial"/>
            </a:endParaRPr>
          </a:p>
          <a:p>
            <a:pPr marL="287655" marR="5080" indent="-130810">
              <a:lnSpc>
                <a:spcPct val="102600"/>
              </a:lnSpc>
              <a:spcBef>
                <a:spcPts val="300"/>
              </a:spcBef>
              <a:buSzPct val="90909"/>
              <a:buFont typeface="Arial"/>
              <a:buChar char="•"/>
              <a:tabLst>
                <a:tab pos="289560" algn="l"/>
              </a:tabLst>
            </a:pPr>
            <a:r>
              <a:rPr sz="1100" dirty="0">
                <a:latin typeface="Arial"/>
                <a:cs typeface="Arial"/>
              </a:rPr>
              <a:t>An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expression </a:t>
            </a:r>
            <a:r>
              <a:rPr sz="1100" dirty="0">
                <a:latin typeface="Arial"/>
                <a:cs typeface="Arial"/>
              </a:rPr>
              <a:t>in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programming language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50" dirty="0">
                <a:latin typeface="Arial"/>
                <a:cs typeface="Arial"/>
              </a:rPr>
              <a:t>a 	</a:t>
            </a:r>
            <a:r>
              <a:rPr sz="1100" dirty="0">
                <a:latin typeface="Arial"/>
                <a:cs typeface="Arial"/>
              </a:rPr>
              <a:t>combination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values,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variables,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operators,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and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functions</a:t>
            </a:r>
            <a:endParaRPr sz="11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sz="1100" spc="-10" dirty="0">
                <a:latin typeface="Arial"/>
                <a:cs typeface="Arial"/>
              </a:rPr>
              <a:t>Variables:</a:t>
            </a:r>
            <a:endParaRPr sz="1100" dirty="0">
              <a:latin typeface="Arial"/>
              <a:cs typeface="Arial"/>
            </a:endParaRPr>
          </a:p>
          <a:p>
            <a:pPr marL="287655" marR="55244" indent="-130810">
              <a:lnSpc>
                <a:spcPct val="102600"/>
              </a:lnSpc>
              <a:spcBef>
                <a:spcPts val="300"/>
              </a:spcBef>
              <a:buSzPct val="90909"/>
              <a:buFont typeface="Arial"/>
              <a:buChar char="•"/>
              <a:tabLst>
                <a:tab pos="289560" algn="l"/>
              </a:tabLst>
            </a:pPr>
            <a:r>
              <a:rPr sz="1100" dirty="0">
                <a:latin typeface="Arial"/>
                <a:cs typeface="Arial"/>
              </a:rPr>
              <a:t>A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variable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named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link/reference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to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value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stored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in 	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system’s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memory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or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an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expression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that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can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be 	</a:t>
            </a:r>
            <a:r>
              <a:rPr sz="1100" spc="-10" dirty="0">
                <a:latin typeface="Arial"/>
                <a:cs typeface="Arial"/>
              </a:rPr>
              <a:t>evaluated.</a:t>
            </a:r>
            <a:endParaRPr sz="11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sz="1100" dirty="0">
                <a:latin typeface="Arial"/>
                <a:cs typeface="Arial"/>
              </a:rPr>
              <a:t>Consider:</a:t>
            </a:r>
            <a:r>
              <a:rPr sz="1100" spc="85" dirty="0"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0000FF"/>
                </a:solidFill>
                <a:latin typeface="Arial"/>
                <a:cs typeface="Arial"/>
              </a:rPr>
              <a:t>int</a:t>
            </a:r>
            <a:r>
              <a:rPr sz="900" b="1" spc="17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x=0,y=0;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y=x+2;</a:t>
            </a:r>
            <a:r>
              <a:rPr sz="1100" spc="-10" dirty="0">
                <a:latin typeface="Arial"/>
                <a:cs typeface="Arial"/>
              </a:rPr>
              <a:t>.</a:t>
            </a:r>
            <a:endParaRPr sz="1100" dirty="0">
              <a:latin typeface="Arial"/>
              <a:cs typeface="Arial"/>
            </a:endParaRPr>
          </a:p>
          <a:p>
            <a:pPr marL="287655" indent="-130810">
              <a:lnSpc>
                <a:spcPct val="100000"/>
              </a:lnSpc>
              <a:spcBef>
                <a:spcPts val="335"/>
              </a:spcBef>
              <a:buSzPct val="90909"/>
              <a:buFont typeface="Arial"/>
              <a:buChar char="•"/>
              <a:tabLst>
                <a:tab pos="287655" algn="l"/>
              </a:tabLst>
            </a:pPr>
            <a:r>
              <a:rPr sz="1100" i="1" spc="-10" dirty="0">
                <a:latin typeface="Bookman Old Style"/>
                <a:cs typeface="Bookman Old Style"/>
              </a:rPr>
              <a:t>x,</a:t>
            </a:r>
            <a:r>
              <a:rPr sz="1100" i="1" spc="-150" dirty="0">
                <a:latin typeface="Bookman Old Style"/>
                <a:cs typeface="Bookman Old Style"/>
              </a:rPr>
              <a:t> </a:t>
            </a:r>
            <a:r>
              <a:rPr sz="1100" i="1" spc="-140" dirty="0">
                <a:latin typeface="Bookman Old Style"/>
                <a:cs typeface="Bookman Old Style"/>
              </a:rPr>
              <a:t>y</a:t>
            </a:r>
            <a:r>
              <a:rPr sz="1100" i="1" spc="1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Arial"/>
                <a:cs typeface="Arial"/>
              </a:rPr>
              <a:t>are </a:t>
            </a:r>
            <a:r>
              <a:rPr sz="1100" spc="-10" dirty="0">
                <a:latin typeface="Arial"/>
                <a:cs typeface="Arial"/>
              </a:rPr>
              <a:t>variables</a:t>
            </a:r>
            <a:endParaRPr sz="1100" dirty="0">
              <a:latin typeface="Arial"/>
              <a:cs typeface="Arial"/>
            </a:endParaRPr>
          </a:p>
          <a:p>
            <a:pPr marL="287655" indent="-130810">
              <a:lnSpc>
                <a:spcPct val="100000"/>
              </a:lnSpc>
              <a:spcBef>
                <a:spcPts val="334"/>
              </a:spcBef>
              <a:buSzPct val="90909"/>
              <a:buFont typeface="Arial"/>
              <a:buChar char="•"/>
              <a:tabLst>
                <a:tab pos="287655" algn="l"/>
              </a:tabLst>
            </a:pPr>
            <a:r>
              <a:rPr sz="1100" i="1" spc="-140" dirty="0">
                <a:latin typeface="Bookman Old Style"/>
                <a:cs typeface="Bookman Old Style"/>
              </a:rPr>
              <a:t>y</a:t>
            </a:r>
            <a:r>
              <a:rPr sz="1100" i="1" spc="10" dirty="0">
                <a:latin typeface="Bookman Old Style"/>
                <a:cs typeface="Bookman Old Style"/>
              </a:rPr>
              <a:t> </a:t>
            </a:r>
            <a:r>
              <a:rPr sz="1100" spc="185" dirty="0">
                <a:latin typeface="Century"/>
                <a:cs typeface="Century"/>
              </a:rPr>
              <a:t>=</a:t>
            </a:r>
            <a:r>
              <a:rPr sz="1100" spc="-35" dirty="0">
                <a:latin typeface="Century"/>
                <a:cs typeface="Century"/>
              </a:rPr>
              <a:t> </a:t>
            </a:r>
            <a:r>
              <a:rPr sz="1100" i="1" dirty="0">
                <a:latin typeface="Bookman Old Style"/>
                <a:cs typeface="Bookman Old Style"/>
              </a:rPr>
              <a:t>x</a:t>
            </a:r>
            <a:r>
              <a:rPr sz="1100" i="1" spc="-90" dirty="0">
                <a:latin typeface="Bookman Old Style"/>
                <a:cs typeface="Bookman Old Style"/>
              </a:rPr>
              <a:t> </a:t>
            </a:r>
            <a:r>
              <a:rPr sz="1100" spc="185" dirty="0">
                <a:latin typeface="Century"/>
                <a:cs typeface="Century"/>
              </a:rPr>
              <a:t>+</a:t>
            </a:r>
            <a:r>
              <a:rPr sz="1100" spc="-70" dirty="0">
                <a:latin typeface="Century"/>
                <a:cs typeface="Century"/>
              </a:rPr>
              <a:t> </a:t>
            </a:r>
            <a:r>
              <a:rPr sz="1100" dirty="0">
                <a:latin typeface="Century"/>
                <a:cs typeface="Century"/>
              </a:rPr>
              <a:t>2</a:t>
            </a:r>
            <a:r>
              <a:rPr sz="1100" spc="-15" dirty="0">
                <a:latin typeface="Century"/>
                <a:cs typeface="Century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an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expression</a:t>
            </a:r>
            <a:endParaRPr sz="1100" dirty="0">
              <a:latin typeface="Arial"/>
              <a:cs typeface="Arial"/>
            </a:endParaRPr>
          </a:p>
          <a:p>
            <a:pPr marL="156845">
              <a:lnSpc>
                <a:spcPct val="100000"/>
              </a:lnSpc>
              <a:spcBef>
                <a:spcPts val="330"/>
              </a:spcBef>
            </a:pPr>
            <a:r>
              <a:rPr sz="1500" i="1" spc="217" baseline="2777" dirty="0">
                <a:latin typeface="Arial"/>
                <a:cs typeface="Arial"/>
              </a:rPr>
              <a:t>•</a:t>
            </a:r>
            <a:r>
              <a:rPr sz="1500" i="1" spc="375" baseline="2777" dirty="0">
                <a:latin typeface="Arial"/>
                <a:cs typeface="Arial"/>
              </a:rPr>
              <a:t> </a:t>
            </a:r>
            <a:r>
              <a:rPr sz="1100" spc="185" dirty="0">
                <a:latin typeface="Century"/>
                <a:cs typeface="Century"/>
              </a:rPr>
              <a:t>+</a:t>
            </a:r>
            <a:r>
              <a:rPr sz="1100" spc="-15" dirty="0">
                <a:latin typeface="Century"/>
                <a:cs typeface="Century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an</a:t>
            </a:r>
            <a:r>
              <a:rPr sz="1100" spc="-10" dirty="0">
                <a:latin typeface="Arial"/>
                <a:cs typeface="Arial"/>
              </a:rPr>
              <a:t> operator.</a:t>
            </a:r>
            <a:endParaRPr sz="1100" dirty="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-25" dirty="0"/>
              <a:t>4</a:t>
            </a:r>
          </a:p>
        </p:txBody>
      </p:sp>
    </p:spTree>
  </p:cSld>
  <p:clrMapOvr>
    <a:masterClrMapping/>
  </p:clrMapOvr>
  <p:transition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Variable</a:t>
            </a:r>
            <a:r>
              <a:rPr spc="5" dirty="0"/>
              <a:t> </a:t>
            </a:r>
            <a:r>
              <a:rPr spc="-10" dirty="0"/>
              <a:t>names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7294" y="370672"/>
            <a:ext cx="3804285" cy="2599813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z="1100" spc="-10" dirty="0">
                <a:latin typeface="Arial"/>
                <a:cs typeface="Arial"/>
              </a:rPr>
              <a:t>Naming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rules:</a:t>
            </a:r>
            <a:endParaRPr sz="1100" dirty="0">
              <a:latin typeface="Arial"/>
              <a:cs typeface="Arial"/>
            </a:endParaRPr>
          </a:p>
          <a:p>
            <a:pPr marL="287655" indent="-130810">
              <a:lnSpc>
                <a:spcPct val="100000"/>
              </a:lnSpc>
              <a:spcBef>
                <a:spcPts val="334"/>
              </a:spcBef>
              <a:buSzPct val="90909"/>
              <a:buFont typeface="Arial"/>
              <a:buChar char="•"/>
              <a:tabLst>
                <a:tab pos="287655" algn="l"/>
              </a:tabLst>
            </a:pPr>
            <a:r>
              <a:rPr sz="1100" spc="-20" dirty="0">
                <a:latin typeface="Arial"/>
                <a:cs typeface="Arial"/>
              </a:rPr>
              <a:t>Variable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names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can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contain</a:t>
            </a:r>
            <a:r>
              <a:rPr sz="1100" spc="-10" dirty="0">
                <a:latin typeface="Arial"/>
                <a:cs typeface="Arial"/>
              </a:rPr>
              <a:t> letters,digits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and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spc="-50" dirty="0">
                <a:latin typeface="Courier New"/>
                <a:cs typeface="Courier New"/>
              </a:rPr>
              <a:t>_</a:t>
            </a:r>
            <a:endParaRPr sz="1100" dirty="0">
              <a:latin typeface="Courier New"/>
              <a:cs typeface="Courier New"/>
            </a:endParaRPr>
          </a:p>
          <a:p>
            <a:pPr marL="287655" indent="-130810">
              <a:lnSpc>
                <a:spcPct val="100000"/>
              </a:lnSpc>
              <a:spcBef>
                <a:spcPts val="330"/>
              </a:spcBef>
              <a:buSzPct val="90909"/>
              <a:buFont typeface="Arial"/>
              <a:buChar char="•"/>
              <a:tabLst>
                <a:tab pos="287655" algn="l"/>
              </a:tabLst>
            </a:pPr>
            <a:r>
              <a:rPr sz="1100" spc="-20" dirty="0">
                <a:latin typeface="Arial"/>
                <a:cs typeface="Arial"/>
              </a:rPr>
              <a:t>Variable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names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should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start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with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letters.</a:t>
            </a:r>
            <a:endParaRPr sz="1100" dirty="0">
              <a:latin typeface="Arial"/>
              <a:cs typeface="Arial"/>
            </a:endParaRPr>
          </a:p>
          <a:p>
            <a:pPr marL="287655" marR="5080" indent="-130810">
              <a:lnSpc>
                <a:spcPct val="102600"/>
              </a:lnSpc>
              <a:spcBef>
                <a:spcPts val="300"/>
              </a:spcBef>
              <a:buSzPct val="90909"/>
              <a:buFont typeface="Arial"/>
              <a:buChar char="•"/>
              <a:tabLst>
                <a:tab pos="289560" algn="l"/>
              </a:tabLst>
            </a:pPr>
            <a:r>
              <a:rPr sz="1100" spc="-20" dirty="0">
                <a:latin typeface="Arial"/>
                <a:cs typeface="Arial"/>
              </a:rPr>
              <a:t>Keywords </a:t>
            </a:r>
            <a:r>
              <a:rPr sz="1100" dirty="0">
                <a:latin typeface="Arial"/>
                <a:cs typeface="Arial"/>
              </a:rPr>
              <a:t>(</a:t>
            </a:r>
            <a:r>
              <a:rPr sz="1100" i="1" dirty="0">
                <a:latin typeface="Arial"/>
                <a:cs typeface="Arial"/>
              </a:rPr>
              <a:t>e.g.,</a:t>
            </a:r>
            <a:r>
              <a:rPr sz="1100" i="1" spc="-15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for,while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etc.</a:t>
            </a:r>
            <a:r>
              <a:rPr sz="1100" dirty="0">
                <a:latin typeface="Arial"/>
                <a:cs typeface="Arial"/>
              </a:rPr>
              <a:t>)</a:t>
            </a:r>
            <a:r>
              <a:rPr sz="1100" spc="5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cannot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be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used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as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variable 	names</a:t>
            </a:r>
            <a:endParaRPr sz="1100" dirty="0">
              <a:latin typeface="Arial"/>
              <a:cs typeface="Arial"/>
            </a:endParaRPr>
          </a:p>
          <a:p>
            <a:pPr marL="287655" marR="124460" indent="-130810">
              <a:lnSpc>
                <a:spcPct val="102600"/>
              </a:lnSpc>
              <a:spcBef>
                <a:spcPts val="300"/>
              </a:spcBef>
              <a:buSzPct val="90909"/>
              <a:buFont typeface="Arial"/>
              <a:buChar char="•"/>
              <a:tabLst>
                <a:tab pos="289560" algn="l"/>
              </a:tabLst>
            </a:pPr>
            <a:r>
              <a:rPr sz="1100" spc="-20" dirty="0">
                <a:latin typeface="Arial"/>
                <a:cs typeface="Arial"/>
              </a:rPr>
              <a:t>Variable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names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are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case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sensitive.</a:t>
            </a:r>
            <a:r>
              <a:rPr sz="1100" spc="105" dirty="0"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0000FF"/>
                </a:solidFill>
                <a:latin typeface="Arial"/>
                <a:cs typeface="Arial"/>
              </a:rPr>
              <a:t>int</a:t>
            </a:r>
            <a:r>
              <a:rPr sz="900" b="1" spc="18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x;</a:t>
            </a:r>
            <a:r>
              <a:rPr sz="900" spc="235" dirty="0"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0000FF"/>
                </a:solidFill>
                <a:latin typeface="Arial"/>
                <a:cs typeface="Arial"/>
              </a:rPr>
              <a:t>int</a:t>
            </a:r>
            <a:r>
              <a:rPr sz="900" b="1" spc="18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X</a:t>
            </a:r>
            <a:r>
              <a:rPr sz="900" spc="3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declares 	</a:t>
            </a:r>
            <a:r>
              <a:rPr sz="1100" dirty="0">
                <a:latin typeface="Arial"/>
                <a:cs typeface="Arial"/>
              </a:rPr>
              <a:t>two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different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variables.</a:t>
            </a:r>
            <a:endParaRPr sz="11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sz="1100" spc="-10" dirty="0">
                <a:latin typeface="Arial"/>
                <a:cs typeface="Arial"/>
              </a:rPr>
              <a:t>Pop</a:t>
            </a:r>
            <a:r>
              <a:rPr sz="1100" spc="-5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quiz</a:t>
            </a:r>
            <a:r>
              <a:rPr sz="1100" spc="-5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(correct/incorrect):</a:t>
            </a:r>
            <a:endParaRPr sz="1100" dirty="0">
              <a:latin typeface="Arial"/>
              <a:cs typeface="Arial"/>
            </a:endParaRPr>
          </a:p>
          <a:p>
            <a:pPr marL="295275" indent="-138430">
              <a:lnSpc>
                <a:spcPct val="100000"/>
              </a:lnSpc>
              <a:spcBef>
                <a:spcPts val="334"/>
              </a:spcBef>
              <a:buClr>
                <a:srgbClr val="000000"/>
              </a:buClr>
              <a:buSzPct val="111111"/>
              <a:buFont typeface="Arial"/>
              <a:buChar char="•"/>
              <a:tabLst>
                <a:tab pos="295275" algn="l"/>
              </a:tabLst>
            </a:pPr>
            <a:r>
              <a:rPr sz="900" b="1" dirty="0">
                <a:solidFill>
                  <a:srgbClr val="0000FF"/>
                </a:solidFill>
                <a:latin typeface="Arial"/>
                <a:cs typeface="Arial"/>
              </a:rPr>
              <a:t>int</a:t>
            </a:r>
            <a:r>
              <a:rPr sz="900" b="1" spc="14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money$owed;</a:t>
            </a:r>
            <a:r>
              <a:rPr sz="900" spc="10" dirty="0">
                <a:latin typeface="Arial"/>
                <a:cs typeface="Arial"/>
              </a:rPr>
              <a:t> </a:t>
            </a:r>
            <a:endParaRPr lang="en-US" sz="900" spc="10" dirty="0">
              <a:latin typeface="Arial"/>
              <a:cs typeface="Arial"/>
            </a:endParaRPr>
          </a:p>
          <a:p>
            <a:pPr marL="295275" indent="-138430">
              <a:lnSpc>
                <a:spcPct val="100000"/>
              </a:lnSpc>
              <a:spcBef>
                <a:spcPts val="334"/>
              </a:spcBef>
              <a:buClr>
                <a:srgbClr val="000000"/>
              </a:buClr>
              <a:buSzPct val="111111"/>
              <a:buFont typeface="Arial"/>
              <a:buChar char="•"/>
              <a:tabLst>
                <a:tab pos="295275" algn="l"/>
              </a:tabLst>
            </a:pPr>
            <a:r>
              <a:rPr sz="900" b="1" dirty="0">
                <a:solidFill>
                  <a:srgbClr val="0000FF"/>
                </a:solidFill>
                <a:latin typeface="Arial"/>
                <a:cs typeface="Arial"/>
              </a:rPr>
              <a:t>int</a:t>
            </a:r>
            <a:r>
              <a:rPr sz="900" b="1" spc="20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dirty="0" err="1">
                <a:latin typeface="Arial"/>
                <a:cs typeface="Arial"/>
              </a:rPr>
              <a:t>total_count</a:t>
            </a:r>
            <a:r>
              <a:rPr lang="en-US" sz="900" spc="55" dirty="0">
                <a:latin typeface="Arial"/>
                <a:cs typeface="Arial"/>
              </a:rPr>
              <a:t>;</a:t>
            </a:r>
          </a:p>
          <a:p>
            <a:pPr marL="295275" indent="-138430">
              <a:lnSpc>
                <a:spcPct val="100000"/>
              </a:lnSpc>
              <a:spcBef>
                <a:spcPts val="334"/>
              </a:spcBef>
              <a:buClr>
                <a:srgbClr val="000000"/>
              </a:buClr>
              <a:buSzPct val="111111"/>
              <a:buFont typeface="Arial"/>
              <a:buChar char="•"/>
              <a:tabLst>
                <a:tab pos="295275" algn="l"/>
              </a:tabLst>
            </a:pPr>
            <a:r>
              <a:rPr sz="900" b="1" dirty="0" err="1">
                <a:solidFill>
                  <a:srgbClr val="0000FF"/>
                </a:solidFill>
                <a:latin typeface="Arial"/>
                <a:cs typeface="Arial"/>
              </a:rPr>
              <a:t>nt</a:t>
            </a:r>
            <a:r>
              <a:rPr sz="900" b="1" spc="18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score2</a:t>
            </a:r>
            <a:r>
              <a:rPr lang="en-US" sz="900" spc="35" dirty="0">
                <a:latin typeface="Arial"/>
                <a:cs typeface="Arial"/>
              </a:rPr>
              <a:t>;</a:t>
            </a:r>
            <a:endParaRPr sz="1100" dirty="0">
              <a:latin typeface="Arial"/>
              <a:cs typeface="Arial"/>
            </a:endParaRPr>
          </a:p>
          <a:p>
            <a:pPr marL="295275" indent="-138430">
              <a:lnSpc>
                <a:spcPct val="100000"/>
              </a:lnSpc>
              <a:spcBef>
                <a:spcPts val="335"/>
              </a:spcBef>
              <a:buClr>
                <a:srgbClr val="000000"/>
              </a:buClr>
              <a:buSzPct val="111111"/>
              <a:buFont typeface="Arial"/>
              <a:buChar char="•"/>
              <a:tabLst>
                <a:tab pos="295275" algn="l"/>
              </a:tabLst>
            </a:pPr>
            <a:r>
              <a:rPr sz="900" b="1" dirty="0">
                <a:solidFill>
                  <a:srgbClr val="0000FF"/>
                </a:solidFill>
                <a:latin typeface="Arial"/>
                <a:cs typeface="Arial"/>
              </a:rPr>
              <a:t>int</a:t>
            </a:r>
            <a:r>
              <a:rPr sz="900" b="1" spc="17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2ndscore</a:t>
            </a:r>
            <a:r>
              <a:rPr lang="en-US" sz="900" spc="30" dirty="0">
                <a:latin typeface="Arial"/>
                <a:cs typeface="Arial"/>
              </a:rPr>
              <a:t>;</a:t>
            </a:r>
            <a:endParaRPr sz="1100" dirty="0">
              <a:latin typeface="Arial"/>
              <a:cs typeface="Arial"/>
            </a:endParaRPr>
          </a:p>
          <a:p>
            <a:pPr marL="295275" indent="-138430">
              <a:lnSpc>
                <a:spcPct val="100000"/>
              </a:lnSpc>
              <a:spcBef>
                <a:spcPts val="334"/>
              </a:spcBef>
              <a:buClr>
                <a:srgbClr val="000000"/>
              </a:buClr>
              <a:buSzPct val="111111"/>
              <a:buFont typeface="Arial"/>
              <a:buChar char="•"/>
              <a:tabLst>
                <a:tab pos="295275" algn="l"/>
              </a:tabLst>
            </a:pPr>
            <a:r>
              <a:rPr sz="900" b="1" dirty="0">
                <a:solidFill>
                  <a:srgbClr val="0000FF"/>
                </a:solidFill>
                <a:latin typeface="Arial"/>
                <a:cs typeface="Arial"/>
              </a:rPr>
              <a:t>int</a:t>
            </a:r>
            <a:r>
              <a:rPr sz="900" b="1" spc="17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0000FF"/>
                </a:solidFill>
                <a:latin typeface="Arial"/>
                <a:cs typeface="Arial"/>
              </a:rPr>
              <a:t>long</a:t>
            </a:r>
            <a:r>
              <a:rPr lang="en-US" sz="900" b="1" spc="25" dirty="0">
                <a:solidFill>
                  <a:srgbClr val="0000FF"/>
                </a:solidFill>
                <a:latin typeface="Arial"/>
                <a:cs typeface="Arial"/>
              </a:rPr>
              <a:t>;</a:t>
            </a:r>
            <a:endParaRPr sz="1100" dirty="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-25" dirty="0"/>
              <a:t>5</a:t>
            </a:r>
          </a:p>
        </p:txBody>
      </p:sp>
    </p:spTree>
  </p:cSld>
  <p:clrMapOvr>
    <a:masterClrMapping/>
  </p:clrMapOvr>
  <p:transition>
    <p:cu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B8200A-A071-5EE4-182D-57032436E9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242C61C5-3DA9-8676-FCAE-F5AA825B200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Variable</a:t>
            </a:r>
            <a:r>
              <a:rPr spc="5" dirty="0"/>
              <a:t> </a:t>
            </a:r>
            <a:r>
              <a:rPr spc="-10" dirty="0"/>
              <a:t>names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857BEE13-74DC-369B-AC40-F3A179066E24}"/>
              </a:ext>
            </a:extLst>
          </p:cNvPr>
          <p:cNvSpPr txBox="1"/>
          <p:nvPr/>
        </p:nvSpPr>
        <p:spPr>
          <a:xfrm>
            <a:off x="347294" y="370672"/>
            <a:ext cx="3804285" cy="2680335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z="1100" spc="-10" dirty="0">
                <a:latin typeface="Arial"/>
                <a:cs typeface="Arial"/>
              </a:rPr>
              <a:t>Naming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rules:</a:t>
            </a:r>
            <a:endParaRPr sz="1100">
              <a:latin typeface="Arial"/>
              <a:cs typeface="Arial"/>
            </a:endParaRPr>
          </a:p>
          <a:p>
            <a:pPr marL="287655" indent="-130810">
              <a:lnSpc>
                <a:spcPct val="100000"/>
              </a:lnSpc>
              <a:spcBef>
                <a:spcPts val="334"/>
              </a:spcBef>
              <a:buSzPct val="90909"/>
              <a:buFont typeface="Arial"/>
              <a:buChar char="•"/>
              <a:tabLst>
                <a:tab pos="287655" algn="l"/>
              </a:tabLst>
            </a:pPr>
            <a:r>
              <a:rPr sz="1100" spc="-20" dirty="0">
                <a:latin typeface="Arial"/>
                <a:cs typeface="Arial"/>
              </a:rPr>
              <a:t>Variable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names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can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contain</a:t>
            </a:r>
            <a:r>
              <a:rPr sz="1100" spc="-10" dirty="0">
                <a:latin typeface="Arial"/>
                <a:cs typeface="Arial"/>
              </a:rPr>
              <a:t> letters,digits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and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spc="-50" dirty="0">
                <a:latin typeface="Courier New"/>
                <a:cs typeface="Courier New"/>
              </a:rPr>
              <a:t>_</a:t>
            </a:r>
            <a:endParaRPr sz="1100">
              <a:latin typeface="Courier New"/>
              <a:cs typeface="Courier New"/>
            </a:endParaRPr>
          </a:p>
          <a:p>
            <a:pPr marL="287655" indent="-130810">
              <a:lnSpc>
                <a:spcPct val="100000"/>
              </a:lnSpc>
              <a:spcBef>
                <a:spcPts val="330"/>
              </a:spcBef>
              <a:buSzPct val="90909"/>
              <a:buFont typeface="Arial"/>
              <a:buChar char="•"/>
              <a:tabLst>
                <a:tab pos="287655" algn="l"/>
              </a:tabLst>
            </a:pPr>
            <a:r>
              <a:rPr sz="1100" spc="-20" dirty="0">
                <a:latin typeface="Arial"/>
                <a:cs typeface="Arial"/>
              </a:rPr>
              <a:t>Variable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names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should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start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with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letters.</a:t>
            </a:r>
            <a:endParaRPr sz="1100">
              <a:latin typeface="Arial"/>
              <a:cs typeface="Arial"/>
            </a:endParaRPr>
          </a:p>
          <a:p>
            <a:pPr marL="287655" marR="5080" indent="-130810">
              <a:lnSpc>
                <a:spcPct val="102600"/>
              </a:lnSpc>
              <a:spcBef>
                <a:spcPts val="300"/>
              </a:spcBef>
              <a:buSzPct val="90909"/>
              <a:buFont typeface="Arial"/>
              <a:buChar char="•"/>
              <a:tabLst>
                <a:tab pos="289560" algn="l"/>
              </a:tabLst>
            </a:pPr>
            <a:r>
              <a:rPr sz="1100" spc="-20" dirty="0">
                <a:latin typeface="Arial"/>
                <a:cs typeface="Arial"/>
              </a:rPr>
              <a:t>Keywords </a:t>
            </a:r>
            <a:r>
              <a:rPr sz="1100" dirty="0">
                <a:latin typeface="Arial"/>
                <a:cs typeface="Arial"/>
              </a:rPr>
              <a:t>(</a:t>
            </a:r>
            <a:r>
              <a:rPr sz="1100" i="1" dirty="0">
                <a:latin typeface="Arial"/>
                <a:cs typeface="Arial"/>
              </a:rPr>
              <a:t>e.g.,</a:t>
            </a:r>
            <a:r>
              <a:rPr sz="1100" i="1" spc="-15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for,while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etc.</a:t>
            </a:r>
            <a:r>
              <a:rPr sz="1100" dirty="0">
                <a:latin typeface="Arial"/>
                <a:cs typeface="Arial"/>
              </a:rPr>
              <a:t>)</a:t>
            </a:r>
            <a:r>
              <a:rPr sz="1100" spc="5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cannot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be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used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as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variable 	names</a:t>
            </a:r>
            <a:endParaRPr sz="1100">
              <a:latin typeface="Arial"/>
              <a:cs typeface="Arial"/>
            </a:endParaRPr>
          </a:p>
          <a:p>
            <a:pPr marL="287655" marR="124460" indent="-130810">
              <a:lnSpc>
                <a:spcPct val="102600"/>
              </a:lnSpc>
              <a:spcBef>
                <a:spcPts val="300"/>
              </a:spcBef>
              <a:buSzPct val="90909"/>
              <a:buFont typeface="Arial"/>
              <a:buChar char="•"/>
              <a:tabLst>
                <a:tab pos="289560" algn="l"/>
              </a:tabLst>
            </a:pPr>
            <a:r>
              <a:rPr sz="1100" spc="-20" dirty="0">
                <a:latin typeface="Arial"/>
                <a:cs typeface="Arial"/>
              </a:rPr>
              <a:t>Variable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names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are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case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sensitive.</a:t>
            </a:r>
            <a:r>
              <a:rPr sz="1100" spc="105" dirty="0"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0000FF"/>
                </a:solidFill>
                <a:latin typeface="Arial"/>
                <a:cs typeface="Arial"/>
              </a:rPr>
              <a:t>int</a:t>
            </a:r>
            <a:r>
              <a:rPr sz="900" b="1" spc="18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x;</a:t>
            </a:r>
            <a:r>
              <a:rPr sz="900" spc="235" dirty="0"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0000FF"/>
                </a:solidFill>
                <a:latin typeface="Arial"/>
                <a:cs typeface="Arial"/>
              </a:rPr>
              <a:t>int</a:t>
            </a:r>
            <a:r>
              <a:rPr sz="900" b="1" spc="18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X</a:t>
            </a:r>
            <a:r>
              <a:rPr sz="900" spc="3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declares 	</a:t>
            </a:r>
            <a:r>
              <a:rPr sz="1100" dirty="0">
                <a:latin typeface="Arial"/>
                <a:cs typeface="Arial"/>
              </a:rPr>
              <a:t>two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different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variables.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sz="1100" spc="-10" dirty="0">
                <a:latin typeface="Arial"/>
                <a:cs typeface="Arial"/>
              </a:rPr>
              <a:t>Pop</a:t>
            </a:r>
            <a:r>
              <a:rPr sz="1100" spc="-5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quiz</a:t>
            </a:r>
            <a:r>
              <a:rPr sz="1100" spc="-5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(correct/incorrect):</a:t>
            </a:r>
            <a:endParaRPr sz="1100">
              <a:latin typeface="Arial"/>
              <a:cs typeface="Arial"/>
            </a:endParaRPr>
          </a:p>
          <a:p>
            <a:pPr marL="295275" indent="-138430">
              <a:lnSpc>
                <a:spcPct val="100000"/>
              </a:lnSpc>
              <a:spcBef>
                <a:spcPts val="334"/>
              </a:spcBef>
              <a:buClr>
                <a:srgbClr val="000000"/>
              </a:buClr>
              <a:buSzPct val="111111"/>
              <a:buFont typeface="Arial"/>
              <a:buChar char="•"/>
              <a:tabLst>
                <a:tab pos="295275" algn="l"/>
              </a:tabLst>
            </a:pPr>
            <a:r>
              <a:rPr sz="900" b="1" dirty="0">
                <a:solidFill>
                  <a:srgbClr val="0000FF"/>
                </a:solidFill>
                <a:latin typeface="Arial"/>
                <a:cs typeface="Arial"/>
              </a:rPr>
              <a:t>int</a:t>
            </a:r>
            <a:r>
              <a:rPr sz="900" b="1" spc="14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money$owed;</a:t>
            </a:r>
            <a:r>
              <a:rPr sz="900" spc="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(incorrect:</a:t>
            </a:r>
            <a:r>
              <a:rPr sz="1100" spc="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cannot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contain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$)</a:t>
            </a:r>
            <a:endParaRPr sz="1100">
              <a:latin typeface="Arial"/>
              <a:cs typeface="Arial"/>
            </a:endParaRPr>
          </a:p>
          <a:p>
            <a:pPr marL="295275" indent="-138430">
              <a:lnSpc>
                <a:spcPct val="100000"/>
              </a:lnSpc>
              <a:spcBef>
                <a:spcPts val="330"/>
              </a:spcBef>
              <a:buClr>
                <a:srgbClr val="000000"/>
              </a:buClr>
              <a:buSzPct val="111111"/>
              <a:buFont typeface="Arial"/>
              <a:buChar char="•"/>
              <a:tabLst>
                <a:tab pos="295275" algn="l"/>
              </a:tabLst>
            </a:pPr>
            <a:r>
              <a:rPr sz="900" b="1" dirty="0">
                <a:solidFill>
                  <a:srgbClr val="0000FF"/>
                </a:solidFill>
                <a:latin typeface="Arial"/>
                <a:cs typeface="Arial"/>
              </a:rPr>
              <a:t>int</a:t>
            </a:r>
            <a:r>
              <a:rPr sz="900" b="1" spc="20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total_count</a:t>
            </a:r>
            <a:r>
              <a:rPr sz="900" spc="5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(correct)</a:t>
            </a:r>
            <a:endParaRPr sz="1100">
              <a:latin typeface="Arial"/>
              <a:cs typeface="Arial"/>
            </a:endParaRPr>
          </a:p>
          <a:p>
            <a:pPr marL="295275" indent="-138430">
              <a:lnSpc>
                <a:spcPct val="100000"/>
              </a:lnSpc>
              <a:spcBef>
                <a:spcPts val="335"/>
              </a:spcBef>
              <a:buClr>
                <a:srgbClr val="000000"/>
              </a:buClr>
              <a:buSzPct val="111111"/>
              <a:buFont typeface="Arial"/>
              <a:buChar char="•"/>
              <a:tabLst>
                <a:tab pos="295275" algn="l"/>
              </a:tabLst>
            </a:pPr>
            <a:r>
              <a:rPr sz="900" b="1" dirty="0">
                <a:solidFill>
                  <a:srgbClr val="0000FF"/>
                </a:solidFill>
                <a:latin typeface="Arial"/>
                <a:cs typeface="Arial"/>
              </a:rPr>
              <a:t>int</a:t>
            </a:r>
            <a:r>
              <a:rPr sz="900" b="1" spc="18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score2</a:t>
            </a:r>
            <a:r>
              <a:rPr sz="900" spc="3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(correct)</a:t>
            </a:r>
            <a:endParaRPr sz="1100">
              <a:latin typeface="Arial"/>
              <a:cs typeface="Arial"/>
            </a:endParaRPr>
          </a:p>
          <a:p>
            <a:pPr marL="295275" indent="-138430">
              <a:lnSpc>
                <a:spcPct val="100000"/>
              </a:lnSpc>
              <a:spcBef>
                <a:spcPts val="335"/>
              </a:spcBef>
              <a:buClr>
                <a:srgbClr val="000000"/>
              </a:buClr>
              <a:buSzPct val="111111"/>
              <a:buFont typeface="Arial"/>
              <a:buChar char="•"/>
              <a:tabLst>
                <a:tab pos="295275" algn="l"/>
              </a:tabLst>
            </a:pPr>
            <a:r>
              <a:rPr sz="900" b="1" dirty="0">
                <a:solidFill>
                  <a:srgbClr val="0000FF"/>
                </a:solidFill>
                <a:latin typeface="Arial"/>
                <a:cs typeface="Arial"/>
              </a:rPr>
              <a:t>int</a:t>
            </a:r>
            <a:r>
              <a:rPr sz="900" b="1" spc="17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2ndscore</a:t>
            </a:r>
            <a:r>
              <a:rPr sz="900" spc="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(incorrect:</a:t>
            </a:r>
            <a:r>
              <a:rPr sz="1100" spc="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must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start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with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letter)</a:t>
            </a:r>
            <a:endParaRPr sz="1100">
              <a:latin typeface="Arial"/>
              <a:cs typeface="Arial"/>
            </a:endParaRPr>
          </a:p>
          <a:p>
            <a:pPr marL="295275" indent="-138430">
              <a:lnSpc>
                <a:spcPct val="100000"/>
              </a:lnSpc>
              <a:spcBef>
                <a:spcPts val="334"/>
              </a:spcBef>
              <a:buClr>
                <a:srgbClr val="000000"/>
              </a:buClr>
              <a:buSzPct val="111111"/>
              <a:buFont typeface="Arial"/>
              <a:buChar char="•"/>
              <a:tabLst>
                <a:tab pos="295275" algn="l"/>
              </a:tabLst>
            </a:pPr>
            <a:r>
              <a:rPr sz="900" b="1" dirty="0">
                <a:solidFill>
                  <a:srgbClr val="0000FF"/>
                </a:solidFill>
                <a:latin typeface="Arial"/>
                <a:cs typeface="Arial"/>
              </a:rPr>
              <a:t>int</a:t>
            </a:r>
            <a:r>
              <a:rPr sz="900" b="1" spc="17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0000FF"/>
                </a:solidFill>
                <a:latin typeface="Arial"/>
                <a:cs typeface="Arial"/>
              </a:rPr>
              <a:t>long</a:t>
            </a:r>
            <a:r>
              <a:rPr sz="900" b="1" spc="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(incorrect:</a:t>
            </a:r>
            <a:r>
              <a:rPr sz="1100" spc="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cannot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use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keyword)</a:t>
            </a:r>
            <a:endParaRPr sz="1100">
              <a:latin typeface="Arial"/>
              <a:cs typeface="Arial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A69CD98A-CE49-DCA9-9322-CBAF53E07702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-25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236037654"/>
      </p:ext>
    </p:extLst>
  </p:cSld>
  <p:clrMapOvr>
    <a:masterClrMapping/>
  </p:clrMapOvr>
  <p:transition>
    <p:cut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Data</a:t>
            </a:r>
            <a:r>
              <a:rPr spc="85" dirty="0"/>
              <a:t> </a:t>
            </a:r>
            <a:r>
              <a:rPr dirty="0"/>
              <a:t>types</a:t>
            </a:r>
            <a:r>
              <a:rPr spc="85" dirty="0"/>
              <a:t> </a:t>
            </a:r>
            <a:r>
              <a:rPr dirty="0"/>
              <a:t>and</a:t>
            </a:r>
            <a:r>
              <a:rPr spc="85" dirty="0"/>
              <a:t> </a:t>
            </a:r>
            <a:r>
              <a:rPr spc="-10" dirty="0"/>
              <a:t>sizes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7294" y="1148916"/>
            <a:ext cx="2090420" cy="86614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z="1100" dirty="0">
                <a:latin typeface="Arial"/>
                <a:cs typeface="Arial"/>
              </a:rPr>
              <a:t>C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has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small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family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datatypes.</a:t>
            </a:r>
            <a:endParaRPr sz="1100">
              <a:latin typeface="Arial"/>
              <a:cs typeface="Arial"/>
            </a:endParaRPr>
          </a:p>
          <a:p>
            <a:pPr marL="287655" indent="-130810">
              <a:lnSpc>
                <a:spcPct val="100000"/>
              </a:lnSpc>
              <a:spcBef>
                <a:spcPts val="334"/>
              </a:spcBef>
              <a:buSzPct val="90909"/>
              <a:buFont typeface="Arial"/>
              <a:buChar char="•"/>
              <a:tabLst>
                <a:tab pos="287655" algn="l"/>
              </a:tabLst>
            </a:pPr>
            <a:r>
              <a:rPr sz="1100" dirty="0">
                <a:latin typeface="Arial"/>
                <a:cs typeface="Arial"/>
              </a:rPr>
              <a:t>Numeric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(int,float,double)</a:t>
            </a:r>
            <a:endParaRPr sz="1100">
              <a:latin typeface="Arial"/>
              <a:cs typeface="Arial"/>
            </a:endParaRPr>
          </a:p>
          <a:p>
            <a:pPr marL="287655" indent="-130810">
              <a:lnSpc>
                <a:spcPct val="100000"/>
              </a:lnSpc>
              <a:spcBef>
                <a:spcPts val="330"/>
              </a:spcBef>
              <a:buSzPct val="90909"/>
              <a:buFont typeface="Arial"/>
              <a:buChar char="•"/>
              <a:tabLst>
                <a:tab pos="287655" algn="l"/>
              </a:tabLst>
            </a:pPr>
            <a:r>
              <a:rPr sz="1100" dirty="0">
                <a:latin typeface="Arial"/>
                <a:cs typeface="Arial"/>
              </a:rPr>
              <a:t>Character</a:t>
            </a:r>
            <a:r>
              <a:rPr sz="1100" spc="-7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(char)</a:t>
            </a:r>
            <a:endParaRPr sz="1100">
              <a:latin typeface="Arial"/>
              <a:cs typeface="Arial"/>
            </a:endParaRPr>
          </a:p>
          <a:p>
            <a:pPr marL="287655" indent="-130810">
              <a:lnSpc>
                <a:spcPct val="100000"/>
              </a:lnSpc>
              <a:spcBef>
                <a:spcPts val="335"/>
              </a:spcBef>
              <a:buSzPct val="90909"/>
              <a:buFont typeface="Arial"/>
              <a:buChar char="•"/>
              <a:tabLst>
                <a:tab pos="287655" algn="l"/>
              </a:tabLst>
            </a:pPr>
            <a:r>
              <a:rPr sz="1100" dirty="0">
                <a:latin typeface="Arial"/>
                <a:cs typeface="Arial"/>
              </a:rPr>
              <a:t>User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defined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(struct,union)</a:t>
            </a:r>
            <a:endParaRPr sz="110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-25" dirty="0"/>
              <a:t>6</a:t>
            </a:r>
          </a:p>
        </p:txBody>
      </p:sp>
    </p:spTree>
  </p:cSld>
  <p:clrMapOvr>
    <a:masterClrMapping/>
  </p:clrMapOvr>
  <p:transition>
    <p:cu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2540" y="-2590"/>
            <a:ext cx="4613275" cy="3461385"/>
            <a:chOff x="-2540" y="-2590"/>
            <a:chExt cx="4613275" cy="3461385"/>
          </a:xfrm>
        </p:grpSpPr>
        <p:sp>
          <p:nvSpPr>
            <p:cNvPr id="3" name="object 3"/>
            <p:cNvSpPr/>
            <p:nvPr/>
          </p:nvSpPr>
          <p:spPr>
            <a:xfrm>
              <a:off x="0" y="-50"/>
              <a:ext cx="4608195" cy="3456304"/>
            </a:xfrm>
            <a:custGeom>
              <a:avLst/>
              <a:gdLst/>
              <a:ahLst/>
              <a:cxnLst/>
              <a:rect l="l" t="t" r="r" b="b"/>
              <a:pathLst>
                <a:path w="4608195" h="3456304">
                  <a:moveTo>
                    <a:pt x="0" y="3456051"/>
                  </a:moveTo>
                  <a:lnTo>
                    <a:pt x="4608055" y="3456051"/>
                  </a:lnTo>
                  <a:lnTo>
                    <a:pt x="4608055" y="0"/>
                  </a:lnTo>
                  <a:lnTo>
                    <a:pt x="0" y="0"/>
                  </a:lnTo>
                  <a:lnTo>
                    <a:pt x="0" y="3456051"/>
                  </a:lnTo>
                  <a:close/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08000" y="331152"/>
              <a:ext cx="4392295" cy="29209"/>
            </a:xfrm>
            <a:custGeom>
              <a:avLst/>
              <a:gdLst/>
              <a:ahLst/>
              <a:cxnLst/>
              <a:rect l="l" t="t" r="r" b="b"/>
              <a:pathLst>
                <a:path w="4392295" h="29210">
                  <a:moveTo>
                    <a:pt x="4392053" y="0"/>
                  </a:moveTo>
                  <a:lnTo>
                    <a:pt x="0" y="0"/>
                  </a:lnTo>
                  <a:lnTo>
                    <a:pt x="0" y="28803"/>
                  </a:lnTo>
                  <a:lnTo>
                    <a:pt x="4392053" y="28803"/>
                  </a:lnTo>
                  <a:lnTo>
                    <a:pt x="4392053" y="0"/>
                  </a:lnTo>
                  <a:close/>
                </a:path>
              </a:pathLst>
            </a:custGeom>
            <a:solidFill>
              <a:srgbClr val="63636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Numeric</a:t>
            </a:r>
            <a:r>
              <a:rPr spc="100" dirty="0"/>
              <a:t> </a:t>
            </a:r>
            <a:r>
              <a:rPr dirty="0"/>
              <a:t>data</a:t>
            </a:r>
            <a:r>
              <a:rPr spc="105" dirty="0"/>
              <a:t> </a:t>
            </a:r>
            <a:r>
              <a:rPr spc="-10" dirty="0"/>
              <a:t>types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347294" y="386129"/>
            <a:ext cx="3741420" cy="36385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sz="1100" spc="-10" dirty="0">
                <a:latin typeface="Arial"/>
                <a:cs typeface="Arial"/>
              </a:rPr>
              <a:t>Depending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on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precision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and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range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required,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you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can</a:t>
            </a:r>
            <a:r>
              <a:rPr sz="1100" spc="-25" dirty="0">
                <a:latin typeface="Arial"/>
                <a:cs typeface="Arial"/>
              </a:rPr>
              <a:t> use </a:t>
            </a:r>
            <a:r>
              <a:rPr sz="1100" dirty="0">
                <a:latin typeface="Arial"/>
                <a:cs typeface="Arial"/>
              </a:rPr>
              <a:t>one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following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datatypes.</a:t>
            </a:r>
            <a:endParaRPr sz="1100">
              <a:latin typeface="Arial"/>
              <a:cs typeface="Arial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357466" y="765587"/>
          <a:ext cx="4098289" cy="12484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65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01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12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892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90"/>
                        </a:lnSpc>
                      </a:pPr>
                      <a:r>
                        <a:rPr sz="1100" spc="-10" dirty="0">
                          <a:latin typeface="Arial"/>
                          <a:cs typeface="Arial"/>
                        </a:rPr>
                        <a:t>signed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90"/>
                        </a:lnSpc>
                      </a:pPr>
                      <a:r>
                        <a:rPr sz="1100" spc="-10" dirty="0">
                          <a:latin typeface="Arial"/>
                          <a:cs typeface="Arial"/>
                        </a:rPr>
                        <a:t>unsigned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spc="-10" dirty="0">
                          <a:latin typeface="Arial"/>
                          <a:cs typeface="Arial"/>
                        </a:rPr>
                        <a:t>short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900" b="1" dirty="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short</a:t>
                      </a:r>
                      <a:r>
                        <a:rPr sz="900" b="1" spc="25" dirty="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b="1" dirty="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int</a:t>
                      </a:r>
                      <a:r>
                        <a:rPr sz="900" b="1" spc="195" dirty="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x;</a:t>
                      </a:r>
                      <a:r>
                        <a:rPr sz="900" b="1" dirty="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short</a:t>
                      </a:r>
                      <a:r>
                        <a:rPr sz="900" b="1" spc="15" dirty="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25" dirty="0">
                          <a:latin typeface="Arial"/>
                          <a:cs typeface="Arial"/>
                        </a:rPr>
                        <a:t>y;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82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900" b="1" dirty="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unsigned</a:t>
                      </a:r>
                      <a:r>
                        <a:rPr sz="900" b="1" spc="-30" dirty="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b="1" dirty="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short</a:t>
                      </a:r>
                      <a:r>
                        <a:rPr sz="900" b="1" spc="-30" dirty="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x;</a:t>
                      </a:r>
                      <a:r>
                        <a:rPr sz="900" b="1" dirty="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unsigned</a:t>
                      </a:r>
                      <a:r>
                        <a:rPr sz="900" b="1" spc="-25" dirty="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b="1" dirty="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short</a:t>
                      </a:r>
                      <a:r>
                        <a:rPr sz="900" b="1" spc="-30" dirty="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b="1" dirty="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int</a:t>
                      </a:r>
                      <a:r>
                        <a:rPr sz="900" b="1" spc="-25" dirty="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25" dirty="0">
                          <a:latin typeface="Arial"/>
                          <a:cs typeface="Arial"/>
                        </a:rPr>
                        <a:t>y;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82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spc="-10" dirty="0">
                          <a:latin typeface="Arial"/>
                          <a:cs typeface="Arial"/>
                        </a:rPr>
                        <a:t>default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900" b="1" dirty="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int</a:t>
                      </a:r>
                      <a:r>
                        <a:rPr sz="900" b="1" spc="195" dirty="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25" dirty="0">
                          <a:latin typeface="Arial"/>
                          <a:cs typeface="Arial"/>
                        </a:rPr>
                        <a:t>x;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82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900" b="1" dirty="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unsigned</a:t>
                      </a:r>
                      <a:r>
                        <a:rPr sz="900" b="1" spc="-35" dirty="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b="1" dirty="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int</a:t>
                      </a:r>
                      <a:r>
                        <a:rPr sz="900" b="1" spc="-30" dirty="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25" dirty="0">
                          <a:latin typeface="Arial"/>
                          <a:cs typeface="Arial"/>
                        </a:rPr>
                        <a:t>x;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82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spc="-20" dirty="0">
                          <a:latin typeface="Arial"/>
                          <a:cs typeface="Arial"/>
                        </a:rPr>
                        <a:t>long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900" b="1" dirty="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long</a:t>
                      </a:r>
                      <a:r>
                        <a:rPr sz="900" b="1" spc="-25" dirty="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25" dirty="0">
                          <a:latin typeface="Arial"/>
                          <a:cs typeface="Arial"/>
                        </a:rPr>
                        <a:t>x;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82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900" b="1" dirty="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unsigned</a:t>
                      </a:r>
                      <a:r>
                        <a:rPr sz="900" b="1" spc="-35" dirty="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b="1" dirty="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long</a:t>
                      </a:r>
                      <a:r>
                        <a:rPr sz="900" b="1" spc="-35" dirty="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35" dirty="0">
                          <a:latin typeface="Arial"/>
                          <a:cs typeface="Arial"/>
                        </a:rPr>
                        <a:t>x;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82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spc="-10" dirty="0">
                          <a:latin typeface="Arial"/>
                          <a:cs typeface="Arial"/>
                        </a:rPr>
                        <a:t>float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900" b="1" dirty="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float</a:t>
                      </a:r>
                      <a:r>
                        <a:rPr sz="900" b="1" spc="195" dirty="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35" dirty="0">
                          <a:latin typeface="Arial"/>
                          <a:cs typeface="Arial"/>
                        </a:rPr>
                        <a:t>x;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82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spc="-25" dirty="0">
                          <a:latin typeface="Arial"/>
                          <a:cs typeface="Arial"/>
                        </a:rPr>
                        <a:t>N/A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spc="-10" dirty="0">
                          <a:latin typeface="Arial"/>
                          <a:cs typeface="Arial"/>
                        </a:rPr>
                        <a:t>double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900" b="1" dirty="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double</a:t>
                      </a:r>
                      <a:r>
                        <a:rPr sz="900" b="1" spc="-45" dirty="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25" dirty="0">
                          <a:latin typeface="Arial"/>
                          <a:cs typeface="Arial"/>
                        </a:rPr>
                        <a:t>x;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82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spc="-25" dirty="0">
                          <a:latin typeface="Arial"/>
                          <a:cs typeface="Arial"/>
                        </a:rPr>
                        <a:t>N/A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spc="-20" dirty="0">
                          <a:latin typeface="Arial"/>
                          <a:cs typeface="Arial"/>
                        </a:rPr>
                        <a:t>char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900" b="1" dirty="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char</a:t>
                      </a:r>
                      <a:r>
                        <a:rPr sz="900" b="1" spc="-30" dirty="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x;</a:t>
                      </a:r>
                      <a:r>
                        <a:rPr sz="900" spc="114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b="1" dirty="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signed</a:t>
                      </a:r>
                      <a:r>
                        <a:rPr sz="900" b="1" spc="-25" dirty="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b="1" dirty="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char</a:t>
                      </a:r>
                      <a:r>
                        <a:rPr sz="900" b="1" spc="-25" dirty="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25" dirty="0">
                          <a:latin typeface="Arial"/>
                          <a:cs typeface="Arial"/>
                        </a:rPr>
                        <a:t>x;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82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900" b="1" dirty="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unsigned</a:t>
                      </a:r>
                      <a:r>
                        <a:rPr sz="900" b="1" spc="-40" dirty="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b="1" dirty="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char</a:t>
                      </a:r>
                      <a:r>
                        <a:rPr sz="900" b="1" spc="-40" dirty="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25" dirty="0">
                          <a:latin typeface="Arial"/>
                          <a:cs typeface="Arial"/>
                        </a:rPr>
                        <a:t>x;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82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object 8"/>
          <p:cNvSpPr txBox="1"/>
          <p:nvPr/>
        </p:nvSpPr>
        <p:spPr>
          <a:xfrm>
            <a:off x="69900" y="2094686"/>
            <a:ext cx="4468495" cy="731482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565150" marR="412115" indent="-130810">
              <a:lnSpc>
                <a:spcPct val="102600"/>
              </a:lnSpc>
              <a:spcBef>
                <a:spcPts val="55"/>
              </a:spcBef>
              <a:buSzPct val="90909"/>
              <a:buFont typeface="Arial"/>
              <a:buChar char="•"/>
              <a:tabLst>
                <a:tab pos="567055" algn="l"/>
              </a:tabLst>
            </a:pPr>
            <a:r>
              <a:rPr sz="1100" dirty="0">
                <a:latin typeface="Arial"/>
                <a:cs typeface="Arial"/>
              </a:rPr>
              <a:t>The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unsigned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version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has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roughly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double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range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its 	</a:t>
            </a:r>
            <a:r>
              <a:rPr sz="1100" dirty="0">
                <a:latin typeface="Arial"/>
                <a:cs typeface="Arial"/>
              </a:rPr>
              <a:t>signed</a:t>
            </a:r>
            <a:r>
              <a:rPr sz="1100" spc="-7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counterparts.</a:t>
            </a:r>
            <a:endParaRPr sz="1100" dirty="0">
              <a:latin typeface="Arial"/>
              <a:cs typeface="Arial"/>
            </a:endParaRPr>
          </a:p>
          <a:p>
            <a:pPr marL="565150" marR="417830" indent="-130810">
              <a:lnSpc>
                <a:spcPct val="102600"/>
              </a:lnSpc>
              <a:spcBef>
                <a:spcPts val="300"/>
              </a:spcBef>
              <a:buSzPct val="90909"/>
              <a:buFont typeface="Arial"/>
              <a:buChar char="•"/>
              <a:tabLst>
                <a:tab pos="567055" algn="l"/>
              </a:tabLst>
            </a:pPr>
            <a:r>
              <a:rPr sz="1100" dirty="0">
                <a:latin typeface="Arial"/>
                <a:cs typeface="Arial"/>
              </a:rPr>
              <a:t>Signed</a:t>
            </a:r>
            <a:r>
              <a:rPr sz="1100" spc="-5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and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unsigned</a:t>
            </a:r>
            <a:r>
              <a:rPr sz="1100" spc="-5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characters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differ</a:t>
            </a:r>
            <a:r>
              <a:rPr sz="1100" spc="-5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only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when</a:t>
            </a:r>
            <a:r>
              <a:rPr sz="1100" spc="-5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used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in 	</a:t>
            </a:r>
            <a:r>
              <a:rPr sz="1100" dirty="0">
                <a:latin typeface="Arial"/>
                <a:cs typeface="Arial"/>
              </a:rPr>
              <a:t>arithmetic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expressions.</a:t>
            </a:r>
            <a:endParaRPr sz="1100" dirty="0">
              <a:latin typeface="Arial"/>
              <a:cs typeface="Arial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-25" dirty="0"/>
              <a:t>7</a:t>
            </a:r>
          </a:p>
        </p:txBody>
      </p:sp>
    </p:spTree>
  </p:cSld>
  <p:clrMapOvr>
    <a:masterClrMapping/>
  </p:clrMapOvr>
  <p:transition>
    <p:cut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Big</a:t>
            </a:r>
            <a:r>
              <a:rPr spc="75" dirty="0"/>
              <a:t> </a:t>
            </a:r>
            <a:r>
              <a:rPr dirty="0"/>
              <a:t>endian</a:t>
            </a:r>
            <a:r>
              <a:rPr spc="75" dirty="0"/>
              <a:t> </a:t>
            </a:r>
            <a:r>
              <a:rPr dirty="0"/>
              <a:t>vs.</a:t>
            </a:r>
            <a:r>
              <a:rPr spc="190" dirty="0"/>
              <a:t> </a:t>
            </a:r>
            <a:r>
              <a:rPr dirty="0"/>
              <a:t>little</a:t>
            </a:r>
            <a:r>
              <a:rPr spc="75" dirty="0"/>
              <a:t> </a:t>
            </a:r>
            <a:r>
              <a:rPr spc="-10" dirty="0"/>
              <a:t>endian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278194" rIns="0" bIns="0" rtlCol="0">
            <a:spAutoFit/>
          </a:bodyPr>
          <a:lstStyle/>
          <a:p>
            <a:pPr marL="12700" marR="519430">
              <a:lnSpc>
                <a:spcPts val="1350"/>
              </a:lnSpc>
              <a:spcBef>
                <a:spcPts val="110"/>
              </a:spcBef>
            </a:pPr>
            <a:r>
              <a:rPr dirty="0"/>
              <a:t>The</a:t>
            </a:r>
            <a:r>
              <a:rPr spc="-15" dirty="0"/>
              <a:t> </a:t>
            </a:r>
            <a:r>
              <a:rPr spc="-10" dirty="0"/>
              <a:t>individual </a:t>
            </a:r>
            <a:r>
              <a:rPr dirty="0"/>
              <a:t>sizes</a:t>
            </a:r>
            <a:r>
              <a:rPr spc="-10" dirty="0"/>
              <a:t> </a:t>
            </a:r>
            <a:r>
              <a:rPr dirty="0"/>
              <a:t>are</a:t>
            </a:r>
            <a:r>
              <a:rPr spc="-10" dirty="0"/>
              <a:t> machine/compiler</a:t>
            </a:r>
            <a:r>
              <a:rPr spc="-15" dirty="0"/>
              <a:t> </a:t>
            </a:r>
            <a:r>
              <a:rPr spc="-10" dirty="0"/>
              <a:t>dependent. </a:t>
            </a:r>
            <a:r>
              <a:rPr spc="-25" dirty="0"/>
              <a:t>However,</a:t>
            </a:r>
            <a:r>
              <a:rPr spc="-30" dirty="0"/>
              <a:t> </a:t>
            </a:r>
            <a:r>
              <a:rPr dirty="0"/>
              <a:t>the</a:t>
            </a:r>
            <a:r>
              <a:rPr spc="-30" dirty="0"/>
              <a:t> </a:t>
            </a:r>
            <a:r>
              <a:rPr spc="-10" dirty="0"/>
              <a:t>following</a:t>
            </a:r>
            <a:r>
              <a:rPr spc="-25" dirty="0"/>
              <a:t> </a:t>
            </a:r>
            <a:r>
              <a:rPr dirty="0"/>
              <a:t>is</a:t>
            </a:r>
            <a:r>
              <a:rPr spc="-30" dirty="0"/>
              <a:t> </a:t>
            </a:r>
            <a:r>
              <a:rPr spc="-10" dirty="0"/>
              <a:t>guaranteed: </a:t>
            </a:r>
            <a:r>
              <a:rPr sz="900" b="1" spc="-10" dirty="0">
                <a:solidFill>
                  <a:srgbClr val="0000FF"/>
                </a:solidFill>
                <a:latin typeface="Arial"/>
                <a:cs typeface="Arial"/>
              </a:rPr>
              <a:t>sizeof</a:t>
            </a:r>
            <a:r>
              <a:rPr sz="900" spc="-10" dirty="0"/>
              <a:t>(</a:t>
            </a:r>
            <a:r>
              <a:rPr sz="900" b="1" spc="-10" dirty="0">
                <a:solidFill>
                  <a:srgbClr val="0000FF"/>
                </a:solidFill>
                <a:latin typeface="Arial"/>
                <a:cs typeface="Arial"/>
              </a:rPr>
              <a:t>char</a:t>
            </a:r>
            <a:r>
              <a:rPr sz="900" spc="-10" dirty="0"/>
              <a:t>)&lt;</a:t>
            </a:r>
            <a:r>
              <a:rPr sz="900" b="1" spc="-10" dirty="0">
                <a:solidFill>
                  <a:srgbClr val="0000FF"/>
                </a:solidFill>
                <a:latin typeface="Arial"/>
                <a:cs typeface="Arial"/>
              </a:rPr>
              <a:t>sizeof</a:t>
            </a:r>
            <a:r>
              <a:rPr sz="900" spc="-10" dirty="0"/>
              <a:t>(</a:t>
            </a:r>
            <a:r>
              <a:rPr sz="900" b="1" spc="-10" dirty="0">
                <a:solidFill>
                  <a:srgbClr val="0000FF"/>
                </a:solidFill>
                <a:latin typeface="Arial"/>
                <a:cs typeface="Arial"/>
              </a:rPr>
              <a:t>short</a:t>
            </a:r>
            <a:r>
              <a:rPr sz="900" spc="-10" dirty="0"/>
              <a:t>)&lt;=</a:t>
            </a:r>
            <a:r>
              <a:rPr sz="900" b="1" spc="-10" dirty="0">
                <a:solidFill>
                  <a:srgbClr val="0000FF"/>
                </a:solidFill>
                <a:latin typeface="Arial"/>
                <a:cs typeface="Arial"/>
              </a:rPr>
              <a:t>sizeof</a:t>
            </a:r>
            <a:r>
              <a:rPr sz="900" spc="-10" dirty="0"/>
              <a:t>(</a:t>
            </a:r>
            <a:r>
              <a:rPr sz="900" b="1" spc="-10" dirty="0">
                <a:solidFill>
                  <a:srgbClr val="0000FF"/>
                </a:solidFill>
                <a:latin typeface="Arial"/>
                <a:cs typeface="Arial"/>
              </a:rPr>
              <a:t>int</a:t>
            </a:r>
            <a:r>
              <a:rPr sz="900" spc="-10" dirty="0"/>
              <a:t>)&lt;=</a:t>
            </a:r>
            <a:r>
              <a:rPr sz="900" b="1" spc="-10" dirty="0">
                <a:solidFill>
                  <a:srgbClr val="0000FF"/>
                </a:solidFill>
                <a:latin typeface="Arial"/>
                <a:cs typeface="Arial"/>
              </a:rPr>
              <a:t>sizeof</a:t>
            </a:r>
            <a:r>
              <a:rPr sz="900" spc="-10" dirty="0"/>
              <a:t>(</a:t>
            </a:r>
            <a:r>
              <a:rPr sz="900" b="1" spc="-10" dirty="0">
                <a:solidFill>
                  <a:srgbClr val="0000FF"/>
                </a:solidFill>
                <a:latin typeface="Arial"/>
                <a:cs typeface="Arial"/>
              </a:rPr>
              <a:t>long</a:t>
            </a:r>
            <a:r>
              <a:rPr sz="900" spc="-10" dirty="0"/>
              <a:t>)</a:t>
            </a:r>
            <a:r>
              <a:rPr sz="900" spc="380" dirty="0"/>
              <a:t> </a:t>
            </a:r>
            <a:r>
              <a:rPr spc="-25" dirty="0"/>
              <a:t>and </a:t>
            </a:r>
            <a:r>
              <a:rPr sz="900" b="1" spc="-10" dirty="0">
                <a:solidFill>
                  <a:srgbClr val="0000FF"/>
                </a:solidFill>
                <a:latin typeface="Arial"/>
                <a:cs typeface="Arial"/>
              </a:rPr>
              <a:t>sizeof</a:t>
            </a:r>
            <a:r>
              <a:rPr sz="900" spc="-10" dirty="0"/>
              <a:t>(</a:t>
            </a:r>
            <a:r>
              <a:rPr sz="900" b="1" spc="-10" dirty="0">
                <a:solidFill>
                  <a:srgbClr val="0000FF"/>
                </a:solidFill>
                <a:latin typeface="Arial"/>
                <a:cs typeface="Arial"/>
              </a:rPr>
              <a:t>char</a:t>
            </a:r>
            <a:r>
              <a:rPr sz="900" spc="-10" dirty="0"/>
              <a:t>)&lt;</a:t>
            </a:r>
            <a:r>
              <a:rPr sz="900" b="1" spc="-10" dirty="0">
                <a:solidFill>
                  <a:srgbClr val="0000FF"/>
                </a:solidFill>
                <a:latin typeface="Arial"/>
                <a:cs typeface="Arial"/>
              </a:rPr>
              <a:t>sizeof</a:t>
            </a:r>
            <a:r>
              <a:rPr sz="900" spc="-10" dirty="0"/>
              <a:t>(</a:t>
            </a:r>
            <a:r>
              <a:rPr sz="900" b="1" spc="-10" dirty="0">
                <a:solidFill>
                  <a:srgbClr val="0000FF"/>
                </a:solidFill>
                <a:latin typeface="Arial"/>
                <a:cs typeface="Arial"/>
              </a:rPr>
              <a:t>short</a:t>
            </a:r>
            <a:r>
              <a:rPr sz="900" spc="-10" dirty="0"/>
              <a:t>)&lt;=</a:t>
            </a:r>
            <a:r>
              <a:rPr sz="900" b="1" spc="-10" dirty="0">
                <a:solidFill>
                  <a:srgbClr val="0000FF"/>
                </a:solidFill>
                <a:latin typeface="Arial"/>
                <a:cs typeface="Arial"/>
              </a:rPr>
              <a:t>sizeof</a:t>
            </a:r>
            <a:r>
              <a:rPr sz="900" spc="-10" dirty="0"/>
              <a:t>(</a:t>
            </a:r>
            <a:r>
              <a:rPr sz="900" b="1" spc="-10" dirty="0">
                <a:solidFill>
                  <a:srgbClr val="0000FF"/>
                </a:solidFill>
                <a:latin typeface="Arial"/>
                <a:cs typeface="Arial"/>
              </a:rPr>
              <a:t>float</a:t>
            </a:r>
            <a:r>
              <a:rPr sz="900" spc="-10" dirty="0"/>
              <a:t>)&lt;=</a:t>
            </a:r>
            <a:r>
              <a:rPr sz="900" b="1" spc="-10" dirty="0">
                <a:solidFill>
                  <a:srgbClr val="0000FF"/>
                </a:solidFill>
                <a:latin typeface="Arial"/>
                <a:cs typeface="Arial"/>
              </a:rPr>
              <a:t>sizeof</a:t>
            </a:r>
            <a:r>
              <a:rPr sz="900" spc="-10" dirty="0"/>
              <a:t>(</a:t>
            </a:r>
            <a:r>
              <a:rPr sz="900" b="1" spc="-10" dirty="0">
                <a:solidFill>
                  <a:srgbClr val="0000FF"/>
                </a:solidFill>
                <a:latin typeface="Arial"/>
                <a:cs typeface="Arial"/>
              </a:rPr>
              <a:t>double</a:t>
            </a:r>
            <a:r>
              <a:rPr sz="900" spc="-10" dirty="0"/>
              <a:t>)</a:t>
            </a:r>
            <a:endParaRPr sz="900">
              <a:latin typeface="Arial"/>
              <a:cs typeface="Arial"/>
            </a:endParaRPr>
          </a:p>
          <a:p>
            <a:pPr marL="12700" marR="5080">
              <a:lnSpc>
                <a:spcPts val="1350"/>
              </a:lnSpc>
              <a:spcBef>
                <a:spcPts val="20"/>
              </a:spcBef>
            </a:pPr>
            <a:r>
              <a:rPr dirty="0"/>
              <a:t>"NUXI"</a:t>
            </a:r>
            <a:r>
              <a:rPr spc="-45" dirty="0"/>
              <a:t> </a:t>
            </a:r>
            <a:r>
              <a:rPr dirty="0"/>
              <a:t>problem:</a:t>
            </a:r>
            <a:r>
              <a:rPr spc="20" dirty="0"/>
              <a:t> </a:t>
            </a:r>
            <a:r>
              <a:rPr dirty="0"/>
              <a:t>For</a:t>
            </a:r>
            <a:r>
              <a:rPr spc="-40" dirty="0"/>
              <a:t> </a:t>
            </a:r>
            <a:r>
              <a:rPr dirty="0"/>
              <a:t>numeric</a:t>
            </a:r>
            <a:r>
              <a:rPr spc="-40" dirty="0"/>
              <a:t> </a:t>
            </a:r>
            <a:r>
              <a:rPr dirty="0"/>
              <a:t>data</a:t>
            </a:r>
            <a:r>
              <a:rPr spc="-40" dirty="0"/>
              <a:t> </a:t>
            </a:r>
            <a:r>
              <a:rPr dirty="0"/>
              <a:t>types</a:t>
            </a:r>
            <a:r>
              <a:rPr spc="-40" dirty="0"/>
              <a:t> </a:t>
            </a:r>
            <a:r>
              <a:rPr dirty="0"/>
              <a:t>that</a:t>
            </a:r>
            <a:r>
              <a:rPr spc="-45" dirty="0"/>
              <a:t> </a:t>
            </a:r>
            <a:r>
              <a:rPr dirty="0"/>
              <a:t>span</a:t>
            </a:r>
            <a:r>
              <a:rPr spc="-40" dirty="0"/>
              <a:t> </a:t>
            </a:r>
            <a:r>
              <a:rPr spc="-10" dirty="0"/>
              <a:t>multiple </a:t>
            </a:r>
            <a:r>
              <a:rPr dirty="0"/>
              <a:t>bytes,</a:t>
            </a:r>
            <a:r>
              <a:rPr spc="-25" dirty="0"/>
              <a:t> </a:t>
            </a:r>
            <a:r>
              <a:rPr dirty="0"/>
              <a:t>the</a:t>
            </a:r>
            <a:r>
              <a:rPr spc="-20" dirty="0"/>
              <a:t> </a:t>
            </a:r>
            <a:r>
              <a:rPr dirty="0"/>
              <a:t>order</a:t>
            </a:r>
            <a:r>
              <a:rPr spc="-25" dirty="0"/>
              <a:t> </a:t>
            </a:r>
            <a:r>
              <a:rPr dirty="0"/>
              <a:t>of</a:t>
            </a:r>
            <a:r>
              <a:rPr spc="-20" dirty="0"/>
              <a:t> </a:t>
            </a:r>
            <a:r>
              <a:rPr spc="-10" dirty="0"/>
              <a:t>arrangement</a:t>
            </a:r>
            <a:r>
              <a:rPr spc="-25" dirty="0"/>
              <a:t> </a:t>
            </a:r>
            <a:r>
              <a:rPr dirty="0"/>
              <a:t>of</a:t>
            </a:r>
            <a:r>
              <a:rPr spc="-20" dirty="0"/>
              <a:t> </a:t>
            </a:r>
            <a:r>
              <a:rPr dirty="0"/>
              <a:t>the</a:t>
            </a:r>
            <a:r>
              <a:rPr spc="-20" dirty="0"/>
              <a:t> </a:t>
            </a:r>
            <a:r>
              <a:rPr spc="-10" dirty="0"/>
              <a:t>individual</a:t>
            </a:r>
            <a:r>
              <a:rPr spc="-25" dirty="0"/>
              <a:t> </a:t>
            </a:r>
            <a:r>
              <a:rPr dirty="0"/>
              <a:t>bytes</a:t>
            </a:r>
            <a:r>
              <a:rPr spc="-20" dirty="0"/>
              <a:t> </a:t>
            </a:r>
            <a:r>
              <a:rPr spc="-25" dirty="0"/>
              <a:t>is </a:t>
            </a:r>
            <a:r>
              <a:rPr dirty="0"/>
              <a:t>important.</a:t>
            </a:r>
            <a:r>
              <a:rPr spc="50" dirty="0"/>
              <a:t> </a:t>
            </a:r>
            <a:r>
              <a:rPr spc="-10" dirty="0"/>
              <a:t>Depending</a:t>
            </a:r>
            <a:r>
              <a:rPr spc="-20" dirty="0"/>
              <a:t> </a:t>
            </a:r>
            <a:r>
              <a:rPr dirty="0"/>
              <a:t>on</a:t>
            </a:r>
            <a:r>
              <a:rPr spc="-15" dirty="0"/>
              <a:t> </a:t>
            </a:r>
            <a:r>
              <a:rPr dirty="0"/>
              <a:t>the</a:t>
            </a:r>
            <a:r>
              <a:rPr spc="-20" dirty="0"/>
              <a:t> </a:t>
            </a:r>
            <a:r>
              <a:rPr spc="-10" dirty="0"/>
              <a:t>device</a:t>
            </a:r>
            <a:r>
              <a:rPr spc="-15" dirty="0"/>
              <a:t> </a:t>
            </a:r>
            <a:r>
              <a:rPr spc="-10" dirty="0"/>
              <a:t>architecture,</a:t>
            </a:r>
            <a:r>
              <a:rPr spc="-20" dirty="0"/>
              <a:t> </a:t>
            </a:r>
            <a:r>
              <a:rPr dirty="0"/>
              <a:t>we</a:t>
            </a:r>
            <a:r>
              <a:rPr spc="-15" dirty="0"/>
              <a:t> </a:t>
            </a:r>
            <a:r>
              <a:rPr spc="-10" dirty="0"/>
              <a:t>have</a:t>
            </a:r>
            <a:r>
              <a:rPr spc="-15" dirty="0"/>
              <a:t> </a:t>
            </a:r>
            <a:r>
              <a:rPr spc="-20" dirty="0"/>
              <a:t>"big </a:t>
            </a:r>
            <a:r>
              <a:rPr spc="-10" dirty="0"/>
              <a:t>endian"</a:t>
            </a:r>
            <a:r>
              <a:rPr spc="-20" dirty="0"/>
              <a:t> </a:t>
            </a:r>
            <a:r>
              <a:rPr dirty="0"/>
              <a:t>and</a:t>
            </a:r>
            <a:r>
              <a:rPr spc="-15" dirty="0"/>
              <a:t> </a:t>
            </a:r>
            <a:r>
              <a:rPr dirty="0"/>
              <a:t>"little</a:t>
            </a:r>
            <a:r>
              <a:rPr spc="-20" dirty="0"/>
              <a:t> </a:t>
            </a:r>
            <a:r>
              <a:rPr spc="-10" dirty="0"/>
              <a:t>endian"</a:t>
            </a:r>
            <a:r>
              <a:rPr spc="-15" dirty="0"/>
              <a:t> </a:t>
            </a:r>
            <a:r>
              <a:rPr spc="-10" dirty="0"/>
              <a:t>formats.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-25" dirty="0"/>
              <a:t>8</a:t>
            </a:r>
          </a:p>
        </p:txBody>
      </p:sp>
    </p:spTree>
  </p:cSld>
  <p:clrMapOvr>
    <a:masterClrMapping/>
  </p:clrMapOvr>
  <p:transition>
    <p:cut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Big</a:t>
            </a:r>
            <a:r>
              <a:rPr spc="85" dirty="0"/>
              <a:t> </a:t>
            </a:r>
            <a:r>
              <a:rPr dirty="0"/>
              <a:t>endian</a:t>
            </a:r>
            <a:r>
              <a:rPr spc="90" dirty="0"/>
              <a:t> </a:t>
            </a:r>
            <a:r>
              <a:rPr dirty="0"/>
              <a:t>vs.</a:t>
            </a:r>
            <a:r>
              <a:rPr spc="204" dirty="0"/>
              <a:t> </a:t>
            </a:r>
            <a:r>
              <a:rPr dirty="0"/>
              <a:t>little</a:t>
            </a:r>
            <a:r>
              <a:rPr spc="90" dirty="0"/>
              <a:t> </a:t>
            </a:r>
            <a:r>
              <a:rPr dirty="0"/>
              <a:t>endian</a:t>
            </a:r>
            <a:r>
              <a:rPr spc="85" dirty="0"/>
              <a:t> </a:t>
            </a:r>
            <a:r>
              <a:rPr spc="-10" dirty="0"/>
              <a:t>(cont.)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91858" y="344803"/>
            <a:ext cx="3704590" cy="125031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42875" marR="5080" indent="-130810">
              <a:lnSpc>
                <a:spcPct val="102600"/>
              </a:lnSpc>
              <a:spcBef>
                <a:spcPts val="55"/>
              </a:spcBef>
              <a:buSzPct val="90909"/>
              <a:buFont typeface="Arial"/>
              <a:buChar char="•"/>
              <a:tabLst>
                <a:tab pos="144780" algn="l"/>
              </a:tabLst>
            </a:pPr>
            <a:r>
              <a:rPr sz="1100" dirty="0">
                <a:latin typeface="Arial"/>
                <a:cs typeface="Arial"/>
              </a:rPr>
              <a:t>Big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endian:</a:t>
            </a:r>
            <a:r>
              <a:rPr sz="1100" spc="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most</a:t>
            </a:r>
            <a:r>
              <a:rPr sz="1100" b="1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significant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bits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(MSBs)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occupy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the 	</a:t>
            </a:r>
            <a:r>
              <a:rPr sz="1100" spc="-10" dirty="0">
                <a:latin typeface="Arial"/>
                <a:cs typeface="Arial"/>
              </a:rPr>
              <a:t>lower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address.</a:t>
            </a:r>
            <a:r>
              <a:rPr sz="1100" spc="5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This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representation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used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powerpc 	</a:t>
            </a:r>
            <a:r>
              <a:rPr sz="1100" dirty="0">
                <a:latin typeface="Arial"/>
                <a:cs typeface="Arial"/>
              </a:rPr>
              <a:t>processor.</a:t>
            </a:r>
            <a:r>
              <a:rPr sz="1100" spc="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Networks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generally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use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big-</a:t>
            </a:r>
            <a:r>
              <a:rPr sz="1100" dirty="0">
                <a:latin typeface="Arial"/>
                <a:cs typeface="Arial"/>
              </a:rPr>
              <a:t>endian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order,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and 	</a:t>
            </a:r>
            <a:r>
              <a:rPr sz="1100" dirty="0">
                <a:latin typeface="Arial"/>
                <a:cs typeface="Arial"/>
              </a:rPr>
              <a:t>thus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it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called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network</a:t>
            </a:r>
            <a:r>
              <a:rPr sz="1100" b="1" spc="-40" dirty="0">
                <a:latin typeface="Arial"/>
                <a:cs typeface="Arial"/>
              </a:rPr>
              <a:t> </a:t>
            </a:r>
            <a:r>
              <a:rPr sz="1100" b="1" spc="-10" dirty="0">
                <a:latin typeface="Arial"/>
                <a:cs typeface="Arial"/>
              </a:rPr>
              <a:t>order</a:t>
            </a:r>
            <a:r>
              <a:rPr sz="1100" spc="-10" dirty="0">
                <a:latin typeface="Arial"/>
                <a:cs typeface="Arial"/>
              </a:rPr>
              <a:t>.</a:t>
            </a:r>
            <a:endParaRPr sz="1100">
              <a:latin typeface="Arial"/>
              <a:cs typeface="Arial"/>
            </a:endParaRPr>
          </a:p>
          <a:p>
            <a:pPr marL="142875" marR="88265" indent="-130810">
              <a:lnSpc>
                <a:spcPct val="102600"/>
              </a:lnSpc>
              <a:spcBef>
                <a:spcPts val="204"/>
              </a:spcBef>
              <a:buSzPct val="90909"/>
              <a:buFont typeface="Arial"/>
              <a:buChar char="•"/>
              <a:tabLst>
                <a:tab pos="144780" algn="l"/>
              </a:tabLst>
            </a:pPr>
            <a:r>
              <a:rPr sz="1100" dirty="0">
                <a:latin typeface="Arial"/>
                <a:cs typeface="Arial"/>
              </a:rPr>
              <a:t>Little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endian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: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least</a:t>
            </a:r>
            <a:r>
              <a:rPr sz="1100" b="1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signficant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bits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(LSBs)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occupy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the 	</a:t>
            </a:r>
            <a:r>
              <a:rPr sz="1100" spc="-10" dirty="0">
                <a:latin typeface="Arial"/>
                <a:cs typeface="Arial"/>
              </a:rPr>
              <a:t>lower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address.</a:t>
            </a:r>
            <a:r>
              <a:rPr sz="1100" spc="4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This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representation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used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on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all</a:t>
            </a:r>
            <a:r>
              <a:rPr sz="1100" spc="-25" dirty="0">
                <a:latin typeface="Arial"/>
                <a:cs typeface="Arial"/>
              </a:rPr>
              <a:t> x86 	</a:t>
            </a:r>
            <a:r>
              <a:rPr sz="1100" spc="-10" dirty="0">
                <a:latin typeface="Arial"/>
                <a:cs typeface="Arial"/>
              </a:rPr>
              <a:t>compatible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processors.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040384" y="1818882"/>
            <a:ext cx="2527253" cy="1081874"/>
            <a:chOff x="1040384" y="1818882"/>
            <a:chExt cx="2527253" cy="1081874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40384" y="1894347"/>
              <a:ext cx="1166419" cy="100640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17925" y="1818882"/>
              <a:ext cx="1249712" cy="1081874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1004392" y="3022173"/>
            <a:ext cx="259969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latin typeface="Arial"/>
                <a:cs typeface="Arial"/>
              </a:rPr>
              <a:t>Figure:</a:t>
            </a:r>
            <a:r>
              <a:rPr sz="1000" spc="50" dirty="0">
                <a:latin typeface="Arial"/>
                <a:cs typeface="Arial"/>
              </a:rPr>
              <a:t> </a:t>
            </a:r>
            <a:r>
              <a:rPr sz="600" dirty="0">
                <a:latin typeface="Arial"/>
                <a:cs typeface="Arial"/>
              </a:rPr>
              <a:t>(from</a:t>
            </a:r>
            <a:r>
              <a:rPr sz="600" spc="-10" dirty="0">
                <a:latin typeface="Arial"/>
                <a:cs typeface="Arial"/>
              </a:rPr>
              <a:t> </a:t>
            </a:r>
            <a:r>
              <a:rPr sz="600" spc="-10" dirty="0">
                <a:latin typeface="Courier New"/>
                <a:cs typeface="Courier New"/>
                <a:hlinkClick r:id="rId4"/>
              </a:rPr>
              <a:t>http://en.wikipedia.org/wiki/Little_endian</a:t>
            </a:r>
            <a:r>
              <a:rPr sz="600" spc="-10" dirty="0">
                <a:latin typeface="Arial"/>
                <a:cs typeface="Arial"/>
                <a:hlinkClick r:id="rId4"/>
              </a:rPr>
              <a:t>)</a:t>
            </a:r>
            <a:endParaRPr sz="600">
              <a:latin typeface="Arial"/>
              <a:cs typeface="Arial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-25" dirty="0"/>
              <a:t>9</a:t>
            </a:r>
          </a:p>
        </p:txBody>
      </p:sp>
    </p:spTree>
  </p:cSld>
  <p:clrMapOvr>
    <a:masterClrMapping/>
  </p:clrMapOvr>
  <p:transition>
    <p:cut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Constants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7294" y="715948"/>
            <a:ext cx="3855085" cy="36385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sz="1100" dirty="0">
                <a:latin typeface="Arial"/>
                <a:cs typeface="Arial"/>
              </a:rPr>
              <a:t>Constants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are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literal/fixed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values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assigned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to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variables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or</a:t>
            </a:r>
            <a:r>
              <a:rPr sz="1100" spc="-20" dirty="0">
                <a:latin typeface="Arial"/>
                <a:cs typeface="Arial"/>
              </a:rPr>
              <a:t> used </a:t>
            </a:r>
            <a:r>
              <a:rPr sz="1100" dirty="0">
                <a:latin typeface="Arial"/>
                <a:cs typeface="Arial"/>
              </a:rPr>
              <a:t>directly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expressions.</a:t>
            </a:r>
            <a:endParaRPr sz="1100">
              <a:latin typeface="Arial"/>
              <a:cs typeface="Arial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357466" y="1093743"/>
          <a:ext cx="4023994" cy="16522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372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720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47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1930">
                <a:tc>
                  <a:txBody>
                    <a:bodyPr/>
                    <a:lstStyle/>
                    <a:p>
                      <a:pPr algn="ctr">
                        <a:lnSpc>
                          <a:spcPts val="1290"/>
                        </a:lnSpc>
                      </a:pPr>
                      <a:r>
                        <a:rPr sz="1100" spc="-10" dirty="0">
                          <a:latin typeface="Arial"/>
                          <a:cs typeface="Arial"/>
                        </a:rPr>
                        <a:t>Datatype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90"/>
                        </a:lnSpc>
                      </a:pPr>
                      <a:r>
                        <a:rPr sz="1100" spc="-10" dirty="0">
                          <a:latin typeface="Arial"/>
                          <a:cs typeface="Arial"/>
                        </a:rPr>
                        <a:t>example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90"/>
                        </a:lnSpc>
                      </a:pPr>
                      <a:r>
                        <a:rPr sz="1100" spc="-10" dirty="0">
                          <a:latin typeface="Arial"/>
                          <a:cs typeface="Arial"/>
                        </a:rPr>
                        <a:t>meaning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92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900" b="1" dirty="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int</a:t>
                      </a:r>
                      <a:r>
                        <a:rPr sz="900" b="1" spc="295" dirty="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20" dirty="0">
                          <a:latin typeface="Arial"/>
                          <a:cs typeface="Arial"/>
                        </a:rPr>
                        <a:t>i=3;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90"/>
                        </a:lnSpc>
                      </a:pPr>
                      <a:r>
                        <a:rPr sz="1100" spc="-10" dirty="0">
                          <a:latin typeface="Arial"/>
                          <a:cs typeface="Arial"/>
                        </a:rPr>
                        <a:t>integer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900" b="1" dirty="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long</a:t>
                      </a:r>
                      <a:r>
                        <a:rPr sz="900" b="1" spc="15" dirty="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20" dirty="0">
                          <a:latin typeface="Arial"/>
                          <a:cs typeface="Arial"/>
                        </a:rPr>
                        <a:t>l=3;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82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long</a:t>
                      </a:r>
                      <a:r>
                        <a:rPr sz="1100" spc="-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10" dirty="0">
                          <a:latin typeface="Arial"/>
                          <a:cs typeface="Arial"/>
                        </a:rPr>
                        <a:t>integer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algn="ctr">
                        <a:lnSpc>
                          <a:spcPts val="1110"/>
                        </a:lnSpc>
                      </a:pPr>
                      <a:r>
                        <a:rPr sz="1100" spc="-10" dirty="0">
                          <a:latin typeface="Arial"/>
                          <a:cs typeface="Arial"/>
                        </a:rPr>
                        <a:t>integer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900" b="1" dirty="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unsigned</a:t>
                      </a:r>
                      <a:r>
                        <a:rPr sz="900" b="1" spc="-30" dirty="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b="1" dirty="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long</a:t>
                      </a:r>
                      <a:r>
                        <a:rPr sz="900" b="1" spc="-30" dirty="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ul=</a:t>
                      </a:r>
                      <a:r>
                        <a:rPr sz="9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20" dirty="0">
                          <a:latin typeface="Arial"/>
                          <a:cs typeface="Arial"/>
                        </a:rPr>
                        <a:t>3UL;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82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spc="-10" dirty="0">
                          <a:latin typeface="Arial"/>
                          <a:cs typeface="Arial"/>
                        </a:rPr>
                        <a:t>unsigned</a:t>
                      </a:r>
                      <a:r>
                        <a:rPr sz="11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20" dirty="0">
                          <a:latin typeface="Arial"/>
                          <a:cs typeface="Arial"/>
                        </a:rPr>
                        <a:t>long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900" b="1" dirty="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int</a:t>
                      </a:r>
                      <a:r>
                        <a:rPr sz="900" b="1" spc="295" dirty="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10" dirty="0">
                          <a:latin typeface="Arial"/>
                          <a:cs typeface="Arial"/>
                        </a:rPr>
                        <a:t>i=0xA;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82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spc="-10" dirty="0">
                          <a:latin typeface="Arial"/>
                          <a:cs typeface="Arial"/>
                        </a:rPr>
                        <a:t>hexadecimal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92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900" b="1" dirty="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int</a:t>
                      </a:r>
                      <a:r>
                        <a:rPr sz="900" b="1" spc="295" dirty="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10" dirty="0">
                          <a:latin typeface="Arial"/>
                          <a:cs typeface="Arial"/>
                        </a:rPr>
                        <a:t>i=012;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82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octal</a:t>
                      </a:r>
                      <a:r>
                        <a:rPr sz="11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10" dirty="0">
                          <a:latin typeface="Arial"/>
                          <a:cs typeface="Arial"/>
                        </a:rPr>
                        <a:t>number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92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"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900" b="1" dirty="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float</a:t>
                      </a:r>
                      <a:r>
                        <a:rPr sz="900" b="1" spc="250" dirty="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10" dirty="0">
                          <a:latin typeface="Arial"/>
                          <a:cs typeface="Arial"/>
                        </a:rPr>
                        <a:t>pi=3.14159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90"/>
                        </a:lnSpc>
                      </a:pPr>
                      <a:r>
                        <a:rPr sz="1100" spc="-10" dirty="0">
                          <a:latin typeface="Arial"/>
                          <a:cs typeface="Arial"/>
                        </a:rPr>
                        <a:t>float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algn="ctr">
                        <a:lnSpc>
                          <a:spcPts val="1150"/>
                        </a:lnSpc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floating</a:t>
                      </a:r>
                      <a:r>
                        <a:rPr sz="1100" spc="-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10" dirty="0">
                          <a:latin typeface="Arial"/>
                          <a:cs typeface="Arial"/>
                        </a:rPr>
                        <a:t>point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"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900" b="1" dirty="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float</a:t>
                      </a:r>
                      <a:r>
                        <a:rPr sz="900" b="1" spc="250" dirty="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10" dirty="0">
                          <a:latin typeface="Arial"/>
                          <a:cs typeface="Arial"/>
                        </a:rPr>
                        <a:t>pi=3.141F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82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spc="-10" dirty="0">
                          <a:latin typeface="Arial"/>
                          <a:cs typeface="Arial"/>
                        </a:rPr>
                        <a:t>float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900" b="1" dirty="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double</a:t>
                      </a:r>
                      <a:r>
                        <a:rPr sz="900" b="1" spc="-45" dirty="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10" dirty="0">
                          <a:latin typeface="Arial"/>
                          <a:cs typeface="Arial"/>
                        </a:rPr>
                        <a:t>pi=3.1415926535897932384L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82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spc="-10" dirty="0">
                          <a:latin typeface="Arial"/>
                          <a:cs typeface="Arial"/>
                        </a:rPr>
                        <a:t>double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-25" dirty="0"/>
              <a:t>10</a:t>
            </a:r>
          </a:p>
        </p:txBody>
      </p:sp>
    </p:spTree>
  </p:cSld>
  <p:clrMapOvr>
    <a:masterClrMapping/>
  </p:clrMapOvr>
  <p:transition>
    <p:cut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300" y="61452"/>
            <a:ext cx="163512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b="1" dirty="0">
                <a:solidFill>
                  <a:srgbClr val="993333"/>
                </a:solidFill>
                <a:latin typeface="Arial"/>
                <a:cs typeface="Arial"/>
              </a:rPr>
              <a:t>Constants</a:t>
            </a:r>
            <a:r>
              <a:rPr sz="1400" b="1" spc="140" dirty="0">
                <a:solidFill>
                  <a:srgbClr val="993333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993333"/>
                </a:solidFill>
                <a:latin typeface="Arial"/>
                <a:cs typeface="Arial"/>
              </a:rPr>
              <a:t>(contd.)</a:t>
            </a:r>
            <a:endParaRPr sz="1400">
              <a:latin typeface="Arial"/>
              <a:cs typeface="Arial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357466" y="928459"/>
          <a:ext cx="4133213" cy="14960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188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92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751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1930">
                <a:tc>
                  <a:txBody>
                    <a:bodyPr/>
                    <a:lstStyle/>
                    <a:p>
                      <a:pPr algn="ctr">
                        <a:lnSpc>
                          <a:spcPts val="1290"/>
                        </a:lnSpc>
                      </a:pPr>
                      <a:r>
                        <a:rPr sz="1100" spc="-10" dirty="0">
                          <a:latin typeface="Arial"/>
                          <a:cs typeface="Arial"/>
                        </a:rPr>
                        <a:t>Datatype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90"/>
                        </a:lnSpc>
                      </a:pPr>
                      <a:r>
                        <a:rPr sz="1100" spc="-10" dirty="0">
                          <a:latin typeface="Arial"/>
                          <a:cs typeface="Arial"/>
                        </a:rPr>
                        <a:t>example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71805">
                        <a:lnSpc>
                          <a:spcPts val="1290"/>
                        </a:lnSpc>
                      </a:pPr>
                      <a:r>
                        <a:rPr sz="1100" spc="-10" dirty="0">
                          <a:latin typeface="Arial"/>
                          <a:cs typeface="Arial"/>
                        </a:rPr>
                        <a:t>meaning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61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00" spc="-10" dirty="0">
                          <a:latin typeface="Arial"/>
                          <a:cs typeface="Arial"/>
                        </a:rPr>
                        <a:t>character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698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900" spc="-25" dirty="0">
                          <a:latin typeface="Courier New"/>
                          <a:cs typeface="Courier New"/>
                        </a:rPr>
                        <a:t>’A’</a:t>
                      </a:r>
                      <a:endParaRPr sz="900">
                        <a:latin typeface="Courier New"/>
                        <a:cs typeface="Courier New"/>
                      </a:endParaRPr>
                    </a:p>
                    <a:p>
                      <a:pPr marL="629920" marR="622300" algn="ctr">
                        <a:lnSpc>
                          <a:spcPct val="125400"/>
                        </a:lnSpc>
                      </a:pPr>
                      <a:r>
                        <a:rPr sz="900" spc="-10" dirty="0">
                          <a:latin typeface="Courier New"/>
                          <a:cs typeface="Courier New"/>
                        </a:rPr>
                        <a:t>’\x41’ ’\0101’</a:t>
                      </a:r>
                      <a:endParaRPr sz="900">
                        <a:latin typeface="Courier New"/>
                        <a:cs typeface="Courier New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90"/>
                        </a:lnSpc>
                      </a:pPr>
                      <a:r>
                        <a:rPr sz="1100" spc="-10" dirty="0">
                          <a:latin typeface="Arial"/>
                          <a:cs typeface="Arial"/>
                        </a:rPr>
                        <a:t>character</a:t>
                      </a:r>
                      <a:endParaRPr sz="1100">
                        <a:latin typeface="Arial"/>
                        <a:cs typeface="Arial"/>
                      </a:endParaRPr>
                    </a:p>
                    <a:p>
                      <a:pPr marL="225425" marR="217804" algn="ctr">
                        <a:lnSpc>
                          <a:spcPct val="102600"/>
                        </a:lnSpc>
                      </a:pPr>
                      <a:r>
                        <a:rPr sz="1100" spc="-10" dirty="0">
                          <a:latin typeface="Arial"/>
                          <a:cs typeface="Arial"/>
                        </a:rPr>
                        <a:t>specified</a:t>
                      </a:r>
                      <a:r>
                        <a:rPr sz="11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latin typeface="Arial"/>
                          <a:cs typeface="Arial"/>
                        </a:rPr>
                        <a:t>in</a:t>
                      </a:r>
                      <a:r>
                        <a:rPr sz="11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25" dirty="0">
                          <a:latin typeface="Arial"/>
                          <a:cs typeface="Arial"/>
                        </a:rPr>
                        <a:t>hex </a:t>
                      </a:r>
                      <a:r>
                        <a:rPr sz="1100" spc="-10" dirty="0">
                          <a:latin typeface="Arial"/>
                          <a:cs typeface="Arial"/>
                        </a:rPr>
                        <a:t>specified</a:t>
                      </a:r>
                      <a:r>
                        <a:rPr sz="11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latin typeface="Arial"/>
                          <a:cs typeface="Arial"/>
                        </a:rPr>
                        <a:t>in</a:t>
                      </a:r>
                      <a:r>
                        <a:rPr sz="11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20" dirty="0">
                          <a:latin typeface="Arial"/>
                          <a:cs typeface="Arial"/>
                        </a:rPr>
                        <a:t>octal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401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45"/>
                        </a:spcBef>
                      </a:pPr>
                      <a:r>
                        <a:rPr sz="1100" spc="-10" dirty="0">
                          <a:latin typeface="Arial"/>
                          <a:cs typeface="Arial"/>
                        </a:rPr>
                        <a:t>string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819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25450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900" dirty="0">
                          <a:latin typeface="Courier New"/>
                          <a:cs typeface="Courier New"/>
                        </a:rPr>
                        <a:t>"hello</a:t>
                      </a:r>
                      <a:r>
                        <a:rPr sz="900" spc="-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900" spc="-10" dirty="0">
                          <a:latin typeface="Courier New"/>
                          <a:cs typeface="Courier New"/>
                        </a:rPr>
                        <a:t>world"</a:t>
                      </a:r>
                      <a:endParaRPr sz="900">
                        <a:latin typeface="Courier New"/>
                        <a:cs typeface="Courier New"/>
                      </a:endParaRPr>
                    </a:p>
                    <a:p>
                      <a:pPr marL="39116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900" spc="-10" dirty="0">
                          <a:latin typeface="Courier New"/>
                          <a:cs typeface="Courier New"/>
                        </a:rPr>
                        <a:t>"hello""world"</a:t>
                      </a:r>
                      <a:endParaRPr sz="900">
                        <a:latin typeface="Courier New"/>
                        <a:cs typeface="Courier New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90"/>
                        </a:lnSpc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string</a:t>
                      </a:r>
                      <a:r>
                        <a:rPr sz="11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10" dirty="0">
                          <a:latin typeface="Arial"/>
                          <a:cs typeface="Arial"/>
                        </a:rPr>
                        <a:t>literal</a:t>
                      </a:r>
                      <a:endParaRPr sz="110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same</a:t>
                      </a:r>
                      <a:r>
                        <a:rPr sz="110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latin typeface="Arial"/>
                          <a:cs typeface="Arial"/>
                        </a:rPr>
                        <a:t>as</a:t>
                      </a:r>
                      <a:r>
                        <a:rPr sz="11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latin typeface="Arial"/>
                          <a:cs typeface="Arial"/>
                        </a:rPr>
                        <a:t>"hello</a:t>
                      </a:r>
                      <a:r>
                        <a:rPr sz="11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10" dirty="0">
                          <a:latin typeface="Arial"/>
                          <a:cs typeface="Arial"/>
                        </a:rPr>
                        <a:t>world"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401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45"/>
                        </a:spcBef>
                      </a:pPr>
                      <a:r>
                        <a:rPr sz="1100" spc="-10" dirty="0">
                          <a:latin typeface="Arial"/>
                          <a:cs typeface="Arial"/>
                        </a:rPr>
                        <a:t>enumeration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819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900" b="1" dirty="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enum</a:t>
                      </a:r>
                      <a:r>
                        <a:rPr sz="900" b="1" spc="-35" dirty="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BOOL</a:t>
                      </a:r>
                      <a:r>
                        <a:rPr sz="9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10" dirty="0">
                          <a:latin typeface="Arial"/>
                          <a:cs typeface="Arial"/>
                        </a:rPr>
                        <a:t>{NO,YES}</a:t>
                      </a:r>
                      <a:endParaRPr sz="90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900" b="1" dirty="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enum</a:t>
                      </a:r>
                      <a:r>
                        <a:rPr sz="900" b="1" spc="-40" dirty="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COLOR</a:t>
                      </a:r>
                      <a:r>
                        <a:rPr sz="90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10" dirty="0">
                          <a:latin typeface="Arial"/>
                          <a:cs typeface="Arial"/>
                        </a:rPr>
                        <a:t>{R=1,G,B,Y=10}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90"/>
                        </a:lnSpc>
                      </a:pPr>
                      <a:r>
                        <a:rPr sz="1100" spc="-10" dirty="0">
                          <a:latin typeface="Arial"/>
                          <a:cs typeface="Arial"/>
                        </a:rPr>
                        <a:t>NO=0,YES=1</a:t>
                      </a:r>
                      <a:endParaRPr sz="110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100" spc="-10" dirty="0">
                          <a:latin typeface="Arial"/>
                          <a:cs typeface="Arial"/>
                        </a:rPr>
                        <a:t>G=2,B=3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-25" dirty="0"/>
              <a:t>11</a:t>
            </a:r>
          </a:p>
        </p:txBody>
      </p:sp>
    </p:spTree>
  </p:cSld>
  <p:clrMapOvr>
    <a:masterClrMapping/>
  </p:clrMapOvr>
  <p:transition>
    <p:cut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Declarations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47294" y="775994"/>
            <a:ext cx="2961005" cy="137414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607060">
              <a:lnSpc>
                <a:spcPct val="102600"/>
              </a:lnSpc>
              <a:spcBef>
                <a:spcPts val="55"/>
              </a:spcBef>
            </a:pPr>
            <a:r>
              <a:rPr sz="1100" dirty="0">
                <a:latin typeface="Arial"/>
                <a:cs typeface="Arial"/>
              </a:rPr>
              <a:t>The</a:t>
            </a:r>
            <a:r>
              <a:rPr sz="1100" spc="-5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general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format</a:t>
            </a:r>
            <a:r>
              <a:rPr sz="1100" spc="-5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for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declaration</a:t>
            </a:r>
            <a:r>
              <a:rPr sz="1100" spc="-50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is </a:t>
            </a:r>
            <a:r>
              <a:rPr sz="1100" i="1" dirty="0">
                <a:latin typeface="Arial"/>
                <a:cs typeface="Arial"/>
              </a:rPr>
              <a:t>type</a:t>
            </a:r>
            <a:r>
              <a:rPr sz="1100" i="1" spc="10" dirty="0">
                <a:latin typeface="Arial"/>
                <a:cs typeface="Arial"/>
              </a:rPr>
              <a:t> </a:t>
            </a:r>
            <a:r>
              <a:rPr sz="1100" i="1" spc="-20" dirty="0">
                <a:latin typeface="Arial"/>
                <a:cs typeface="Arial"/>
              </a:rPr>
              <a:t>variable-</a:t>
            </a:r>
            <a:r>
              <a:rPr sz="1100" i="1" dirty="0">
                <a:latin typeface="Arial"/>
                <a:cs typeface="Arial"/>
              </a:rPr>
              <a:t>name</a:t>
            </a:r>
            <a:r>
              <a:rPr sz="1100" i="1" spc="1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[=</a:t>
            </a:r>
            <a:r>
              <a:rPr sz="1100" i="1" spc="-10" dirty="0">
                <a:latin typeface="Arial"/>
                <a:cs typeface="Arial"/>
              </a:rPr>
              <a:t>value</a:t>
            </a:r>
            <a:r>
              <a:rPr sz="1100" spc="-10" dirty="0">
                <a:latin typeface="Arial"/>
                <a:cs typeface="Arial"/>
              </a:rPr>
              <a:t>] Examples:</a:t>
            </a:r>
            <a:endParaRPr sz="1100">
              <a:latin typeface="Arial"/>
              <a:cs typeface="Arial"/>
            </a:endParaRPr>
          </a:p>
          <a:p>
            <a:pPr marL="287655" indent="-130810">
              <a:lnSpc>
                <a:spcPct val="100000"/>
              </a:lnSpc>
              <a:spcBef>
                <a:spcPts val="535"/>
              </a:spcBef>
              <a:buClr>
                <a:srgbClr val="000000"/>
              </a:buClr>
              <a:buSzPct val="111111"/>
              <a:buFont typeface="Arial"/>
              <a:buChar char="•"/>
              <a:tabLst>
                <a:tab pos="287655" algn="l"/>
              </a:tabLst>
            </a:pPr>
            <a:r>
              <a:rPr sz="900" b="1" dirty="0">
                <a:solidFill>
                  <a:srgbClr val="0000FF"/>
                </a:solidFill>
                <a:latin typeface="Arial"/>
                <a:cs typeface="Arial"/>
              </a:rPr>
              <a:t>char</a:t>
            </a:r>
            <a:r>
              <a:rPr sz="900" b="1" spc="-4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x;</a:t>
            </a:r>
            <a:r>
              <a:rPr sz="900" spc="160" dirty="0">
                <a:latin typeface="Arial"/>
                <a:cs typeface="Arial"/>
              </a:rPr>
              <a:t> </a:t>
            </a:r>
            <a:r>
              <a:rPr sz="900" spc="-135" dirty="0">
                <a:solidFill>
                  <a:srgbClr val="B50A0A"/>
                </a:solidFill>
                <a:latin typeface="Arial"/>
                <a:cs typeface="Arial"/>
              </a:rPr>
              <a:t>/</a:t>
            </a:r>
            <a:r>
              <a:rPr sz="900" spc="-135" dirty="0">
                <a:solidFill>
                  <a:srgbClr val="B50A0A"/>
                </a:solidFill>
                <a:latin typeface="Lucida Sans Unicode"/>
                <a:cs typeface="Lucida Sans Unicode"/>
              </a:rPr>
              <a:t>∗</a:t>
            </a:r>
            <a:r>
              <a:rPr sz="900" spc="50" dirty="0">
                <a:solidFill>
                  <a:srgbClr val="B50A0A"/>
                </a:solidFill>
                <a:latin typeface="Lucida Sans Unicode"/>
                <a:cs typeface="Lucida Sans Unicode"/>
              </a:rPr>
              <a:t>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uninitialized</a:t>
            </a:r>
            <a:r>
              <a:rPr sz="900" spc="65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B50A0A"/>
                </a:solidFill>
                <a:latin typeface="Lucida Sans Unicode"/>
                <a:cs typeface="Lucida Sans Unicode"/>
              </a:rPr>
              <a:t>∗</a:t>
            </a:r>
            <a:r>
              <a:rPr sz="900" spc="-25" dirty="0">
                <a:solidFill>
                  <a:srgbClr val="B50A0A"/>
                </a:solidFill>
                <a:latin typeface="Arial"/>
                <a:cs typeface="Arial"/>
              </a:rPr>
              <a:t>/</a:t>
            </a:r>
            <a:endParaRPr sz="900">
              <a:latin typeface="Arial"/>
              <a:cs typeface="Arial"/>
            </a:endParaRPr>
          </a:p>
          <a:p>
            <a:pPr marL="287655" indent="-130810">
              <a:lnSpc>
                <a:spcPct val="100000"/>
              </a:lnSpc>
              <a:spcBef>
                <a:spcPts val="575"/>
              </a:spcBef>
              <a:buClr>
                <a:srgbClr val="000000"/>
              </a:buClr>
              <a:buSzPct val="111111"/>
              <a:buFont typeface="Arial"/>
              <a:buChar char="•"/>
              <a:tabLst>
                <a:tab pos="287655" algn="l"/>
              </a:tabLst>
            </a:pPr>
            <a:r>
              <a:rPr sz="900" b="1" dirty="0">
                <a:solidFill>
                  <a:srgbClr val="0000FF"/>
                </a:solidFill>
                <a:latin typeface="Arial"/>
                <a:cs typeface="Arial"/>
              </a:rPr>
              <a:t>char</a:t>
            </a:r>
            <a:r>
              <a:rPr sz="900" b="1" spc="-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x=</a:t>
            </a:r>
            <a:r>
              <a:rPr sz="900" dirty="0">
                <a:latin typeface="Courier New"/>
                <a:cs typeface="Courier New"/>
              </a:rPr>
              <a:t>’A’</a:t>
            </a:r>
            <a:r>
              <a:rPr sz="900" dirty="0">
                <a:latin typeface="Arial"/>
                <a:cs typeface="Arial"/>
              </a:rPr>
              <a:t>;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40" dirty="0">
                <a:solidFill>
                  <a:srgbClr val="B50A0A"/>
                </a:solidFill>
                <a:latin typeface="Arial"/>
                <a:cs typeface="Arial"/>
              </a:rPr>
              <a:t>/</a:t>
            </a:r>
            <a:r>
              <a:rPr sz="900" spc="-140" dirty="0">
                <a:solidFill>
                  <a:srgbClr val="B50A0A"/>
                </a:solidFill>
                <a:latin typeface="Lucida Sans Unicode"/>
                <a:cs typeface="Lucida Sans Unicode"/>
              </a:rPr>
              <a:t>∗</a:t>
            </a:r>
            <a:r>
              <a:rPr sz="900" spc="-145" dirty="0">
                <a:solidFill>
                  <a:srgbClr val="B50A0A"/>
                </a:solidFill>
                <a:latin typeface="Lucida Sans Unicode"/>
                <a:cs typeface="Lucida Sans Unicode"/>
              </a:rPr>
              <a:t>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intialized</a:t>
            </a:r>
            <a:r>
              <a:rPr sz="900" spc="295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to</a:t>
            </a:r>
            <a:r>
              <a:rPr sz="900" spc="265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’</a:t>
            </a:r>
            <a:r>
              <a:rPr sz="900" spc="-15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B50A0A"/>
                </a:solidFill>
                <a:latin typeface="Arial"/>
                <a:cs typeface="Arial"/>
              </a:rPr>
              <a:t>A’</a:t>
            </a:r>
            <a:r>
              <a:rPr sz="900" spc="-20" dirty="0">
                <a:solidFill>
                  <a:srgbClr val="B50A0A"/>
                </a:solidFill>
                <a:latin typeface="Lucida Sans Unicode"/>
                <a:cs typeface="Lucida Sans Unicode"/>
              </a:rPr>
              <a:t>∗</a:t>
            </a:r>
            <a:r>
              <a:rPr sz="900" spc="-20" dirty="0">
                <a:solidFill>
                  <a:srgbClr val="B50A0A"/>
                </a:solidFill>
                <a:latin typeface="Arial"/>
                <a:cs typeface="Arial"/>
              </a:rPr>
              <a:t>/</a:t>
            </a:r>
            <a:endParaRPr sz="900">
              <a:latin typeface="Arial"/>
              <a:cs typeface="Arial"/>
            </a:endParaRPr>
          </a:p>
          <a:p>
            <a:pPr marL="287655" indent="-130810">
              <a:lnSpc>
                <a:spcPct val="100000"/>
              </a:lnSpc>
              <a:spcBef>
                <a:spcPts val="570"/>
              </a:spcBef>
              <a:buClr>
                <a:srgbClr val="000000"/>
              </a:buClr>
              <a:buSzPct val="111111"/>
              <a:buFont typeface="Arial"/>
              <a:buChar char="•"/>
              <a:tabLst>
                <a:tab pos="287655" algn="l"/>
              </a:tabLst>
            </a:pPr>
            <a:r>
              <a:rPr sz="900" b="1" dirty="0">
                <a:solidFill>
                  <a:srgbClr val="0000FF"/>
                </a:solidFill>
                <a:latin typeface="Arial"/>
                <a:cs typeface="Arial"/>
              </a:rPr>
              <a:t>char</a:t>
            </a:r>
            <a:r>
              <a:rPr sz="900" b="1" spc="-3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x=</a:t>
            </a:r>
            <a:r>
              <a:rPr sz="900" dirty="0">
                <a:latin typeface="Courier New"/>
                <a:cs typeface="Courier New"/>
              </a:rPr>
              <a:t>’A’</a:t>
            </a:r>
            <a:r>
              <a:rPr sz="900" dirty="0">
                <a:latin typeface="Arial"/>
                <a:cs typeface="Arial"/>
              </a:rPr>
              <a:t>,y=</a:t>
            </a:r>
            <a:r>
              <a:rPr sz="900" dirty="0">
                <a:latin typeface="Courier New"/>
                <a:cs typeface="Courier New"/>
              </a:rPr>
              <a:t>’B’</a:t>
            </a:r>
            <a:r>
              <a:rPr sz="900" dirty="0">
                <a:latin typeface="Arial"/>
                <a:cs typeface="Arial"/>
              </a:rPr>
              <a:t>;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B50A0A"/>
                </a:solidFill>
                <a:latin typeface="Arial"/>
                <a:cs typeface="Arial"/>
              </a:rPr>
              <a:t>/</a:t>
            </a:r>
            <a:r>
              <a:rPr sz="900" spc="-35" dirty="0">
                <a:solidFill>
                  <a:srgbClr val="B50A0A"/>
                </a:solidFill>
                <a:latin typeface="Lucida Sans Unicode"/>
                <a:cs typeface="Lucida Sans Unicode"/>
              </a:rPr>
              <a:t>∗</a:t>
            </a:r>
            <a:r>
              <a:rPr sz="900" spc="-35" dirty="0">
                <a:solidFill>
                  <a:srgbClr val="B50A0A"/>
                </a:solidFill>
                <a:latin typeface="Arial"/>
                <a:cs typeface="Arial"/>
              </a:rPr>
              <a:t>multiple</a:t>
            </a:r>
            <a:r>
              <a:rPr sz="900" spc="-25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variables</a:t>
            </a:r>
            <a:r>
              <a:rPr sz="900" spc="245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initialized</a:t>
            </a:r>
            <a:r>
              <a:rPr sz="900" spc="65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B50A0A"/>
                </a:solidFill>
                <a:latin typeface="Lucida Sans Unicode"/>
                <a:cs typeface="Lucida Sans Unicode"/>
              </a:rPr>
              <a:t>∗</a:t>
            </a:r>
            <a:r>
              <a:rPr sz="900" spc="-25" dirty="0">
                <a:solidFill>
                  <a:srgbClr val="B50A0A"/>
                </a:solidFill>
                <a:latin typeface="Arial"/>
                <a:cs typeface="Arial"/>
              </a:rPr>
              <a:t>/</a:t>
            </a:r>
            <a:endParaRPr sz="900">
              <a:latin typeface="Arial"/>
              <a:cs typeface="Arial"/>
            </a:endParaRPr>
          </a:p>
          <a:p>
            <a:pPr marL="287655" indent="-130810">
              <a:lnSpc>
                <a:spcPct val="100000"/>
              </a:lnSpc>
              <a:spcBef>
                <a:spcPts val="575"/>
              </a:spcBef>
              <a:buClr>
                <a:srgbClr val="000000"/>
              </a:buClr>
              <a:buSzPct val="111111"/>
              <a:buFont typeface="Arial"/>
              <a:buChar char="•"/>
              <a:tabLst>
                <a:tab pos="287655" algn="l"/>
              </a:tabLst>
            </a:pPr>
            <a:r>
              <a:rPr sz="900" b="1" dirty="0">
                <a:solidFill>
                  <a:srgbClr val="0000FF"/>
                </a:solidFill>
                <a:latin typeface="Arial"/>
                <a:cs typeface="Arial"/>
              </a:rPr>
              <a:t>char</a:t>
            </a:r>
            <a:r>
              <a:rPr sz="900" b="1" spc="-5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x=y=</a:t>
            </a:r>
            <a:r>
              <a:rPr sz="900" spc="-10" dirty="0">
                <a:latin typeface="Courier New"/>
                <a:cs typeface="Courier New"/>
              </a:rPr>
              <a:t>’Z’</a:t>
            </a:r>
            <a:r>
              <a:rPr sz="900" spc="-10" dirty="0">
                <a:latin typeface="Arial"/>
                <a:cs typeface="Arial"/>
              </a:rPr>
              <a:t>;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/</a:t>
            </a:r>
            <a:r>
              <a:rPr sz="900" spc="-10" dirty="0">
                <a:solidFill>
                  <a:srgbClr val="B50A0A"/>
                </a:solidFill>
                <a:latin typeface="Lucida Sans Unicode"/>
                <a:cs typeface="Lucida Sans Unicode"/>
              </a:rPr>
              <a:t>∗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multiple</a:t>
            </a:r>
            <a:r>
              <a:rPr sz="900" spc="22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initializations</a:t>
            </a:r>
            <a:r>
              <a:rPr sz="900" spc="6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B50A0A"/>
                </a:solidFill>
                <a:latin typeface="Lucida Sans Unicode"/>
                <a:cs typeface="Lucida Sans Unicode"/>
              </a:rPr>
              <a:t>∗</a:t>
            </a:r>
            <a:r>
              <a:rPr sz="900" spc="-25" dirty="0">
                <a:solidFill>
                  <a:srgbClr val="B50A0A"/>
                </a:solidFill>
                <a:latin typeface="Arial"/>
                <a:cs typeface="Arial"/>
              </a:rPr>
              <a:t>/</a:t>
            </a:r>
            <a:endParaRPr sz="9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004897" y="948067"/>
            <a:ext cx="6413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50" dirty="0">
                <a:latin typeface="Arial"/>
                <a:cs typeface="Arial"/>
              </a:rPr>
              <a:t>.</a:t>
            </a:r>
            <a:endParaRPr sz="110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-25" dirty="0"/>
              <a:t>12</a:t>
            </a:r>
          </a:p>
        </p:txBody>
      </p:sp>
    </p:spTree>
  </p:cSld>
  <p:clrMapOvr>
    <a:masterClrMapping/>
  </p:clrMapOvr>
  <p:transition>
    <p:cut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Pop</a:t>
            </a:r>
            <a:r>
              <a:rPr spc="35" dirty="0"/>
              <a:t> </a:t>
            </a:r>
            <a:r>
              <a:rPr dirty="0"/>
              <a:t>quiz</a:t>
            </a:r>
            <a:r>
              <a:rPr spc="40" dirty="0"/>
              <a:t> </a:t>
            </a:r>
            <a:r>
              <a:rPr spc="-25" dirty="0"/>
              <a:t>II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91858" y="968375"/>
            <a:ext cx="3131185" cy="1270000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151130" indent="-138430">
              <a:lnSpc>
                <a:spcPct val="100000"/>
              </a:lnSpc>
              <a:spcBef>
                <a:spcPts val="525"/>
              </a:spcBef>
              <a:buClr>
                <a:srgbClr val="000000"/>
              </a:buClr>
              <a:buSzPct val="111111"/>
              <a:buFont typeface="Arial"/>
              <a:buChar char="•"/>
              <a:tabLst>
                <a:tab pos="151130" algn="l"/>
              </a:tabLst>
            </a:pPr>
            <a:r>
              <a:rPr sz="900" b="1" dirty="0">
                <a:solidFill>
                  <a:srgbClr val="0000FF"/>
                </a:solidFill>
                <a:latin typeface="Arial"/>
                <a:cs typeface="Arial"/>
              </a:rPr>
              <a:t>int</a:t>
            </a:r>
            <a:r>
              <a:rPr sz="900" b="1" spc="14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x=017;</a:t>
            </a:r>
            <a:r>
              <a:rPr sz="900" b="1" dirty="0">
                <a:solidFill>
                  <a:srgbClr val="0000FF"/>
                </a:solidFill>
                <a:latin typeface="Arial"/>
                <a:cs typeface="Arial"/>
              </a:rPr>
              <a:t>int</a:t>
            </a:r>
            <a:r>
              <a:rPr sz="900" b="1" spc="-4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y=12;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/</a:t>
            </a:r>
            <a:r>
              <a:rPr sz="900" spc="-10" dirty="0">
                <a:solidFill>
                  <a:srgbClr val="B50A0A"/>
                </a:solidFill>
                <a:latin typeface="Lucida Sans Unicode"/>
                <a:cs typeface="Lucida Sans Unicode"/>
              </a:rPr>
              <a:t>∗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is</a:t>
            </a:r>
            <a:r>
              <a:rPr sz="900" spc="16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x&gt;y?</a:t>
            </a:r>
            <a:r>
              <a:rPr sz="900" spc="-10" dirty="0">
                <a:solidFill>
                  <a:srgbClr val="B50A0A"/>
                </a:solidFill>
                <a:latin typeface="Lucida Sans Unicode"/>
                <a:cs typeface="Lucida Sans Unicode"/>
              </a:rPr>
              <a:t>∗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/</a:t>
            </a:r>
            <a:endParaRPr sz="900" dirty="0">
              <a:latin typeface="Arial"/>
              <a:cs typeface="Arial"/>
            </a:endParaRPr>
          </a:p>
          <a:p>
            <a:pPr marL="143510" indent="-130810">
              <a:lnSpc>
                <a:spcPct val="100000"/>
              </a:lnSpc>
              <a:spcBef>
                <a:spcPts val="575"/>
              </a:spcBef>
              <a:buClr>
                <a:srgbClr val="000000"/>
              </a:buClr>
              <a:buSzPct val="111111"/>
              <a:buFont typeface="Arial"/>
              <a:buChar char="•"/>
              <a:tabLst>
                <a:tab pos="143510" algn="l"/>
              </a:tabLst>
            </a:pPr>
            <a:r>
              <a:rPr sz="900" b="1" dirty="0">
                <a:solidFill>
                  <a:srgbClr val="0000FF"/>
                </a:solidFill>
                <a:latin typeface="Arial"/>
                <a:cs typeface="Arial"/>
              </a:rPr>
              <a:t>short</a:t>
            </a:r>
            <a:r>
              <a:rPr sz="900" b="1" spc="-1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0000FF"/>
                </a:solidFill>
                <a:latin typeface="Arial"/>
                <a:cs typeface="Arial"/>
              </a:rPr>
              <a:t>int</a:t>
            </a:r>
            <a:r>
              <a:rPr sz="900" b="1" spc="13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s=0xFFFF12;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/</a:t>
            </a:r>
            <a:r>
              <a:rPr sz="900" spc="-10" dirty="0">
                <a:solidFill>
                  <a:srgbClr val="B50A0A"/>
                </a:solidFill>
                <a:latin typeface="Lucida Sans Unicode"/>
                <a:cs typeface="Lucida Sans Unicode"/>
              </a:rPr>
              <a:t>∗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correct?</a:t>
            </a:r>
            <a:r>
              <a:rPr sz="900" spc="-10" dirty="0">
                <a:solidFill>
                  <a:srgbClr val="B50A0A"/>
                </a:solidFill>
                <a:latin typeface="Lucida Sans Unicode"/>
                <a:cs typeface="Lucida Sans Unicode"/>
              </a:rPr>
              <a:t>∗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/</a:t>
            </a:r>
            <a:endParaRPr sz="900" dirty="0">
              <a:latin typeface="Arial"/>
              <a:cs typeface="Arial"/>
            </a:endParaRPr>
          </a:p>
          <a:p>
            <a:pPr marL="143510" indent="-130810">
              <a:lnSpc>
                <a:spcPct val="100000"/>
              </a:lnSpc>
              <a:spcBef>
                <a:spcPts val="575"/>
              </a:spcBef>
              <a:buClr>
                <a:srgbClr val="000000"/>
              </a:buClr>
              <a:buSzPct val="111111"/>
              <a:buFont typeface="Arial"/>
              <a:buChar char="•"/>
              <a:tabLst>
                <a:tab pos="143510" algn="l"/>
              </a:tabLst>
            </a:pPr>
            <a:r>
              <a:rPr sz="900" b="1" dirty="0">
                <a:solidFill>
                  <a:srgbClr val="0000FF"/>
                </a:solidFill>
                <a:latin typeface="Arial"/>
                <a:cs typeface="Arial"/>
              </a:rPr>
              <a:t>char</a:t>
            </a:r>
            <a:r>
              <a:rPr sz="900" b="1" spc="-1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c=</a:t>
            </a:r>
            <a:r>
              <a:rPr sz="900" spc="-10" dirty="0">
                <a:latin typeface="Lucida Sans Unicode"/>
                <a:cs typeface="Lucida Sans Unicode"/>
              </a:rPr>
              <a:t>−</a:t>
            </a:r>
            <a:r>
              <a:rPr sz="900" spc="-10" dirty="0">
                <a:latin typeface="Arial"/>
                <a:cs typeface="Arial"/>
              </a:rPr>
              <a:t>1;</a:t>
            </a:r>
            <a:r>
              <a:rPr sz="900" b="1" spc="-10" dirty="0">
                <a:solidFill>
                  <a:srgbClr val="0000FF"/>
                </a:solidFill>
                <a:latin typeface="Arial"/>
                <a:cs typeface="Arial"/>
              </a:rPr>
              <a:t>unsigned </a:t>
            </a:r>
            <a:r>
              <a:rPr sz="900" b="1" dirty="0">
                <a:solidFill>
                  <a:srgbClr val="0000FF"/>
                </a:solidFill>
                <a:latin typeface="Arial"/>
                <a:cs typeface="Arial"/>
              </a:rPr>
              <a:t>char</a:t>
            </a:r>
            <a:r>
              <a:rPr sz="900" b="1" spc="-1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uc=</a:t>
            </a:r>
            <a:r>
              <a:rPr sz="900" dirty="0">
                <a:latin typeface="Lucida Sans Unicode"/>
                <a:cs typeface="Lucida Sans Unicode"/>
              </a:rPr>
              <a:t>−</a:t>
            </a:r>
            <a:r>
              <a:rPr sz="900" dirty="0">
                <a:latin typeface="Arial"/>
                <a:cs typeface="Arial"/>
              </a:rPr>
              <a:t>1;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/</a:t>
            </a:r>
            <a:r>
              <a:rPr sz="900" spc="-10" dirty="0">
                <a:solidFill>
                  <a:srgbClr val="B50A0A"/>
                </a:solidFill>
                <a:latin typeface="Lucida Sans Unicode"/>
                <a:cs typeface="Lucida Sans Unicode"/>
              </a:rPr>
              <a:t>∗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correct?</a:t>
            </a:r>
            <a:r>
              <a:rPr sz="900" spc="-10" dirty="0">
                <a:solidFill>
                  <a:srgbClr val="B50A0A"/>
                </a:solidFill>
                <a:latin typeface="Lucida Sans Unicode"/>
                <a:cs typeface="Lucida Sans Unicode"/>
              </a:rPr>
              <a:t>∗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/</a:t>
            </a:r>
            <a:endParaRPr sz="900" dirty="0">
              <a:latin typeface="Arial"/>
              <a:cs typeface="Arial"/>
            </a:endParaRPr>
          </a:p>
          <a:p>
            <a:pPr marL="143510" indent="-130810">
              <a:lnSpc>
                <a:spcPct val="100000"/>
              </a:lnSpc>
              <a:spcBef>
                <a:spcPts val="570"/>
              </a:spcBef>
              <a:buSzPct val="111111"/>
              <a:buFont typeface="Arial"/>
              <a:buChar char="•"/>
              <a:tabLst>
                <a:tab pos="143510" algn="l"/>
              </a:tabLst>
            </a:pPr>
            <a:r>
              <a:rPr sz="900" spc="-10" dirty="0">
                <a:latin typeface="Arial"/>
                <a:cs typeface="Arial"/>
              </a:rPr>
              <a:t>puts(</a:t>
            </a:r>
            <a:r>
              <a:rPr sz="900" spc="-10" dirty="0">
                <a:latin typeface="Courier New"/>
                <a:cs typeface="Courier New"/>
              </a:rPr>
              <a:t>"hel"</a:t>
            </a:r>
            <a:r>
              <a:rPr sz="900" spc="-10" dirty="0">
                <a:latin typeface="Arial"/>
                <a:cs typeface="Arial"/>
              </a:rPr>
              <a:t>+</a:t>
            </a:r>
            <a:r>
              <a:rPr sz="900" spc="-10" dirty="0">
                <a:latin typeface="Courier New"/>
                <a:cs typeface="Courier New"/>
              </a:rPr>
              <a:t>"lo"</a:t>
            </a:r>
            <a:r>
              <a:rPr sz="900" spc="-10" dirty="0">
                <a:latin typeface="Arial"/>
                <a:cs typeface="Arial"/>
              </a:rPr>
              <a:t>);puts(</a:t>
            </a:r>
            <a:r>
              <a:rPr sz="900" spc="-10" dirty="0">
                <a:latin typeface="Courier New"/>
                <a:cs typeface="Courier New"/>
              </a:rPr>
              <a:t>"hel""lo"</a:t>
            </a:r>
            <a:r>
              <a:rPr sz="900" spc="-10" dirty="0">
                <a:latin typeface="Arial"/>
                <a:cs typeface="Arial"/>
              </a:rPr>
              <a:t>);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/</a:t>
            </a:r>
            <a:r>
              <a:rPr sz="900" spc="-10" dirty="0">
                <a:solidFill>
                  <a:srgbClr val="B50A0A"/>
                </a:solidFill>
                <a:latin typeface="Lucida Sans Unicode"/>
                <a:cs typeface="Lucida Sans Unicode"/>
              </a:rPr>
              <a:t>∗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which</a:t>
            </a:r>
            <a:r>
              <a:rPr sz="900" spc="25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is</a:t>
            </a:r>
            <a:r>
              <a:rPr sz="900" spc="3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B50A0A"/>
                </a:solidFill>
                <a:latin typeface="Arial"/>
                <a:cs typeface="Arial"/>
              </a:rPr>
              <a:t>correct?</a:t>
            </a:r>
            <a:r>
              <a:rPr sz="900" spc="-20" dirty="0">
                <a:solidFill>
                  <a:srgbClr val="B50A0A"/>
                </a:solidFill>
                <a:latin typeface="Lucida Sans Unicode"/>
                <a:cs typeface="Lucida Sans Unicode"/>
              </a:rPr>
              <a:t>∗</a:t>
            </a:r>
            <a:r>
              <a:rPr sz="900" spc="-20" dirty="0">
                <a:solidFill>
                  <a:srgbClr val="B50A0A"/>
                </a:solidFill>
                <a:latin typeface="Arial"/>
                <a:cs typeface="Arial"/>
              </a:rPr>
              <a:t>/</a:t>
            </a:r>
            <a:endParaRPr sz="900" dirty="0">
              <a:latin typeface="Arial"/>
              <a:cs typeface="Arial"/>
            </a:endParaRPr>
          </a:p>
          <a:p>
            <a:pPr marL="143510" indent="-130810">
              <a:lnSpc>
                <a:spcPct val="100000"/>
              </a:lnSpc>
              <a:spcBef>
                <a:spcPts val="575"/>
              </a:spcBef>
              <a:buClr>
                <a:srgbClr val="000000"/>
              </a:buClr>
              <a:buSzPct val="111111"/>
              <a:buFont typeface="Arial"/>
              <a:buChar char="•"/>
              <a:tabLst>
                <a:tab pos="143510" algn="l"/>
              </a:tabLst>
            </a:pPr>
            <a:r>
              <a:rPr sz="900" b="1" dirty="0">
                <a:solidFill>
                  <a:srgbClr val="0000FF"/>
                </a:solidFill>
                <a:latin typeface="Arial"/>
                <a:cs typeface="Arial"/>
              </a:rPr>
              <a:t>enum</a:t>
            </a:r>
            <a:r>
              <a:rPr sz="900" b="1" spc="-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sz{S=0,L=3,XL};</a:t>
            </a:r>
            <a:r>
              <a:rPr sz="900" dirty="0">
                <a:latin typeface="Arial"/>
                <a:cs typeface="Arial"/>
              </a:rPr>
              <a:t> </a:t>
            </a:r>
            <a:r>
              <a:rPr sz="900" spc="-55" dirty="0">
                <a:solidFill>
                  <a:srgbClr val="B50A0A"/>
                </a:solidFill>
                <a:latin typeface="Arial"/>
                <a:cs typeface="Arial"/>
              </a:rPr>
              <a:t>/</a:t>
            </a:r>
            <a:r>
              <a:rPr sz="900" spc="-55" dirty="0">
                <a:solidFill>
                  <a:srgbClr val="B50A0A"/>
                </a:solidFill>
                <a:latin typeface="Lucida Sans Unicode"/>
                <a:cs typeface="Lucida Sans Unicode"/>
              </a:rPr>
              <a:t>∗</a:t>
            </a:r>
            <a:r>
              <a:rPr sz="900" spc="-55" dirty="0">
                <a:solidFill>
                  <a:srgbClr val="B50A0A"/>
                </a:solidFill>
                <a:latin typeface="Arial"/>
                <a:cs typeface="Arial"/>
              </a:rPr>
              <a:t>what</a:t>
            </a:r>
            <a:r>
              <a:rPr sz="900" spc="-5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is the</a:t>
            </a:r>
            <a:r>
              <a:rPr sz="900" spc="-5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value of </a:t>
            </a:r>
            <a:r>
              <a:rPr sz="900" spc="-20" dirty="0">
                <a:solidFill>
                  <a:srgbClr val="B50A0A"/>
                </a:solidFill>
                <a:latin typeface="Arial"/>
                <a:cs typeface="Arial"/>
              </a:rPr>
              <a:t>XL?</a:t>
            </a:r>
            <a:r>
              <a:rPr sz="900" spc="-20" dirty="0">
                <a:solidFill>
                  <a:srgbClr val="B50A0A"/>
                </a:solidFill>
                <a:latin typeface="Lucida Sans Unicode"/>
                <a:cs typeface="Lucida Sans Unicode"/>
              </a:rPr>
              <a:t>∗</a:t>
            </a:r>
            <a:r>
              <a:rPr sz="900" spc="-20" dirty="0">
                <a:solidFill>
                  <a:srgbClr val="B50A0A"/>
                </a:solidFill>
                <a:latin typeface="Arial"/>
                <a:cs typeface="Arial"/>
              </a:rPr>
              <a:t>/</a:t>
            </a:r>
            <a:endParaRPr sz="900" dirty="0">
              <a:latin typeface="Arial"/>
              <a:cs typeface="Arial"/>
            </a:endParaRPr>
          </a:p>
          <a:p>
            <a:pPr marL="143510" indent="-130810">
              <a:lnSpc>
                <a:spcPct val="100000"/>
              </a:lnSpc>
              <a:spcBef>
                <a:spcPts val="575"/>
              </a:spcBef>
              <a:buClr>
                <a:srgbClr val="000000"/>
              </a:buClr>
              <a:buSzPct val="111111"/>
              <a:buFont typeface="Arial"/>
              <a:buChar char="•"/>
              <a:tabLst>
                <a:tab pos="143510" algn="l"/>
              </a:tabLst>
            </a:pPr>
            <a:r>
              <a:rPr sz="900" b="1" dirty="0">
                <a:solidFill>
                  <a:srgbClr val="0000FF"/>
                </a:solidFill>
                <a:latin typeface="Arial"/>
                <a:cs typeface="Arial"/>
              </a:rPr>
              <a:t>enum</a:t>
            </a:r>
            <a:r>
              <a:rPr sz="900" b="1" spc="-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sz{S=0,L=</a:t>
            </a:r>
            <a:r>
              <a:rPr sz="900" spc="-10" dirty="0">
                <a:latin typeface="Lucida Sans Unicode"/>
                <a:cs typeface="Lucida Sans Unicode"/>
              </a:rPr>
              <a:t>−</a:t>
            </a:r>
            <a:r>
              <a:rPr sz="900" spc="-10" dirty="0">
                <a:latin typeface="Arial"/>
                <a:cs typeface="Arial"/>
              </a:rPr>
              <a:t>3,XL};</a:t>
            </a:r>
            <a:r>
              <a:rPr sz="900" dirty="0">
                <a:latin typeface="Arial"/>
                <a:cs typeface="Arial"/>
              </a:rPr>
              <a:t> </a:t>
            </a:r>
            <a:r>
              <a:rPr sz="900" spc="-55" dirty="0">
                <a:solidFill>
                  <a:srgbClr val="B50A0A"/>
                </a:solidFill>
                <a:latin typeface="Arial"/>
                <a:cs typeface="Arial"/>
              </a:rPr>
              <a:t>/</a:t>
            </a:r>
            <a:r>
              <a:rPr sz="900" spc="-55" dirty="0">
                <a:solidFill>
                  <a:srgbClr val="B50A0A"/>
                </a:solidFill>
                <a:latin typeface="Lucida Sans Unicode"/>
                <a:cs typeface="Lucida Sans Unicode"/>
              </a:rPr>
              <a:t>∗</a:t>
            </a:r>
            <a:r>
              <a:rPr sz="900" spc="-55" dirty="0">
                <a:solidFill>
                  <a:srgbClr val="B50A0A"/>
                </a:solidFill>
                <a:latin typeface="Arial"/>
                <a:cs typeface="Arial"/>
              </a:rPr>
              <a:t>what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 is</a:t>
            </a:r>
            <a:r>
              <a:rPr sz="900" spc="-5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the value of </a:t>
            </a:r>
            <a:r>
              <a:rPr sz="900" spc="-20" dirty="0">
                <a:solidFill>
                  <a:srgbClr val="B50A0A"/>
                </a:solidFill>
                <a:latin typeface="Arial"/>
                <a:cs typeface="Arial"/>
              </a:rPr>
              <a:t>XL?</a:t>
            </a:r>
            <a:r>
              <a:rPr sz="900" spc="-20" dirty="0">
                <a:solidFill>
                  <a:srgbClr val="B50A0A"/>
                </a:solidFill>
                <a:latin typeface="Lucida Sans Unicode"/>
                <a:cs typeface="Lucida Sans Unicode"/>
              </a:rPr>
              <a:t>∗</a:t>
            </a:r>
            <a:r>
              <a:rPr sz="900" spc="-20" dirty="0">
                <a:solidFill>
                  <a:srgbClr val="B50A0A"/>
                </a:solidFill>
                <a:latin typeface="Arial"/>
                <a:cs typeface="Arial"/>
              </a:rPr>
              <a:t>/</a:t>
            </a:r>
            <a:endParaRPr sz="900" dirty="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-25" dirty="0"/>
              <a:t>13</a:t>
            </a:r>
          </a:p>
        </p:txBody>
      </p:sp>
    </p:spTree>
  </p:cSld>
  <p:clrMapOvr>
    <a:masterClrMapping/>
  </p:clrMapOvr>
  <p:transition>
    <p:cut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300" y="61452"/>
            <a:ext cx="3003550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n-US" sz="1400" b="1" spc="60" dirty="0" err="1">
                <a:solidFill>
                  <a:srgbClr val="993333"/>
                </a:solidFill>
                <a:latin typeface="Arial"/>
                <a:cs typeface="Arial"/>
              </a:rPr>
              <a:t>FoCS</a:t>
            </a:r>
            <a:r>
              <a:rPr lang="en-US" sz="1400" b="1" spc="60" dirty="0">
                <a:solidFill>
                  <a:srgbClr val="993333"/>
                </a:solidFill>
                <a:latin typeface="Arial"/>
                <a:cs typeface="Arial"/>
              </a:rPr>
              <a:t> </a:t>
            </a:r>
            <a:r>
              <a:rPr lang="en-US" sz="1400" b="1" dirty="0">
                <a:solidFill>
                  <a:srgbClr val="993333"/>
                </a:solidFill>
                <a:latin typeface="Arial"/>
                <a:cs typeface="Arial"/>
              </a:rPr>
              <a:t>Lecture</a:t>
            </a:r>
            <a:r>
              <a:rPr lang="en-US" sz="1400" b="1" spc="60" dirty="0">
                <a:solidFill>
                  <a:srgbClr val="993333"/>
                </a:solidFill>
                <a:latin typeface="Arial"/>
                <a:cs typeface="Arial"/>
              </a:rPr>
              <a:t> 4</a:t>
            </a:r>
            <a:r>
              <a:rPr lang="en-US" sz="1400" b="1" spc="65" dirty="0">
                <a:solidFill>
                  <a:srgbClr val="993333"/>
                </a:solidFill>
                <a:latin typeface="Arial"/>
                <a:cs typeface="Arial"/>
              </a:rPr>
              <a:t> </a:t>
            </a:r>
            <a:r>
              <a:rPr lang="en-US" sz="1400" b="1" dirty="0">
                <a:solidFill>
                  <a:srgbClr val="993333"/>
                </a:solidFill>
                <a:latin typeface="Arial"/>
                <a:cs typeface="Arial"/>
              </a:rPr>
              <a:t>–</a:t>
            </a:r>
            <a:r>
              <a:rPr lang="en-US" sz="1400" b="1" spc="60" dirty="0">
                <a:solidFill>
                  <a:srgbClr val="993333"/>
                </a:solidFill>
                <a:latin typeface="Arial"/>
                <a:cs typeface="Arial"/>
              </a:rPr>
              <a:t> October</a:t>
            </a:r>
            <a:r>
              <a:rPr lang="en-US" sz="1400" b="1" spc="65" dirty="0">
                <a:solidFill>
                  <a:srgbClr val="993333"/>
                </a:solidFill>
                <a:latin typeface="Arial"/>
                <a:cs typeface="Arial"/>
              </a:rPr>
              <a:t> 6</a:t>
            </a:r>
            <a:r>
              <a:rPr lang="en-US" sz="1400" b="1" dirty="0">
                <a:solidFill>
                  <a:srgbClr val="993333"/>
                </a:solidFill>
                <a:latin typeface="Arial"/>
                <a:cs typeface="Arial"/>
              </a:rPr>
              <a:t>,</a:t>
            </a:r>
            <a:r>
              <a:rPr lang="en-US" sz="1400" b="1" spc="60" dirty="0">
                <a:solidFill>
                  <a:srgbClr val="993333"/>
                </a:solidFill>
                <a:latin typeface="Arial"/>
                <a:cs typeface="Arial"/>
              </a:rPr>
              <a:t> </a:t>
            </a:r>
            <a:r>
              <a:rPr lang="en-US" sz="1400" b="1" spc="-20" dirty="0">
                <a:solidFill>
                  <a:srgbClr val="993333"/>
                </a:solidFill>
                <a:latin typeface="Arial"/>
                <a:cs typeface="Arial"/>
              </a:rPr>
              <a:t>2026</a:t>
            </a:r>
            <a:endParaRPr lang="en-US" sz="1400" dirty="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14680" y="878775"/>
            <a:ext cx="1539875" cy="69659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10" dirty="0">
                <a:solidFill>
                  <a:srgbClr val="CCCCCC"/>
                </a:solidFill>
                <a:latin typeface="Arial"/>
                <a:cs typeface="Arial"/>
              </a:rPr>
              <a:t>Review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20"/>
              </a:spcBef>
            </a:pP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100" spc="-20" dirty="0">
                <a:solidFill>
                  <a:srgbClr val="CCCCCC"/>
                </a:solidFill>
                <a:latin typeface="Arial"/>
                <a:cs typeface="Arial"/>
              </a:rPr>
              <a:t>Variables </a:t>
            </a:r>
            <a:r>
              <a:rPr sz="1100" dirty="0">
                <a:solidFill>
                  <a:srgbClr val="CCCCCC"/>
                </a:solidFill>
                <a:latin typeface="Arial"/>
                <a:cs typeface="Arial"/>
              </a:rPr>
              <a:t>and</a:t>
            </a:r>
            <a:r>
              <a:rPr sz="1100" spc="-15" dirty="0">
                <a:solidFill>
                  <a:srgbClr val="CCCCCC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CCCCC"/>
                </a:solidFill>
                <a:latin typeface="Arial"/>
                <a:cs typeface="Arial"/>
              </a:rPr>
              <a:t>data</a:t>
            </a:r>
            <a:r>
              <a:rPr sz="1100" spc="-15" dirty="0">
                <a:solidFill>
                  <a:srgbClr val="CCCCCC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CCCCCC"/>
                </a:solidFill>
                <a:latin typeface="Arial"/>
                <a:cs typeface="Arial"/>
              </a:rPr>
              <a:t>types</a:t>
            </a:r>
            <a:endParaRPr sz="11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14680" y="1887765"/>
            <a:ext cx="64008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10" dirty="0">
                <a:latin typeface="Arial"/>
                <a:cs typeface="Arial"/>
              </a:rPr>
              <a:t>Operators</a:t>
            </a:r>
            <a:endParaRPr sz="11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14680" y="2392272"/>
            <a:ext cx="56451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10" dirty="0">
                <a:solidFill>
                  <a:srgbClr val="CCCCCC"/>
                </a:solidFill>
                <a:latin typeface="Arial"/>
                <a:cs typeface="Arial"/>
              </a:rPr>
              <a:t>Epilogue</a:t>
            </a:r>
            <a:endParaRPr sz="11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300486" y="3278333"/>
            <a:ext cx="138430" cy="151130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800" spc="-25" dirty="0">
                <a:latin typeface="Arial"/>
                <a:cs typeface="Arial"/>
              </a:rPr>
              <a:t>14</a:t>
            </a:r>
            <a:endParaRPr sz="8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300" y="61452"/>
            <a:ext cx="181483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b="1" dirty="0">
                <a:solidFill>
                  <a:srgbClr val="993333"/>
                </a:solidFill>
                <a:latin typeface="Arial"/>
                <a:cs typeface="Arial"/>
              </a:rPr>
              <a:t>Arithmetic</a:t>
            </a:r>
            <a:r>
              <a:rPr sz="1400" b="1" spc="140" dirty="0">
                <a:solidFill>
                  <a:srgbClr val="993333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993333"/>
                </a:solidFill>
                <a:latin typeface="Arial"/>
                <a:cs typeface="Arial"/>
              </a:rPr>
              <a:t>operators</a:t>
            </a:r>
            <a:endParaRPr sz="1400">
              <a:latin typeface="Arial"/>
              <a:cs typeface="Arial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357466" y="800925"/>
          <a:ext cx="3012439" cy="18148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661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05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957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89230">
                <a:tc>
                  <a:txBody>
                    <a:bodyPr/>
                    <a:lstStyle/>
                    <a:p>
                      <a:pPr algn="ctr">
                        <a:lnSpc>
                          <a:spcPts val="1290"/>
                        </a:lnSpc>
                      </a:pPr>
                      <a:r>
                        <a:rPr sz="1100" spc="-10" dirty="0">
                          <a:latin typeface="Arial"/>
                          <a:cs typeface="Arial"/>
                        </a:rPr>
                        <a:t>operator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90"/>
                        </a:lnSpc>
                      </a:pPr>
                      <a:r>
                        <a:rPr sz="1100" spc="-10" dirty="0">
                          <a:latin typeface="Arial"/>
                          <a:cs typeface="Arial"/>
                        </a:rPr>
                        <a:t>meaning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03860">
                        <a:lnSpc>
                          <a:spcPts val="1290"/>
                        </a:lnSpc>
                      </a:pPr>
                      <a:r>
                        <a:rPr sz="1100" spc="-10" dirty="0">
                          <a:latin typeface="Arial"/>
                          <a:cs typeface="Arial"/>
                        </a:rPr>
                        <a:t>examples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20"/>
                        </a:spcBef>
                      </a:pPr>
                      <a:r>
                        <a:rPr sz="1100" spc="-50" dirty="0">
                          <a:latin typeface="Arial"/>
                          <a:cs typeface="Arial"/>
                        </a:rPr>
                        <a:t>+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1549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20"/>
                        </a:spcBef>
                      </a:pPr>
                      <a:r>
                        <a:rPr sz="1100" spc="-10" dirty="0">
                          <a:latin typeface="Arial"/>
                          <a:cs typeface="Arial"/>
                        </a:rPr>
                        <a:t>addition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1549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3990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900" dirty="0">
                          <a:latin typeface="Arial"/>
                          <a:cs typeface="Arial"/>
                        </a:rPr>
                        <a:t>x=3+2;</a:t>
                      </a:r>
                      <a:r>
                        <a:rPr sz="9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10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/</a:t>
                      </a:r>
                      <a:r>
                        <a:rPr sz="900" spc="-10" dirty="0">
                          <a:solidFill>
                            <a:srgbClr val="B50A0A"/>
                          </a:solidFill>
                          <a:latin typeface="Lucida Sans Unicode"/>
                          <a:cs typeface="Lucida Sans Unicode"/>
                        </a:rPr>
                        <a:t>∗</a:t>
                      </a:r>
                      <a:r>
                        <a:rPr sz="900" spc="-10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constants</a:t>
                      </a:r>
                      <a:r>
                        <a:rPr sz="900" spc="-10" dirty="0">
                          <a:solidFill>
                            <a:srgbClr val="B50A0A"/>
                          </a:solidFill>
                          <a:latin typeface="Lucida Sans Unicode"/>
                          <a:cs typeface="Lucida Sans Unicode"/>
                        </a:rPr>
                        <a:t>∗</a:t>
                      </a:r>
                      <a:r>
                        <a:rPr sz="900" spc="-10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/</a:t>
                      </a:r>
                      <a:endParaRPr sz="900">
                        <a:latin typeface="Arial"/>
                        <a:cs typeface="Arial"/>
                      </a:endParaRPr>
                    </a:p>
                    <a:p>
                      <a:pPr marL="309880" marR="234950" indent="-73660">
                        <a:lnSpc>
                          <a:spcPct val="125400"/>
                        </a:lnSpc>
                      </a:pPr>
                      <a:r>
                        <a:rPr sz="900" dirty="0">
                          <a:latin typeface="Arial"/>
                          <a:cs typeface="Arial"/>
                        </a:rPr>
                        <a:t>y+z;</a:t>
                      </a:r>
                      <a:r>
                        <a:rPr sz="900" spc="1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40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/</a:t>
                      </a:r>
                      <a:r>
                        <a:rPr sz="900" spc="-40" dirty="0">
                          <a:solidFill>
                            <a:srgbClr val="B50A0A"/>
                          </a:solidFill>
                          <a:latin typeface="Lucida Sans Unicode"/>
                          <a:cs typeface="Lucida Sans Unicode"/>
                        </a:rPr>
                        <a:t>∗</a:t>
                      </a:r>
                      <a:r>
                        <a:rPr sz="900" spc="-40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variables</a:t>
                      </a:r>
                      <a:r>
                        <a:rPr sz="900" spc="-40" dirty="0">
                          <a:solidFill>
                            <a:srgbClr val="B50A0A"/>
                          </a:solidFill>
                          <a:latin typeface="Lucida Sans Unicode"/>
                          <a:cs typeface="Lucida Sans Unicode"/>
                        </a:rPr>
                        <a:t>∗</a:t>
                      </a:r>
                      <a:r>
                        <a:rPr sz="900" spc="-40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/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x+y+2;</a:t>
                      </a:r>
                      <a:r>
                        <a:rPr sz="9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10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/</a:t>
                      </a:r>
                      <a:r>
                        <a:rPr sz="900" spc="-10" dirty="0">
                          <a:solidFill>
                            <a:srgbClr val="B50A0A"/>
                          </a:solidFill>
                          <a:latin typeface="Lucida Sans Unicode"/>
                          <a:cs typeface="Lucida Sans Unicode"/>
                        </a:rPr>
                        <a:t>∗</a:t>
                      </a:r>
                      <a:r>
                        <a:rPr sz="900" spc="-10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both</a:t>
                      </a:r>
                      <a:r>
                        <a:rPr sz="900" spc="-10" dirty="0">
                          <a:solidFill>
                            <a:srgbClr val="B50A0A"/>
                          </a:solidFill>
                          <a:latin typeface="Lucida Sans Unicode"/>
                          <a:cs typeface="Lucida Sans Unicode"/>
                        </a:rPr>
                        <a:t>∗</a:t>
                      </a:r>
                      <a:r>
                        <a:rPr sz="900" spc="-10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/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82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61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-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698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00" spc="-10" dirty="0">
                          <a:latin typeface="Arial"/>
                          <a:cs typeface="Arial"/>
                        </a:rPr>
                        <a:t>subtraction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698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900" dirty="0">
                          <a:latin typeface="Arial"/>
                          <a:cs typeface="Arial"/>
                        </a:rPr>
                        <a:t>3</a:t>
                      </a:r>
                      <a:r>
                        <a:rPr sz="900" dirty="0">
                          <a:latin typeface="Lucida Sans Unicode"/>
                          <a:cs typeface="Lucida Sans Unicode"/>
                        </a:rPr>
                        <a:t>−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2;</a:t>
                      </a:r>
                      <a:r>
                        <a:rPr sz="9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10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/</a:t>
                      </a:r>
                      <a:r>
                        <a:rPr sz="900" spc="-10" dirty="0">
                          <a:solidFill>
                            <a:srgbClr val="B50A0A"/>
                          </a:solidFill>
                          <a:latin typeface="Lucida Sans Unicode"/>
                          <a:cs typeface="Lucida Sans Unicode"/>
                        </a:rPr>
                        <a:t>∗</a:t>
                      </a:r>
                      <a:r>
                        <a:rPr sz="900" spc="-10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constants</a:t>
                      </a:r>
                      <a:r>
                        <a:rPr sz="900" spc="-10" dirty="0">
                          <a:solidFill>
                            <a:srgbClr val="B50A0A"/>
                          </a:solidFill>
                          <a:latin typeface="Lucida Sans Unicode"/>
                          <a:cs typeface="Lucida Sans Unicode"/>
                        </a:rPr>
                        <a:t>∗</a:t>
                      </a:r>
                      <a:r>
                        <a:rPr sz="900" spc="-10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/</a:t>
                      </a:r>
                      <a:endParaRPr sz="900">
                        <a:latin typeface="Arial"/>
                        <a:cs typeface="Arial"/>
                      </a:endParaRPr>
                    </a:p>
                    <a:p>
                      <a:pPr marL="90170" marR="75565" algn="ctr">
                        <a:lnSpc>
                          <a:spcPct val="125400"/>
                        </a:lnSpc>
                      </a:pPr>
                      <a:r>
                        <a:rPr sz="900" b="1" dirty="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int</a:t>
                      </a:r>
                      <a:r>
                        <a:rPr sz="900" b="1" spc="185" dirty="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x=y</a:t>
                      </a:r>
                      <a:r>
                        <a:rPr sz="900" dirty="0">
                          <a:latin typeface="Lucida Sans Unicode"/>
                          <a:cs typeface="Lucida Sans Unicode"/>
                        </a:rPr>
                        <a:t>−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z;</a:t>
                      </a:r>
                      <a:r>
                        <a:rPr sz="9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50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/</a:t>
                      </a:r>
                      <a:r>
                        <a:rPr sz="900" spc="-50" dirty="0">
                          <a:solidFill>
                            <a:srgbClr val="B50A0A"/>
                          </a:solidFill>
                          <a:latin typeface="Lucida Sans Unicode"/>
                          <a:cs typeface="Lucida Sans Unicode"/>
                        </a:rPr>
                        <a:t>∗</a:t>
                      </a:r>
                      <a:r>
                        <a:rPr sz="900" spc="-50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variables</a:t>
                      </a:r>
                      <a:r>
                        <a:rPr sz="900" spc="-50" dirty="0">
                          <a:solidFill>
                            <a:srgbClr val="B50A0A"/>
                          </a:solidFill>
                          <a:latin typeface="Lucida Sans Unicode"/>
                          <a:cs typeface="Lucida Sans Unicode"/>
                        </a:rPr>
                        <a:t>∗</a:t>
                      </a:r>
                      <a:r>
                        <a:rPr sz="900" spc="-50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/</a:t>
                      </a:r>
                      <a:r>
                        <a:rPr sz="900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y</a:t>
                      </a:r>
                      <a:r>
                        <a:rPr sz="900" dirty="0">
                          <a:latin typeface="Lucida Sans Unicode"/>
                          <a:cs typeface="Lucida Sans Unicode"/>
                        </a:rPr>
                        <a:t>−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2</a:t>
                      </a:r>
                      <a:r>
                        <a:rPr sz="900" dirty="0">
                          <a:latin typeface="Lucida Sans Unicode"/>
                          <a:cs typeface="Lucida Sans Unicode"/>
                        </a:rPr>
                        <a:t>−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z;</a:t>
                      </a:r>
                      <a:r>
                        <a:rPr sz="9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10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/</a:t>
                      </a:r>
                      <a:r>
                        <a:rPr sz="900" spc="-10" dirty="0">
                          <a:solidFill>
                            <a:srgbClr val="B50A0A"/>
                          </a:solidFill>
                          <a:latin typeface="Lucida Sans Unicode"/>
                          <a:cs typeface="Lucida Sans Unicode"/>
                        </a:rPr>
                        <a:t>∗</a:t>
                      </a:r>
                      <a:r>
                        <a:rPr sz="900" spc="-10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both</a:t>
                      </a:r>
                      <a:r>
                        <a:rPr sz="900" spc="-10" dirty="0">
                          <a:solidFill>
                            <a:srgbClr val="B50A0A"/>
                          </a:solidFill>
                          <a:latin typeface="Lucida Sans Unicode"/>
                          <a:cs typeface="Lucida Sans Unicode"/>
                        </a:rPr>
                        <a:t>∗</a:t>
                      </a:r>
                      <a:r>
                        <a:rPr sz="900" spc="-10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/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61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00" spc="-50" dirty="0">
                          <a:latin typeface="Arial"/>
                          <a:cs typeface="Arial"/>
                        </a:rPr>
                        <a:t>*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698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00" spc="-10" dirty="0">
                          <a:latin typeface="Arial"/>
                          <a:cs typeface="Arial"/>
                        </a:rPr>
                        <a:t>multiplication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698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318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900" b="1" dirty="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int</a:t>
                      </a:r>
                      <a:r>
                        <a:rPr sz="900" b="1" spc="229" dirty="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55" dirty="0">
                          <a:latin typeface="Arial"/>
                          <a:cs typeface="Arial"/>
                        </a:rPr>
                        <a:t>x=3</a:t>
                      </a:r>
                      <a:r>
                        <a:rPr sz="900" spc="-55" dirty="0">
                          <a:latin typeface="Lucida Sans Unicode"/>
                          <a:cs typeface="Lucida Sans Unicode"/>
                        </a:rPr>
                        <a:t>∗</a:t>
                      </a:r>
                      <a:r>
                        <a:rPr sz="900" spc="-55" dirty="0">
                          <a:latin typeface="Arial"/>
                          <a:cs typeface="Arial"/>
                        </a:rPr>
                        <a:t>2;</a:t>
                      </a:r>
                      <a:r>
                        <a:rPr sz="900" spc="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10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/</a:t>
                      </a:r>
                      <a:r>
                        <a:rPr sz="900" spc="-10" dirty="0">
                          <a:solidFill>
                            <a:srgbClr val="B50A0A"/>
                          </a:solidFill>
                          <a:latin typeface="Lucida Sans Unicode"/>
                          <a:cs typeface="Lucida Sans Unicode"/>
                        </a:rPr>
                        <a:t>∗</a:t>
                      </a:r>
                      <a:r>
                        <a:rPr sz="900" spc="-10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constants</a:t>
                      </a:r>
                      <a:r>
                        <a:rPr sz="900" spc="-10" dirty="0">
                          <a:solidFill>
                            <a:srgbClr val="B50A0A"/>
                          </a:solidFill>
                          <a:latin typeface="Lucida Sans Unicode"/>
                          <a:cs typeface="Lucida Sans Unicode"/>
                        </a:rPr>
                        <a:t>∗</a:t>
                      </a:r>
                      <a:r>
                        <a:rPr sz="900" spc="-10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/</a:t>
                      </a:r>
                      <a:endParaRPr sz="900">
                        <a:latin typeface="Arial"/>
                        <a:cs typeface="Arial"/>
                      </a:endParaRPr>
                    </a:p>
                    <a:p>
                      <a:pPr marL="311785" marR="81280" indent="-221615">
                        <a:lnSpc>
                          <a:spcPct val="125400"/>
                        </a:lnSpc>
                      </a:pPr>
                      <a:r>
                        <a:rPr sz="900" b="1" dirty="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int</a:t>
                      </a:r>
                      <a:r>
                        <a:rPr sz="900" b="1" spc="195" dirty="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45" dirty="0">
                          <a:latin typeface="Arial"/>
                          <a:cs typeface="Arial"/>
                        </a:rPr>
                        <a:t>x=y</a:t>
                      </a:r>
                      <a:r>
                        <a:rPr sz="900" spc="-45" dirty="0">
                          <a:latin typeface="Lucida Sans Unicode"/>
                          <a:cs typeface="Lucida Sans Unicode"/>
                        </a:rPr>
                        <a:t>∗</a:t>
                      </a:r>
                      <a:r>
                        <a:rPr sz="900" spc="-45" dirty="0">
                          <a:latin typeface="Arial"/>
                          <a:cs typeface="Arial"/>
                        </a:rPr>
                        <a:t>z;</a:t>
                      </a:r>
                      <a:r>
                        <a:rPr sz="900" spc="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35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/</a:t>
                      </a:r>
                      <a:r>
                        <a:rPr sz="900" spc="-35" dirty="0">
                          <a:solidFill>
                            <a:srgbClr val="B50A0A"/>
                          </a:solidFill>
                          <a:latin typeface="Lucida Sans Unicode"/>
                          <a:cs typeface="Lucida Sans Unicode"/>
                        </a:rPr>
                        <a:t>∗</a:t>
                      </a:r>
                      <a:r>
                        <a:rPr sz="900" spc="-35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variables</a:t>
                      </a:r>
                      <a:r>
                        <a:rPr sz="900" spc="-35" dirty="0">
                          <a:solidFill>
                            <a:srgbClr val="B50A0A"/>
                          </a:solidFill>
                          <a:latin typeface="Lucida Sans Unicode"/>
                          <a:cs typeface="Lucida Sans Unicode"/>
                        </a:rPr>
                        <a:t>∗</a:t>
                      </a:r>
                      <a:r>
                        <a:rPr sz="900" spc="-35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/ </a:t>
                      </a:r>
                      <a:r>
                        <a:rPr sz="900" spc="-90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900" spc="-90" dirty="0">
                          <a:latin typeface="Lucida Sans Unicode"/>
                          <a:cs typeface="Lucida Sans Unicode"/>
                        </a:rPr>
                        <a:t>∗</a:t>
                      </a:r>
                      <a:r>
                        <a:rPr sz="900" spc="-90" dirty="0">
                          <a:latin typeface="Arial"/>
                          <a:cs typeface="Arial"/>
                        </a:rPr>
                        <a:t>y</a:t>
                      </a:r>
                      <a:r>
                        <a:rPr sz="900" spc="-90" dirty="0">
                          <a:latin typeface="Lucida Sans Unicode"/>
                          <a:cs typeface="Lucida Sans Unicode"/>
                        </a:rPr>
                        <a:t>∗</a:t>
                      </a:r>
                      <a:r>
                        <a:rPr sz="900" spc="-90" dirty="0">
                          <a:latin typeface="Arial"/>
                          <a:cs typeface="Arial"/>
                        </a:rPr>
                        <a:t>2;</a:t>
                      </a:r>
                      <a:r>
                        <a:rPr sz="900" spc="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10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/</a:t>
                      </a:r>
                      <a:r>
                        <a:rPr sz="900" spc="-10" dirty="0">
                          <a:solidFill>
                            <a:srgbClr val="B50A0A"/>
                          </a:solidFill>
                          <a:latin typeface="Lucida Sans Unicode"/>
                          <a:cs typeface="Lucida Sans Unicode"/>
                        </a:rPr>
                        <a:t>∗</a:t>
                      </a:r>
                      <a:r>
                        <a:rPr sz="900" spc="-10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both</a:t>
                      </a:r>
                      <a:r>
                        <a:rPr sz="900" spc="-10" dirty="0">
                          <a:solidFill>
                            <a:srgbClr val="B50A0A"/>
                          </a:solidFill>
                          <a:latin typeface="Lucida Sans Unicode"/>
                          <a:cs typeface="Lucida Sans Unicode"/>
                        </a:rPr>
                        <a:t>∗</a:t>
                      </a:r>
                      <a:r>
                        <a:rPr sz="900" spc="-10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/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4300486" y="3278333"/>
            <a:ext cx="138430" cy="151130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800" spc="-25" dirty="0">
                <a:latin typeface="Arial"/>
                <a:cs typeface="Arial"/>
              </a:rPr>
              <a:t>14</a:t>
            </a:r>
            <a:endParaRPr sz="8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300" y="61452"/>
            <a:ext cx="253365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b="1" dirty="0">
                <a:solidFill>
                  <a:srgbClr val="993333"/>
                </a:solidFill>
                <a:latin typeface="Arial"/>
                <a:cs typeface="Arial"/>
              </a:rPr>
              <a:t>Arithmetic</a:t>
            </a:r>
            <a:r>
              <a:rPr sz="1400" b="1" spc="125" dirty="0">
                <a:solidFill>
                  <a:srgbClr val="993333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993333"/>
                </a:solidFill>
                <a:latin typeface="Arial"/>
                <a:cs typeface="Arial"/>
              </a:rPr>
              <a:t>operators</a:t>
            </a:r>
            <a:r>
              <a:rPr sz="1400" b="1" spc="125" dirty="0">
                <a:solidFill>
                  <a:srgbClr val="993333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993333"/>
                </a:solidFill>
                <a:latin typeface="Arial"/>
                <a:cs typeface="Arial"/>
              </a:rPr>
              <a:t>(contd.)</a:t>
            </a:r>
            <a:endParaRPr sz="1400">
              <a:latin typeface="Arial"/>
              <a:cs typeface="Arial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357466" y="1009434"/>
          <a:ext cx="4049395" cy="12941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661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74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158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1930">
                <a:tc>
                  <a:txBody>
                    <a:bodyPr/>
                    <a:lstStyle/>
                    <a:p>
                      <a:pPr algn="ctr">
                        <a:lnSpc>
                          <a:spcPts val="1290"/>
                        </a:lnSpc>
                      </a:pPr>
                      <a:r>
                        <a:rPr sz="1100" spc="-10" dirty="0">
                          <a:latin typeface="Arial"/>
                          <a:cs typeface="Arial"/>
                        </a:rPr>
                        <a:t>operator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90"/>
                        </a:lnSpc>
                      </a:pPr>
                      <a:r>
                        <a:rPr sz="1100" spc="-10" dirty="0">
                          <a:latin typeface="Arial"/>
                          <a:cs typeface="Arial"/>
                        </a:rPr>
                        <a:t>meaning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90"/>
                        </a:lnSpc>
                      </a:pPr>
                      <a:r>
                        <a:rPr sz="1100" spc="-10" dirty="0">
                          <a:latin typeface="Arial"/>
                          <a:cs typeface="Arial"/>
                        </a:rPr>
                        <a:t>examples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61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00" spc="-50" dirty="0">
                          <a:latin typeface="Arial"/>
                          <a:cs typeface="Arial"/>
                        </a:rPr>
                        <a:t>/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698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00" spc="-10" dirty="0">
                          <a:latin typeface="Arial"/>
                          <a:cs typeface="Arial"/>
                        </a:rPr>
                        <a:t>division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698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00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900" b="1" dirty="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float</a:t>
                      </a:r>
                      <a:r>
                        <a:rPr sz="900" b="1" spc="195" dirty="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x=3/2;</a:t>
                      </a:r>
                      <a:r>
                        <a:rPr sz="900" spc="1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25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/</a:t>
                      </a:r>
                      <a:r>
                        <a:rPr sz="900" spc="-25" dirty="0">
                          <a:solidFill>
                            <a:srgbClr val="B50A0A"/>
                          </a:solidFill>
                          <a:latin typeface="Lucida Sans Unicode"/>
                          <a:cs typeface="Lucida Sans Unicode"/>
                        </a:rPr>
                        <a:t>∗</a:t>
                      </a:r>
                      <a:r>
                        <a:rPr sz="900" spc="-25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produces</a:t>
                      </a:r>
                      <a:r>
                        <a:rPr sz="900" spc="-15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x=1</a:t>
                      </a:r>
                      <a:r>
                        <a:rPr sz="900" spc="-10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(int</a:t>
                      </a:r>
                      <a:r>
                        <a:rPr sz="900" spc="220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10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/)</a:t>
                      </a:r>
                      <a:r>
                        <a:rPr sz="900" spc="-75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25" dirty="0">
                          <a:solidFill>
                            <a:srgbClr val="B50A0A"/>
                          </a:solidFill>
                          <a:latin typeface="Lucida Sans Unicode"/>
                          <a:cs typeface="Lucida Sans Unicode"/>
                        </a:rPr>
                        <a:t>∗</a:t>
                      </a:r>
                      <a:r>
                        <a:rPr sz="900" spc="-25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/</a:t>
                      </a:r>
                      <a:endParaRPr sz="900">
                        <a:latin typeface="Arial"/>
                        <a:cs typeface="Arial"/>
                      </a:endParaRPr>
                    </a:p>
                    <a:p>
                      <a:pPr marL="83185" marR="67945" indent="106680">
                        <a:lnSpc>
                          <a:spcPct val="125400"/>
                        </a:lnSpc>
                      </a:pPr>
                      <a:r>
                        <a:rPr sz="900" b="1" dirty="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float</a:t>
                      </a:r>
                      <a:r>
                        <a:rPr sz="900" b="1" spc="200" dirty="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x=3.0/2</a:t>
                      </a:r>
                      <a:r>
                        <a:rPr sz="900" spc="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25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/</a:t>
                      </a:r>
                      <a:r>
                        <a:rPr sz="900" spc="-25" dirty="0">
                          <a:solidFill>
                            <a:srgbClr val="B50A0A"/>
                          </a:solidFill>
                          <a:latin typeface="Lucida Sans Unicode"/>
                          <a:cs typeface="Lucida Sans Unicode"/>
                        </a:rPr>
                        <a:t>∗</a:t>
                      </a:r>
                      <a:r>
                        <a:rPr sz="900" spc="-25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produces</a:t>
                      </a:r>
                      <a:r>
                        <a:rPr sz="900" spc="-10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x=1.5</a:t>
                      </a:r>
                      <a:r>
                        <a:rPr sz="900" spc="-10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(float</a:t>
                      </a:r>
                      <a:r>
                        <a:rPr sz="900" spc="310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10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/)</a:t>
                      </a:r>
                      <a:r>
                        <a:rPr sz="900" spc="-75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25" dirty="0">
                          <a:solidFill>
                            <a:srgbClr val="B50A0A"/>
                          </a:solidFill>
                          <a:latin typeface="Lucida Sans Unicode"/>
                          <a:cs typeface="Lucida Sans Unicode"/>
                        </a:rPr>
                        <a:t>∗</a:t>
                      </a:r>
                      <a:r>
                        <a:rPr sz="900" spc="-25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/ </a:t>
                      </a:r>
                      <a:r>
                        <a:rPr sz="900" b="1" dirty="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int</a:t>
                      </a:r>
                      <a:r>
                        <a:rPr sz="900" b="1" spc="190" dirty="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x=3.0/2;</a:t>
                      </a:r>
                      <a:r>
                        <a:rPr sz="900" spc="19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25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/</a:t>
                      </a:r>
                      <a:r>
                        <a:rPr sz="900" spc="-25" dirty="0">
                          <a:solidFill>
                            <a:srgbClr val="B50A0A"/>
                          </a:solidFill>
                          <a:latin typeface="Lucida Sans Unicode"/>
                          <a:cs typeface="Lucida Sans Unicode"/>
                        </a:rPr>
                        <a:t>∗</a:t>
                      </a:r>
                      <a:r>
                        <a:rPr sz="900" spc="-25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produces</a:t>
                      </a:r>
                      <a:r>
                        <a:rPr sz="900" spc="-15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x=1</a:t>
                      </a:r>
                      <a:r>
                        <a:rPr sz="900" spc="-15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(int</a:t>
                      </a:r>
                      <a:r>
                        <a:rPr sz="900" spc="95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25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conversion)</a:t>
                      </a:r>
                      <a:r>
                        <a:rPr sz="900" spc="-25" dirty="0">
                          <a:solidFill>
                            <a:srgbClr val="B50A0A"/>
                          </a:solidFill>
                          <a:latin typeface="Lucida Sans Unicode"/>
                          <a:cs typeface="Lucida Sans Unicode"/>
                        </a:rPr>
                        <a:t>∗</a:t>
                      </a:r>
                      <a:r>
                        <a:rPr sz="900" spc="-25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/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61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00" spc="-50" dirty="0">
                          <a:latin typeface="Arial"/>
                          <a:cs typeface="Arial"/>
                        </a:rPr>
                        <a:t>%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698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90"/>
                        </a:lnSpc>
                      </a:pPr>
                      <a:r>
                        <a:rPr sz="1100" spc="-10" dirty="0">
                          <a:latin typeface="Arial"/>
                          <a:cs typeface="Arial"/>
                        </a:rPr>
                        <a:t>modulus</a:t>
                      </a:r>
                      <a:endParaRPr sz="110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100" spc="-10" dirty="0">
                          <a:latin typeface="Arial"/>
                          <a:cs typeface="Arial"/>
                        </a:rPr>
                        <a:t>(remainder)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900" b="1" dirty="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int</a:t>
                      </a:r>
                      <a:r>
                        <a:rPr sz="900" b="1" spc="185" dirty="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x=3%2;</a:t>
                      </a:r>
                      <a:r>
                        <a:rPr sz="9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30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/</a:t>
                      </a:r>
                      <a:r>
                        <a:rPr sz="900" spc="-30" dirty="0">
                          <a:solidFill>
                            <a:srgbClr val="B50A0A"/>
                          </a:solidFill>
                          <a:latin typeface="Lucida Sans Unicode"/>
                          <a:cs typeface="Lucida Sans Unicode"/>
                        </a:rPr>
                        <a:t>∗</a:t>
                      </a:r>
                      <a:r>
                        <a:rPr sz="900" spc="-30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produces</a:t>
                      </a:r>
                      <a:r>
                        <a:rPr sz="900" spc="-15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20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x=1</a:t>
                      </a:r>
                      <a:r>
                        <a:rPr sz="900" spc="-20" dirty="0">
                          <a:solidFill>
                            <a:srgbClr val="B50A0A"/>
                          </a:solidFill>
                          <a:latin typeface="Lucida Sans Unicode"/>
                          <a:cs typeface="Lucida Sans Unicode"/>
                        </a:rPr>
                        <a:t>∗</a:t>
                      </a:r>
                      <a:r>
                        <a:rPr sz="900" spc="-20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/</a:t>
                      </a:r>
                      <a:endParaRPr sz="900">
                        <a:latin typeface="Arial"/>
                        <a:cs typeface="Arial"/>
                      </a:endParaRPr>
                    </a:p>
                    <a:p>
                      <a:pPr marL="349885" marR="335280" algn="ctr">
                        <a:lnSpc>
                          <a:spcPct val="125400"/>
                        </a:lnSpc>
                      </a:pPr>
                      <a:r>
                        <a:rPr sz="900" b="1" dirty="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int</a:t>
                      </a:r>
                      <a:r>
                        <a:rPr sz="900" b="1" spc="185" dirty="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y=7;</a:t>
                      </a:r>
                      <a:r>
                        <a:rPr sz="900" b="1" dirty="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int</a:t>
                      </a:r>
                      <a:r>
                        <a:rPr sz="900" b="1" spc="135" dirty="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x=y%4;</a:t>
                      </a:r>
                      <a:r>
                        <a:rPr sz="9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30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/</a:t>
                      </a:r>
                      <a:r>
                        <a:rPr sz="900" spc="-30" dirty="0">
                          <a:solidFill>
                            <a:srgbClr val="B50A0A"/>
                          </a:solidFill>
                          <a:latin typeface="Lucida Sans Unicode"/>
                          <a:cs typeface="Lucida Sans Unicode"/>
                        </a:rPr>
                        <a:t>∗</a:t>
                      </a:r>
                      <a:r>
                        <a:rPr sz="900" spc="-30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produces</a:t>
                      </a:r>
                      <a:r>
                        <a:rPr sz="900" spc="-15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25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3</a:t>
                      </a:r>
                      <a:r>
                        <a:rPr sz="900" spc="-25" dirty="0">
                          <a:solidFill>
                            <a:srgbClr val="B50A0A"/>
                          </a:solidFill>
                          <a:latin typeface="Lucida Sans Unicode"/>
                          <a:cs typeface="Lucida Sans Unicode"/>
                        </a:rPr>
                        <a:t>∗</a:t>
                      </a:r>
                      <a:r>
                        <a:rPr sz="900" spc="-25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/ </a:t>
                      </a:r>
                      <a:r>
                        <a:rPr sz="900" b="1" dirty="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int</a:t>
                      </a:r>
                      <a:r>
                        <a:rPr sz="900" b="1" spc="180" dirty="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y=7;</a:t>
                      </a:r>
                      <a:r>
                        <a:rPr sz="900" b="1" dirty="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int</a:t>
                      </a:r>
                      <a:r>
                        <a:rPr sz="900" b="1" spc="135" dirty="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x=y%10;</a:t>
                      </a:r>
                      <a:r>
                        <a:rPr sz="9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30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/</a:t>
                      </a:r>
                      <a:r>
                        <a:rPr sz="900" spc="-30" dirty="0">
                          <a:solidFill>
                            <a:srgbClr val="B50A0A"/>
                          </a:solidFill>
                          <a:latin typeface="Lucida Sans Unicode"/>
                          <a:cs typeface="Lucida Sans Unicode"/>
                        </a:rPr>
                        <a:t>∗</a:t>
                      </a:r>
                      <a:r>
                        <a:rPr sz="900" spc="-30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produces</a:t>
                      </a:r>
                      <a:r>
                        <a:rPr sz="900" spc="-15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70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7</a:t>
                      </a:r>
                      <a:r>
                        <a:rPr sz="900" spc="-70" dirty="0">
                          <a:solidFill>
                            <a:srgbClr val="B50A0A"/>
                          </a:solidFill>
                          <a:latin typeface="Lucida Sans Unicode"/>
                          <a:cs typeface="Lucida Sans Unicode"/>
                        </a:rPr>
                        <a:t>∗</a:t>
                      </a:r>
                      <a:r>
                        <a:rPr sz="900" spc="-70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/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-25" dirty="0"/>
              <a:t>15</a:t>
            </a:r>
          </a:p>
        </p:txBody>
      </p:sp>
    </p:spTree>
  </p:cSld>
  <p:clrMapOvr>
    <a:masterClrMapping/>
  </p:clrMapOvr>
  <p:transition>
    <p:cut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Relational</a:t>
            </a:r>
            <a:r>
              <a:rPr spc="135" dirty="0"/>
              <a:t> </a:t>
            </a:r>
            <a:r>
              <a:rPr spc="-10" dirty="0"/>
              <a:t>Operators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7294" y="675867"/>
            <a:ext cx="3737610" cy="53594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55"/>
              </a:spcBef>
              <a:tabLst>
                <a:tab pos="3630929" algn="l"/>
              </a:tabLst>
            </a:pPr>
            <a:r>
              <a:rPr sz="1100" spc="-10" dirty="0">
                <a:latin typeface="Arial"/>
                <a:cs typeface="Arial"/>
              </a:rPr>
              <a:t>Relational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operators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compare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two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operands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to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produce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spc="-50" dirty="0">
                <a:latin typeface="Arial"/>
                <a:cs typeface="Arial"/>
              </a:rPr>
              <a:t>a </a:t>
            </a:r>
            <a:r>
              <a:rPr sz="1100" spc="-10" dirty="0">
                <a:latin typeface="Arial"/>
                <a:cs typeface="Arial"/>
              </a:rPr>
              <a:t>’boolean’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result.</a:t>
            </a:r>
            <a:r>
              <a:rPr sz="1100" spc="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any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non-</a:t>
            </a:r>
            <a:r>
              <a:rPr sz="1100" dirty="0">
                <a:latin typeface="Arial"/>
                <a:cs typeface="Arial"/>
              </a:rPr>
              <a:t>zero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value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(1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by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convention)</a:t>
            </a:r>
            <a:r>
              <a:rPr sz="1100" spc="-25" dirty="0">
                <a:latin typeface="Arial"/>
                <a:cs typeface="Arial"/>
              </a:rPr>
              <a:t> is </a:t>
            </a:r>
            <a:r>
              <a:rPr sz="1100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considered</a:t>
            </a:r>
            <a:r>
              <a:rPr sz="1100" u="sng" spc="-2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100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to</a:t>
            </a:r>
            <a:r>
              <a:rPr sz="1100" u="sng" spc="-2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100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be</a:t>
            </a:r>
            <a:r>
              <a:rPr sz="1100" u="sng" spc="-2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100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’true’</a:t>
            </a:r>
            <a:r>
              <a:rPr sz="1100" u="sng" spc="-2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100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and</a:t>
            </a:r>
            <a:r>
              <a:rPr sz="1100" u="sng" spc="-2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100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0</a:t>
            </a:r>
            <a:r>
              <a:rPr sz="1100" u="sng" spc="-2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100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is</a:t>
            </a:r>
            <a:r>
              <a:rPr sz="1100" u="sng" spc="-2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100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considered</a:t>
            </a:r>
            <a:r>
              <a:rPr sz="1100" u="sng" spc="-2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100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to</a:t>
            </a:r>
            <a:r>
              <a:rPr sz="1100" u="sng" spc="-2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100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be</a:t>
            </a:r>
            <a:r>
              <a:rPr sz="1100" u="sng" spc="-2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100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false.</a:t>
            </a:r>
            <a:r>
              <a:rPr sz="1100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	</a:t>
            </a:r>
            <a:endParaRPr sz="1100">
              <a:latin typeface="Arial"/>
              <a:cs typeface="Arial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357466" y="1212062"/>
          <a:ext cx="3617595" cy="15963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661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66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347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89230"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spc="-10" dirty="0">
                          <a:latin typeface="Arial"/>
                          <a:cs typeface="Arial"/>
                        </a:rPr>
                        <a:t>operator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42595">
                        <a:lnSpc>
                          <a:spcPts val="1190"/>
                        </a:lnSpc>
                      </a:pPr>
                      <a:r>
                        <a:rPr sz="1100" spc="-10" dirty="0">
                          <a:latin typeface="Arial"/>
                          <a:cs typeface="Arial"/>
                        </a:rPr>
                        <a:t>meaning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73075">
                        <a:lnSpc>
                          <a:spcPts val="1190"/>
                        </a:lnSpc>
                      </a:pPr>
                      <a:r>
                        <a:rPr sz="1100" spc="-10" dirty="0">
                          <a:latin typeface="Arial"/>
                          <a:cs typeface="Arial"/>
                        </a:rPr>
                        <a:t>examples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131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45"/>
                        </a:spcBef>
                      </a:pPr>
                      <a:r>
                        <a:rPr sz="1100" spc="-50" dirty="0">
                          <a:latin typeface="Arial"/>
                          <a:cs typeface="Arial"/>
                        </a:rPr>
                        <a:t>&gt;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819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35280">
                        <a:lnSpc>
                          <a:spcPct val="100000"/>
                        </a:lnSpc>
                        <a:spcBef>
                          <a:spcPts val="645"/>
                        </a:spcBef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greater</a:t>
                      </a:r>
                      <a:r>
                        <a:rPr sz="1100" spc="-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20" dirty="0">
                          <a:latin typeface="Arial"/>
                          <a:cs typeface="Arial"/>
                        </a:rPr>
                        <a:t>than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819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2400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900" dirty="0">
                          <a:latin typeface="Arial"/>
                          <a:cs typeface="Arial"/>
                        </a:rPr>
                        <a:t>3&gt;2;</a:t>
                      </a:r>
                      <a:r>
                        <a:rPr sz="900" spc="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30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/</a:t>
                      </a:r>
                      <a:r>
                        <a:rPr sz="900" spc="-30" dirty="0">
                          <a:solidFill>
                            <a:srgbClr val="B50A0A"/>
                          </a:solidFill>
                          <a:latin typeface="Lucida Sans Unicode"/>
                          <a:cs typeface="Lucida Sans Unicode"/>
                        </a:rPr>
                        <a:t>∗</a:t>
                      </a:r>
                      <a:r>
                        <a:rPr sz="900" spc="-30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evaluates</a:t>
                      </a:r>
                      <a:r>
                        <a:rPr sz="900" spc="25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to</a:t>
                      </a:r>
                      <a:r>
                        <a:rPr sz="900" spc="175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1</a:t>
                      </a:r>
                      <a:r>
                        <a:rPr sz="900" spc="105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25" dirty="0">
                          <a:solidFill>
                            <a:srgbClr val="B50A0A"/>
                          </a:solidFill>
                          <a:latin typeface="Lucida Sans Unicode"/>
                          <a:cs typeface="Lucida Sans Unicode"/>
                        </a:rPr>
                        <a:t>∗</a:t>
                      </a:r>
                      <a:r>
                        <a:rPr sz="900" spc="-25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/</a:t>
                      </a:r>
                      <a:endParaRPr sz="900">
                        <a:latin typeface="Arial"/>
                        <a:cs typeface="Arial"/>
                      </a:endParaRPr>
                    </a:p>
                    <a:p>
                      <a:pPr marL="10096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900" dirty="0">
                          <a:latin typeface="Arial"/>
                          <a:cs typeface="Arial"/>
                        </a:rPr>
                        <a:t>2.99&gt;3</a:t>
                      </a:r>
                      <a:r>
                        <a:rPr sz="9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35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/</a:t>
                      </a:r>
                      <a:r>
                        <a:rPr sz="900" spc="-35" dirty="0">
                          <a:solidFill>
                            <a:srgbClr val="B50A0A"/>
                          </a:solidFill>
                          <a:latin typeface="Lucida Sans Unicode"/>
                          <a:cs typeface="Lucida Sans Unicode"/>
                        </a:rPr>
                        <a:t>∗</a:t>
                      </a:r>
                      <a:r>
                        <a:rPr sz="900" spc="-35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evaluates</a:t>
                      </a:r>
                      <a:r>
                        <a:rPr sz="900" spc="-10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to</a:t>
                      </a:r>
                      <a:r>
                        <a:rPr sz="900" spc="110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0</a:t>
                      </a:r>
                      <a:r>
                        <a:rPr sz="900" spc="100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25" dirty="0">
                          <a:solidFill>
                            <a:srgbClr val="B50A0A"/>
                          </a:solidFill>
                          <a:latin typeface="Lucida Sans Unicode"/>
                          <a:cs typeface="Lucida Sans Unicode"/>
                        </a:rPr>
                        <a:t>∗</a:t>
                      </a:r>
                      <a:r>
                        <a:rPr sz="900" spc="-25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/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861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sz="1100" spc="-25" dirty="0">
                          <a:latin typeface="Arial"/>
                          <a:cs typeface="Arial"/>
                        </a:rPr>
                        <a:t>&gt;=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692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greater</a:t>
                      </a:r>
                      <a:r>
                        <a:rPr sz="1100" spc="-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latin typeface="Arial"/>
                          <a:cs typeface="Arial"/>
                        </a:rPr>
                        <a:t>than</a:t>
                      </a:r>
                      <a:r>
                        <a:rPr sz="110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25" dirty="0">
                          <a:latin typeface="Arial"/>
                          <a:cs typeface="Arial"/>
                        </a:rPr>
                        <a:t>or</a:t>
                      </a:r>
                      <a:endParaRPr sz="1100">
                        <a:latin typeface="Arial"/>
                        <a:cs typeface="Arial"/>
                      </a:endParaRPr>
                    </a:p>
                    <a:p>
                      <a:pPr marL="75565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equal</a:t>
                      </a:r>
                      <a:r>
                        <a:rPr sz="1100" spc="-6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25" dirty="0">
                          <a:latin typeface="Arial"/>
                          <a:cs typeface="Arial"/>
                        </a:rPr>
                        <a:t>to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900" dirty="0">
                          <a:latin typeface="Arial"/>
                          <a:cs typeface="Arial"/>
                        </a:rPr>
                        <a:t>3&gt;=3;</a:t>
                      </a:r>
                      <a:r>
                        <a:rPr sz="9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35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/</a:t>
                      </a:r>
                      <a:r>
                        <a:rPr sz="900" spc="-35" dirty="0">
                          <a:solidFill>
                            <a:srgbClr val="B50A0A"/>
                          </a:solidFill>
                          <a:latin typeface="Lucida Sans Unicode"/>
                          <a:cs typeface="Lucida Sans Unicode"/>
                        </a:rPr>
                        <a:t>∗</a:t>
                      </a:r>
                      <a:r>
                        <a:rPr sz="900" spc="-35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evaluates</a:t>
                      </a:r>
                      <a:r>
                        <a:rPr sz="900" spc="15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to</a:t>
                      </a:r>
                      <a:r>
                        <a:rPr sz="900" spc="160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1</a:t>
                      </a:r>
                      <a:r>
                        <a:rPr sz="900" spc="105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25" dirty="0">
                          <a:solidFill>
                            <a:srgbClr val="B50A0A"/>
                          </a:solidFill>
                          <a:latin typeface="Lucida Sans Unicode"/>
                          <a:cs typeface="Lucida Sans Unicode"/>
                        </a:rPr>
                        <a:t>∗</a:t>
                      </a:r>
                      <a:r>
                        <a:rPr sz="900" spc="-25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/</a:t>
                      </a:r>
                      <a:endParaRPr sz="900">
                        <a:latin typeface="Arial"/>
                        <a:cs typeface="Arial"/>
                      </a:endParaRPr>
                    </a:p>
                    <a:p>
                      <a:pPr marL="7556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900" dirty="0">
                          <a:latin typeface="Arial"/>
                          <a:cs typeface="Arial"/>
                        </a:rPr>
                        <a:t>2.99&gt;=3</a:t>
                      </a:r>
                      <a:r>
                        <a:rPr sz="9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35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/</a:t>
                      </a:r>
                      <a:r>
                        <a:rPr sz="900" spc="-35" dirty="0">
                          <a:solidFill>
                            <a:srgbClr val="B50A0A"/>
                          </a:solidFill>
                          <a:latin typeface="Lucida Sans Unicode"/>
                          <a:cs typeface="Lucida Sans Unicode"/>
                        </a:rPr>
                        <a:t>∗</a:t>
                      </a:r>
                      <a:r>
                        <a:rPr sz="900" spc="-35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evaluates</a:t>
                      </a:r>
                      <a:r>
                        <a:rPr sz="900" spc="-10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to</a:t>
                      </a:r>
                      <a:r>
                        <a:rPr sz="900" spc="-10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0</a:t>
                      </a:r>
                      <a:r>
                        <a:rPr sz="900" spc="95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25" dirty="0">
                          <a:solidFill>
                            <a:srgbClr val="B50A0A"/>
                          </a:solidFill>
                          <a:latin typeface="Lucida Sans Unicode"/>
                          <a:cs typeface="Lucida Sans Unicode"/>
                        </a:rPr>
                        <a:t>∗</a:t>
                      </a:r>
                      <a:r>
                        <a:rPr sz="900" spc="-25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/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82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861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sz="1100" spc="-50" dirty="0">
                          <a:latin typeface="Arial"/>
                          <a:cs typeface="Arial"/>
                        </a:rPr>
                        <a:t>&lt;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692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lesser</a:t>
                      </a:r>
                      <a:r>
                        <a:rPr sz="11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20" dirty="0">
                          <a:latin typeface="Arial"/>
                          <a:cs typeface="Arial"/>
                        </a:rPr>
                        <a:t>than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692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2400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900" dirty="0">
                          <a:latin typeface="Arial"/>
                          <a:cs typeface="Arial"/>
                        </a:rPr>
                        <a:t>3&lt;3;</a:t>
                      </a:r>
                      <a:r>
                        <a:rPr sz="900" spc="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30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/</a:t>
                      </a:r>
                      <a:r>
                        <a:rPr sz="900" spc="-30" dirty="0">
                          <a:solidFill>
                            <a:srgbClr val="B50A0A"/>
                          </a:solidFill>
                          <a:latin typeface="Lucida Sans Unicode"/>
                          <a:cs typeface="Lucida Sans Unicode"/>
                        </a:rPr>
                        <a:t>∗</a:t>
                      </a:r>
                      <a:r>
                        <a:rPr sz="900" spc="-30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evaluates</a:t>
                      </a:r>
                      <a:r>
                        <a:rPr sz="900" spc="25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to</a:t>
                      </a:r>
                      <a:r>
                        <a:rPr sz="900" spc="175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0</a:t>
                      </a:r>
                      <a:r>
                        <a:rPr sz="900" spc="105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25" dirty="0">
                          <a:solidFill>
                            <a:srgbClr val="B50A0A"/>
                          </a:solidFill>
                          <a:latin typeface="Lucida Sans Unicode"/>
                          <a:cs typeface="Lucida Sans Unicode"/>
                        </a:rPr>
                        <a:t>∗</a:t>
                      </a:r>
                      <a:r>
                        <a:rPr sz="900" spc="-25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/</a:t>
                      </a:r>
                      <a:endParaRPr sz="900">
                        <a:latin typeface="Arial"/>
                        <a:cs typeface="Arial"/>
                      </a:endParaRPr>
                    </a:p>
                    <a:p>
                      <a:pPr marL="8763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900" spc="-25" dirty="0">
                          <a:latin typeface="Courier New"/>
                          <a:cs typeface="Courier New"/>
                        </a:rPr>
                        <a:t>’A’</a:t>
                      </a:r>
                      <a:r>
                        <a:rPr sz="900" spc="-25" dirty="0">
                          <a:latin typeface="Arial"/>
                          <a:cs typeface="Arial"/>
                        </a:rPr>
                        <a:t>&lt;</a:t>
                      </a:r>
                      <a:r>
                        <a:rPr sz="900" spc="-25" dirty="0">
                          <a:latin typeface="Courier New"/>
                          <a:cs typeface="Courier New"/>
                        </a:rPr>
                        <a:t>’B’</a:t>
                      </a:r>
                      <a:r>
                        <a:rPr sz="900" spc="-25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/</a:t>
                      </a:r>
                      <a:r>
                        <a:rPr sz="900" spc="-25" dirty="0">
                          <a:solidFill>
                            <a:srgbClr val="B50A0A"/>
                          </a:solidFill>
                          <a:latin typeface="Lucida Sans Unicode"/>
                          <a:cs typeface="Lucida Sans Unicode"/>
                        </a:rPr>
                        <a:t>∗</a:t>
                      </a:r>
                      <a:r>
                        <a:rPr sz="900" spc="-25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evaluates</a:t>
                      </a:r>
                      <a:r>
                        <a:rPr sz="900" spc="30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to</a:t>
                      </a:r>
                      <a:r>
                        <a:rPr sz="900" spc="35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25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1</a:t>
                      </a:r>
                      <a:r>
                        <a:rPr sz="900" spc="-25" dirty="0">
                          <a:solidFill>
                            <a:srgbClr val="B50A0A"/>
                          </a:solidFill>
                          <a:latin typeface="Lucida Sans Unicode"/>
                          <a:cs typeface="Lucida Sans Unicode"/>
                        </a:rPr>
                        <a:t>∗</a:t>
                      </a:r>
                      <a:r>
                        <a:rPr sz="900" spc="-25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/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82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861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sz="1100" spc="-25" dirty="0">
                          <a:latin typeface="Arial"/>
                          <a:cs typeface="Arial"/>
                        </a:rPr>
                        <a:t>&lt;=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692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lesser</a:t>
                      </a:r>
                      <a:r>
                        <a:rPr sz="11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latin typeface="Arial"/>
                          <a:cs typeface="Arial"/>
                        </a:rPr>
                        <a:t>than</a:t>
                      </a:r>
                      <a:r>
                        <a:rPr sz="11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latin typeface="Arial"/>
                          <a:cs typeface="Arial"/>
                        </a:rPr>
                        <a:t>or</a:t>
                      </a:r>
                      <a:r>
                        <a:rPr sz="11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10" dirty="0">
                          <a:latin typeface="Arial"/>
                          <a:cs typeface="Arial"/>
                        </a:rPr>
                        <a:t>equal</a:t>
                      </a:r>
                      <a:endParaRPr sz="1100">
                        <a:latin typeface="Arial"/>
                        <a:cs typeface="Arial"/>
                      </a:endParaRPr>
                    </a:p>
                    <a:p>
                      <a:pPr marL="75565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100" spc="-25" dirty="0">
                          <a:latin typeface="Arial"/>
                          <a:cs typeface="Arial"/>
                        </a:rPr>
                        <a:t>to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900" dirty="0">
                          <a:latin typeface="Arial"/>
                          <a:cs typeface="Arial"/>
                        </a:rPr>
                        <a:t>3&lt;=3;</a:t>
                      </a:r>
                      <a:r>
                        <a:rPr sz="9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35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/</a:t>
                      </a:r>
                      <a:r>
                        <a:rPr sz="900" spc="-35" dirty="0">
                          <a:solidFill>
                            <a:srgbClr val="B50A0A"/>
                          </a:solidFill>
                          <a:latin typeface="Lucida Sans Unicode"/>
                          <a:cs typeface="Lucida Sans Unicode"/>
                        </a:rPr>
                        <a:t>∗</a:t>
                      </a:r>
                      <a:r>
                        <a:rPr sz="900" spc="-35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evaluates</a:t>
                      </a:r>
                      <a:r>
                        <a:rPr sz="900" spc="15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to</a:t>
                      </a:r>
                      <a:r>
                        <a:rPr sz="900" spc="160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1</a:t>
                      </a:r>
                      <a:r>
                        <a:rPr sz="900" spc="105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25" dirty="0">
                          <a:solidFill>
                            <a:srgbClr val="B50A0A"/>
                          </a:solidFill>
                          <a:latin typeface="Lucida Sans Unicode"/>
                          <a:cs typeface="Lucida Sans Unicode"/>
                        </a:rPr>
                        <a:t>∗</a:t>
                      </a:r>
                      <a:r>
                        <a:rPr sz="900" spc="-25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/</a:t>
                      </a:r>
                      <a:endParaRPr sz="900">
                        <a:latin typeface="Arial"/>
                        <a:cs typeface="Arial"/>
                      </a:endParaRPr>
                    </a:p>
                    <a:p>
                      <a:pPr marL="10096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900" dirty="0">
                          <a:latin typeface="Arial"/>
                          <a:cs typeface="Arial"/>
                        </a:rPr>
                        <a:t>3.99&lt;3</a:t>
                      </a:r>
                      <a:r>
                        <a:rPr sz="9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35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/</a:t>
                      </a:r>
                      <a:r>
                        <a:rPr sz="900" spc="-35" dirty="0">
                          <a:solidFill>
                            <a:srgbClr val="B50A0A"/>
                          </a:solidFill>
                          <a:latin typeface="Lucida Sans Unicode"/>
                          <a:cs typeface="Lucida Sans Unicode"/>
                        </a:rPr>
                        <a:t>∗</a:t>
                      </a:r>
                      <a:r>
                        <a:rPr sz="900" spc="-35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evaluates</a:t>
                      </a:r>
                      <a:r>
                        <a:rPr sz="900" spc="-10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to</a:t>
                      </a:r>
                      <a:r>
                        <a:rPr sz="900" spc="110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0</a:t>
                      </a:r>
                      <a:r>
                        <a:rPr sz="900" spc="100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25" dirty="0">
                          <a:solidFill>
                            <a:srgbClr val="B50A0A"/>
                          </a:solidFill>
                          <a:latin typeface="Lucida Sans Unicode"/>
                          <a:cs typeface="Lucida Sans Unicode"/>
                        </a:rPr>
                        <a:t>∗</a:t>
                      </a:r>
                      <a:r>
                        <a:rPr sz="900" spc="-25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/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82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-25" dirty="0"/>
              <a:t>16</a:t>
            </a:r>
          </a:p>
        </p:txBody>
      </p:sp>
    </p:spTree>
  </p:cSld>
  <p:clrMapOvr>
    <a:masterClrMapping/>
  </p:clrMapOvr>
  <p:transition>
    <p:cut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Relational</a:t>
            </a:r>
            <a:r>
              <a:rPr spc="135" dirty="0"/>
              <a:t> </a:t>
            </a:r>
            <a:r>
              <a:rPr spc="-10" dirty="0"/>
              <a:t>Operators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951268" y="935520"/>
          <a:ext cx="3150870" cy="8693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661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56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90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20700"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spc="-10" dirty="0">
                          <a:latin typeface="Arial"/>
                          <a:cs typeface="Arial"/>
                        </a:rPr>
                        <a:t>operator</a:t>
                      </a:r>
                      <a:endParaRPr sz="110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100" spc="-25" dirty="0">
                          <a:latin typeface="Arial"/>
                          <a:cs typeface="Arial"/>
                        </a:rPr>
                        <a:t>==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2085">
                        <a:lnSpc>
                          <a:spcPts val="1190"/>
                        </a:lnSpc>
                      </a:pPr>
                      <a:r>
                        <a:rPr sz="1100" spc="-10" dirty="0">
                          <a:latin typeface="Arial"/>
                          <a:cs typeface="Arial"/>
                        </a:rPr>
                        <a:t>meaning</a:t>
                      </a:r>
                      <a:endParaRPr sz="1100">
                        <a:latin typeface="Arial"/>
                        <a:cs typeface="Arial"/>
                      </a:endParaRPr>
                    </a:p>
                    <a:p>
                      <a:pPr marL="191135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equal</a:t>
                      </a:r>
                      <a:r>
                        <a:rPr sz="1100" spc="-6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25" dirty="0">
                          <a:latin typeface="Arial"/>
                          <a:cs typeface="Arial"/>
                        </a:rPr>
                        <a:t>to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spc="-10" dirty="0">
                          <a:latin typeface="Arial"/>
                          <a:cs typeface="Arial"/>
                        </a:rPr>
                        <a:t>examples</a:t>
                      </a:r>
                      <a:endParaRPr sz="110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234"/>
                        </a:spcBef>
                      </a:pPr>
                      <a:r>
                        <a:rPr sz="900" dirty="0">
                          <a:latin typeface="Arial"/>
                          <a:cs typeface="Arial"/>
                        </a:rPr>
                        <a:t>3==3;</a:t>
                      </a:r>
                      <a:r>
                        <a:rPr sz="9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35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/</a:t>
                      </a:r>
                      <a:r>
                        <a:rPr sz="900" spc="-35" dirty="0">
                          <a:solidFill>
                            <a:srgbClr val="B50A0A"/>
                          </a:solidFill>
                          <a:latin typeface="Lucida Sans Unicode"/>
                          <a:cs typeface="Lucida Sans Unicode"/>
                        </a:rPr>
                        <a:t>∗</a:t>
                      </a:r>
                      <a:r>
                        <a:rPr sz="900" spc="-35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evaluates</a:t>
                      </a:r>
                      <a:r>
                        <a:rPr sz="900" spc="10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to</a:t>
                      </a:r>
                      <a:r>
                        <a:rPr sz="900" spc="165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1</a:t>
                      </a:r>
                      <a:r>
                        <a:rPr sz="900" spc="100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25" dirty="0">
                          <a:solidFill>
                            <a:srgbClr val="B50A0A"/>
                          </a:solidFill>
                          <a:latin typeface="Lucida Sans Unicode"/>
                          <a:cs typeface="Lucida Sans Unicode"/>
                        </a:rPr>
                        <a:t>∗</a:t>
                      </a:r>
                      <a:r>
                        <a:rPr sz="900" spc="-25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/</a:t>
                      </a:r>
                      <a:endParaRPr sz="90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900" spc="-25" dirty="0">
                          <a:latin typeface="Courier New"/>
                          <a:cs typeface="Courier New"/>
                        </a:rPr>
                        <a:t>’A’</a:t>
                      </a:r>
                      <a:r>
                        <a:rPr sz="900" spc="-25" dirty="0">
                          <a:latin typeface="Arial"/>
                          <a:cs typeface="Arial"/>
                        </a:rPr>
                        <a:t>==</a:t>
                      </a:r>
                      <a:r>
                        <a:rPr sz="900" spc="-25" dirty="0">
                          <a:latin typeface="Courier New"/>
                          <a:cs typeface="Courier New"/>
                        </a:rPr>
                        <a:t>’a’</a:t>
                      </a:r>
                      <a:r>
                        <a:rPr sz="900" spc="-25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/</a:t>
                      </a:r>
                      <a:r>
                        <a:rPr sz="900" spc="-25" dirty="0">
                          <a:solidFill>
                            <a:srgbClr val="B50A0A"/>
                          </a:solidFill>
                          <a:latin typeface="Lucida Sans Unicode"/>
                          <a:cs typeface="Lucida Sans Unicode"/>
                        </a:rPr>
                        <a:t>∗</a:t>
                      </a:r>
                      <a:r>
                        <a:rPr sz="900" spc="-25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evaluates</a:t>
                      </a:r>
                      <a:r>
                        <a:rPr sz="900" spc="20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to</a:t>
                      </a:r>
                      <a:r>
                        <a:rPr sz="900" spc="25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0</a:t>
                      </a:r>
                      <a:r>
                        <a:rPr sz="900" spc="25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25" dirty="0">
                          <a:solidFill>
                            <a:srgbClr val="B50A0A"/>
                          </a:solidFill>
                          <a:latin typeface="Lucida Sans Unicode"/>
                          <a:cs typeface="Lucida Sans Unicode"/>
                        </a:rPr>
                        <a:t>∗</a:t>
                      </a:r>
                      <a:r>
                        <a:rPr sz="900" spc="-25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/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861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sz="1100" spc="-25" dirty="0">
                          <a:latin typeface="Arial"/>
                          <a:cs typeface="Arial"/>
                        </a:rPr>
                        <a:t>!=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692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not</a:t>
                      </a:r>
                      <a:r>
                        <a:rPr sz="110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latin typeface="Arial"/>
                          <a:cs typeface="Arial"/>
                        </a:rPr>
                        <a:t>equal</a:t>
                      </a:r>
                      <a:r>
                        <a:rPr sz="110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25" dirty="0">
                          <a:latin typeface="Arial"/>
                          <a:cs typeface="Arial"/>
                        </a:rPr>
                        <a:t>to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692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3830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900" dirty="0">
                          <a:latin typeface="Arial"/>
                          <a:cs typeface="Arial"/>
                        </a:rPr>
                        <a:t>3!=3;</a:t>
                      </a:r>
                      <a:r>
                        <a:rPr sz="900" spc="19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30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/</a:t>
                      </a:r>
                      <a:r>
                        <a:rPr sz="900" spc="-30" dirty="0">
                          <a:solidFill>
                            <a:srgbClr val="B50A0A"/>
                          </a:solidFill>
                          <a:latin typeface="Lucida Sans Unicode"/>
                          <a:cs typeface="Lucida Sans Unicode"/>
                        </a:rPr>
                        <a:t>∗</a:t>
                      </a:r>
                      <a:r>
                        <a:rPr sz="900" spc="-30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evaluates</a:t>
                      </a:r>
                      <a:r>
                        <a:rPr sz="900" spc="25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to</a:t>
                      </a:r>
                      <a:r>
                        <a:rPr sz="900" spc="170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0</a:t>
                      </a:r>
                      <a:r>
                        <a:rPr sz="900" spc="100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25" dirty="0">
                          <a:solidFill>
                            <a:srgbClr val="B50A0A"/>
                          </a:solidFill>
                          <a:latin typeface="Lucida Sans Unicode"/>
                          <a:cs typeface="Lucida Sans Unicode"/>
                        </a:rPr>
                        <a:t>∗</a:t>
                      </a:r>
                      <a:r>
                        <a:rPr sz="900" spc="-25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/</a:t>
                      </a:r>
                      <a:endParaRPr sz="900">
                        <a:latin typeface="Arial"/>
                        <a:cs typeface="Arial"/>
                      </a:endParaRPr>
                    </a:p>
                    <a:p>
                      <a:pPr marL="11239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900" dirty="0">
                          <a:latin typeface="Arial"/>
                          <a:cs typeface="Arial"/>
                        </a:rPr>
                        <a:t>2.99!=3</a:t>
                      </a:r>
                      <a:r>
                        <a:rPr sz="900" spc="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30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/</a:t>
                      </a:r>
                      <a:r>
                        <a:rPr sz="900" spc="-30" dirty="0">
                          <a:solidFill>
                            <a:srgbClr val="B50A0A"/>
                          </a:solidFill>
                          <a:latin typeface="Lucida Sans Unicode"/>
                          <a:cs typeface="Lucida Sans Unicode"/>
                        </a:rPr>
                        <a:t>∗</a:t>
                      </a:r>
                      <a:r>
                        <a:rPr sz="900" spc="-30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evaluates</a:t>
                      </a:r>
                      <a:r>
                        <a:rPr sz="900" spc="15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to</a:t>
                      </a:r>
                      <a:r>
                        <a:rPr sz="900" spc="170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1</a:t>
                      </a:r>
                      <a:r>
                        <a:rPr sz="900" spc="90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25" dirty="0">
                          <a:solidFill>
                            <a:srgbClr val="B50A0A"/>
                          </a:solidFill>
                          <a:latin typeface="Lucida Sans Unicode"/>
                          <a:cs typeface="Lucida Sans Unicode"/>
                        </a:rPr>
                        <a:t>∗</a:t>
                      </a:r>
                      <a:r>
                        <a:rPr sz="900" spc="-25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/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82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347294" y="715491"/>
            <a:ext cx="3771265" cy="201485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25" dirty="0">
                <a:latin typeface="Arial"/>
                <a:cs typeface="Arial"/>
              </a:rPr>
              <a:t>Testing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spc="-155" dirty="0">
                <a:latin typeface="Arial"/>
                <a:cs typeface="Arial"/>
              </a:rPr>
              <a:t>eq</a:t>
            </a:r>
            <a:r>
              <a:rPr sz="1100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uality</a:t>
            </a:r>
            <a:r>
              <a:rPr sz="1100" u="sng" spc="-2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100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is</a:t>
            </a:r>
            <a:r>
              <a:rPr sz="1100" u="sng" spc="-2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100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one</a:t>
            </a:r>
            <a:r>
              <a:rPr sz="1100" u="sng" spc="-2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100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of</a:t>
            </a:r>
            <a:r>
              <a:rPr sz="1100" u="sng" spc="-2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100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the</a:t>
            </a:r>
            <a:r>
              <a:rPr sz="1100" u="sng" spc="-2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100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most</a:t>
            </a:r>
            <a:r>
              <a:rPr sz="1100" u="sng" spc="-2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100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commonly</a:t>
            </a:r>
            <a:r>
              <a:rPr sz="1100" u="sng" spc="-2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100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used</a:t>
            </a:r>
            <a:r>
              <a:rPr sz="1100" u="sng" spc="-2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100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relational</a:t>
            </a:r>
            <a:r>
              <a:rPr sz="1100" u="sng" spc="50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endParaRPr sz="1100">
              <a:latin typeface="Arial"/>
              <a:cs typeface="Arial"/>
            </a:endParaRPr>
          </a:p>
          <a:p>
            <a:pPr marL="12700" marR="3195955">
              <a:lnSpc>
                <a:spcPts val="4180"/>
              </a:lnSpc>
              <a:spcBef>
                <a:spcPts val="595"/>
              </a:spcBef>
            </a:pPr>
            <a:r>
              <a:rPr sz="1100" spc="-10" dirty="0">
                <a:latin typeface="Arial"/>
                <a:cs typeface="Arial"/>
              </a:rPr>
              <a:t>operator. Gotchas:</a:t>
            </a:r>
            <a:endParaRPr sz="1100">
              <a:latin typeface="Arial"/>
              <a:cs typeface="Arial"/>
            </a:endParaRPr>
          </a:p>
          <a:p>
            <a:pPr marL="287655" indent="-130810">
              <a:lnSpc>
                <a:spcPts val="1035"/>
              </a:lnSpc>
              <a:buSzPct val="90909"/>
              <a:buFont typeface="Arial"/>
              <a:buChar char="•"/>
              <a:tabLst>
                <a:tab pos="287655" algn="l"/>
              </a:tabLst>
            </a:pPr>
            <a:r>
              <a:rPr sz="1100" dirty="0">
                <a:latin typeface="Arial"/>
                <a:cs typeface="Arial"/>
              </a:rPr>
              <a:t>Note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that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"=="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equality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operator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different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from</a:t>
            </a:r>
            <a:r>
              <a:rPr sz="1100" spc="-25" dirty="0">
                <a:latin typeface="Arial"/>
                <a:cs typeface="Arial"/>
              </a:rPr>
              <a:t> the</a:t>
            </a:r>
            <a:endParaRPr sz="1100">
              <a:latin typeface="Arial"/>
              <a:cs typeface="Arial"/>
            </a:endParaRPr>
          </a:p>
          <a:p>
            <a:pPr marL="289560">
              <a:lnSpc>
                <a:spcPct val="100000"/>
              </a:lnSpc>
              <a:spcBef>
                <a:spcPts val="35"/>
              </a:spcBef>
            </a:pPr>
            <a:r>
              <a:rPr sz="1100" dirty="0">
                <a:latin typeface="Arial"/>
                <a:cs typeface="Arial"/>
              </a:rPr>
              <a:t>"=",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assignment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operator.</a:t>
            </a:r>
            <a:endParaRPr sz="1100">
              <a:latin typeface="Arial"/>
              <a:cs typeface="Arial"/>
            </a:endParaRPr>
          </a:p>
          <a:p>
            <a:pPr marL="287655" marR="247015" indent="-130810">
              <a:lnSpc>
                <a:spcPct val="102600"/>
              </a:lnSpc>
              <a:spcBef>
                <a:spcPts val="300"/>
              </a:spcBef>
              <a:buSzPct val="90909"/>
              <a:buFont typeface="Arial"/>
              <a:buChar char="•"/>
              <a:tabLst>
                <a:tab pos="289560" algn="l"/>
              </a:tabLst>
            </a:pPr>
            <a:r>
              <a:rPr sz="1100" dirty="0">
                <a:latin typeface="Arial"/>
                <a:cs typeface="Arial"/>
              </a:rPr>
              <a:t>Note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that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"=="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operator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on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float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variables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tricky 	</a:t>
            </a:r>
            <a:r>
              <a:rPr sz="1100" dirty="0">
                <a:latin typeface="Arial"/>
                <a:cs typeface="Arial"/>
              </a:rPr>
              <a:t>because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finite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precision.</a:t>
            </a:r>
            <a:endParaRPr sz="110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-25" dirty="0"/>
              <a:t>17</a:t>
            </a:r>
          </a:p>
        </p:txBody>
      </p:sp>
    </p:spTree>
  </p:cSld>
  <p:clrMapOvr>
    <a:masterClrMapping/>
  </p:clrMapOvr>
  <p:transition>
    <p:cut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Logical</a:t>
            </a:r>
            <a:r>
              <a:rPr spc="150" dirty="0"/>
              <a:t> </a:t>
            </a:r>
            <a:r>
              <a:rPr spc="-10" dirty="0"/>
              <a:t>operators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357466" y="454882"/>
          <a:ext cx="3703320" cy="12350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661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2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545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89230">
                <a:tc>
                  <a:txBody>
                    <a:bodyPr/>
                    <a:lstStyle/>
                    <a:p>
                      <a:pPr algn="ctr">
                        <a:lnSpc>
                          <a:spcPts val="1290"/>
                        </a:lnSpc>
                      </a:pPr>
                      <a:r>
                        <a:rPr sz="1100" spc="-10" dirty="0">
                          <a:latin typeface="Arial"/>
                          <a:cs typeface="Arial"/>
                        </a:rPr>
                        <a:t>operator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90"/>
                        </a:lnSpc>
                      </a:pPr>
                      <a:r>
                        <a:rPr sz="1100" spc="-10" dirty="0">
                          <a:latin typeface="Arial"/>
                          <a:cs typeface="Arial"/>
                        </a:rPr>
                        <a:t>meaning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90"/>
                        </a:lnSpc>
                      </a:pPr>
                      <a:r>
                        <a:rPr sz="1100" spc="-10" dirty="0">
                          <a:latin typeface="Arial"/>
                          <a:cs typeface="Arial"/>
                        </a:rPr>
                        <a:t>examples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861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sz="1100" spc="-25" dirty="0">
                          <a:latin typeface="Arial"/>
                          <a:cs typeface="Arial"/>
                        </a:rPr>
                        <a:t>&amp;&amp;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692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sz="1100" spc="-25" dirty="0">
                          <a:latin typeface="Arial"/>
                          <a:cs typeface="Arial"/>
                        </a:rPr>
                        <a:t>AND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692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740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900" dirty="0">
                          <a:latin typeface="Arial"/>
                          <a:cs typeface="Arial"/>
                        </a:rPr>
                        <a:t>((9/3)==3)</a:t>
                      </a:r>
                      <a:r>
                        <a:rPr sz="900" spc="17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&amp;&amp;</a:t>
                      </a:r>
                      <a:r>
                        <a:rPr sz="9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35" dirty="0">
                          <a:latin typeface="Arial"/>
                          <a:cs typeface="Arial"/>
                        </a:rPr>
                        <a:t>(2</a:t>
                      </a:r>
                      <a:r>
                        <a:rPr sz="900" spc="-35" dirty="0">
                          <a:latin typeface="Lucida Sans Unicode"/>
                          <a:cs typeface="Lucida Sans Unicode"/>
                        </a:rPr>
                        <a:t>∗</a:t>
                      </a:r>
                      <a:r>
                        <a:rPr sz="900" spc="-35" dirty="0">
                          <a:latin typeface="Arial"/>
                          <a:cs typeface="Arial"/>
                        </a:rPr>
                        <a:t>3==6);</a:t>
                      </a:r>
                      <a:r>
                        <a:rPr sz="90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35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/</a:t>
                      </a:r>
                      <a:r>
                        <a:rPr sz="900" spc="-35" dirty="0">
                          <a:solidFill>
                            <a:srgbClr val="B50A0A"/>
                          </a:solidFill>
                          <a:latin typeface="Lucida Sans Unicode"/>
                          <a:cs typeface="Lucida Sans Unicode"/>
                        </a:rPr>
                        <a:t>∗</a:t>
                      </a:r>
                      <a:r>
                        <a:rPr sz="900" spc="-35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evaluates</a:t>
                      </a:r>
                      <a:r>
                        <a:rPr sz="900" spc="-10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to</a:t>
                      </a:r>
                      <a:r>
                        <a:rPr sz="900" spc="5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1</a:t>
                      </a:r>
                      <a:r>
                        <a:rPr sz="900" spc="100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25" dirty="0">
                          <a:solidFill>
                            <a:srgbClr val="B50A0A"/>
                          </a:solidFill>
                          <a:latin typeface="Lucida Sans Unicode"/>
                          <a:cs typeface="Lucida Sans Unicode"/>
                        </a:rPr>
                        <a:t>∗</a:t>
                      </a:r>
                      <a:r>
                        <a:rPr sz="900" spc="-25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/</a:t>
                      </a:r>
                      <a:endParaRPr sz="900">
                        <a:latin typeface="Arial"/>
                        <a:cs typeface="Arial"/>
                      </a:endParaRPr>
                    </a:p>
                    <a:p>
                      <a:pPr marL="11938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900" dirty="0">
                          <a:latin typeface="Arial"/>
                          <a:cs typeface="Arial"/>
                        </a:rPr>
                        <a:t>(</a:t>
                      </a:r>
                      <a:r>
                        <a:rPr sz="900" dirty="0">
                          <a:latin typeface="Courier New"/>
                          <a:cs typeface="Courier New"/>
                        </a:rPr>
                        <a:t>’A’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==</a:t>
                      </a:r>
                      <a:r>
                        <a:rPr sz="900" dirty="0">
                          <a:latin typeface="Courier New"/>
                          <a:cs typeface="Courier New"/>
                        </a:rPr>
                        <a:t>’a’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)</a:t>
                      </a:r>
                      <a:r>
                        <a:rPr sz="9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&amp;&amp;</a:t>
                      </a:r>
                      <a:r>
                        <a:rPr sz="90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(3==3) </a:t>
                      </a:r>
                      <a:r>
                        <a:rPr sz="900" spc="-35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/</a:t>
                      </a:r>
                      <a:r>
                        <a:rPr sz="900" spc="-35" dirty="0">
                          <a:solidFill>
                            <a:srgbClr val="B50A0A"/>
                          </a:solidFill>
                          <a:latin typeface="Lucida Sans Unicode"/>
                          <a:cs typeface="Lucida Sans Unicode"/>
                        </a:rPr>
                        <a:t>∗</a:t>
                      </a:r>
                      <a:r>
                        <a:rPr sz="900" spc="-35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evaluates</a:t>
                      </a:r>
                      <a:r>
                        <a:rPr sz="900" spc="-5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to</a:t>
                      </a:r>
                      <a:r>
                        <a:rPr sz="900" spc="-5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0 </a:t>
                      </a:r>
                      <a:r>
                        <a:rPr sz="900" spc="-25" dirty="0">
                          <a:solidFill>
                            <a:srgbClr val="B50A0A"/>
                          </a:solidFill>
                          <a:latin typeface="Lucida Sans Unicode"/>
                          <a:cs typeface="Lucida Sans Unicode"/>
                        </a:rPr>
                        <a:t>∗</a:t>
                      </a:r>
                      <a:r>
                        <a:rPr sz="900" spc="-25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/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82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861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sz="1100" spc="-25" dirty="0">
                          <a:latin typeface="Arial"/>
                          <a:cs typeface="Arial"/>
                        </a:rPr>
                        <a:t>||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692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sz="1100" spc="-25" dirty="0">
                          <a:latin typeface="Arial"/>
                          <a:cs typeface="Arial"/>
                        </a:rPr>
                        <a:t>OR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692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900" dirty="0">
                          <a:latin typeface="Arial"/>
                          <a:cs typeface="Arial"/>
                        </a:rPr>
                        <a:t>2==3</a:t>
                      </a:r>
                      <a:r>
                        <a:rPr sz="900" spc="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||</a:t>
                      </a:r>
                      <a:r>
                        <a:rPr sz="900" spc="17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Courier New"/>
                          <a:cs typeface="Courier New"/>
                        </a:rPr>
                        <a:t>’A’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==</a:t>
                      </a:r>
                      <a:r>
                        <a:rPr sz="900" dirty="0">
                          <a:latin typeface="Courier New"/>
                          <a:cs typeface="Courier New"/>
                        </a:rPr>
                        <a:t>’A’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;</a:t>
                      </a:r>
                      <a:r>
                        <a:rPr sz="9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35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/</a:t>
                      </a:r>
                      <a:r>
                        <a:rPr sz="900" spc="-35" dirty="0">
                          <a:solidFill>
                            <a:srgbClr val="B50A0A"/>
                          </a:solidFill>
                          <a:latin typeface="Lucida Sans Unicode"/>
                          <a:cs typeface="Lucida Sans Unicode"/>
                        </a:rPr>
                        <a:t>∗</a:t>
                      </a:r>
                      <a:r>
                        <a:rPr sz="900" spc="-35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evaluates</a:t>
                      </a:r>
                      <a:r>
                        <a:rPr sz="900" spc="-5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to</a:t>
                      </a:r>
                      <a:r>
                        <a:rPr sz="900" spc="-10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1</a:t>
                      </a:r>
                      <a:r>
                        <a:rPr sz="900" spc="-10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25" dirty="0">
                          <a:solidFill>
                            <a:srgbClr val="B50A0A"/>
                          </a:solidFill>
                          <a:latin typeface="Lucida Sans Unicode"/>
                          <a:cs typeface="Lucida Sans Unicode"/>
                        </a:rPr>
                        <a:t>∗</a:t>
                      </a:r>
                      <a:r>
                        <a:rPr sz="900" spc="-25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/</a:t>
                      </a:r>
                      <a:endParaRPr sz="90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900" dirty="0">
                          <a:latin typeface="Arial"/>
                          <a:cs typeface="Arial"/>
                        </a:rPr>
                        <a:t>2.99&gt;=3</a:t>
                      </a:r>
                      <a:r>
                        <a:rPr sz="900" spc="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||</a:t>
                      </a:r>
                      <a:r>
                        <a:rPr sz="900" spc="1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0</a:t>
                      </a:r>
                      <a:r>
                        <a:rPr sz="900" spc="10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30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/</a:t>
                      </a:r>
                      <a:r>
                        <a:rPr sz="900" spc="-30" dirty="0">
                          <a:solidFill>
                            <a:srgbClr val="B50A0A"/>
                          </a:solidFill>
                          <a:latin typeface="Lucida Sans Unicode"/>
                          <a:cs typeface="Lucida Sans Unicode"/>
                        </a:rPr>
                        <a:t>∗</a:t>
                      </a:r>
                      <a:r>
                        <a:rPr sz="900" spc="-30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evaluates</a:t>
                      </a:r>
                      <a:r>
                        <a:rPr sz="900" spc="20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to</a:t>
                      </a:r>
                      <a:r>
                        <a:rPr sz="900" spc="170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0</a:t>
                      </a:r>
                      <a:r>
                        <a:rPr sz="900" spc="100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25" dirty="0">
                          <a:solidFill>
                            <a:srgbClr val="B50A0A"/>
                          </a:solidFill>
                          <a:latin typeface="Lucida Sans Unicode"/>
                          <a:cs typeface="Lucida Sans Unicode"/>
                        </a:rPr>
                        <a:t>∗</a:t>
                      </a:r>
                      <a:r>
                        <a:rPr sz="900" spc="-25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/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82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861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sz="1100" spc="-50" dirty="0">
                          <a:latin typeface="Arial"/>
                          <a:cs typeface="Arial"/>
                        </a:rPr>
                        <a:t>!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692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sz="1100" spc="-25" dirty="0">
                          <a:latin typeface="Arial"/>
                          <a:cs typeface="Arial"/>
                        </a:rPr>
                        <a:t>NOT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692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65455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900" dirty="0">
                          <a:latin typeface="Arial"/>
                          <a:cs typeface="Arial"/>
                        </a:rPr>
                        <a:t>!(3==3);</a:t>
                      </a:r>
                      <a:r>
                        <a:rPr sz="900" spc="2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30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/</a:t>
                      </a:r>
                      <a:r>
                        <a:rPr sz="900" spc="-30" dirty="0">
                          <a:solidFill>
                            <a:srgbClr val="B50A0A"/>
                          </a:solidFill>
                          <a:latin typeface="Lucida Sans Unicode"/>
                          <a:cs typeface="Lucida Sans Unicode"/>
                        </a:rPr>
                        <a:t>∗</a:t>
                      </a:r>
                      <a:r>
                        <a:rPr sz="900" spc="-30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evaluates</a:t>
                      </a:r>
                      <a:r>
                        <a:rPr sz="900" spc="20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to</a:t>
                      </a:r>
                      <a:r>
                        <a:rPr sz="900" spc="175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0</a:t>
                      </a:r>
                      <a:r>
                        <a:rPr sz="900" spc="100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25" dirty="0">
                          <a:solidFill>
                            <a:srgbClr val="B50A0A"/>
                          </a:solidFill>
                          <a:latin typeface="Lucida Sans Unicode"/>
                          <a:cs typeface="Lucida Sans Unicode"/>
                        </a:rPr>
                        <a:t>∗</a:t>
                      </a:r>
                      <a:r>
                        <a:rPr sz="900" spc="-25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/</a:t>
                      </a:r>
                      <a:endParaRPr sz="900">
                        <a:latin typeface="Arial"/>
                        <a:cs typeface="Arial"/>
                      </a:endParaRPr>
                    </a:p>
                    <a:p>
                      <a:pPr marL="40894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900" dirty="0">
                          <a:latin typeface="Arial"/>
                          <a:cs typeface="Arial"/>
                        </a:rPr>
                        <a:t>!(2.99&gt;=3)</a:t>
                      </a:r>
                      <a:r>
                        <a:rPr sz="900" spc="8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30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/</a:t>
                      </a:r>
                      <a:r>
                        <a:rPr sz="900" spc="-30" dirty="0">
                          <a:solidFill>
                            <a:srgbClr val="B50A0A"/>
                          </a:solidFill>
                          <a:latin typeface="Lucida Sans Unicode"/>
                          <a:cs typeface="Lucida Sans Unicode"/>
                        </a:rPr>
                        <a:t>∗</a:t>
                      </a:r>
                      <a:r>
                        <a:rPr sz="900" spc="-30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evaluates</a:t>
                      </a:r>
                      <a:r>
                        <a:rPr sz="900" spc="15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to</a:t>
                      </a:r>
                      <a:r>
                        <a:rPr sz="900" spc="170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1</a:t>
                      </a:r>
                      <a:r>
                        <a:rPr sz="900" spc="95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25" dirty="0">
                          <a:solidFill>
                            <a:srgbClr val="B50A0A"/>
                          </a:solidFill>
                          <a:latin typeface="Lucida Sans Unicode"/>
                          <a:cs typeface="Lucida Sans Unicode"/>
                        </a:rPr>
                        <a:t>∗</a:t>
                      </a:r>
                      <a:r>
                        <a:rPr sz="900" spc="-25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/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82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347294" y="1660663"/>
            <a:ext cx="3875404" cy="130048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18415">
              <a:lnSpc>
                <a:spcPct val="102600"/>
              </a:lnSpc>
              <a:spcBef>
                <a:spcPts val="55"/>
              </a:spcBef>
            </a:pPr>
            <a:r>
              <a:rPr sz="1100" dirty="0">
                <a:latin typeface="Arial"/>
                <a:cs typeface="Arial"/>
              </a:rPr>
              <a:t>Short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circuit:</a:t>
            </a:r>
            <a:r>
              <a:rPr sz="1100" spc="4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evaluation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an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expression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discontinued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if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value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conditional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expression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can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be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determined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early. </a:t>
            </a:r>
            <a:r>
              <a:rPr sz="1100" dirty="0">
                <a:latin typeface="Arial"/>
                <a:cs typeface="Arial"/>
              </a:rPr>
              <a:t>Be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careful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any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side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effects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code.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1100" spc="-10" dirty="0">
                <a:latin typeface="Arial"/>
                <a:cs typeface="Arial"/>
              </a:rPr>
              <a:t>Examples:</a:t>
            </a:r>
            <a:endParaRPr sz="1100">
              <a:latin typeface="Arial"/>
              <a:cs typeface="Arial"/>
            </a:endParaRPr>
          </a:p>
          <a:p>
            <a:pPr marL="287655" marR="85725" indent="-130810">
              <a:lnSpc>
                <a:spcPct val="102600"/>
              </a:lnSpc>
              <a:spcBef>
                <a:spcPts val="300"/>
              </a:spcBef>
              <a:buSzPct val="111111"/>
              <a:buFont typeface="Arial"/>
              <a:buChar char="•"/>
              <a:tabLst>
                <a:tab pos="289560" algn="l"/>
              </a:tabLst>
            </a:pPr>
            <a:r>
              <a:rPr sz="900" dirty="0">
                <a:latin typeface="Arial"/>
                <a:cs typeface="Arial"/>
              </a:rPr>
              <a:t>(3==3)</a:t>
            </a:r>
            <a:r>
              <a:rPr sz="900" spc="10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||</a:t>
            </a:r>
            <a:r>
              <a:rPr sz="900" spc="35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((</a:t>
            </a:r>
            <a:r>
              <a:rPr sz="900" spc="-15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c=getchar())==</a:t>
            </a:r>
            <a:r>
              <a:rPr sz="900" dirty="0">
                <a:latin typeface="Courier New"/>
                <a:cs typeface="Courier New"/>
              </a:rPr>
              <a:t>’y’</a:t>
            </a:r>
            <a:r>
              <a:rPr sz="900" dirty="0">
                <a:latin typeface="Arial"/>
                <a:cs typeface="Arial"/>
              </a:rPr>
              <a:t>)</a:t>
            </a:r>
            <a:r>
              <a:rPr sz="1100" dirty="0">
                <a:latin typeface="Arial"/>
                <a:cs typeface="Arial"/>
              </a:rPr>
              <a:t>.</a:t>
            </a:r>
            <a:r>
              <a:rPr sz="1100" spc="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second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expression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not 	</a:t>
            </a:r>
            <a:r>
              <a:rPr sz="1100" spc="-10" dirty="0">
                <a:latin typeface="Arial"/>
                <a:cs typeface="Arial"/>
              </a:rPr>
              <a:t>evaluated.</a:t>
            </a:r>
            <a:endParaRPr sz="1100">
              <a:latin typeface="Arial"/>
              <a:cs typeface="Arial"/>
            </a:endParaRPr>
          </a:p>
          <a:p>
            <a:pPr marL="295275" indent="-138430">
              <a:lnSpc>
                <a:spcPct val="100000"/>
              </a:lnSpc>
              <a:spcBef>
                <a:spcPts val="334"/>
              </a:spcBef>
              <a:buSzPct val="111111"/>
              <a:buFont typeface="Arial"/>
              <a:buChar char="•"/>
              <a:tabLst>
                <a:tab pos="295275" algn="l"/>
              </a:tabLst>
            </a:pPr>
            <a:r>
              <a:rPr sz="900" dirty="0">
                <a:latin typeface="Arial"/>
                <a:cs typeface="Arial"/>
              </a:rPr>
              <a:t>(0)</a:t>
            </a:r>
            <a:r>
              <a:rPr sz="900" spc="18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&amp;&amp;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((x=x+1)&gt;0)</a:t>
            </a:r>
            <a:r>
              <a:rPr sz="900" spc="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.</a:t>
            </a:r>
            <a:r>
              <a:rPr sz="1100" spc="4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second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expression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not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evaluated.</a:t>
            </a:r>
            <a:endParaRPr sz="110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-25" dirty="0"/>
              <a:t>18</a:t>
            </a:r>
          </a:p>
        </p:txBody>
      </p:sp>
    </p:spTree>
  </p:cSld>
  <p:clrMapOvr>
    <a:masterClrMapping/>
  </p:clrMapOvr>
  <p:transition>
    <p:cut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Increment</a:t>
            </a:r>
            <a:r>
              <a:rPr spc="120" dirty="0"/>
              <a:t> </a:t>
            </a:r>
            <a:r>
              <a:rPr dirty="0"/>
              <a:t>and</a:t>
            </a:r>
            <a:r>
              <a:rPr spc="120" dirty="0"/>
              <a:t> </a:t>
            </a:r>
            <a:r>
              <a:rPr dirty="0"/>
              <a:t>decrement</a:t>
            </a:r>
            <a:r>
              <a:rPr spc="120" dirty="0"/>
              <a:t> </a:t>
            </a:r>
            <a:r>
              <a:rPr spc="-10" dirty="0"/>
              <a:t>operators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67818" rIns="0" bIns="0" rtlCol="0">
            <a:spAutoFit/>
          </a:bodyPr>
          <a:lstStyle/>
          <a:p>
            <a:pPr marL="12700" marR="63500">
              <a:lnSpc>
                <a:spcPct val="102600"/>
              </a:lnSpc>
              <a:spcBef>
                <a:spcPts val="55"/>
              </a:spcBef>
            </a:pPr>
            <a:r>
              <a:rPr dirty="0"/>
              <a:t>Increment</a:t>
            </a:r>
            <a:r>
              <a:rPr spc="-45" dirty="0"/>
              <a:t> </a:t>
            </a:r>
            <a:r>
              <a:rPr dirty="0"/>
              <a:t>and</a:t>
            </a:r>
            <a:r>
              <a:rPr spc="-45" dirty="0"/>
              <a:t> </a:t>
            </a:r>
            <a:r>
              <a:rPr dirty="0"/>
              <a:t>decrement</a:t>
            </a:r>
            <a:r>
              <a:rPr spc="-40" dirty="0"/>
              <a:t> </a:t>
            </a:r>
            <a:r>
              <a:rPr dirty="0"/>
              <a:t>are</a:t>
            </a:r>
            <a:r>
              <a:rPr spc="-45" dirty="0"/>
              <a:t> </a:t>
            </a:r>
            <a:r>
              <a:rPr dirty="0"/>
              <a:t>common</a:t>
            </a:r>
            <a:r>
              <a:rPr spc="-40" dirty="0"/>
              <a:t> </a:t>
            </a:r>
            <a:r>
              <a:rPr dirty="0"/>
              <a:t>arithmetic</a:t>
            </a:r>
            <a:r>
              <a:rPr spc="-45" dirty="0"/>
              <a:t> </a:t>
            </a:r>
            <a:r>
              <a:rPr dirty="0"/>
              <a:t>operation.</a:t>
            </a:r>
            <a:r>
              <a:rPr spc="20" dirty="0"/>
              <a:t> </a:t>
            </a:r>
            <a:r>
              <a:rPr spc="-50" dirty="0"/>
              <a:t>C </a:t>
            </a:r>
            <a:r>
              <a:rPr spc="-10" dirty="0"/>
              <a:t>provides</a:t>
            </a:r>
            <a:r>
              <a:rPr spc="-25" dirty="0"/>
              <a:t> </a:t>
            </a:r>
            <a:r>
              <a:rPr dirty="0"/>
              <a:t>two</a:t>
            </a:r>
            <a:r>
              <a:rPr spc="-20" dirty="0"/>
              <a:t> </a:t>
            </a:r>
            <a:r>
              <a:rPr dirty="0"/>
              <a:t>short</a:t>
            </a:r>
            <a:r>
              <a:rPr spc="-20" dirty="0"/>
              <a:t> </a:t>
            </a:r>
            <a:r>
              <a:rPr dirty="0"/>
              <a:t>cuts</a:t>
            </a:r>
            <a:r>
              <a:rPr spc="-20" dirty="0"/>
              <a:t> </a:t>
            </a:r>
            <a:r>
              <a:rPr dirty="0"/>
              <a:t>for</a:t>
            </a:r>
            <a:r>
              <a:rPr spc="-20" dirty="0"/>
              <a:t> </a:t>
            </a:r>
            <a:r>
              <a:rPr dirty="0"/>
              <a:t>the</a:t>
            </a:r>
            <a:r>
              <a:rPr spc="-20" dirty="0"/>
              <a:t> same.</a:t>
            </a: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b="1" spc="-10" dirty="0">
                <a:latin typeface="Arial"/>
                <a:cs typeface="Arial"/>
              </a:rPr>
              <a:t>Postfix</a:t>
            </a:r>
          </a:p>
          <a:p>
            <a:pPr marL="287655" indent="-130810">
              <a:lnSpc>
                <a:spcPct val="100000"/>
              </a:lnSpc>
              <a:spcBef>
                <a:spcPts val="335"/>
              </a:spcBef>
              <a:buSzPct val="111111"/>
              <a:buFont typeface="Arial"/>
              <a:buChar char="•"/>
              <a:tabLst>
                <a:tab pos="287655" algn="l"/>
              </a:tabLst>
            </a:pPr>
            <a:r>
              <a:rPr sz="900" dirty="0"/>
              <a:t>x++</a:t>
            </a:r>
            <a:r>
              <a:rPr sz="900" spc="35" dirty="0"/>
              <a:t> </a:t>
            </a:r>
            <a:r>
              <a:rPr sz="1100" dirty="0"/>
              <a:t>is</a:t>
            </a:r>
            <a:r>
              <a:rPr sz="1100" spc="-15" dirty="0"/>
              <a:t> </a:t>
            </a:r>
            <a:r>
              <a:rPr sz="1100" dirty="0"/>
              <a:t>a</a:t>
            </a:r>
            <a:r>
              <a:rPr sz="1100" spc="-20" dirty="0"/>
              <a:t> </a:t>
            </a:r>
            <a:r>
              <a:rPr sz="1100" dirty="0"/>
              <a:t>short</a:t>
            </a:r>
            <a:r>
              <a:rPr sz="1100" spc="-15" dirty="0"/>
              <a:t> </a:t>
            </a:r>
            <a:r>
              <a:rPr sz="1100" dirty="0"/>
              <a:t>cut</a:t>
            </a:r>
            <a:r>
              <a:rPr sz="1100" spc="-15" dirty="0"/>
              <a:t> </a:t>
            </a:r>
            <a:r>
              <a:rPr sz="1100" dirty="0"/>
              <a:t>for</a:t>
            </a:r>
            <a:r>
              <a:rPr sz="1100" spc="-20" dirty="0"/>
              <a:t> </a:t>
            </a:r>
            <a:r>
              <a:rPr sz="900" spc="-10" dirty="0"/>
              <a:t>x=x+1</a:t>
            </a:r>
            <a:endParaRPr sz="900"/>
          </a:p>
          <a:p>
            <a:pPr marL="287655" indent="-130810">
              <a:lnSpc>
                <a:spcPct val="100000"/>
              </a:lnSpc>
              <a:spcBef>
                <a:spcPts val="334"/>
              </a:spcBef>
              <a:buSzPct val="111111"/>
              <a:buFont typeface="Arial"/>
              <a:buChar char="•"/>
              <a:tabLst>
                <a:tab pos="287655" algn="l"/>
              </a:tabLst>
            </a:pPr>
            <a:r>
              <a:rPr sz="900" dirty="0"/>
              <a:t>x</a:t>
            </a:r>
            <a:r>
              <a:rPr sz="900" dirty="0">
                <a:latin typeface="Lucida Sans Unicode"/>
                <a:cs typeface="Lucida Sans Unicode"/>
              </a:rPr>
              <a:t>−− </a:t>
            </a:r>
            <a:r>
              <a:rPr sz="1100" dirty="0"/>
              <a:t>is</a:t>
            </a:r>
            <a:r>
              <a:rPr sz="1100" spc="-15" dirty="0"/>
              <a:t> </a:t>
            </a:r>
            <a:r>
              <a:rPr sz="1100" dirty="0"/>
              <a:t>a</a:t>
            </a:r>
            <a:r>
              <a:rPr sz="1100" spc="-15" dirty="0"/>
              <a:t> </a:t>
            </a:r>
            <a:r>
              <a:rPr sz="1100" dirty="0"/>
              <a:t>short</a:t>
            </a:r>
            <a:r>
              <a:rPr sz="1100" spc="-15" dirty="0"/>
              <a:t> </a:t>
            </a:r>
            <a:r>
              <a:rPr sz="1100" dirty="0"/>
              <a:t>cut</a:t>
            </a:r>
            <a:r>
              <a:rPr sz="1100" spc="-15" dirty="0"/>
              <a:t> </a:t>
            </a:r>
            <a:r>
              <a:rPr sz="1100" dirty="0"/>
              <a:t>for</a:t>
            </a:r>
            <a:r>
              <a:rPr sz="1100" spc="-15" dirty="0"/>
              <a:t> </a:t>
            </a:r>
            <a:r>
              <a:rPr sz="900" spc="-20" dirty="0"/>
              <a:t>x=x</a:t>
            </a:r>
            <a:r>
              <a:rPr sz="900" spc="-20" dirty="0">
                <a:latin typeface="Lucida Sans Unicode"/>
                <a:cs typeface="Lucida Sans Unicode"/>
              </a:rPr>
              <a:t>−</a:t>
            </a:r>
            <a:r>
              <a:rPr sz="900" spc="-20" dirty="0"/>
              <a:t>1</a:t>
            </a:r>
            <a:endParaRPr sz="900">
              <a:latin typeface="Lucida Sans Unicode"/>
              <a:cs typeface="Lucida Sans Unicode"/>
            </a:endParaRPr>
          </a:p>
          <a:p>
            <a:pPr marL="287655" marR="74930" indent="-130810">
              <a:lnSpc>
                <a:spcPct val="102600"/>
              </a:lnSpc>
              <a:spcBef>
                <a:spcPts val="295"/>
              </a:spcBef>
              <a:buSzPct val="111111"/>
              <a:buFont typeface="Arial"/>
              <a:buChar char="•"/>
              <a:tabLst>
                <a:tab pos="289560" algn="l"/>
              </a:tabLst>
            </a:pPr>
            <a:r>
              <a:rPr sz="900" dirty="0"/>
              <a:t>y=x++</a:t>
            </a:r>
            <a:r>
              <a:rPr sz="900" spc="30" dirty="0"/>
              <a:t> </a:t>
            </a:r>
            <a:r>
              <a:rPr sz="1100" dirty="0"/>
              <a:t>is</a:t>
            </a:r>
            <a:r>
              <a:rPr sz="1100" spc="-20" dirty="0"/>
              <a:t> </a:t>
            </a:r>
            <a:r>
              <a:rPr sz="1100" dirty="0"/>
              <a:t>a</a:t>
            </a:r>
            <a:r>
              <a:rPr sz="1100" spc="-20" dirty="0"/>
              <a:t> </a:t>
            </a:r>
            <a:r>
              <a:rPr sz="1100" dirty="0"/>
              <a:t>short</a:t>
            </a:r>
            <a:r>
              <a:rPr sz="1100" spc="-25" dirty="0"/>
              <a:t> </a:t>
            </a:r>
            <a:r>
              <a:rPr sz="1100" dirty="0"/>
              <a:t>cut</a:t>
            </a:r>
            <a:r>
              <a:rPr sz="1100" spc="-20" dirty="0"/>
              <a:t> </a:t>
            </a:r>
            <a:r>
              <a:rPr sz="1100" dirty="0"/>
              <a:t>for</a:t>
            </a:r>
            <a:r>
              <a:rPr sz="1100" spc="-20" dirty="0"/>
              <a:t> </a:t>
            </a:r>
            <a:r>
              <a:rPr sz="900" dirty="0"/>
              <a:t>y=x;x=x+1</a:t>
            </a:r>
            <a:r>
              <a:rPr sz="1100" dirty="0"/>
              <a:t>.</a:t>
            </a:r>
            <a:r>
              <a:rPr sz="1100" spc="45" dirty="0"/>
              <a:t> </a:t>
            </a:r>
            <a:r>
              <a:rPr sz="1100" i="1" dirty="0">
                <a:latin typeface="Bookman Old Style"/>
                <a:cs typeface="Bookman Old Style"/>
              </a:rPr>
              <a:t>x</a:t>
            </a:r>
            <a:r>
              <a:rPr sz="1100" i="1" spc="-45" dirty="0">
                <a:latin typeface="Bookman Old Style"/>
                <a:cs typeface="Bookman Old Style"/>
              </a:rPr>
              <a:t> </a:t>
            </a:r>
            <a:r>
              <a:rPr sz="1100" dirty="0"/>
              <a:t>is</a:t>
            </a:r>
            <a:r>
              <a:rPr sz="1100" spc="-25" dirty="0"/>
              <a:t> </a:t>
            </a:r>
            <a:r>
              <a:rPr sz="1100" spc="-10" dirty="0"/>
              <a:t>evaluated</a:t>
            </a:r>
            <a:r>
              <a:rPr sz="1100" spc="-20" dirty="0"/>
              <a:t> </a:t>
            </a:r>
            <a:r>
              <a:rPr sz="1100" b="1" dirty="0">
                <a:latin typeface="Arial"/>
                <a:cs typeface="Arial"/>
              </a:rPr>
              <a:t>before</a:t>
            </a:r>
            <a:r>
              <a:rPr sz="1100" b="1" spc="-20" dirty="0">
                <a:latin typeface="Arial"/>
                <a:cs typeface="Arial"/>
              </a:rPr>
              <a:t> </a:t>
            </a:r>
            <a:r>
              <a:rPr sz="1100" dirty="0"/>
              <a:t>it</a:t>
            </a:r>
            <a:r>
              <a:rPr sz="1100" spc="-20" dirty="0"/>
              <a:t> </a:t>
            </a:r>
            <a:r>
              <a:rPr sz="1100" spc="-25" dirty="0"/>
              <a:t>is 	</a:t>
            </a:r>
            <a:r>
              <a:rPr sz="1100" spc="-10" dirty="0"/>
              <a:t>incremented.</a:t>
            </a:r>
            <a:endParaRPr sz="1100">
              <a:latin typeface="Arial"/>
              <a:cs typeface="Arial"/>
            </a:endParaRPr>
          </a:p>
          <a:p>
            <a:pPr marL="287655" marR="5080" indent="-130810">
              <a:lnSpc>
                <a:spcPct val="102600"/>
              </a:lnSpc>
              <a:spcBef>
                <a:spcPts val="300"/>
              </a:spcBef>
              <a:buSzPct val="111111"/>
              <a:buFont typeface="Arial"/>
              <a:buChar char="•"/>
              <a:tabLst>
                <a:tab pos="289560" algn="l"/>
              </a:tabLst>
            </a:pPr>
            <a:r>
              <a:rPr sz="900" dirty="0"/>
              <a:t>y=x</a:t>
            </a:r>
            <a:r>
              <a:rPr sz="900" dirty="0">
                <a:latin typeface="Lucida Sans Unicode"/>
                <a:cs typeface="Lucida Sans Unicode"/>
              </a:rPr>
              <a:t>−−</a:t>
            </a:r>
            <a:r>
              <a:rPr sz="900" spc="-5" dirty="0">
                <a:latin typeface="Lucida Sans Unicode"/>
                <a:cs typeface="Lucida Sans Unicode"/>
              </a:rPr>
              <a:t> </a:t>
            </a:r>
            <a:r>
              <a:rPr sz="1100" dirty="0"/>
              <a:t>is</a:t>
            </a:r>
            <a:r>
              <a:rPr sz="1100" spc="-20" dirty="0"/>
              <a:t> </a:t>
            </a:r>
            <a:r>
              <a:rPr sz="1100" dirty="0"/>
              <a:t>a</a:t>
            </a:r>
            <a:r>
              <a:rPr sz="1100" spc="-20" dirty="0"/>
              <a:t> </a:t>
            </a:r>
            <a:r>
              <a:rPr sz="1100" dirty="0"/>
              <a:t>short</a:t>
            </a:r>
            <a:r>
              <a:rPr sz="1100" spc="-20" dirty="0"/>
              <a:t> </a:t>
            </a:r>
            <a:r>
              <a:rPr sz="1100" dirty="0"/>
              <a:t>cut</a:t>
            </a:r>
            <a:r>
              <a:rPr sz="1100" spc="-20" dirty="0"/>
              <a:t> </a:t>
            </a:r>
            <a:r>
              <a:rPr sz="1100" dirty="0"/>
              <a:t>for</a:t>
            </a:r>
            <a:r>
              <a:rPr sz="1100" spc="-20" dirty="0"/>
              <a:t> </a:t>
            </a:r>
            <a:r>
              <a:rPr sz="900" dirty="0"/>
              <a:t>y=x;x=x</a:t>
            </a:r>
            <a:r>
              <a:rPr sz="900" dirty="0">
                <a:latin typeface="Lucida Sans Unicode"/>
                <a:cs typeface="Lucida Sans Unicode"/>
              </a:rPr>
              <a:t>−</a:t>
            </a:r>
            <a:r>
              <a:rPr sz="900" dirty="0"/>
              <a:t>1</a:t>
            </a:r>
            <a:r>
              <a:rPr sz="1100" dirty="0"/>
              <a:t>.</a:t>
            </a:r>
            <a:r>
              <a:rPr sz="1100" spc="45" dirty="0"/>
              <a:t> </a:t>
            </a:r>
            <a:r>
              <a:rPr sz="1100" i="1" dirty="0">
                <a:latin typeface="Bookman Old Style"/>
                <a:cs typeface="Bookman Old Style"/>
              </a:rPr>
              <a:t>x</a:t>
            </a:r>
            <a:r>
              <a:rPr sz="1100" i="1" spc="-45" dirty="0">
                <a:latin typeface="Bookman Old Style"/>
                <a:cs typeface="Bookman Old Style"/>
              </a:rPr>
              <a:t> </a:t>
            </a:r>
            <a:r>
              <a:rPr sz="1100" dirty="0"/>
              <a:t>is</a:t>
            </a:r>
            <a:r>
              <a:rPr sz="1100" spc="-20" dirty="0"/>
              <a:t> </a:t>
            </a:r>
            <a:r>
              <a:rPr sz="1100" spc="-10" dirty="0"/>
              <a:t>evaluated</a:t>
            </a:r>
            <a:r>
              <a:rPr sz="1100" spc="-20" dirty="0"/>
              <a:t> </a:t>
            </a:r>
            <a:r>
              <a:rPr sz="1100" b="1" dirty="0">
                <a:latin typeface="Arial"/>
                <a:cs typeface="Arial"/>
              </a:rPr>
              <a:t>before</a:t>
            </a:r>
            <a:r>
              <a:rPr sz="1100" b="1" spc="-20" dirty="0">
                <a:latin typeface="Arial"/>
                <a:cs typeface="Arial"/>
              </a:rPr>
              <a:t> </a:t>
            </a:r>
            <a:r>
              <a:rPr sz="1100" dirty="0"/>
              <a:t>it</a:t>
            </a:r>
            <a:r>
              <a:rPr sz="1100" spc="-20" dirty="0"/>
              <a:t> </a:t>
            </a:r>
            <a:r>
              <a:rPr sz="1100" spc="-25" dirty="0"/>
              <a:t>is 	</a:t>
            </a:r>
            <a:r>
              <a:rPr sz="1100" spc="-10" dirty="0"/>
              <a:t>decremented.</a:t>
            </a:r>
            <a:endParaRPr sz="110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-25" dirty="0"/>
              <a:t>19</a:t>
            </a:r>
          </a:p>
        </p:txBody>
      </p:sp>
    </p:spTree>
  </p:cSld>
  <p:clrMapOvr>
    <a:masterClrMapping/>
  </p:clrMapOvr>
  <p:transition>
    <p:cut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Increment</a:t>
            </a:r>
            <a:r>
              <a:rPr spc="120" dirty="0"/>
              <a:t> </a:t>
            </a:r>
            <a:r>
              <a:rPr dirty="0"/>
              <a:t>and</a:t>
            </a:r>
            <a:r>
              <a:rPr spc="120" dirty="0"/>
              <a:t> </a:t>
            </a:r>
            <a:r>
              <a:rPr dirty="0"/>
              <a:t>decrement</a:t>
            </a:r>
            <a:r>
              <a:rPr spc="120" dirty="0"/>
              <a:t> </a:t>
            </a:r>
            <a:r>
              <a:rPr spc="-10" dirty="0"/>
              <a:t>operators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7294" y="738604"/>
            <a:ext cx="3751579" cy="141986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z="1100" spc="-10" dirty="0">
                <a:latin typeface="Arial"/>
                <a:cs typeface="Arial"/>
              </a:rPr>
              <a:t>Prefix:</a:t>
            </a:r>
            <a:endParaRPr sz="1100">
              <a:latin typeface="Arial"/>
              <a:cs typeface="Arial"/>
            </a:endParaRPr>
          </a:p>
          <a:p>
            <a:pPr marL="156845">
              <a:lnSpc>
                <a:spcPct val="100000"/>
              </a:lnSpc>
              <a:spcBef>
                <a:spcPts val="334"/>
              </a:spcBef>
            </a:pPr>
            <a:r>
              <a:rPr sz="1500" i="1" spc="217" baseline="2777" dirty="0">
                <a:latin typeface="Arial"/>
                <a:cs typeface="Arial"/>
              </a:rPr>
              <a:t>•</a:t>
            </a:r>
            <a:r>
              <a:rPr sz="1500" i="1" spc="359" baseline="2777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++x</a:t>
            </a:r>
            <a:r>
              <a:rPr sz="900" spc="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short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cut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for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x=x+1</a:t>
            </a:r>
            <a:endParaRPr sz="900">
              <a:latin typeface="Arial"/>
              <a:cs typeface="Arial"/>
            </a:endParaRPr>
          </a:p>
          <a:p>
            <a:pPr marL="287655" indent="-130810">
              <a:lnSpc>
                <a:spcPct val="100000"/>
              </a:lnSpc>
              <a:spcBef>
                <a:spcPts val="330"/>
              </a:spcBef>
              <a:buSzPct val="111111"/>
              <a:buFont typeface="Arial"/>
              <a:buChar char="•"/>
              <a:tabLst>
                <a:tab pos="287655" algn="l"/>
              </a:tabLst>
            </a:pPr>
            <a:r>
              <a:rPr sz="900" dirty="0">
                <a:latin typeface="Lucida Sans Unicode"/>
                <a:cs typeface="Lucida Sans Unicode"/>
              </a:rPr>
              <a:t>−−</a:t>
            </a:r>
            <a:r>
              <a:rPr sz="900" dirty="0">
                <a:latin typeface="Arial"/>
                <a:cs typeface="Arial"/>
              </a:rPr>
              <a:t>x</a:t>
            </a:r>
            <a:r>
              <a:rPr sz="900" spc="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short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cut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for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x=x</a:t>
            </a:r>
            <a:r>
              <a:rPr sz="900" spc="-20" dirty="0">
                <a:latin typeface="Lucida Sans Unicode"/>
                <a:cs typeface="Lucida Sans Unicode"/>
              </a:rPr>
              <a:t>−</a:t>
            </a:r>
            <a:r>
              <a:rPr sz="900" spc="-20" dirty="0">
                <a:latin typeface="Arial"/>
                <a:cs typeface="Arial"/>
              </a:rPr>
              <a:t>1</a:t>
            </a:r>
            <a:endParaRPr sz="900">
              <a:latin typeface="Arial"/>
              <a:cs typeface="Arial"/>
            </a:endParaRPr>
          </a:p>
          <a:p>
            <a:pPr marL="287655" marR="78740" indent="-130810">
              <a:lnSpc>
                <a:spcPct val="102600"/>
              </a:lnSpc>
              <a:spcBef>
                <a:spcPts val="300"/>
              </a:spcBef>
              <a:buSzPct val="111111"/>
              <a:buFont typeface="Arial"/>
              <a:buChar char="•"/>
              <a:tabLst>
                <a:tab pos="289560" algn="l"/>
              </a:tabLst>
            </a:pPr>
            <a:r>
              <a:rPr sz="900" dirty="0">
                <a:latin typeface="Arial"/>
                <a:cs typeface="Arial"/>
              </a:rPr>
              <a:t>y=++x</a:t>
            </a:r>
            <a:r>
              <a:rPr sz="900" spc="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short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cut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for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x=x+1;y=x;</a:t>
            </a:r>
            <a:r>
              <a:rPr sz="1100" dirty="0">
                <a:latin typeface="Arial"/>
                <a:cs typeface="Arial"/>
              </a:rPr>
              <a:t>.</a:t>
            </a:r>
            <a:r>
              <a:rPr sz="1100" spc="50" dirty="0">
                <a:latin typeface="Arial"/>
                <a:cs typeface="Arial"/>
              </a:rPr>
              <a:t> </a:t>
            </a:r>
            <a:r>
              <a:rPr sz="1100" i="1" dirty="0">
                <a:latin typeface="Bookman Old Style"/>
                <a:cs typeface="Bookman Old Style"/>
              </a:rPr>
              <a:t>x</a:t>
            </a:r>
            <a:r>
              <a:rPr sz="1100" i="1" spc="-4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evaluate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after</a:t>
            </a:r>
            <a:r>
              <a:rPr sz="1100" b="1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it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is 	</a:t>
            </a:r>
            <a:r>
              <a:rPr sz="1100" spc="-10" dirty="0">
                <a:latin typeface="Arial"/>
                <a:cs typeface="Arial"/>
              </a:rPr>
              <a:t>incremented.</a:t>
            </a:r>
            <a:endParaRPr sz="1100">
              <a:latin typeface="Arial"/>
              <a:cs typeface="Arial"/>
            </a:endParaRPr>
          </a:p>
          <a:p>
            <a:pPr marL="287655" marR="5080" indent="-130810">
              <a:lnSpc>
                <a:spcPct val="102600"/>
              </a:lnSpc>
              <a:spcBef>
                <a:spcPts val="300"/>
              </a:spcBef>
              <a:buSzPct val="111111"/>
              <a:buFont typeface="Arial"/>
              <a:buChar char="•"/>
              <a:tabLst>
                <a:tab pos="289560" algn="l"/>
              </a:tabLst>
            </a:pPr>
            <a:r>
              <a:rPr sz="900" dirty="0">
                <a:latin typeface="Arial"/>
                <a:cs typeface="Arial"/>
              </a:rPr>
              <a:t>y=</a:t>
            </a:r>
            <a:r>
              <a:rPr sz="900" dirty="0">
                <a:latin typeface="Lucida Sans Unicode"/>
                <a:cs typeface="Lucida Sans Unicode"/>
              </a:rPr>
              <a:t>−−</a:t>
            </a:r>
            <a:r>
              <a:rPr sz="900" dirty="0">
                <a:latin typeface="Arial"/>
                <a:cs typeface="Arial"/>
              </a:rPr>
              <a:t>x</a:t>
            </a:r>
            <a:r>
              <a:rPr sz="900" spc="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short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cut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for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x=x</a:t>
            </a:r>
            <a:r>
              <a:rPr sz="900" dirty="0">
                <a:latin typeface="Lucida Sans Unicode"/>
                <a:cs typeface="Lucida Sans Unicode"/>
              </a:rPr>
              <a:t>−</a:t>
            </a:r>
            <a:r>
              <a:rPr sz="900" dirty="0">
                <a:latin typeface="Arial"/>
                <a:cs typeface="Arial"/>
              </a:rPr>
              <a:t>1;y=x;</a:t>
            </a:r>
            <a:r>
              <a:rPr sz="1100" dirty="0">
                <a:latin typeface="Arial"/>
                <a:cs typeface="Arial"/>
              </a:rPr>
              <a:t>.</a:t>
            </a:r>
            <a:r>
              <a:rPr sz="1100" spc="50" dirty="0">
                <a:latin typeface="Arial"/>
                <a:cs typeface="Arial"/>
              </a:rPr>
              <a:t> </a:t>
            </a:r>
            <a:r>
              <a:rPr sz="1100" i="1" dirty="0">
                <a:latin typeface="Bookman Old Style"/>
                <a:cs typeface="Bookman Old Style"/>
              </a:rPr>
              <a:t>x</a:t>
            </a:r>
            <a:r>
              <a:rPr sz="1100" i="1" spc="-4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evaluate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after</a:t>
            </a:r>
            <a:r>
              <a:rPr sz="1100" b="1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it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is 	</a:t>
            </a:r>
            <a:r>
              <a:rPr sz="1100" spc="-10" dirty="0">
                <a:latin typeface="Arial"/>
                <a:cs typeface="Arial"/>
              </a:rPr>
              <a:t>decremented.</a:t>
            </a:r>
            <a:endParaRPr sz="110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-25" dirty="0"/>
              <a:t>20</a:t>
            </a:r>
          </a:p>
        </p:txBody>
      </p:sp>
    </p:spTree>
  </p:cSld>
  <p:clrMapOvr>
    <a:masterClrMapping/>
  </p:clrMapOvr>
  <p:transition>
    <p:cut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Bitwise</a:t>
            </a:r>
            <a:r>
              <a:rPr spc="100" dirty="0"/>
              <a:t> </a:t>
            </a:r>
            <a:r>
              <a:rPr spc="-10" dirty="0"/>
              <a:t>Operators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357466" y="434975"/>
          <a:ext cx="3451224" cy="19323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661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56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694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89230">
                <a:tc>
                  <a:txBody>
                    <a:bodyPr/>
                    <a:lstStyle/>
                    <a:p>
                      <a:pPr algn="ctr">
                        <a:lnSpc>
                          <a:spcPts val="1290"/>
                        </a:lnSpc>
                      </a:pPr>
                      <a:r>
                        <a:rPr sz="1100" spc="-10" dirty="0">
                          <a:latin typeface="Arial"/>
                          <a:cs typeface="Arial"/>
                        </a:rPr>
                        <a:t>operator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90"/>
                        </a:lnSpc>
                      </a:pPr>
                      <a:r>
                        <a:rPr sz="1100" spc="-10" dirty="0">
                          <a:latin typeface="Arial"/>
                          <a:cs typeface="Arial"/>
                        </a:rPr>
                        <a:t>meaning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90"/>
                        </a:lnSpc>
                      </a:pPr>
                      <a:r>
                        <a:rPr sz="1100" spc="-10" dirty="0">
                          <a:latin typeface="Arial"/>
                          <a:cs typeface="Arial"/>
                        </a:rPr>
                        <a:t>examples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861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sz="1100" spc="-50" dirty="0">
                          <a:latin typeface="Arial"/>
                          <a:cs typeface="Arial"/>
                        </a:rPr>
                        <a:t>&amp;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692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sz="1100" spc="-25" dirty="0">
                          <a:latin typeface="Arial"/>
                          <a:cs typeface="Arial"/>
                        </a:rPr>
                        <a:t>AND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692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89230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900" dirty="0">
                          <a:latin typeface="Arial"/>
                          <a:cs typeface="Arial"/>
                        </a:rPr>
                        <a:t>0x77</a:t>
                      </a:r>
                      <a:r>
                        <a:rPr sz="9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&amp;</a:t>
                      </a:r>
                      <a:r>
                        <a:rPr sz="9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0x3;</a:t>
                      </a:r>
                      <a:r>
                        <a:rPr sz="9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35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/</a:t>
                      </a:r>
                      <a:r>
                        <a:rPr sz="900" spc="-35" dirty="0">
                          <a:solidFill>
                            <a:srgbClr val="B50A0A"/>
                          </a:solidFill>
                          <a:latin typeface="Lucida Sans Unicode"/>
                          <a:cs typeface="Lucida Sans Unicode"/>
                        </a:rPr>
                        <a:t>∗</a:t>
                      </a:r>
                      <a:r>
                        <a:rPr sz="900" spc="-35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evaluates</a:t>
                      </a:r>
                      <a:r>
                        <a:rPr sz="900" spc="-5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to</a:t>
                      </a:r>
                      <a:r>
                        <a:rPr sz="900" spc="145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0x3 </a:t>
                      </a:r>
                      <a:r>
                        <a:rPr sz="900" spc="-25" dirty="0">
                          <a:solidFill>
                            <a:srgbClr val="B50A0A"/>
                          </a:solidFill>
                          <a:latin typeface="Lucida Sans Unicode"/>
                          <a:cs typeface="Lucida Sans Unicode"/>
                        </a:rPr>
                        <a:t>∗</a:t>
                      </a:r>
                      <a:r>
                        <a:rPr sz="900" spc="-25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/</a:t>
                      </a:r>
                      <a:endParaRPr sz="900">
                        <a:latin typeface="Arial"/>
                        <a:cs typeface="Arial"/>
                      </a:endParaRPr>
                    </a:p>
                    <a:p>
                      <a:pPr marL="24066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900" dirty="0">
                          <a:latin typeface="Arial"/>
                          <a:cs typeface="Arial"/>
                        </a:rPr>
                        <a:t>0x77</a:t>
                      </a:r>
                      <a:r>
                        <a:rPr sz="9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&amp;</a:t>
                      </a:r>
                      <a:r>
                        <a:rPr sz="9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0x0;</a:t>
                      </a:r>
                      <a:r>
                        <a:rPr sz="9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35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/</a:t>
                      </a:r>
                      <a:r>
                        <a:rPr sz="900" spc="-35" dirty="0">
                          <a:solidFill>
                            <a:srgbClr val="B50A0A"/>
                          </a:solidFill>
                          <a:latin typeface="Lucida Sans Unicode"/>
                          <a:cs typeface="Lucida Sans Unicode"/>
                        </a:rPr>
                        <a:t>∗</a:t>
                      </a:r>
                      <a:r>
                        <a:rPr sz="900" spc="-35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evaluates</a:t>
                      </a:r>
                      <a:r>
                        <a:rPr sz="900" spc="-5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to</a:t>
                      </a:r>
                      <a:r>
                        <a:rPr sz="900" spc="150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0</a:t>
                      </a:r>
                      <a:r>
                        <a:rPr sz="900" spc="100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25" dirty="0">
                          <a:solidFill>
                            <a:srgbClr val="B50A0A"/>
                          </a:solidFill>
                          <a:latin typeface="Lucida Sans Unicode"/>
                          <a:cs typeface="Lucida Sans Unicode"/>
                        </a:rPr>
                        <a:t>∗</a:t>
                      </a:r>
                      <a:r>
                        <a:rPr sz="900" spc="-25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/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82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861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sz="1100" spc="-50" dirty="0">
                          <a:latin typeface="Arial"/>
                          <a:cs typeface="Arial"/>
                        </a:rPr>
                        <a:t>|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692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sz="1100" spc="-25" dirty="0">
                          <a:latin typeface="Arial"/>
                          <a:cs typeface="Arial"/>
                        </a:rPr>
                        <a:t>OR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692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900" dirty="0">
                          <a:latin typeface="Arial"/>
                          <a:cs typeface="Arial"/>
                        </a:rPr>
                        <a:t>0x700</a:t>
                      </a:r>
                      <a:r>
                        <a:rPr sz="9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|</a:t>
                      </a:r>
                      <a:r>
                        <a:rPr sz="900" spc="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0x33;</a:t>
                      </a:r>
                      <a:r>
                        <a:rPr sz="900" spc="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30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/</a:t>
                      </a:r>
                      <a:r>
                        <a:rPr sz="900" spc="-30" dirty="0">
                          <a:solidFill>
                            <a:srgbClr val="B50A0A"/>
                          </a:solidFill>
                          <a:latin typeface="Lucida Sans Unicode"/>
                          <a:cs typeface="Lucida Sans Unicode"/>
                        </a:rPr>
                        <a:t>∗</a:t>
                      </a:r>
                      <a:r>
                        <a:rPr sz="900" spc="-30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evaluates</a:t>
                      </a:r>
                      <a:r>
                        <a:rPr sz="900" spc="15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to</a:t>
                      </a:r>
                      <a:r>
                        <a:rPr sz="900" spc="160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0x733</a:t>
                      </a:r>
                      <a:r>
                        <a:rPr sz="900" spc="-15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25" dirty="0">
                          <a:solidFill>
                            <a:srgbClr val="B50A0A"/>
                          </a:solidFill>
                          <a:latin typeface="Lucida Sans Unicode"/>
                          <a:cs typeface="Lucida Sans Unicode"/>
                        </a:rPr>
                        <a:t>∗</a:t>
                      </a:r>
                      <a:r>
                        <a:rPr sz="900" spc="-25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/</a:t>
                      </a:r>
                      <a:endParaRPr sz="90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900" dirty="0">
                          <a:latin typeface="Arial"/>
                          <a:cs typeface="Arial"/>
                        </a:rPr>
                        <a:t>0x070</a:t>
                      </a:r>
                      <a:r>
                        <a:rPr sz="9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|</a:t>
                      </a:r>
                      <a:r>
                        <a:rPr sz="900" spc="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0</a:t>
                      </a:r>
                      <a:r>
                        <a:rPr sz="900" spc="9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30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/</a:t>
                      </a:r>
                      <a:r>
                        <a:rPr sz="900" spc="-30" dirty="0">
                          <a:solidFill>
                            <a:srgbClr val="B50A0A"/>
                          </a:solidFill>
                          <a:latin typeface="Lucida Sans Unicode"/>
                          <a:cs typeface="Lucida Sans Unicode"/>
                        </a:rPr>
                        <a:t>∗</a:t>
                      </a:r>
                      <a:r>
                        <a:rPr sz="900" spc="-30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evaluates</a:t>
                      </a:r>
                      <a:r>
                        <a:rPr sz="900" spc="20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to</a:t>
                      </a:r>
                      <a:r>
                        <a:rPr sz="900" spc="170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0x070</a:t>
                      </a:r>
                      <a:r>
                        <a:rPr sz="900" spc="-10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35" dirty="0">
                          <a:solidFill>
                            <a:srgbClr val="B50A0A"/>
                          </a:solidFill>
                          <a:latin typeface="Lucida Sans Unicode"/>
                          <a:cs typeface="Lucida Sans Unicode"/>
                        </a:rPr>
                        <a:t>∗</a:t>
                      </a:r>
                      <a:r>
                        <a:rPr sz="900" spc="-35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/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82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861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sz="1100" spc="-50" dirty="0">
                          <a:latin typeface="Arial"/>
                          <a:cs typeface="Arial"/>
                        </a:rPr>
                        <a:t>ˆ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692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sz="1100" spc="-25" dirty="0">
                          <a:latin typeface="Arial"/>
                          <a:cs typeface="Arial"/>
                        </a:rPr>
                        <a:t>XOR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692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900" dirty="0">
                          <a:latin typeface="Arial"/>
                          <a:cs typeface="Arial"/>
                        </a:rPr>
                        <a:t>0x770</a:t>
                      </a:r>
                      <a:r>
                        <a:rPr sz="9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^</a:t>
                      </a:r>
                      <a:r>
                        <a:rPr sz="9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0x773;</a:t>
                      </a:r>
                      <a:r>
                        <a:rPr sz="9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35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/</a:t>
                      </a:r>
                      <a:r>
                        <a:rPr sz="900" spc="-35" dirty="0">
                          <a:solidFill>
                            <a:srgbClr val="B50A0A"/>
                          </a:solidFill>
                          <a:latin typeface="Lucida Sans Unicode"/>
                          <a:cs typeface="Lucida Sans Unicode"/>
                        </a:rPr>
                        <a:t>∗</a:t>
                      </a:r>
                      <a:r>
                        <a:rPr sz="900" spc="-35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evaluates</a:t>
                      </a:r>
                      <a:r>
                        <a:rPr sz="900" spc="-10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to</a:t>
                      </a:r>
                      <a:r>
                        <a:rPr sz="900" spc="40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0x3 </a:t>
                      </a:r>
                      <a:r>
                        <a:rPr sz="900" spc="-25" dirty="0">
                          <a:solidFill>
                            <a:srgbClr val="B50A0A"/>
                          </a:solidFill>
                          <a:latin typeface="Lucida Sans Unicode"/>
                          <a:cs typeface="Lucida Sans Unicode"/>
                        </a:rPr>
                        <a:t>∗</a:t>
                      </a:r>
                      <a:r>
                        <a:rPr sz="900" spc="-25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/</a:t>
                      </a:r>
                      <a:endParaRPr sz="90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900" dirty="0">
                          <a:latin typeface="Arial"/>
                          <a:cs typeface="Arial"/>
                        </a:rPr>
                        <a:t>0x33</a:t>
                      </a:r>
                      <a:r>
                        <a:rPr sz="9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^</a:t>
                      </a:r>
                      <a:r>
                        <a:rPr sz="9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0x33;</a:t>
                      </a:r>
                      <a:r>
                        <a:rPr sz="900" spc="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30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/</a:t>
                      </a:r>
                      <a:r>
                        <a:rPr sz="900" spc="-30" dirty="0">
                          <a:solidFill>
                            <a:srgbClr val="B50A0A"/>
                          </a:solidFill>
                          <a:latin typeface="Lucida Sans Unicode"/>
                          <a:cs typeface="Lucida Sans Unicode"/>
                        </a:rPr>
                        <a:t>∗</a:t>
                      </a:r>
                      <a:r>
                        <a:rPr sz="900" spc="-30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evaluates</a:t>
                      </a:r>
                      <a:r>
                        <a:rPr sz="900" spc="15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to</a:t>
                      </a:r>
                      <a:r>
                        <a:rPr sz="900" spc="160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0</a:t>
                      </a:r>
                      <a:r>
                        <a:rPr sz="900" spc="95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25" dirty="0">
                          <a:solidFill>
                            <a:srgbClr val="B50A0A"/>
                          </a:solidFill>
                          <a:latin typeface="Lucida Sans Unicode"/>
                          <a:cs typeface="Lucida Sans Unicode"/>
                        </a:rPr>
                        <a:t>∗</a:t>
                      </a:r>
                      <a:r>
                        <a:rPr sz="900" spc="-25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/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82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861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sz="1100" spc="-50" dirty="0">
                          <a:latin typeface="Arial"/>
                          <a:cs typeface="Arial"/>
                        </a:rPr>
                        <a:t>«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692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left</a:t>
                      </a:r>
                      <a:r>
                        <a:rPr sz="11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10" dirty="0">
                          <a:latin typeface="Arial"/>
                          <a:cs typeface="Arial"/>
                        </a:rPr>
                        <a:t>shift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692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900" dirty="0">
                          <a:latin typeface="Arial"/>
                          <a:cs typeface="Arial"/>
                        </a:rPr>
                        <a:t>0x01&lt;&lt;4;</a:t>
                      </a:r>
                      <a:r>
                        <a:rPr sz="9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35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/</a:t>
                      </a:r>
                      <a:r>
                        <a:rPr sz="900" spc="-35" dirty="0">
                          <a:solidFill>
                            <a:srgbClr val="B50A0A"/>
                          </a:solidFill>
                          <a:latin typeface="Lucida Sans Unicode"/>
                          <a:cs typeface="Lucida Sans Unicode"/>
                        </a:rPr>
                        <a:t>∗</a:t>
                      </a:r>
                      <a:r>
                        <a:rPr sz="900" spc="-35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evaluates</a:t>
                      </a:r>
                      <a:r>
                        <a:rPr sz="900" spc="-15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to</a:t>
                      </a:r>
                      <a:r>
                        <a:rPr sz="900" spc="-15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0x10</a:t>
                      </a:r>
                      <a:r>
                        <a:rPr sz="900" spc="-15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25" dirty="0">
                          <a:solidFill>
                            <a:srgbClr val="B50A0A"/>
                          </a:solidFill>
                          <a:latin typeface="Lucida Sans Unicode"/>
                          <a:cs typeface="Lucida Sans Unicode"/>
                        </a:rPr>
                        <a:t>∗</a:t>
                      </a:r>
                      <a:r>
                        <a:rPr sz="900" spc="-25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/</a:t>
                      </a:r>
                      <a:endParaRPr sz="90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900" dirty="0">
                          <a:latin typeface="Arial"/>
                          <a:cs typeface="Arial"/>
                        </a:rPr>
                        <a:t>1&lt;&lt;2;</a:t>
                      </a:r>
                      <a:r>
                        <a:rPr sz="9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35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/</a:t>
                      </a:r>
                      <a:r>
                        <a:rPr sz="900" spc="-35" dirty="0">
                          <a:solidFill>
                            <a:srgbClr val="B50A0A"/>
                          </a:solidFill>
                          <a:latin typeface="Lucida Sans Unicode"/>
                          <a:cs typeface="Lucida Sans Unicode"/>
                        </a:rPr>
                        <a:t>∗</a:t>
                      </a:r>
                      <a:r>
                        <a:rPr sz="900" spc="-35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evaluates</a:t>
                      </a:r>
                      <a:r>
                        <a:rPr sz="900" spc="10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to</a:t>
                      </a:r>
                      <a:r>
                        <a:rPr sz="900" spc="165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4</a:t>
                      </a:r>
                      <a:r>
                        <a:rPr sz="900" spc="100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25" dirty="0">
                          <a:solidFill>
                            <a:srgbClr val="B50A0A"/>
                          </a:solidFill>
                          <a:latin typeface="Lucida Sans Unicode"/>
                          <a:cs typeface="Lucida Sans Unicode"/>
                        </a:rPr>
                        <a:t>∗</a:t>
                      </a:r>
                      <a:r>
                        <a:rPr sz="900" spc="-25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/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82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861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sz="1100" spc="-50" dirty="0">
                          <a:latin typeface="Arial"/>
                          <a:cs typeface="Arial"/>
                        </a:rPr>
                        <a:t>»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692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sz="1100" dirty="0">
                          <a:latin typeface="Arial"/>
                          <a:cs typeface="Arial"/>
                        </a:rPr>
                        <a:t>right</a:t>
                      </a:r>
                      <a:r>
                        <a:rPr sz="1100" spc="-10" dirty="0">
                          <a:latin typeface="Arial"/>
                          <a:cs typeface="Arial"/>
                        </a:rPr>
                        <a:t> shift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692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900" dirty="0">
                          <a:latin typeface="Arial"/>
                          <a:cs typeface="Arial"/>
                        </a:rPr>
                        <a:t>0x010&gt;&gt;4;</a:t>
                      </a:r>
                      <a:r>
                        <a:rPr sz="9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35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/</a:t>
                      </a:r>
                      <a:r>
                        <a:rPr sz="900" spc="-35" dirty="0">
                          <a:solidFill>
                            <a:srgbClr val="B50A0A"/>
                          </a:solidFill>
                          <a:latin typeface="Lucida Sans Unicode"/>
                          <a:cs typeface="Lucida Sans Unicode"/>
                        </a:rPr>
                        <a:t>∗</a:t>
                      </a:r>
                      <a:r>
                        <a:rPr sz="900" spc="-35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evaluates</a:t>
                      </a:r>
                      <a:r>
                        <a:rPr sz="900" spc="-15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to</a:t>
                      </a:r>
                      <a:r>
                        <a:rPr sz="900" spc="-15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0x01</a:t>
                      </a:r>
                      <a:r>
                        <a:rPr sz="900" spc="-15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25" dirty="0">
                          <a:solidFill>
                            <a:srgbClr val="B50A0A"/>
                          </a:solidFill>
                          <a:latin typeface="Lucida Sans Unicode"/>
                          <a:cs typeface="Lucida Sans Unicode"/>
                        </a:rPr>
                        <a:t>∗</a:t>
                      </a:r>
                      <a:r>
                        <a:rPr sz="900" spc="-25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/</a:t>
                      </a:r>
                      <a:endParaRPr sz="90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900" dirty="0">
                          <a:latin typeface="Arial"/>
                          <a:cs typeface="Arial"/>
                        </a:rPr>
                        <a:t>4&gt;&gt;1</a:t>
                      </a:r>
                      <a:r>
                        <a:rPr sz="9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35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/</a:t>
                      </a:r>
                      <a:r>
                        <a:rPr sz="900" spc="-35" dirty="0">
                          <a:solidFill>
                            <a:srgbClr val="B50A0A"/>
                          </a:solidFill>
                          <a:latin typeface="Lucida Sans Unicode"/>
                          <a:cs typeface="Lucida Sans Unicode"/>
                        </a:rPr>
                        <a:t>∗</a:t>
                      </a:r>
                      <a:r>
                        <a:rPr sz="900" spc="-35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evaluates</a:t>
                      </a:r>
                      <a:r>
                        <a:rPr sz="900" spc="-5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to</a:t>
                      </a:r>
                      <a:r>
                        <a:rPr sz="900" spc="30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2</a:t>
                      </a:r>
                      <a:r>
                        <a:rPr sz="900" spc="100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25" dirty="0">
                          <a:solidFill>
                            <a:srgbClr val="B50A0A"/>
                          </a:solidFill>
                          <a:latin typeface="Lucida Sans Unicode"/>
                          <a:cs typeface="Lucida Sans Unicode"/>
                        </a:rPr>
                        <a:t>∗</a:t>
                      </a:r>
                      <a:r>
                        <a:rPr sz="900" spc="-25" dirty="0">
                          <a:solidFill>
                            <a:srgbClr val="B50A0A"/>
                          </a:solidFill>
                          <a:latin typeface="Arial"/>
                          <a:cs typeface="Arial"/>
                        </a:rPr>
                        <a:t>/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82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347294" y="2292220"/>
            <a:ext cx="3119755" cy="86614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z="1100" spc="-10" dirty="0">
                <a:latin typeface="Arial"/>
                <a:cs typeface="Arial"/>
              </a:rPr>
              <a:t>Notes:</a:t>
            </a:r>
            <a:endParaRPr sz="1100">
              <a:latin typeface="Arial"/>
              <a:cs typeface="Arial"/>
            </a:endParaRPr>
          </a:p>
          <a:p>
            <a:pPr marL="287655" indent="-130810">
              <a:lnSpc>
                <a:spcPct val="100000"/>
              </a:lnSpc>
              <a:spcBef>
                <a:spcPts val="334"/>
              </a:spcBef>
              <a:buSzPct val="90909"/>
              <a:buFont typeface="Arial"/>
              <a:buChar char="•"/>
              <a:tabLst>
                <a:tab pos="287655" algn="l"/>
              </a:tabLst>
            </a:pPr>
            <a:r>
              <a:rPr sz="1100" dirty="0">
                <a:latin typeface="Arial"/>
                <a:cs typeface="Arial"/>
              </a:rPr>
              <a:t>AND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true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only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if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both</a:t>
            </a:r>
            <a:r>
              <a:rPr sz="1100" b="1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operands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are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true.</a:t>
            </a:r>
            <a:endParaRPr sz="1100">
              <a:latin typeface="Arial"/>
              <a:cs typeface="Arial"/>
            </a:endParaRPr>
          </a:p>
          <a:p>
            <a:pPr marL="287655" indent="-130810">
              <a:lnSpc>
                <a:spcPct val="100000"/>
              </a:lnSpc>
              <a:spcBef>
                <a:spcPts val="330"/>
              </a:spcBef>
              <a:buSzPct val="90909"/>
              <a:buFont typeface="Arial"/>
              <a:buChar char="•"/>
              <a:tabLst>
                <a:tab pos="287655" algn="l"/>
              </a:tabLst>
            </a:pPr>
            <a:r>
              <a:rPr sz="1100" dirty="0">
                <a:latin typeface="Arial"/>
                <a:cs typeface="Arial"/>
              </a:rPr>
              <a:t>OR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true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if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any</a:t>
            </a:r>
            <a:r>
              <a:rPr sz="1100" b="1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operand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true.</a:t>
            </a:r>
            <a:endParaRPr sz="1100">
              <a:latin typeface="Arial"/>
              <a:cs typeface="Arial"/>
            </a:endParaRPr>
          </a:p>
          <a:p>
            <a:pPr marL="287655" indent="-130810">
              <a:lnSpc>
                <a:spcPct val="100000"/>
              </a:lnSpc>
              <a:spcBef>
                <a:spcPts val="335"/>
              </a:spcBef>
              <a:buSzPct val="90909"/>
              <a:buFont typeface="Arial"/>
              <a:buChar char="•"/>
              <a:tabLst>
                <a:tab pos="287655" algn="l"/>
              </a:tabLst>
            </a:pPr>
            <a:r>
              <a:rPr sz="1100" dirty="0">
                <a:latin typeface="Arial"/>
                <a:cs typeface="Arial"/>
              </a:rPr>
              <a:t>XOR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true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if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only</a:t>
            </a:r>
            <a:r>
              <a:rPr sz="1100" b="1" spc="-3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one</a:t>
            </a:r>
            <a:r>
              <a:rPr sz="1100" b="1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operand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true.</a:t>
            </a:r>
            <a:endParaRPr sz="110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-25" dirty="0"/>
              <a:t>21</a:t>
            </a:r>
          </a:p>
        </p:txBody>
      </p:sp>
    </p:spTree>
  </p:cSld>
  <p:clrMapOvr>
    <a:masterClrMapping/>
  </p:clrMapOvr>
  <p:transition>
    <p:cut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Assignment</a:t>
            </a:r>
            <a:r>
              <a:rPr spc="160" dirty="0"/>
              <a:t> </a:t>
            </a:r>
            <a:r>
              <a:rPr spc="-10" dirty="0"/>
              <a:t>Operators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7294" y="531328"/>
            <a:ext cx="3818254" cy="249999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sz="1100" dirty="0">
                <a:latin typeface="Arial"/>
                <a:cs typeface="Arial"/>
              </a:rPr>
              <a:t>Another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common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expression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type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found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while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programming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in </a:t>
            </a:r>
            <a:r>
              <a:rPr sz="1100" dirty="0">
                <a:latin typeface="Arial"/>
                <a:cs typeface="Arial"/>
              </a:rPr>
              <a:t>C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type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var</a:t>
            </a:r>
            <a:r>
              <a:rPr sz="900" spc="1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=</a:t>
            </a:r>
            <a:r>
              <a:rPr sz="900" spc="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var</a:t>
            </a:r>
            <a:r>
              <a:rPr sz="900" spc="17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(op)</a:t>
            </a:r>
            <a:r>
              <a:rPr sz="900" spc="50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expr</a:t>
            </a:r>
            <a:endParaRPr sz="900">
              <a:latin typeface="Arial"/>
              <a:cs typeface="Arial"/>
            </a:endParaRPr>
          </a:p>
          <a:p>
            <a:pPr marL="287655" indent="-130810">
              <a:lnSpc>
                <a:spcPct val="100000"/>
              </a:lnSpc>
              <a:spcBef>
                <a:spcPts val="835"/>
              </a:spcBef>
              <a:buSzPct val="111111"/>
              <a:buFont typeface="Arial"/>
              <a:buChar char="•"/>
              <a:tabLst>
                <a:tab pos="287655" algn="l"/>
              </a:tabLst>
            </a:pPr>
            <a:r>
              <a:rPr sz="900" spc="-10" dirty="0">
                <a:latin typeface="Arial"/>
                <a:cs typeface="Arial"/>
              </a:rPr>
              <a:t>x=x+1</a:t>
            </a:r>
            <a:endParaRPr sz="900">
              <a:latin typeface="Arial"/>
              <a:cs typeface="Arial"/>
            </a:endParaRPr>
          </a:p>
          <a:p>
            <a:pPr marL="287655" indent="-130810">
              <a:lnSpc>
                <a:spcPct val="100000"/>
              </a:lnSpc>
              <a:spcBef>
                <a:spcPts val="570"/>
              </a:spcBef>
              <a:buSzPct val="111111"/>
              <a:buFont typeface="Arial"/>
              <a:buChar char="•"/>
              <a:tabLst>
                <a:tab pos="287655" algn="l"/>
              </a:tabLst>
            </a:pPr>
            <a:r>
              <a:rPr sz="900" spc="-10" dirty="0">
                <a:latin typeface="Arial"/>
                <a:cs typeface="Arial"/>
              </a:rPr>
              <a:t>x=x</a:t>
            </a:r>
            <a:r>
              <a:rPr sz="900" spc="-10" dirty="0">
                <a:latin typeface="Lucida Sans Unicode"/>
                <a:cs typeface="Lucida Sans Unicode"/>
              </a:rPr>
              <a:t>∗</a:t>
            </a:r>
            <a:r>
              <a:rPr sz="900" spc="-10" dirty="0">
                <a:latin typeface="Arial"/>
                <a:cs typeface="Arial"/>
              </a:rPr>
              <a:t>10</a:t>
            </a:r>
            <a:endParaRPr sz="900">
              <a:latin typeface="Arial"/>
              <a:cs typeface="Arial"/>
            </a:endParaRPr>
          </a:p>
          <a:p>
            <a:pPr marL="287655" indent="-130810">
              <a:lnSpc>
                <a:spcPct val="100000"/>
              </a:lnSpc>
              <a:spcBef>
                <a:spcPts val="575"/>
              </a:spcBef>
              <a:buSzPct val="111111"/>
              <a:buFont typeface="Arial"/>
              <a:buChar char="•"/>
              <a:tabLst>
                <a:tab pos="287655" algn="l"/>
              </a:tabLst>
            </a:pPr>
            <a:r>
              <a:rPr sz="900" spc="-10" dirty="0">
                <a:latin typeface="Arial"/>
                <a:cs typeface="Arial"/>
              </a:rPr>
              <a:t>x=x/2</a:t>
            </a:r>
            <a:endParaRPr sz="900">
              <a:latin typeface="Arial"/>
              <a:cs typeface="Arial"/>
            </a:endParaRPr>
          </a:p>
          <a:p>
            <a:pPr marL="12700" marR="142875">
              <a:lnSpc>
                <a:spcPct val="102600"/>
              </a:lnSpc>
              <a:spcBef>
                <a:spcPts val="640"/>
              </a:spcBef>
            </a:pPr>
            <a:r>
              <a:rPr sz="1100" dirty="0">
                <a:latin typeface="Arial"/>
                <a:cs typeface="Arial"/>
              </a:rPr>
              <a:t>C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provides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compact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assignment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operators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that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can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be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used </a:t>
            </a:r>
            <a:r>
              <a:rPr sz="1100" spc="-10" dirty="0">
                <a:latin typeface="Arial"/>
                <a:cs typeface="Arial"/>
              </a:rPr>
              <a:t>instead.</a:t>
            </a:r>
            <a:endParaRPr sz="1100">
              <a:latin typeface="Arial"/>
              <a:cs typeface="Arial"/>
            </a:endParaRPr>
          </a:p>
          <a:p>
            <a:pPr marL="287655" indent="-130810">
              <a:lnSpc>
                <a:spcPct val="100000"/>
              </a:lnSpc>
              <a:spcBef>
                <a:spcPts val="535"/>
              </a:spcBef>
              <a:buSzPct val="111111"/>
              <a:buFont typeface="Arial"/>
              <a:buChar char="•"/>
              <a:tabLst>
                <a:tab pos="287655" algn="l"/>
              </a:tabLst>
            </a:pPr>
            <a:r>
              <a:rPr sz="900" dirty="0">
                <a:latin typeface="Arial"/>
                <a:cs typeface="Arial"/>
              </a:rPr>
              <a:t>x+=1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B50A0A"/>
                </a:solidFill>
                <a:latin typeface="Arial"/>
                <a:cs typeface="Arial"/>
              </a:rPr>
              <a:t>/</a:t>
            </a:r>
            <a:r>
              <a:rPr sz="900" spc="-35" dirty="0">
                <a:solidFill>
                  <a:srgbClr val="B50A0A"/>
                </a:solidFill>
                <a:latin typeface="Lucida Sans Unicode"/>
                <a:cs typeface="Lucida Sans Unicode"/>
              </a:rPr>
              <a:t>∗</a:t>
            </a:r>
            <a:r>
              <a:rPr sz="900" spc="-35" dirty="0">
                <a:solidFill>
                  <a:srgbClr val="B50A0A"/>
                </a:solidFill>
                <a:latin typeface="Arial"/>
                <a:cs typeface="Arial"/>
              </a:rPr>
              <a:t>is</a:t>
            </a:r>
            <a:r>
              <a:rPr sz="900" spc="114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the</a:t>
            </a:r>
            <a:r>
              <a:rPr sz="900" spc="7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same</a:t>
            </a:r>
            <a:r>
              <a:rPr sz="900" spc="-35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as</a:t>
            </a:r>
            <a:r>
              <a:rPr sz="900" spc="-3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x=x+1</a:t>
            </a:r>
            <a:r>
              <a:rPr sz="900" spc="-10" dirty="0">
                <a:solidFill>
                  <a:srgbClr val="B50A0A"/>
                </a:solidFill>
                <a:latin typeface="Lucida Sans Unicode"/>
                <a:cs typeface="Lucida Sans Unicode"/>
              </a:rPr>
              <a:t>∗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/</a:t>
            </a:r>
            <a:endParaRPr sz="900">
              <a:latin typeface="Arial"/>
              <a:cs typeface="Arial"/>
            </a:endParaRPr>
          </a:p>
          <a:p>
            <a:pPr marL="287655" indent="-130810">
              <a:lnSpc>
                <a:spcPct val="100000"/>
              </a:lnSpc>
              <a:spcBef>
                <a:spcPts val="570"/>
              </a:spcBef>
              <a:buSzPct val="111111"/>
              <a:buFont typeface="Arial"/>
              <a:buChar char="•"/>
              <a:tabLst>
                <a:tab pos="287655" algn="l"/>
              </a:tabLst>
            </a:pPr>
            <a:r>
              <a:rPr sz="900" dirty="0">
                <a:latin typeface="Arial"/>
                <a:cs typeface="Arial"/>
              </a:rPr>
              <a:t>x</a:t>
            </a:r>
            <a:r>
              <a:rPr sz="900" dirty="0">
                <a:latin typeface="Lucida Sans Unicode"/>
                <a:cs typeface="Lucida Sans Unicode"/>
              </a:rPr>
              <a:t>−</a:t>
            </a:r>
            <a:r>
              <a:rPr sz="900" dirty="0">
                <a:latin typeface="Arial"/>
                <a:cs typeface="Arial"/>
              </a:rPr>
              <a:t>=1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75" dirty="0">
                <a:solidFill>
                  <a:srgbClr val="B50A0A"/>
                </a:solidFill>
                <a:latin typeface="Arial"/>
                <a:cs typeface="Arial"/>
              </a:rPr>
              <a:t>/</a:t>
            </a:r>
            <a:r>
              <a:rPr sz="900" spc="-75" dirty="0">
                <a:solidFill>
                  <a:srgbClr val="B50A0A"/>
                </a:solidFill>
                <a:latin typeface="Lucida Sans Unicode"/>
                <a:cs typeface="Lucida Sans Unicode"/>
              </a:rPr>
              <a:t>∗</a:t>
            </a:r>
            <a:r>
              <a:rPr sz="900" spc="-75" dirty="0">
                <a:solidFill>
                  <a:srgbClr val="B50A0A"/>
                </a:solidFill>
                <a:latin typeface="Arial"/>
                <a:cs typeface="Arial"/>
              </a:rPr>
              <a:t>is</a:t>
            </a:r>
            <a:r>
              <a:rPr sz="900" spc="-5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the</a:t>
            </a:r>
            <a:r>
              <a:rPr sz="900" spc="10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same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as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 x=x</a:t>
            </a:r>
            <a:r>
              <a:rPr sz="900" spc="-10" dirty="0">
                <a:solidFill>
                  <a:srgbClr val="B50A0A"/>
                </a:solidFill>
                <a:latin typeface="Lucida Sans Unicode"/>
                <a:cs typeface="Lucida Sans Unicode"/>
              </a:rPr>
              <a:t>−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1</a:t>
            </a:r>
            <a:r>
              <a:rPr sz="900" spc="-10" dirty="0">
                <a:solidFill>
                  <a:srgbClr val="B50A0A"/>
                </a:solidFill>
                <a:latin typeface="Lucida Sans Unicode"/>
                <a:cs typeface="Lucida Sans Unicode"/>
              </a:rPr>
              <a:t>∗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/</a:t>
            </a:r>
            <a:endParaRPr sz="900">
              <a:latin typeface="Arial"/>
              <a:cs typeface="Arial"/>
            </a:endParaRPr>
          </a:p>
          <a:p>
            <a:pPr marL="287655" indent="-130810">
              <a:lnSpc>
                <a:spcPct val="100000"/>
              </a:lnSpc>
              <a:spcBef>
                <a:spcPts val="575"/>
              </a:spcBef>
              <a:buSzPct val="111111"/>
              <a:buFont typeface="Arial"/>
              <a:buChar char="•"/>
              <a:tabLst>
                <a:tab pos="287655" algn="l"/>
              </a:tabLst>
            </a:pPr>
            <a:r>
              <a:rPr sz="900" spc="-60" dirty="0">
                <a:latin typeface="Arial"/>
                <a:cs typeface="Arial"/>
              </a:rPr>
              <a:t>x</a:t>
            </a:r>
            <a:r>
              <a:rPr sz="900" spc="-60" dirty="0">
                <a:latin typeface="Lucida Sans Unicode"/>
                <a:cs typeface="Lucida Sans Unicode"/>
              </a:rPr>
              <a:t>∗</a:t>
            </a:r>
            <a:r>
              <a:rPr sz="900" spc="-60" dirty="0">
                <a:latin typeface="Arial"/>
                <a:cs typeface="Arial"/>
              </a:rPr>
              <a:t>=10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B50A0A"/>
                </a:solidFill>
                <a:latin typeface="Arial"/>
                <a:cs typeface="Arial"/>
              </a:rPr>
              <a:t>/</a:t>
            </a:r>
            <a:r>
              <a:rPr sz="900" spc="-40" dirty="0">
                <a:solidFill>
                  <a:srgbClr val="B50A0A"/>
                </a:solidFill>
                <a:latin typeface="Lucida Sans Unicode"/>
                <a:cs typeface="Lucida Sans Unicode"/>
              </a:rPr>
              <a:t>∗</a:t>
            </a:r>
            <a:r>
              <a:rPr sz="900" spc="-40" dirty="0">
                <a:solidFill>
                  <a:srgbClr val="B50A0A"/>
                </a:solidFill>
                <a:latin typeface="Arial"/>
                <a:cs typeface="Arial"/>
              </a:rPr>
              <a:t>is</a:t>
            </a:r>
            <a:r>
              <a:rPr sz="900" spc="105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the</a:t>
            </a:r>
            <a:r>
              <a:rPr sz="900" spc="95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same</a:t>
            </a:r>
            <a:r>
              <a:rPr sz="900" spc="-2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as</a:t>
            </a:r>
            <a:r>
              <a:rPr sz="900" spc="-15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55" dirty="0">
                <a:solidFill>
                  <a:srgbClr val="B50A0A"/>
                </a:solidFill>
                <a:latin typeface="Arial"/>
                <a:cs typeface="Arial"/>
              </a:rPr>
              <a:t>x=x</a:t>
            </a:r>
            <a:r>
              <a:rPr sz="900" spc="-55" dirty="0">
                <a:solidFill>
                  <a:srgbClr val="B50A0A"/>
                </a:solidFill>
                <a:latin typeface="Lucida Sans Unicode"/>
                <a:cs typeface="Lucida Sans Unicode"/>
              </a:rPr>
              <a:t>∗</a:t>
            </a:r>
            <a:r>
              <a:rPr sz="900" spc="-55" dirty="0">
                <a:solidFill>
                  <a:srgbClr val="B50A0A"/>
                </a:solidFill>
                <a:latin typeface="Arial"/>
                <a:cs typeface="Arial"/>
              </a:rPr>
              <a:t>10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B50A0A"/>
                </a:solidFill>
                <a:latin typeface="Lucida Sans Unicode"/>
                <a:cs typeface="Lucida Sans Unicode"/>
              </a:rPr>
              <a:t>∗</a:t>
            </a:r>
            <a:r>
              <a:rPr sz="900" spc="-25" dirty="0">
                <a:solidFill>
                  <a:srgbClr val="B50A0A"/>
                </a:solidFill>
                <a:latin typeface="Arial"/>
                <a:cs typeface="Arial"/>
              </a:rPr>
              <a:t>/</a:t>
            </a:r>
            <a:endParaRPr sz="900">
              <a:latin typeface="Arial"/>
              <a:cs typeface="Arial"/>
            </a:endParaRPr>
          </a:p>
          <a:p>
            <a:pPr marL="287655" indent="-130810">
              <a:lnSpc>
                <a:spcPct val="100000"/>
              </a:lnSpc>
              <a:spcBef>
                <a:spcPts val="575"/>
              </a:spcBef>
              <a:buSzPct val="111111"/>
              <a:buFont typeface="Arial"/>
              <a:buChar char="•"/>
              <a:tabLst>
                <a:tab pos="287655" algn="l"/>
              </a:tabLst>
            </a:pPr>
            <a:r>
              <a:rPr sz="900" dirty="0">
                <a:latin typeface="Arial"/>
                <a:cs typeface="Arial"/>
              </a:rPr>
              <a:t>x/=2</a:t>
            </a:r>
            <a:r>
              <a:rPr sz="900" spc="80" dirty="0">
                <a:latin typeface="Arial"/>
                <a:cs typeface="Arial"/>
              </a:rPr>
              <a:t> </a:t>
            </a:r>
            <a:r>
              <a:rPr sz="900" spc="-135" dirty="0">
                <a:solidFill>
                  <a:srgbClr val="B50A0A"/>
                </a:solidFill>
                <a:latin typeface="Arial"/>
                <a:cs typeface="Arial"/>
              </a:rPr>
              <a:t>/</a:t>
            </a:r>
            <a:r>
              <a:rPr sz="900" spc="-135" dirty="0">
                <a:solidFill>
                  <a:srgbClr val="B50A0A"/>
                </a:solidFill>
                <a:latin typeface="Lucida Sans Unicode"/>
                <a:cs typeface="Lucida Sans Unicode"/>
              </a:rPr>
              <a:t>∗</a:t>
            </a:r>
            <a:r>
              <a:rPr sz="900" spc="-160" dirty="0">
                <a:solidFill>
                  <a:srgbClr val="B50A0A"/>
                </a:solidFill>
                <a:latin typeface="Lucida Sans Unicode"/>
                <a:cs typeface="Lucida Sans Unicode"/>
              </a:rPr>
              <a:t>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is</a:t>
            </a:r>
            <a:r>
              <a:rPr sz="900" spc="215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the</a:t>
            </a:r>
            <a:r>
              <a:rPr sz="900" spc="10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same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as</a:t>
            </a:r>
            <a:r>
              <a:rPr sz="900" spc="-15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B50A0A"/>
                </a:solidFill>
                <a:latin typeface="Arial"/>
                <a:cs typeface="Arial"/>
              </a:rPr>
              <a:t>x=x/2</a:t>
            </a:r>
            <a:endParaRPr sz="900">
              <a:latin typeface="Arial"/>
              <a:cs typeface="Arial"/>
            </a:endParaRPr>
          </a:p>
          <a:p>
            <a:pPr marL="287655" indent="-130810">
              <a:lnSpc>
                <a:spcPct val="100000"/>
              </a:lnSpc>
              <a:spcBef>
                <a:spcPts val="575"/>
              </a:spcBef>
              <a:buSzPct val="111111"/>
              <a:buFont typeface="Arial"/>
              <a:buChar char="•"/>
              <a:tabLst>
                <a:tab pos="287655" algn="l"/>
              </a:tabLst>
            </a:pPr>
            <a:r>
              <a:rPr sz="900" dirty="0">
                <a:latin typeface="Arial"/>
                <a:cs typeface="Arial"/>
              </a:rPr>
              <a:t>x%=2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75" dirty="0">
                <a:solidFill>
                  <a:srgbClr val="B50A0A"/>
                </a:solidFill>
                <a:latin typeface="Arial"/>
                <a:cs typeface="Arial"/>
              </a:rPr>
              <a:t>/</a:t>
            </a:r>
            <a:r>
              <a:rPr sz="900" spc="-75" dirty="0">
                <a:solidFill>
                  <a:srgbClr val="B50A0A"/>
                </a:solidFill>
                <a:latin typeface="Lucida Sans Unicode"/>
                <a:cs typeface="Lucida Sans Unicode"/>
              </a:rPr>
              <a:t>∗</a:t>
            </a:r>
            <a:r>
              <a:rPr sz="900" spc="-75" dirty="0">
                <a:solidFill>
                  <a:srgbClr val="B50A0A"/>
                </a:solidFill>
                <a:latin typeface="Arial"/>
                <a:cs typeface="Arial"/>
              </a:rPr>
              <a:t>is</a:t>
            </a:r>
            <a:r>
              <a:rPr sz="900" spc="-5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the</a:t>
            </a:r>
            <a:r>
              <a:rPr sz="900" spc="15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same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as</a:t>
            </a:r>
            <a:r>
              <a:rPr sz="900" spc="-15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B50A0A"/>
                </a:solidFill>
                <a:latin typeface="Arial"/>
                <a:cs typeface="Arial"/>
              </a:rPr>
              <a:t>x=x%2</a:t>
            </a:r>
            <a:endParaRPr sz="90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-25" dirty="0"/>
              <a:t>22</a:t>
            </a:r>
          </a:p>
        </p:txBody>
      </p:sp>
    </p:spTree>
  </p:cSld>
  <p:clrMapOvr>
    <a:masterClrMapping/>
  </p:clrMapOvr>
  <p:transition>
    <p:cut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Conditional</a:t>
            </a:r>
            <a:r>
              <a:rPr spc="155" dirty="0"/>
              <a:t> </a:t>
            </a:r>
            <a:r>
              <a:rPr spc="-10" dirty="0"/>
              <a:t>Expression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7294" y="418666"/>
            <a:ext cx="3822700" cy="141668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sz="1100" dirty="0">
                <a:latin typeface="Arial"/>
                <a:cs typeface="Arial"/>
              </a:rPr>
              <a:t>A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common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pattern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(and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most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programming)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languages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following:</a:t>
            </a:r>
            <a:endParaRPr sz="1100">
              <a:latin typeface="Arial"/>
              <a:cs typeface="Arial"/>
            </a:endParaRPr>
          </a:p>
          <a:p>
            <a:pPr marL="34925">
              <a:lnSpc>
                <a:spcPct val="100000"/>
              </a:lnSpc>
              <a:spcBef>
                <a:spcPts val="575"/>
              </a:spcBef>
            </a:pPr>
            <a:r>
              <a:rPr sz="900" b="1" spc="-10" dirty="0">
                <a:solidFill>
                  <a:srgbClr val="0000FF"/>
                </a:solidFill>
                <a:latin typeface="Arial"/>
                <a:cs typeface="Arial"/>
              </a:rPr>
              <a:t>i</a:t>
            </a:r>
            <a:r>
              <a:rPr sz="900" b="1" spc="-5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0000FF"/>
                </a:solidFill>
                <a:latin typeface="Arial"/>
                <a:cs typeface="Arial"/>
              </a:rPr>
              <a:t>f</a:t>
            </a:r>
            <a:r>
              <a:rPr sz="900" b="1" spc="9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(</a:t>
            </a:r>
            <a:r>
              <a:rPr sz="900" spc="-7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cond</a:t>
            </a:r>
            <a:r>
              <a:rPr sz="900" spc="-65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)</a:t>
            </a:r>
            <a:endParaRPr sz="900">
              <a:latin typeface="Arial"/>
              <a:cs typeface="Arial"/>
            </a:endParaRPr>
          </a:p>
          <a:p>
            <a:pPr marL="154940">
              <a:lnSpc>
                <a:spcPct val="100000"/>
              </a:lnSpc>
              <a:spcBef>
                <a:spcPts val="15"/>
              </a:spcBef>
            </a:pPr>
            <a:r>
              <a:rPr sz="900" spc="20" dirty="0">
                <a:latin typeface="Arial"/>
                <a:cs typeface="Arial"/>
              </a:rPr>
              <a:t>x=&lt;expra</a:t>
            </a:r>
            <a:r>
              <a:rPr sz="900" spc="145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&gt;;</a:t>
            </a:r>
            <a:endParaRPr sz="900">
              <a:latin typeface="Arial"/>
              <a:cs typeface="Arial"/>
            </a:endParaRPr>
          </a:p>
          <a:p>
            <a:pPr marL="22860">
              <a:lnSpc>
                <a:spcPct val="100000"/>
              </a:lnSpc>
              <a:spcBef>
                <a:spcPts val="15"/>
              </a:spcBef>
            </a:pPr>
            <a:r>
              <a:rPr sz="900" b="1" spc="35" dirty="0">
                <a:solidFill>
                  <a:srgbClr val="0000FF"/>
                </a:solidFill>
                <a:latin typeface="Arial"/>
                <a:cs typeface="Arial"/>
              </a:rPr>
              <a:t>else</a:t>
            </a:r>
            <a:endParaRPr sz="900">
              <a:latin typeface="Arial"/>
              <a:cs typeface="Arial"/>
            </a:endParaRPr>
          </a:p>
          <a:p>
            <a:pPr marL="154940">
              <a:lnSpc>
                <a:spcPct val="100000"/>
              </a:lnSpc>
              <a:spcBef>
                <a:spcPts val="15"/>
              </a:spcBef>
            </a:pPr>
            <a:r>
              <a:rPr sz="900" spc="20" dirty="0">
                <a:latin typeface="Arial"/>
                <a:cs typeface="Arial"/>
              </a:rPr>
              <a:t>x=&lt;exprb</a:t>
            </a:r>
            <a:r>
              <a:rPr sz="900" spc="145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&gt;;</a:t>
            </a:r>
            <a:endParaRPr sz="900">
              <a:latin typeface="Arial"/>
              <a:cs typeface="Arial"/>
            </a:endParaRPr>
          </a:p>
          <a:p>
            <a:pPr marL="12700" marR="296545">
              <a:lnSpc>
                <a:spcPct val="102600"/>
              </a:lnSpc>
              <a:spcBef>
                <a:spcPts val="640"/>
              </a:spcBef>
            </a:pPr>
            <a:r>
              <a:rPr sz="1100" dirty="0">
                <a:latin typeface="Arial"/>
                <a:cs typeface="Arial"/>
              </a:rPr>
              <a:t>C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provides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syntactic</a:t>
            </a:r>
            <a:r>
              <a:rPr sz="1100" i="1" spc="-3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sugar</a:t>
            </a:r>
            <a:r>
              <a:rPr sz="1100" i="1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to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express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same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using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the </a:t>
            </a:r>
            <a:r>
              <a:rPr sz="1100" dirty="0">
                <a:latin typeface="Arial"/>
                <a:cs typeface="Arial"/>
              </a:rPr>
              <a:t>ternary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operator</a:t>
            </a:r>
            <a:r>
              <a:rPr sz="1100" spc="-20" dirty="0">
                <a:latin typeface="Arial"/>
                <a:cs typeface="Arial"/>
              </a:rPr>
              <a:t> ’?:’</a:t>
            </a:r>
            <a:endParaRPr sz="1100">
              <a:latin typeface="Arial"/>
              <a:cs typeface="Arial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090612" y="1988337"/>
          <a:ext cx="2421255" cy="7423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08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131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42315">
                <a:tc>
                  <a:txBody>
                    <a:bodyPr/>
                    <a:lstStyle/>
                    <a:p>
                      <a:pPr marL="88265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900" spc="-10" dirty="0">
                          <a:latin typeface="Arial"/>
                          <a:cs typeface="Arial"/>
                        </a:rPr>
                        <a:t>s</a:t>
                      </a:r>
                      <a:r>
                        <a:rPr sz="900" spc="-8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60" dirty="0">
                          <a:latin typeface="Arial"/>
                          <a:cs typeface="Arial"/>
                        </a:rPr>
                        <a:t>ign=x</a:t>
                      </a:r>
                      <a:r>
                        <a:rPr sz="900" spc="-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&gt;0?1:</a:t>
                      </a:r>
                      <a:r>
                        <a:rPr sz="900" spc="-6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25" dirty="0">
                          <a:latin typeface="Lucida Sans Unicode"/>
                          <a:cs typeface="Lucida Sans Unicode"/>
                        </a:rPr>
                        <a:t>−</a:t>
                      </a:r>
                      <a:r>
                        <a:rPr sz="900" spc="-25" dirty="0">
                          <a:latin typeface="Arial"/>
                          <a:cs typeface="Arial"/>
                        </a:rPr>
                        <a:t>1;</a:t>
                      </a:r>
                      <a:endParaRPr sz="900">
                        <a:latin typeface="Arial"/>
                        <a:cs typeface="Arial"/>
                      </a:endParaRPr>
                    </a:p>
                    <a:p>
                      <a:pPr marL="225425" marR="480059" indent="-127635">
                        <a:lnSpc>
                          <a:spcPct val="101499"/>
                        </a:lnSpc>
                      </a:pPr>
                      <a:r>
                        <a:rPr sz="900" b="1" spc="-10" dirty="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i</a:t>
                      </a:r>
                      <a:r>
                        <a:rPr sz="900" b="1" spc="-75" dirty="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b="1" dirty="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f</a:t>
                      </a:r>
                      <a:r>
                        <a:rPr sz="900" b="1" spc="55" dirty="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10" dirty="0">
                          <a:latin typeface="Arial"/>
                          <a:cs typeface="Arial"/>
                        </a:rPr>
                        <a:t>(</a:t>
                      </a:r>
                      <a:r>
                        <a:rPr sz="900" spc="-10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10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900" spc="-114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25" dirty="0">
                          <a:latin typeface="Arial"/>
                          <a:cs typeface="Arial"/>
                        </a:rPr>
                        <a:t>&gt;0)</a:t>
                      </a:r>
                      <a:r>
                        <a:rPr sz="900" spc="50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10" dirty="0">
                          <a:latin typeface="Arial"/>
                          <a:cs typeface="Arial"/>
                        </a:rPr>
                        <a:t>s</a:t>
                      </a:r>
                      <a:r>
                        <a:rPr sz="900" spc="-1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60" dirty="0">
                          <a:latin typeface="Arial"/>
                          <a:cs typeface="Arial"/>
                        </a:rPr>
                        <a:t>ign</a:t>
                      </a:r>
                      <a:r>
                        <a:rPr sz="900" spc="-1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25" dirty="0">
                          <a:latin typeface="Arial"/>
                          <a:cs typeface="Arial"/>
                        </a:rPr>
                        <a:t>=1</a:t>
                      </a:r>
                      <a:endParaRPr sz="900">
                        <a:latin typeface="Arial"/>
                        <a:cs typeface="Arial"/>
                      </a:endParaRPr>
                    </a:p>
                    <a:p>
                      <a:pPr marL="8572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900" b="1" spc="35" dirty="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else</a:t>
                      </a:r>
                      <a:endParaRPr sz="900">
                        <a:latin typeface="Arial"/>
                        <a:cs typeface="Arial"/>
                      </a:endParaRPr>
                    </a:p>
                    <a:p>
                      <a:pPr marL="22542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900" spc="-10" dirty="0">
                          <a:latin typeface="Arial"/>
                          <a:cs typeface="Arial"/>
                        </a:rPr>
                        <a:t>s</a:t>
                      </a:r>
                      <a:r>
                        <a:rPr sz="900" spc="-1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10" dirty="0">
                          <a:latin typeface="Arial"/>
                          <a:cs typeface="Arial"/>
                        </a:rPr>
                        <a:t>ign=</a:t>
                      </a:r>
                      <a:r>
                        <a:rPr sz="900" spc="-10" dirty="0">
                          <a:latin typeface="Lucida Sans Unicode"/>
                          <a:cs typeface="Lucida Sans Unicode"/>
                        </a:rPr>
                        <a:t>−</a:t>
                      </a:r>
                      <a:r>
                        <a:rPr sz="900" spc="-10" dirty="0">
                          <a:latin typeface="Arial"/>
                          <a:cs typeface="Arial"/>
                        </a:rPr>
                        <a:t>1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2730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6995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900" spc="40" dirty="0">
                          <a:latin typeface="Arial"/>
                          <a:cs typeface="Arial"/>
                        </a:rPr>
                        <a:t>isodd=x%2==1?1:0;</a:t>
                      </a:r>
                      <a:endParaRPr sz="900">
                        <a:latin typeface="Arial"/>
                        <a:cs typeface="Arial"/>
                      </a:endParaRPr>
                    </a:p>
                    <a:p>
                      <a:pPr marL="223520" marR="548005" indent="-126364">
                        <a:lnSpc>
                          <a:spcPct val="101499"/>
                        </a:lnSpc>
                      </a:pPr>
                      <a:r>
                        <a:rPr sz="900" b="1" spc="-10" dirty="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i</a:t>
                      </a:r>
                      <a:r>
                        <a:rPr sz="900" b="1" spc="-75" dirty="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b="1" dirty="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f</a:t>
                      </a:r>
                      <a:r>
                        <a:rPr sz="900" b="1" spc="50" dirty="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10" dirty="0">
                          <a:latin typeface="Arial"/>
                          <a:cs typeface="Arial"/>
                        </a:rPr>
                        <a:t>(</a:t>
                      </a:r>
                      <a:r>
                        <a:rPr sz="900" spc="-8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10" dirty="0">
                          <a:latin typeface="Arial"/>
                          <a:cs typeface="Arial"/>
                        </a:rPr>
                        <a:t>x%2==1) </a:t>
                      </a:r>
                      <a:r>
                        <a:rPr sz="900" spc="50" dirty="0">
                          <a:latin typeface="Arial"/>
                          <a:cs typeface="Arial"/>
                        </a:rPr>
                        <a:t>isodd=1</a:t>
                      </a:r>
                      <a:endParaRPr sz="900">
                        <a:latin typeface="Arial"/>
                        <a:cs typeface="Arial"/>
                      </a:endParaRPr>
                    </a:p>
                    <a:p>
                      <a:pPr marL="8572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900" b="1" spc="35" dirty="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else</a:t>
                      </a:r>
                      <a:endParaRPr sz="900">
                        <a:latin typeface="Arial"/>
                        <a:cs typeface="Arial"/>
                      </a:endParaRPr>
                    </a:p>
                    <a:p>
                      <a:pPr marL="22352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900" spc="50" dirty="0">
                          <a:latin typeface="Arial"/>
                          <a:cs typeface="Arial"/>
                        </a:rPr>
                        <a:t>isodd=0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2730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347294" y="2848049"/>
            <a:ext cx="3728720" cy="36385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sz="1100" dirty="0">
                <a:latin typeface="Arial"/>
                <a:cs typeface="Arial"/>
              </a:rPr>
              <a:t>Notice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how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ternary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operator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makes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code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shorter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and </a:t>
            </a:r>
            <a:r>
              <a:rPr sz="1100" dirty="0">
                <a:latin typeface="Arial"/>
                <a:cs typeface="Arial"/>
              </a:rPr>
              <a:t>easier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to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understand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(syntactic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sugar).</a:t>
            </a:r>
            <a:endParaRPr sz="1100">
              <a:latin typeface="Arial"/>
              <a:cs typeface="Arial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-25" dirty="0"/>
              <a:t>23</a:t>
            </a:r>
          </a:p>
        </p:txBody>
      </p:sp>
    </p:spTree>
  </p:cSld>
  <p:clrMapOvr>
    <a:masterClrMapping/>
  </p:clrMapOvr>
  <p:transition>
    <p:cut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300" y="61452"/>
            <a:ext cx="3003550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n-US" sz="1400" b="1" spc="60" dirty="0" err="1">
                <a:solidFill>
                  <a:srgbClr val="993333"/>
                </a:solidFill>
                <a:latin typeface="Arial"/>
                <a:cs typeface="Arial"/>
              </a:rPr>
              <a:t>FoCS</a:t>
            </a:r>
            <a:r>
              <a:rPr lang="en-US" sz="1400" b="1" spc="60" dirty="0">
                <a:solidFill>
                  <a:srgbClr val="993333"/>
                </a:solidFill>
                <a:latin typeface="Arial"/>
                <a:cs typeface="Arial"/>
              </a:rPr>
              <a:t> </a:t>
            </a:r>
            <a:r>
              <a:rPr lang="en-US" sz="1400" b="1" dirty="0">
                <a:solidFill>
                  <a:srgbClr val="993333"/>
                </a:solidFill>
                <a:latin typeface="Arial"/>
                <a:cs typeface="Arial"/>
              </a:rPr>
              <a:t>Lecture</a:t>
            </a:r>
            <a:r>
              <a:rPr lang="en-US" sz="1400" b="1" spc="60" dirty="0">
                <a:solidFill>
                  <a:srgbClr val="993333"/>
                </a:solidFill>
                <a:latin typeface="Arial"/>
                <a:cs typeface="Arial"/>
              </a:rPr>
              <a:t> 4</a:t>
            </a:r>
            <a:r>
              <a:rPr lang="en-US" sz="1400" b="1" spc="65" dirty="0">
                <a:solidFill>
                  <a:srgbClr val="993333"/>
                </a:solidFill>
                <a:latin typeface="Arial"/>
                <a:cs typeface="Arial"/>
              </a:rPr>
              <a:t> </a:t>
            </a:r>
            <a:r>
              <a:rPr lang="en-US" sz="1400" b="1" dirty="0">
                <a:solidFill>
                  <a:srgbClr val="993333"/>
                </a:solidFill>
                <a:latin typeface="Arial"/>
                <a:cs typeface="Arial"/>
              </a:rPr>
              <a:t>–</a:t>
            </a:r>
            <a:r>
              <a:rPr lang="en-US" sz="1400" b="1" spc="60" dirty="0">
                <a:solidFill>
                  <a:srgbClr val="993333"/>
                </a:solidFill>
                <a:latin typeface="Arial"/>
                <a:cs typeface="Arial"/>
              </a:rPr>
              <a:t> October</a:t>
            </a:r>
            <a:r>
              <a:rPr lang="en-US" sz="1400" b="1" spc="65" dirty="0">
                <a:solidFill>
                  <a:srgbClr val="993333"/>
                </a:solidFill>
                <a:latin typeface="Arial"/>
                <a:cs typeface="Arial"/>
              </a:rPr>
              <a:t> 6</a:t>
            </a:r>
            <a:r>
              <a:rPr lang="en-US" sz="1400" b="1" dirty="0">
                <a:solidFill>
                  <a:srgbClr val="993333"/>
                </a:solidFill>
                <a:latin typeface="Arial"/>
                <a:cs typeface="Arial"/>
              </a:rPr>
              <a:t>,</a:t>
            </a:r>
            <a:r>
              <a:rPr lang="en-US" sz="1400" b="1" spc="60" dirty="0">
                <a:solidFill>
                  <a:srgbClr val="993333"/>
                </a:solidFill>
                <a:latin typeface="Arial"/>
                <a:cs typeface="Arial"/>
              </a:rPr>
              <a:t> </a:t>
            </a:r>
            <a:r>
              <a:rPr lang="en-US" sz="1400" b="1" spc="-20" dirty="0">
                <a:solidFill>
                  <a:srgbClr val="993333"/>
                </a:solidFill>
                <a:latin typeface="Arial"/>
                <a:cs typeface="Arial"/>
              </a:rPr>
              <a:t>2026</a:t>
            </a:r>
            <a:endParaRPr lang="en-US" sz="1400" dirty="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14680" y="878775"/>
            <a:ext cx="1539875" cy="12007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10" dirty="0">
                <a:solidFill>
                  <a:srgbClr val="CCCCCC"/>
                </a:solidFill>
                <a:latin typeface="Arial"/>
                <a:cs typeface="Arial"/>
              </a:rPr>
              <a:t>Review</a:t>
            </a:r>
            <a:endParaRPr sz="1100">
              <a:latin typeface="Arial"/>
              <a:cs typeface="Arial"/>
            </a:endParaRPr>
          </a:p>
          <a:p>
            <a:pPr marL="12700" marR="5080">
              <a:lnSpc>
                <a:spcPct val="300900"/>
              </a:lnSpc>
            </a:pPr>
            <a:r>
              <a:rPr sz="1100" spc="-20" dirty="0">
                <a:solidFill>
                  <a:srgbClr val="CCCCCC"/>
                </a:solidFill>
                <a:latin typeface="Arial"/>
                <a:cs typeface="Arial"/>
              </a:rPr>
              <a:t>Variables </a:t>
            </a:r>
            <a:r>
              <a:rPr sz="1100" dirty="0">
                <a:solidFill>
                  <a:srgbClr val="CCCCCC"/>
                </a:solidFill>
                <a:latin typeface="Arial"/>
                <a:cs typeface="Arial"/>
              </a:rPr>
              <a:t>and</a:t>
            </a:r>
            <a:r>
              <a:rPr sz="1100" spc="-15" dirty="0">
                <a:solidFill>
                  <a:srgbClr val="CCCCCC"/>
                </a:solidFill>
                <a:latin typeface="Arial"/>
                <a:cs typeface="Arial"/>
              </a:rPr>
              <a:t> </a:t>
            </a:r>
            <a:r>
              <a:rPr sz="1100" dirty="0">
                <a:solidFill>
                  <a:srgbClr val="CCCCCC"/>
                </a:solidFill>
                <a:latin typeface="Arial"/>
                <a:cs typeface="Arial"/>
              </a:rPr>
              <a:t>data</a:t>
            </a:r>
            <a:r>
              <a:rPr sz="1100" spc="-15" dirty="0">
                <a:solidFill>
                  <a:srgbClr val="CCCCCC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CCCCCC"/>
                </a:solidFill>
                <a:latin typeface="Arial"/>
                <a:cs typeface="Arial"/>
              </a:rPr>
              <a:t>types Operators</a:t>
            </a:r>
            <a:endParaRPr sz="11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14680" y="2392272"/>
            <a:ext cx="56451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10" dirty="0">
                <a:latin typeface="Arial"/>
                <a:cs typeface="Arial"/>
              </a:rPr>
              <a:t>Epilogue</a:t>
            </a:r>
            <a:endParaRPr sz="11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300486" y="3278333"/>
            <a:ext cx="138430" cy="151130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800" spc="-25" dirty="0">
                <a:latin typeface="Arial"/>
                <a:cs typeface="Arial"/>
              </a:rPr>
              <a:t>24</a:t>
            </a:r>
            <a:endParaRPr sz="8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2540" y="-2590"/>
            <a:ext cx="4613275" cy="3461385"/>
            <a:chOff x="-2540" y="-2590"/>
            <a:chExt cx="4613275" cy="3461385"/>
          </a:xfrm>
        </p:grpSpPr>
        <p:sp>
          <p:nvSpPr>
            <p:cNvPr id="3" name="object 3"/>
            <p:cNvSpPr/>
            <p:nvPr/>
          </p:nvSpPr>
          <p:spPr>
            <a:xfrm>
              <a:off x="0" y="-50"/>
              <a:ext cx="4608195" cy="3456304"/>
            </a:xfrm>
            <a:custGeom>
              <a:avLst/>
              <a:gdLst/>
              <a:ahLst/>
              <a:cxnLst/>
              <a:rect l="l" t="t" r="r" b="b"/>
              <a:pathLst>
                <a:path w="4608195" h="3456304">
                  <a:moveTo>
                    <a:pt x="0" y="3456051"/>
                  </a:moveTo>
                  <a:lnTo>
                    <a:pt x="4608055" y="3456051"/>
                  </a:lnTo>
                  <a:lnTo>
                    <a:pt x="4608055" y="0"/>
                  </a:lnTo>
                  <a:lnTo>
                    <a:pt x="0" y="0"/>
                  </a:lnTo>
                  <a:lnTo>
                    <a:pt x="0" y="3456051"/>
                  </a:lnTo>
                  <a:close/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08000" y="331152"/>
              <a:ext cx="4392295" cy="29209"/>
            </a:xfrm>
            <a:custGeom>
              <a:avLst/>
              <a:gdLst/>
              <a:ahLst/>
              <a:cxnLst/>
              <a:rect l="l" t="t" r="r" b="b"/>
              <a:pathLst>
                <a:path w="4392295" h="29210">
                  <a:moveTo>
                    <a:pt x="4392053" y="0"/>
                  </a:moveTo>
                  <a:lnTo>
                    <a:pt x="0" y="0"/>
                  </a:lnTo>
                  <a:lnTo>
                    <a:pt x="0" y="28803"/>
                  </a:lnTo>
                  <a:lnTo>
                    <a:pt x="4392053" y="28803"/>
                  </a:lnTo>
                  <a:lnTo>
                    <a:pt x="4392053" y="0"/>
                  </a:lnTo>
                  <a:close/>
                </a:path>
              </a:pathLst>
            </a:custGeom>
            <a:solidFill>
              <a:srgbClr val="63636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Type</a:t>
            </a:r>
            <a:r>
              <a:rPr spc="-15" dirty="0"/>
              <a:t> </a:t>
            </a:r>
            <a:r>
              <a:rPr spc="-10" dirty="0"/>
              <a:t>Conversions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95300" y="410615"/>
            <a:ext cx="4429760" cy="281368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264160" marR="285115">
              <a:lnSpc>
                <a:spcPct val="102600"/>
              </a:lnSpc>
              <a:spcBef>
                <a:spcPts val="55"/>
              </a:spcBef>
            </a:pPr>
            <a:r>
              <a:rPr sz="1100" dirty="0">
                <a:latin typeface="Arial"/>
                <a:cs typeface="Arial"/>
              </a:rPr>
              <a:t>When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variables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are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promoted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to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higher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precision,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data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is </a:t>
            </a:r>
            <a:r>
              <a:rPr sz="1100" dirty="0">
                <a:latin typeface="Arial"/>
                <a:cs typeface="Arial"/>
              </a:rPr>
              <a:t>preserved.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This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automatically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done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by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compiler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for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mixed </a:t>
            </a:r>
            <a:r>
              <a:rPr sz="1100" dirty="0">
                <a:latin typeface="Arial"/>
                <a:cs typeface="Arial"/>
              </a:rPr>
              <a:t>data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type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expressions.</a:t>
            </a:r>
            <a:endParaRPr sz="1100">
              <a:latin typeface="Arial"/>
              <a:cs typeface="Arial"/>
            </a:endParaRPr>
          </a:p>
          <a:p>
            <a:pPr marL="417195">
              <a:lnSpc>
                <a:spcPct val="100000"/>
              </a:lnSpc>
              <a:spcBef>
                <a:spcPts val="575"/>
              </a:spcBef>
            </a:pPr>
            <a:r>
              <a:rPr sz="900" b="1" spc="-10" dirty="0">
                <a:solidFill>
                  <a:srgbClr val="0000FF"/>
                </a:solidFill>
                <a:latin typeface="Arial"/>
                <a:cs typeface="Arial"/>
              </a:rPr>
              <a:t>i</a:t>
            </a:r>
            <a:r>
              <a:rPr sz="900" b="1" spc="-1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0000FF"/>
                </a:solidFill>
                <a:latin typeface="Arial"/>
                <a:cs typeface="Arial"/>
              </a:rPr>
              <a:t>n</a:t>
            </a:r>
            <a:r>
              <a:rPr sz="900" b="1" spc="-12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0000FF"/>
                </a:solidFill>
                <a:latin typeface="Arial"/>
                <a:cs typeface="Arial"/>
              </a:rPr>
              <a:t>t</a:t>
            </a:r>
            <a:r>
              <a:rPr sz="900" b="1" spc="170" dirty="0">
                <a:solidFill>
                  <a:srgbClr val="0000FF"/>
                </a:solidFill>
                <a:latin typeface="Arial"/>
                <a:cs typeface="Arial"/>
              </a:rPr>
              <a:t>  </a:t>
            </a:r>
            <a:r>
              <a:rPr sz="900" dirty="0">
                <a:latin typeface="Arial"/>
                <a:cs typeface="Arial"/>
              </a:rPr>
              <a:t>i</a:t>
            </a:r>
            <a:r>
              <a:rPr sz="900" spc="60" dirty="0">
                <a:latin typeface="Arial"/>
                <a:cs typeface="Arial"/>
              </a:rPr>
              <a:t> </a:t>
            </a:r>
            <a:r>
              <a:rPr sz="900" spc="-60" dirty="0">
                <a:latin typeface="Arial"/>
                <a:cs typeface="Arial"/>
              </a:rPr>
              <a:t>;</a:t>
            </a:r>
            <a:endParaRPr sz="900">
              <a:latin typeface="Arial"/>
              <a:cs typeface="Arial"/>
            </a:endParaRPr>
          </a:p>
          <a:p>
            <a:pPr marL="417830">
              <a:lnSpc>
                <a:spcPct val="100000"/>
              </a:lnSpc>
              <a:spcBef>
                <a:spcPts val="15"/>
              </a:spcBef>
            </a:pPr>
            <a:r>
              <a:rPr sz="900" b="1" spc="-10" dirty="0">
                <a:solidFill>
                  <a:srgbClr val="0000FF"/>
                </a:solidFill>
                <a:latin typeface="Arial"/>
                <a:cs typeface="Arial"/>
              </a:rPr>
              <a:t>f</a:t>
            </a:r>
            <a:r>
              <a:rPr sz="900" b="1" spc="-12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0000FF"/>
                </a:solidFill>
                <a:latin typeface="Arial"/>
                <a:cs typeface="Arial"/>
              </a:rPr>
              <a:t>l</a:t>
            </a:r>
            <a:r>
              <a:rPr sz="900" b="1" spc="-12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0000FF"/>
                </a:solidFill>
                <a:latin typeface="Arial"/>
                <a:cs typeface="Arial"/>
              </a:rPr>
              <a:t>o</a:t>
            </a:r>
            <a:r>
              <a:rPr sz="900" b="1" spc="-12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0000FF"/>
                </a:solidFill>
                <a:latin typeface="Arial"/>
                <a:cs typeface="Arial"/>
              </a:rPr>
              <a:t>a</a:t>
            </a:r>
            <a:r>
              <a:rPr sz="900" b="1" spc="-114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0000FF"/>
                </a:solidFill>
                <a:latin typeface="Arial"/>
                <a:cs typeface="Arial"/>
              </a:rPr>
              <a:t>t</a:t>
            </a:r>
            <a:r>
              <a:rPr sz="900" b="1" spc="160" dirty="0">
                <a:solidFill>
                  <a:srgbClr val="0000FF"/>
                </a:solidFill>
                <a:latin typeface="Arial"/>
                <a:cs typeface="Arial"/>
              </a:rPr>
              <a:t>  </a:t>
            </a:r>
            <a:r>
              <a:rPr sz="900" dirty="0">
                <a:latin typeface="Arial"/>
                <a:cs typeface="Arial"/>
              </a:rPr>
              <a:t>f</a:t>
            </a:r>
            <a:r>
              <a:rPr sz="900" spc="35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;</a:t>
            </a:r>
            <a:endParaRPr sz="900">
              <a:latin typeface="Arial"/>
              <a:cs typeface="Arial"/>
            </a:endParaRPr>
          </a:p>
          <a:p>
            <a:pPr marL="419100">
              <a:lnSpc>
                <a:spcPct val="100000"/>
              </a:lnSpc>
              <a:spcBef>
                <a:spcPts val="15"/>
              </a:spcBef>
            </a:pPr>
            <a:r>
              <a:rPr sz="900" spc="-10" dirty="0">
                <a:latin typeface="Arial"/>
                <a:cs typeface="Arial"/>
              </a:rPr>
              <a:t>f</a:t>
            </a:r>
            <a:r>
              <a:rPr sz="900" spc="-9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=</a:t>
            </a:r>
            <a:r>
              <a:rPr sz="900" spc="-6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</a:t>
            </a:r>
            <a:r>
              <a:rPr sz="900" spc="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+</a:t>
            </a:r>
            <a:r>
              <a:rPr sz="900" spc="-16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3</a:t>
            </a:r>
            <a:r>
              <a:rPr sz="900" spc="-16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.</a:t>
            </a:r>
            <a:r>
              <a:rPr sz="900" spc="-165" dirty="0">
                <a:latin typeface="Arial"/>
                <a:cs typeface="Arial"/>
              </a:rPr>
              <a:t> </a:t>
            </a:r>
            <a:r>
              <a:rPr sz="900" spc="55" dirty="0">
                <a:latin typeface="Arial"/>
                <a:cs typeface="Arial"/>
              </a:rPr>
              <a:t>14159</a:t>
            </a:r>
            <a:r>
              <a:rPr sz="900" spc="-16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;</a:t>
            </a:r>
            <a:r>
              <a:rPr sz="900" spc="145" dirty="0">
                <a:latin typeface="Arial"/>
                <a:cs typeface="Arial"/>
              </a:rPr>
              <a:t> 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/</a:t>
            </a:r>
            <a:r>
              <a:rPr sz="900" spc="-12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260" dirty="0">
                <a:solidFill>
                  <a:srgbClr val="B50A0A"/>
                </a:solidFill>
                <a:latin typeface="Lucida Sans Unicode"/>
                <a:cs typeface="Lucida Sans Unicode"/>
              </a:rPr>
              <a:t>∗</a:t>
            </a:r>
            <a:r>
              <a:rPr sz="900" spc="25" dirty="0">
                <a:solidFill>
                  <a:srgbClr val="B50A0A"/>
                </a:solidFill>
                <a:latin typeface="Lucida Sans Unicode"/>
                <a:cs typeface="Lucida Sans Unicode"/>
              </a:rPr>
              <a:t>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i</a:t>
            </a:r>
            <a:r>
              <a:rPr sz="900" spc="200" dirty="0">
                <a:solidFill>
                  <a:srgbClr val="B50A0A"/>
                </a:solidFill>
                <a:latin typeface="Arial"/>
                <a:cs typeface="Arial"/>
              </a:rPr>
              <a:t> 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i</a:t>
            </a:r>
            <a:r>
              <a:rPr sz="900" spc="-10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s</a:t>
            </a:r>
            <a:r>
              <a:rPr sz="900" spc="140" dirty="0">
                <a:solidFill>
                  <a:srgbClr val="B50A0A"/>
                </a:solidFill>
                <a:latin typeface="Arial"/>
                <a:cs typeface="Arial"/>
              </a:rPr>
              <a:t> 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promoted</a:t>
            </a:r>
            <a:r>
              <a:rPr sz="900" spc="125" dirty="0">
                <a:solidFill>
                  <a:srgbClr val="B50A0A"/>
                </a:solidFill>
                <a:latin typeface="Arial"/>
                <a:cs typeface="Arial"/>
              </a:rPr>
              <a:t> 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to</a:t>
            </a:r>
            <a:r>
              <a:rPr sz="900" spc="170" dirty="0">
                <a:solidFill>
                  <a:srgbClr val="B50A0A"/>
                </a:solidFill>
                <a:latin typeface="Arial"/>
                <a:cs typeface="Arial"/>
              </a:rPr>
              <a:t> 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f</a:t>
            </a:r>
            <a:r>
              <a:rPr sz="900" spc="-10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l</a:t>
            </a:r>
            <a:r>
              <a:rPr sz="900" spc="-10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o</a:t>
            </a:r>
            <a:r>
              <a:rPr sz="900" spc="-10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a</a:t>
            </a:r>
            <a:r>
              <a:rPr sz="900" spc="-10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t</a:t>
            </a:r>
            <a:r>
              <a:rPr sz="900" spc="204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,</a:t>
            </a:r>
            <a:r>
              <a:rPr sz="900" spc="190" dirty="0">
                <a:solidFill>
                  <a:srgbClr val="B50A0A"/>
                </a:solidFill>
                <a:latin typeface="Arial"/>
                <a:cs typeface="Arial"/>
              </a:rPr>
              <a:t> 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f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=(</a:t>
            </a:r>
            <a:r>
              <a:rPr sz="900" spc="2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f</a:t>
            </a:r>
            <a:r>
              <a:rPr sz="900" spc="-75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l</a:t>
            </a:r>
            <a:r>
              <a:rPr sz="900" spc="-75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o</a:t>
            </a:r>
            <a:r>
              <a:rPr sz="900" spc="-75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a</a:t>
            </a:r>
            <a:r>
              <a:rPr sz="900" spc="-7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t</a:t>
            </a:r>
            <a:r>
              <a:rPr sz="900" spc="5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)</a:t>
            </a:r>
            <a:r>
              <a:rPr sz="900" spc="55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i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45" dirty="0">
                <a:solidFill>
                  <a:srgbClr val="B50A0A"/>
                </a:solidFill>
                <a:latin typeface="Arial"/>
                <a:cs typeface="Arial"/>
              </a:rPr>
              <a:t>+3.14159</a:t>
            </a:r>
            <a:r>
              <a:rPr sz="900" spc="-55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260" dirty="0">
                <a:solidFill>
                  <a:srgbClr val="B50A0A"/>
                </a:solidFill>
                <a:latin typeface="Lucida Sans Unicode"/>
                <a:cs typeface="Lucida Sans Unicode"/>
              </a:rPr>
              <a:t>∗</a:t>
            </a:r>
            <a:r>
              <a:rPr sz="900" spc="-155" dirty="0">
                <a:solidFill>
                  <a:srgbClr val="B50A0A"/>
                </a:solidFill>
                <a:latin typeface="Lucida Sans Unicode"/>
                <a:cs typeface="Lucida Sans Unicode"/>
              </a:rPr>
              <a:t> </a:t>
            </a:r>
            <a:r>
              <a:rPr sz="900" spc="-50" dirty="0">
                <a:solidFill>
                  <a:srgbClr val="B50A0A"/>
                </a:solidFill>
                <a:latin typeface="Arial"/>
                <a:cs typeface="Arial"/>
              </a:rPr>
              <a:t>/</a:t>
            </a:r>
            <a:endParaRPr sz="900">
              <a:latin typeface="Arial"/>
              <a:cs typeface="Arial"/>
            </a:endParaRPr>
          </a:p>
          <a:p>
            <a:pPr marL="264160">
              <a:lnSpc>
                <a:spcPct val="100000"/>
              </a:lnSpc>
              <a:spcBef>
                <a:spcPts val="675"/>
              </a:spcBef>
            </a:pPr>
            <a:r>
              <a:rPr sz="1100" dirty="0">
                <a:latin typeface="Arial"/>
                <a:cs typeface="Arial"/>
              </a:rPr>
              <a:t>Another</a:t>
            </a:r>
            <a:r>
              <a:rPr sz="1100" spc="-5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conversion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done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automatically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by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compiler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is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’char’</a:t>
            </a:r>
            <a:endParaRPr sz="1100">
              <a:latin typeface="Arial"/>
              <a:cs typeface="Arial"/>
            </a:endParaRPr>
          </a:p>
          <a:p>
            <a:pPr marL="264160" marR="485775">
              <a:lnSpc>
                <a:spcPct val="102600"/>
              </a:lnSpc>
            </a:pPr>
            <a:r>
              <a:rPr sz="1100" i="1" dirty="0">
                <a:latin typeface="Arial"/>
                <a:cs typeface="Arial"/>
              </a:rPr>
              <a:t>→</a:t>
            </a:r>
            <a:r>
              <a:rPr sz="1100" i="1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’int’.</a:t>
            </a:r>
            <a:r>
              <a:rPr sz="1100" spc="5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This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allows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comparisons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as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well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as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manupilations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of </a:t>
            </a:r>
            <a:r>
              <a:rPr sz="1100" dirty="0">
                <a:latin typeface="Arial"/>
                <a:cs typeface="Arial"/>
              </a:rPr>
              <a:t>character</a:t>
            </a:r>
            <a:r>
              <a:rPr sz="1100" spc="-7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variables.</a:t>
            </a:r>
            <a:endParaRPr sz="1100">
              <a:latin typeface="Arial"/>
              <a:cs typeface="Arial"/>
            </a:endParaRPr>
          </a:p>
          <a:p>
            <a:pPr marL="414020">
              <a:lnSpc>
                <a:spcPct val="100000"/>
              </a:lnSpc>
              <a:spcBef>
                <a:spcPts val="570"/>
              </a:spcBef>
            </a:pPr>
            <a:r>
              <a:rPr sz="900" spc="-10" dirty="0">
                <a:latin typeface="Arial"/>
                <a:cs typeface="Arial"/>
              </a:rPr>
              <a:t>i</a:t>
            </a:r>
            <a:r>
              <a:rPr sz="900" spc="-150" dirty="0">
                <a:latin typeface="Arial"/>
                <a:cs typeface="Arial"/>
              </a:rPr>
              <a:t> </a:t>
            </a:r>
            <a:r>
              <a:rPr sz="900" spc="75" dirty="0">
                <a:latin typeface="Arial"/>
                <a:cs typeface="Arial"/>
              </a:rPr>
              <a:t>supper</a:t>
            </a:r>
            <a:r>
              <a:rPr sz="900" spc="-6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=(</a:t>
            </a:r>
            <a:r>
              <a:rPr sz="900" spc="-1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c&gt;=</a:t>
            </a:r>
            <a:r>
              <a:rPr sz="900" dirty="0">
                <a:latin typeface="Courier New"/>
                <a:cs typeface="Courier New"/>
              </a:rPr>
              <a:t>’A’</a:t>
            </a:r>
            <a:r>
              <a:rPr sz="900" spc="-30" dirty="0">
                <a:latin typeface="Courier New"/>
                <a:cs typeface="Courier New"/>
              </a:rPr>
              <a:t> </a:t>
            </a:r>
            <a:r>
              <a:rPr sz="900" dirty="0">
                <a:latin typeface="Arial"/>
                <a:cs typeface="Arial"/>
              </a:rPr>
              <a:t>&amp;&amp;</a:t>
            </a:r>
            <a:r>
              <a:rPr sz="900" spc="29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c&lt;=</a:t>
            </a:r>
            <a:r>
              <a:rPr sz="900" dirty="0">
                <a:latin typeface="Courier New"/>
                <a:cs typeface="Courier New"/>
              </a:rPr>
              <a:t>’Z’</a:t>
            </a:r>
            <a:r>
              <a:rPr sz="900" spc="-405" dirty="0">
                <a:latin typeface="Courier New"/>
                <a:cs typeface="Courier New"/>
              </a:rPr>
              <a:t> </a:t>
            </a:r>
            <a:r>
              <a:rPr sz="900" spc="-10" dirty="0">
                <a:latin typeface="Arial"/>
                <a:cs typeface="Arial"/>
              </a:rPr>
              <a:t>)</a:t>
            </a:r>
            <a:r>
              <a:rPr sz="900" spc="-1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?</a:t>
            </a:r>
            <a:r>
              <a:rPr sz="900" spc="-114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1</a:t>
            </a:r>
            <a:r>
              <a:rPr sz="900" spc="-114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:</a:t>
            </a:r>
            <a:r>
              <a:rPr sz="900" spc="-114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0</a:t>
            </a:r>
            <a:r>
              <a:rPr sz="900" spc="-114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;</a:t>
            </a:r>
            <a:r>
              <a:rPr sz="900" spc="155" dirty="0">
                <a:latin typeface="Arial"/>
                <a:cs typeface="Arial"/>
              </a:rPr>
              <a:t> 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/</a:t>
            </a:r>
            <a:r>
              <a:rPr sz="900" spc="-12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260" dirty="0">
                <a:solidFill>
                  <a:srgbClr val="B50A0A"/>
                </a:solidFill>
                <a:latin typeface="Lucida Sans Unicode"/>
                <a:cs typeface="Lucida Sans Unicode"/>
              </a:rPr>
              <a:t>∗</a:t>
            </a:r>
            <a:r>
              <a:rPr sz="900" spc="-114" dirty="0">
                <a:solidFill>
                  <a:srgbClr val="B50A0A"/>
                </a:solidFill>
                <a:latin typeface="Lucida Sans Unicode"/>
                <a:cs typeface="Lucida Sans Unicode"/>
              </a:rPr>
              <a:t>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c</a:t>
            </a:r>
            <a:r>
              <a:rPr sz="900" spc="38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and</a:t>
            </a:r>
            <a:r>
              <a:rPr sz="900" spc="145" dirty="0">
                <a:solidFill>
                  <a:srgbClr val="B50A0A"/>
                </a:solidFill>
                <a:latin typeface="Arial"/>
                <a:cs typeface="Arial"/>
              </a:rPr>
              <a:t> 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l</a:t>
            </a:r>
            <a:r>
              <a:rPr sz="900" spc="-4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i</a:t>
            </a:r>
            <a:r>
              <a:rPr sz="900" spc="-45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t</a:t>
            </a:r>
            <a:r>
              <a:rPr sz="900" spc="-4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e</a:t>
            </a:r>
            <a:r>
              <a:rPr sz="900" spc="-45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r</a:t>
            </a:r>
            <a:r>
              <a:rPr sz="900" spc="-45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a</a:t>
            </a:r>
            <a:r>
              <a:rPr sz="900" spc="-4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l</a:t>
            </a:r>
            <a:r>
              <a:rPr sz="900" spc="180" dirty="0">
                <a:solidFill>
                  <a:srgbClr val="B50A0A"/>
                </a:solidFill>
                <a:latin typeface="Arial"/>
                <a:cs typeface="Arial"/>
              </a:rPr>
              <a:t>  </a:t>
            </a:r>
            <a:r>
              <a:rPr sz="900" spc="70" dirty="0">
                <a:solidFill>
                  <a:srgbClr val="B50A0A"/>
                </a:solidFill>
                <a:latin typeface="Arial"/>
                <a:cs typeface="Arial"/>
              </a:rPr>
              <a:t>constants</a:t>
            </a:r>
            <a:endParaRPr sz="900">
              <a:latin typeface="Arial"/>
              <a:cs typeface="Arial"/>
            </a:endParaRPr>
          </a:p>
          <a:p>
            <a:pPr marL="2870835">
              <a:lnSpc>
                <a:spcPct val="100000"/>
              </a:lnSpc>
              <a:spcBef>
                <a:spcPts val="20"/>
              </a:spcBef>
            </a:pP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are</a:t>
            </a:r>
            <a:r>
              <a:rPr sz="900" spc="130" dirty="0">
                <a:solidFill>
                  <a:srgbClr val="B50A0A"/>
                </a:solidFill>
                <a:latin typeface="Arial"/>
                <a:cs typeface="Arial"/>
              </a:rPr>
              <a:t>  </a:t>
            </a:r>
            <a:r>
              <a:rPr sz="900" spc="75" dirty="0">
                <a:solidFill>
                  <a:srgbClr val="B50A0A"/>
                </a:solidFill>
                <a:latin typeface="Arial"/>
                <a:cs typeface="Arial"/>
              </a:rPr>
              <a:t>converted</a:t>
            </a:r>
            <a:r>
              <a:rPr sz="900" spc="150" dirty="0">
                <a:solidFill>
                  <a:srgbClr val="B50A0A"/>
                </a:solidFill>
                <a:latin typeface="Arial"/>
                <a:cs typeface="Arial"/>
              </a:rPr>
              <a:t> 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to</a:t>
            </a:r>
            <a:r>
              <a:rPr sz="900" spc="185" dirty="0">
                <a:solidFill>
                  <a:srgbClr val="B50A0A"/>
                </a:solidFill>
                <a:latin typeface="Arial"/>
                <a:cs typeface="Arial"/>
              </a:rPr>
              <a:t> 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i</a:t>
            </a:r>
            <a:r>
              <a:rPr sz="900" spc="-65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n</a:t>
            </a:r>
            <a:r>
              <a:rPr sz="900" spc="-7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t</a:t>
            </a:r>
            <a:r>
              <a:rPr sz="900" spc="55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260" dirty="0">
                <a:solidFill>
                  <a:srgbClr val="B50A0A"/>
                </a:solidFill>
                <a:latin typeface="Lucida Sans Unicode"/>
                <a:cs typeface="Lucida Sans Unicode"/>
              </a:rPr>
              <a:t>∗</a:t>
            </a:r>
            <a:r>
              <a:rPr sz="900" spc="-155" dirty="0">
                <a:solidFill>
                  <a:srgbClr val="B50A0A"/>
                </a:solidFill>
                <a:latin typeface="Lucida Sans Unicode"/>
                <a:cs typeface="Lucida Sans Unicode"/>
              </a:rPr>
              <a:t> </a:t>
            </a:r>
            <a:r>
              <a:rPr sz="900" spc="-50" dirty="0">
                <a:solidFill>
                  <a:srgbClr val="B50A0A"/>
                </a:solidFill>
                <a:latin typeface="Arial"/>
                <a:cs typeface="Arial"/>
              </a:rPr>
              <a:t>/</a:t>
            </a:r>
            <a:endParaRPr sz="900">
              <a:latin typeface="Arial"/>
              <a:cs typeface="Arial"/>
            </a:endParaRPr>
          </a:p>
          <a:p>
            <a:pPr marL="423545">
              <a:lnSpc>
                <a:spcPct val="100000"/>
              </a:lnSpc>
              <a:spcBef>
                <a:spcPts val="15"/>
              </a:spcBef>
            </a:pPr>
            <a:r>
              <a:rPr sz="900" b="1" spc="-10" dirty="0">
                <a:solidFill>
                  <a:srgbClr val="0000FF"/>
                </a:solidFill>
                <a:latin typeface="Arial"/>
                <a:cs typeface="Arial"/>
              </a:rPr>
              <a:t>i</a:t>
            </a:r>
            <a:r>
              <a:rPr sz="900" b="1" spc="-7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0000FF"/>
                </a:solidFill>
                <a:latin typeface="Arial"/>
                <a:cs typeface="Arial"/>
              </a:rPr>
              <a:t>f</a:t>
            </a:r>
            <a:r>
              <a:rPr sz="900" b="1" spc="11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(</a:t>
            </a:r>
            <a:r>
              <a:rPr sz="900" spc="-7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!</a:t>
            </a:r>
            <a:r>
              <a:rPr sz="900" spc="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i</a:t>
            </a:r>
            <a:r>
              <a:rPr sz="900" spc="-145" dirty="0">
                <a:latin typeface="Arial"/>
                <a:cs typeface="Arial"/>
              </a:rPr>
              <a:t> </a:t>
            </a:r>
            <a:r>
              <a:rPr sz="900" spc="75" dirty="0">
                <a:latin typeface="Arial"/>
                <a:cs typeface="Arial"/>
              </a:rPr>
              <a:t>supper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)</a:t>
            </a:r>
            <a:endParaRPr sz="900">
              <a:latin typeface="Arial"/>
              <a:cs typeface="Arial"/>
            </a:endParaRPr>
          </a:p>
          <a:p>
            <a:pPr marL="543560">
              <a:lnSpc>
                <a:spcPct val="100000"/>
              </a:lnSpc>
              <a:spcBef>
                <a:spcPts val="15"/>
              </a:spcBef>
            </a:pPr>
            <a:r>
              <a:rPr sz="900" spc="-10" dirty="0">
                <a:latin typeface="Arial"/>
                <a:cs typeface="Arial"/>
              </a:rPr>
              <a:t>c=c</a:t>
            </a:r>
            <a:r>
              <a:rPr sz="900" spc="-10" dirty="0">
                <a:latin typeface="Lucida Sans Unicode"/>
                <a:cs typeface="Lucida Sans Unicode"/>
              </a:rPr>
              <a:t>−</a:t>
            </a:r>
            <a:r>
              <a:rPr sz="900" spc="-10" dirty="0">
                <a:latin typeface="Courier New"/>
                <a:cs typeface="Courier New"/>
              </a:rPr>
              <a:t>’a’</a:t>
            </a:r>
            <a:r>
              <a:rPr sz="900" spc="-10" dirty="0">
                <a:latin typeface="Arial"/>
                <a:cs typeface="Arial"/>
              </a:rPr>
              <a:t>+</a:t>
            </a:r>
            <a:r>
              <a:rPr sz="900" spc="-10" dirty="0">
                <a:latin typeface="Courier New"/>
                <a:cs typeface="Courier New"/>
              </a:rPr>
              <a:t>’A’</a:t>
            </a:r>
            <a:r>
              <a:rPr sz="900" spc="-400" dirty="0">
                <a:latin typeface="Courier New"/>
                <a:cs typeface="Courier New"/>
              </a:rPr>
              <a:t> </a:t>
            </a:r>
            <a:r>
              <a:rPr sz="900" dirty="0">
                <a:latin typeface="Arial"/>
                <a:cs typeface="Arial"/>
              </a:rPr>
              <a:t>;</a:t>
            </a:r>
            <a:r>
              <a:rPr sz="900" spc="165" dirty="0">
                <a:latin typeface="Arial"/>
                <a:cs typeface="Arial"/>
              </a:rPr>
              <a:t> 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/</a:t>
            </a:r>
            <a:r>
              <a:rPr sz="900" spc="-125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260" dirty="0">
                <a:solidFill>
                  <a:srgbClr val="B50A0A"/>
                </a:solidFill>
                <a:latin typeface="Lucida Sans Unicode"/>
                <a:cs typeface="Lucida Sans Unicode"/>
              </a:rPr>
              <a:t>∗</a:t>
            </a:r>
            <a:r>
              <a:rPr sz="900" spc="-30" dirty="0">
                <a:solidFill>
                  <a:srgbClr val="B50A0A"/>
                </a:solidFill>
                <a:latin typeface="Lucida Sans Unicode"/>
                <a:cs typeface="Lucida Sans Unicode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s</a:t>
            </a:r>
            <a:r>
              <a:rPr sz="900" spc="-125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u</a:t>
            </a:r>
            <a:r>
              <a:rPr sz="900" spc="-12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b</a:t>
            </a:r>
            <a:r>
              <a:rPr sz="900" spc="-12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t</a:t>
            </a:r>
            <a:r>
              <a:rPr sz="900" spc="-12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r</a:t>
            </a:r>
            <a:r>
              <a:rPr sz="900" spc="-12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a</a:t>
            </a:r>
            <a:r>
              <a:rPr sz="900" spc="-12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c</a:t>
            </a:r>
            <a:r>
              <a:rPr sz="900" spc="-12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t</a:t>
            </a:r>
            <a:r>
              <a:rPr sz="900" spc="-125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i</a:t>
            </a:r>
            <a:r>
              <a:rPr sz="900" spc="-12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o</a:t>
            </a:r>
            <a:r>
              <a:rPr sz="900" spc="-12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n</a:t>
            </a:r>
            <a:r>
              <a:rPr sz="900" spc="165" dirty="0">
                <a:solidFill>
                  <a:srgbClr val="B50A0A"/>
                </a:solidFill>
                <a:latin typeface="Arial"/>
                <a:cs typeface="Arial"/>
              </a:rPr>
              <a:t> 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i</a:t>
            </a:r>
            <a:r>
              <a:rPr sz="900" spc="-10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s</a:t>
            </a:r>
            <a:r>
              <a:rPr sz="900" spc="155" dirty="0">
                <a:solidFill>
                  <a:srgbClr val="B50A0A"/>
                </a:solidFill>
                <a:latin typeface="Arial"/>
                <a:cs typeface="Arial"/>
              </a:rPr>
              <a:t> 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p</a:t>
            </a:r>
            <a:r>
              <a:rPr sz="900" spc="-13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o</a:t>
            </a:r>
            <a:r>
              <a:rPr sz="900" spc="-135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s</a:t>
            </a:r>
            <a:r>
              <a:rPr sz="900" spc="-135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s</a:t>
            </a:r>
            <a:r>
              <a:rPr sz="900" spc="-14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i</a:t>
            </a:r>
            <a:r>
              <a:rPr sz="900" spc="-135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b</a:t>
            </a:r>
            <a:r>
              <a:rPr sz="900" spc="-135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l</a:t>
            </a:r>
            <a:r>
              <a:rPr sz="900" spc="-135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50" dirty="0">
                <a:solidFill>
                  <a:srgbClr val="B50A0A"/>
                </a:solidFill>
                <a:latin typeface="Arial"/>
                <a:cs typeface="Arial"/>
              </a:rPr>
              <a:t>e</a:t>
            </a:r>
            <a:endParaRPr sz="900">
              <a:latin typeface="Arial"/>
              <a:cs typeface="Arial"/>
            </a:endParaRPr>
          </a:p>
          <a:p>
            <a:pPr marL="1842135">
              <a:lnSpc>
                <a:spcPct val="100000"/>
              </a:lnSpc>
              <a:spcBef>
                <a:spcPts val="15"/>
              </a:spcBef>
            </a:pP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because</a:t>
            </a:r>
            <a:r>
              <a:rPr sz="900" spc="495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50" dirty="0">
                <a:solidFill>
                  <a:srgbClr val="B50A0A"/>
                </a:solidFill>
                <a:latin typeface="Arial"/>
                <a:cs typeface="Arial"/>
              </a:rPr>
              <a:t>of</a:t>
            </a:r>
            <a:r>
              <a:rPr sz="900" spc="170" dirty="0">
                <a:solidFill>
                  <a:srgbClr val="B50A0A"/>
                </a:solidFill>
                <a:latin typeface="Arial"/>
                <a:cs typeface="Arial"/>
              </a:rPr>
              <a:t> 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i</a:t>
            </a:r>
            <a:r>
              <a:rPr sz="900" spc="-114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n</a:t>
            </a:r>
            <a:r>
              <a:rPr sz="900" spc="-114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t</a:t>
            </a:r>
            <a:r>
              <a:rPr sz="900" spc="-114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e</a:t>
            </a:r>
            <a:r>
              <a:rPr sz="900" spc="-114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g</a:t>
            </a:r>
            <a:r>
              <a:rPr sz="900" spc="-11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e</a:t>
            </a:r>
            <a:r>
              <a:rPr sz="900" spc="-114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r</a:t>
            </a:r>
            <a:r>
              <a:rPr sz="900" spc="160" dirty="0">
                <a:solidFill>
                  <a:srgbClr val="B50A0A"/>
                </a:solidFill>
                <a:latin typeface="Arial"/>
                <a:cs typeface="Arial"/>
              </a:rPr>
              <a:t>  </a:t>
            </a:r>
            <a:r>
              <a:rPr sz="900" spc="80" dirty="0">
                <a:solidFill>
                  <a:srgbClr val="B50A0A"/>
                </a:solidFill>
                <a:latin typeface="Arial"/>
                <a:cs typeface="Arial"/>
              </a:rPr>
              <a:t>conversion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spc="-260" dirty="0">
                <a:solidFill>
                  <a:srgbClr val="B50A0A"/>
                </a:solidFill>
                <a:latin typeface="Lucida Sans Unicode"/>
                <a:cs typeface="Lucida Sans Unicode"/>
              </a:rPr>
              <a:t>∗</a:t>
            </a:r>
            <a:r>
              <a:rPr sz="900" spc="-155" dirty="0">
                <a:solidFill>
                  <a:srgbClr val="B50A0A"/>
                </a:solidFill>
                <a:latin typeface="Lucida Sans Unicode"/>
                <a:cs typeface="Lucida Sans Unicode"/>
              </a:rPr>
              <a:t> </a:t>
            </a:r>
            <a:r>
              <a:rPr sz="900" spc="-50" dirty="0">
                <a:solidFill>
                  <a:srgbClr val="B50A0A"/>
                </a:solidFill>
                <a:latin typeface="Arial"/>
                <a:cs typeface="Arial"/>
              </a:rPr>
              <a:t>/</a:t>
            </a:r>
            <a:endParaRPr sz="900">
              <a:latin typeface="Arial"/>
              <a:cs typeface="Arial"/>
            </a:endParaRPr>
          </a:p>
          <a:p>
            <a:pPr marR="19050" algn="ctr">
              <a:lnSpc>
                <a:spcPct val="100000"/>
              </a:lnSpc>
              <a:spcBef>
                <a:spcPts val="675"/>
              </a:spcBef>
            </a:pPr>
            <a:r>
              <a:rPr sz="1100" dirty="0">
                <a:latin typeface="Arial"/>
                <a:cs typeface="Arial"/>
              </a:rPr>
              <a:t>As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rule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(with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exceptions),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compiler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promotes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each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term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in</a:t>
            </a:r>
            <a:endParaRPr sz="1100">
              <a:latin typeface="Arial"/>
              <a:cs typeface="Arial"/>
            </a:endParaRPr>
          </a:p>
          <a:p>
            <a:pPr marR="4445" algn="ctr">
              <a:lnSpc>
                <a:spcPct val="100000"/>
              </a:lnSpc>
              <a:spcBef>
                <a:spcPts val="35"/>
              </a:spcBef>
              <a:tabLst>
                <a:tab pos="251460" algn="l"/>
                <a:tab pos="4391660" algn="l"/>
              </a:tabLst>
            </a:pPr>
            <a:r>
              <a:rPr sz="1100" u="heavy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	an</a:t>
            </a:r>
            <a:r>
              <a:rPr sz="1100" u="heavy" spc="-2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100" u="heavy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binary</a:t>
            </a:r>
            <a:r>
              <a:rPr sz="1100" u="heavy" spc="-2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100" u="heavy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expression</a:t>
            </a:r>
            <a:r>
              <a:rPr sz="1100" u="heavy" spc="-2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100" u="heavy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to</a:t>
            </a:r>
            <a:r>
              <a:rPr sz="1100" u="heavy" spc="-2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100" u="heavy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the</a:t>
            </a:r>
            <a:r>
              <a:rPr sz="1100" u="heavy" spc="-1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100" u="heavy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highest</a:t>
            </a:r>
            <a:r>
              <a:rPr sz="1100" u="heavy" spc="-2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100" u="heavy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precision</a:t>
            </a:r>
            <a:r>
              <a:rPr sz="1100" u="heavy" spc="-2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100" u="heavy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operand.</a:t>
            </a:r>
            <a:r>
              <a:rPr sz="1100" u="heavy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	</a:t>
            </a:r>
            <a:endParaRPr sz="11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300486" y="3278333"/>
            <a:ext cx="138430" cy="151130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800" spc="-25" dirty="0">
                <a:latin typeface="Arial"/>
                <a:cs typeface="Arial"/>
              </a:rPr>
              <a:t>24</a:t>
            </a:r>
            <a:endParaRPr sz="8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Precedence</a:t>
            </a:r>
            <a:r>
              <a:rPr spc="80" dirty="0"/>
              <a:t> </a:t>
            </a:r>
            <a:r>
              <a:rPr dirty="0"/>
              <a:t>and</a:t>
            </a:r>
            <a:r>
              <a:rPr spc="85" dirty="0"/>
              <a:t> </a:t>
            </a:r>
            <a:r>
              <a:rPr dirty="0"/>
              <a:t>Order</a:t>
            </a:r>
            <a:r>
              <a:rPr spc="85" dirty="0"/>
              <a:t> </a:t>
            </a:r>
            <a:r>
              <a:rPr dirty="0"/>
              <a:t>of</a:t>
            </a:r>
            <a:r>
              <a:rPr spc="85" dirty="0"/>
              <a:t> </a:t>
            </a:r>
            <a:r>
              <a:rPr spc="-10" dirty="0"/>
              <a:t>Evaluation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7294" y="623034"/>
            <a:ext cx="3272154" cy="1951355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287655" indent="-130810">
              <a:lnSpc>
                <a:spcPct val="100000"/>
              </a:lnSpc>
              <a:spcBef>
                <a:spcPts val="434"/>
              </a:spcBef>
              <a:buSzPct val="90909"/>
              <a:buFont typeface="Arial"/>
              <a:buChar char="•"/>
              <a:tabLst>
                <a:tab pos="287655" algn="l"/>
              </a:tabLst>
            </a:pPr>
            <a:r>
              <a:rPr sz="1100" spc="-10" dirty="0">
                <a:latin typeface="Arial"/>
                <a:cs typeface="Arial"/>
              </a:rPr>
              <a:t>++,–,(cast),sizeof have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highest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priority</a:t>
            </a:r>
            <a:endParaRPr sz="1100">
              <a:latin typeface="Arial"/>
              <a:cs typeface="Arial"/>
            </a:endParaRPr>
          </a:p>
          <a:p>
            <a:pPr marL="287655" indent="-130810">
              <a:lnSpc>
                <a:spcPct val="100000"/>
              </a:lnSpc>
              <a:spcBef>
                <a:spcPts val="334"/>
              </a:spcBef>
              <a:buSzPct val="90909"/>
              <a:buFont typeface="Arial"/>
              <a:buChar char="•"/>
              <a:tabLst>
                <a:tab pos="287655" algn="l"/>
              </a:tabLst>
            </a:pPr>
            <a:r>
              <a:rPr sz="1100" dirty="0">
                <a:latin typeface="Arial"/>
                <a:cs typeface="Arial"/>
              </a:rPr>
              <a:t>*,/,%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have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higher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priority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than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+,-</a:t>
            </a:r>
            <a:endParaRPr sz="1100">
              <a:latin typeface="Arial"/>
              <a:cs typeface="Arial"/>
            </a:endParaRPr>
          </a:p>
          <a:p>
            <a:pPr marL="156845">
              <a:lnSpc>
                <a:spcPct val="100000"/>
              </a:lnSpc>
              <a:spcBef>
                <a:spcPts val="330"/>
              </a:spcBef>
            </a:pPr>
            <a:r>
              <a:rPr sz="1500" i="1" spc="217" baseline="2777" dirty="0">
                <a:latin typeface="Arial"/>
                <a:cs typeface="Arial"/>
              </a:rPr>
              <a:t>•</a:t>
            </a:r>
            <a:r>
              <a:rPr sz="1500" i="1" spc="330" baseline="2777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==,!=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have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higher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priority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than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&amp;&amp;,||</a:t>
            </a:r>
            <a:endParaRPr sz="1100">
              <a:latin typeface="Arial"/>
              <a:cs typeface="Arial"/>
            </a:endParaRPr>
          </a:p>
          <a:p>
            <a:pPr marL="287655" indent="-130810">
              <a:lnSpc>
                <a:spcPct val="100000"/>
              </a:lnSpc>
              <a:spcBef>
                <a:spcPts val="335"/>
              </a:spcBef>
              <a:buSzPct val="90909"/>
              <a:buFont typeface="Arial"/>
              <a:buChar char="•"/>
              <a:tabLst>
                <a:tab pos="287655" algn="l"/>
              </a:tabLst>
            </a:pPr>
            <a:r>
              <a:rPr sz="1100" dirty="0">
                <a:latin typeface="Arial"/>
                <a:cs typeface="Arial"/>
              </a:rPr>
              <a:t>assignment</a:t>
            </a:r>
            <a:r>
              <a:rPr sz="1100" spc="-5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operators</a:t>
            </a:r>
            <a:r>
              <a:rPr sz="1100" spc="-5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have</a:t>
            </a:r>
            <a:r>
              <a:rPr sz="1100" spc="-5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very</a:t>
            </a:r>
            <a:r>
              <a:rPr sz="1100" spc="-5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low</a:t>
            </a:r>
            <a:r>
              <a:rPr sz="1100" spc="-5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priority</a:t>
            </a:r>
            <a:endParaRPr sz="1100">
              <a:latin typeface="Arial"/>
              <a:cs typeface="Arial"/>
            </a:endParaRPr>
          </a:p>
          <a:p>
            <a:pPr marL="12700" marR="5080">
              <a:lnSpc>
                <a:spcPct val="102600"/>
              </a:lnSpc>
              <a:spcBef>
                <a:spcPts val="600"/>
              </a:spcBef>
            </a:pPr>
            <a:r>
              <a:rPr sz="1100" dirty="0">
                <a:latin typeface="Arial"/>
                <a:cs typeface="Arial"/>
              </a:rPr>
              <a:t>Use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()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generously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to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avoid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ambiguities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or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side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effects </a:t>
            </a:r>
            <a:r>
              <a:rPr sz="1100" dirty="0">
                <a:latin typeface="Arial"/>
                <a:cs typeface="Arial"/>
              </a:rPr>
              <a:t>associated</a:t>
            </a:r>
            <a:r>
              <a:rPr sz="1100" spc="-5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with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precendence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operators.</a:t>
            </a:r>
            <a:endParaRPr sz="1100">
              <a:latin typeface="Arial"/>
              <a:cs typeface="Arial"/>
            </a:endParaRPr>
          </a:p>
          <a:p>
            <a:pPr marL="287655" indent="-130810">
              <a:lnSpc>
                <a:spcPct val="100000"/>
              </a:lnSpc>
              <a:spcBef>
                <a:spcPts val="830"/>
              </a:spcBef>
              <a:buSzPct val="111111"/>
              <a:buFont typeface="Arial"/>
              <a:buChar char="•"/>
              <a:tabLst>
                <a:tab pos="287655" algn="l"/>
              </a:tabLst>
            </a:pPr>
            <a:r>
              <a:rPr sz="900" spc="-40" dirty="0">
                <a:latin typeface="Arial"/>
                <a:cs typeface="Arial"/>
              </a:rPr>
              <a:t>y=x</a:t>
            </a:r>
            <a:r>
              <a:rPr sz="900" spc="-40" dirty="0">
                <a:latin typeface="Lucida Sans Unicode"/>
                <a:cs typeface="Lucida Sans Unicode"/>
              </a:rPr>
              <a:t>∗</a:t>
            </a:r>
            <a:r>
              <a:rPr sz="900" spc="-40" dirty="0">
                <a:latin typeface="Arial"/>
                <a:cs typeface="Arial"/>
              </a:rPr>
              <a:t>3+2</a:t>
            </a:r>
            <a:r>
              <a:rPr sz="900" dirty="0">
                <a:latin typeface="Arial"/>
                <a:cs typeface="Arial"/>
              </a:rPr>
              <a:t> </a:t>
            </a:r>
            <a:r>
              <a:rPr sz="900" spc="-55" dirty="0">
                <a:solidFill>
                  <a:srgbClr val="B50A0A"/>
                </a:solidFill>
                <a:latin typeface="Arial"/>
                <a:cs typeface="Arial"/>
              </a:rPr>
              <a:t>/</a:t>
            </a:r>
            <a:r>
              <a:rPr sz="900" spc="-55" dirty="0">
                <a:solidFill>
                  <a:srgbClr val="B50A0A"/>
                </a:solidFill>
                <a:latin typeface="Lucida Sans Unicode"/>
                <a:cs typeface="Lucida Sans Unicode"/>
              </a:rPr>
              <a:t>∗</a:t>
            </a:r>
            <a:r>
              <a:rPr sz="900" spc="-55" dirty="0">
                <a:solidFill>
                  <a:srgbClr val="B50A0A"/>
                </a:solidFill>
                <a:latin typeface="Arial"/>
                <a:cs typeface="Arial"/>
              </a:rPr>
              <a:t>same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 as 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y=(x</a:t>
            </a:r>
            <a:r>
              <a:rPr sz="900" spc="-10" dirty="0">
                <a:solidFill>
                  <a:srgbClr val="B50A0A"/>
                </a:solidFill>
                <a:latin typeface="Lucida Sans Unicode"/>
                <a:cs typeface="Lucida Sans Unicode"/>
              </a:rPr>
              <a:t>∗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3)+2</a:t>
            </a:r>
            <a:r>
              <a:rPr sz="900" spc="-10" dirty="0">
                <a:solidFill>
                  <a:srgbClr val="B50A0A"/>
                </a:solidFill>
                <a:latin typeface="Lucida Sans Unicode"/>
                <a:cs typeface="Lucida Sans Unicode"/>
              </a:rPr>
              <a:t>∗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/</a:t>
            </a:r>
            <a:endParaRPr sz="900">
              <a:latin typeface="Arial"/>
              <a:cs typeface="Arial"/>
            </a:endParaRPr>
          </a:p>
          <a:p>
            <a:pPr marL="287655" indent="-130810">
              <a:lnSpc>
                <a:spcPct val="100000"/>
              </a:lnSpc>
              <a:spcBef>
                <a:spcPts val="575"/>
              </a:spcBef>
              <a:buSzPct val="111111"/>
              <a:buFont typeface="Arial"/>
              <a:buChar char="•"/>
              <a:tabLst>
                <a:tab pos="287655" algn="l"/>
              </a:tabLst>
            </a:pPr>
            <a:r>
              <a:rPr sz="900" dirty="0">
                <a:latin typeface="Arial"/>
                <a:cs typeface="Arial"/>
              </a:rPr>
              <a:t>x!=0</a:t>
            </a:r>
            <a:r>
              <a:rPr sz="900" spc="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&amp;&amp;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y==0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spc="-55" dirty="0">
                <a:solidFill>
                  <a:srgbClr val="B50A0A"/>
                </a:solidFill>
                <a:latin typeface="Arial"/>
                <a:cs typeface="Arial"/>
              </a:rPr>
              <a:t>/</a:t>
            </a:r>
            <a:r>
              <a:rPr sz="900" spc="-55" dirty="0">
                <a:solidFill>
                  <a:srgbClr val="B50A0A"/>
                </a:solidFill>
                <a:latin typeface="Lucida Sans Unicode"/>
                <a:cs typeface="Lucida Sans Unicode"/>
              </a:rPr>
              <a:t>∗</a:t>
            </a:r>
            <a:r>
              <a:rPr sz="900" spc="-55" dirty="0">
                <a:solidFill>
                  <a:srgbClr val="B50A0A"/>
                </a:solidFill>
                <a:latin typeface="Arial"/>
                <a:cs typeface="Arial"/>
              </a:rPr>
              <a:t>same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as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(x!=0)</a:t>
            </a:r>
            <a:r>
              <a:rPr sz="900" spc="-15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&amp;&amp;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 (y==0)</a:t>
            </a:r>
            <a:r>
              <a:rPr sz="900" spc="-10" dirty="0">
                <a:solidFill>
                  <a:srgbClr val="B50A0A"/>
                </a:solidFill>
                <a:latin typeface="Lucida Sans Unicode"/>
                <a:cs typeface="Lucida Sans Unicode"/>
              </a:rPr>
              <a:t>∗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/</a:t>
            </a:r>
            <a:endParaRPr sz="900">
              <a:latin typeface="Arial"/>
              <a:cs typeface="Arial"/>
            </a:endParaRPr>
          </a:p>
          <a:p>
            <a:pPr marL="287655" indent="-130810">
              <a:lnSpc>
                <a:spcPct val="100000"/>
              </a:lnSpc>
              <a:spcBef>
                <a:spcPts val="575"/>
              </a:spcBef>
              <a:buSzPct val="111111"/>
              <a:buFont typeface="Arial"/>
              <a:buChar char="•"/>
              <a:tabLst>
                <a:tab pos="287655" algn="l"/>
              </a:tabLst>
            </a:pPr>
            <a:r>
              <a:rPr sz="900" dirty="0">
                <a:latin typeface="Arial"/>
                <a:cs typeface="Arial"/>
              </a:rPr>
              <a:t>d=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c&gt;=</a:t>
            </a:r>
            <a:r>
              <a:rPr sz="900" dirty="0">
                <a:latin typeface="Courier New"/>
                <a:cs typeface="Courier New"/>
              </a:rPr>
              <a:t>’0’</a:t>
            </a:r>
            <a:r>
              <a:rPr sz="900" dirty="0">
                <a:latin typeface="Arial"/>
                <a:cs typeface="Arial"/>
              </a:rPr>
              <a:t>&amp;&amp;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spc="-30" dirty="0">
                <a:latin typeface="Arial"/>
                <a:cs typeface="Arial"/>
              </a:rPr>
              <a:t>c&lt;=</a:t>
            </a:r>
            <a:r>
              <a:rPr sz="900" spc="-30" dirty="0">
                <a:latin typeface="Courier New"/>
                <a:cs typeface="Courier New"/>
              </a:rPr>
              <a:t>’9’</a:t>
            </a:r>
            <a:r>
              <a:rPr sz="900" spc="-30" dirty="0">
                <a:solidFill>
                  <a:srgbClr val="B50A0A"/>
                </a:solidFill>
                <a:latin typeface="Arial"/>
                <a:cs typeface="Arial"/>
              </a:rPr>
              <a:t>/</a:t>
            </a:r>
            <a:r>
              <a:rPr sz="900" spc="-30" dirty="0">
                <a:solidFill>
                  <a:srgbClr val="B50A0A"/>
                </a:solidFill>
                <a:latin typeface="Lucida Sans Unicode"/>
                <a:cs typeface="Lucida Sans Unicode"/>
              </a:rPr>
              <a:t>∗</a:t>
            </a:r>
            <a:r>
              <a:rPr sz="900" spc="-30" dirty="0">
                <a:solidFill>
                  <a:srgbClr val="B50A0A"/>
                </a:solidFill>
                <a:latin typeface="Arial"/>
                <a:cs typeface="Arial"/>
              </a:rPr>
              <a:t>same</a:t>
            </a:r>
            <a:r>
              <a:rPr sz="900" spc="-15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as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d=(c&gt;=’0’)</a:t>
            </a:r>
            <a:r>
              <a:rPr sz="900" spc="-15" dirty="0">
                <a:solidFill>
                  <a:srgbClr val="B50A0A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B50A0A"/>
                </a:solidFill>
                <a:latin typeface="Arial"/>
                <a:cs typeface="Arial"/>
              </a:rPr>
              <a:t>&amp;&amp;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 (c&lt;=’9’)</a:t>
            </a:r>
            <a:r>
              <a:rPr sz="900" spc="-10" dirty="0">
                <a:solidFill>
                  <a:srgbClr val="B50A0A"/>
                </a:solidFill>
                <a:latin typeface="Lucida Sans Unicode"/>
                <a:cs typeface="Lucida Sans Unicode"/>
              </a:rPr>
              <a:t>∗</a:t>
            </a:r>
            <a:r>
              <a:rPr sz="900" spc="-10" dirty="0">
                <a:solidFill>
                  <a:srgbClr val="B50A0A"/>
                </a:solidFill>
                <a:latin typeface="Arial"/>
                <a:cs typeface="Arial"/>
              </a:rPr>
              <a:t>/</a:t>
            </a:r>
            <a:endParaRPr sz="9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300486" y="3276263"/>
            <a:ext cx="138430" cy="151130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800" spc="-25" dirty="0">
                <a:latin typeface="Arial"/>
                <a:cs typeface="Arial"/>
              </a:rPr>
              <a:t>25</a:t>
            </a:r>
            <a:endParaRPr sz="8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</TotalTime>
  <Words>2812</Words>
  <Application>Microsoft Office PowerPoint</Application>
  <PresentationFormat>Custom</PresentationFormat>
  <Paragraphs>384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7" baseType="lpstr">
      <vt:lpstr>Arial</vt:lpstr>
      <vt:lpstr>Bookman Old Style</vt:lpstr>
      <vt:lpstr>Century</vt:lpstr>
      <vt:lpstr>Courier New</vt:lpstr>
      <vt:lpstr>Lucida Sans Unicode</vt:lpstr>
      <vt:lpstr>Times New Roman</vt:lpstr>
      <vt:lpstr>Office Theme</vt:lpstr>
      <vt:lpstr>PowerPoint Presentation</vt:lpstr>
      <vt:lpstr>Review: C Programming language</vt:lpstr>
      <vt:lpstr>Review: Basics</vt:lpstr>
      <vt:lpstr>PowerPoint Presentation</vt:lpstr>
      <vt:lpstr>Definitions</vt:lpstr>
      <vt:lpstr>Definitions (contd.)</vt:lpstr>
      <vt:lpstr>Variable names</vt:lpstr>
      <vt:lpstr>Variable names</vt:lpstr>
      <vt:lpstr>Data types and sizes</vt:lpstr>
      <vt:lpstr>Numeric data types</vt:lpstr>
      <vt:lpstr>Big endian vs. little endian</vt:lpstr>
      <vt:lpstr>Big endian vs. little endian (cont.)</vt:lpstr>
      <vt:lpstr>Constants</vt:lpstr>
      <vt:lpstr>PowerPoint Presentation</vt:lpstr>
      <vt:lpstr>Declarations</vt:lpstr>
      <vt:lpstr>Pop quiz II</vt:lpstr>
      <vt:lpstr>PowerPoint Presentation</vt:lpstr>
      <vt:lpstr>PowerPoint Presentation</vt:lpstr>
      <vt:lpstr>PowerPoint Presentation</vt:lpstr>
      <vt:lpstr>Relational Operators</vt:lpstr>
      <vt:lpstr>Relational Operators</vt:lpstr>
      <vt:lpstr>Logical operators</vt:lpstr>
      <vt:lpstr>Increment and decrement operators</vt:lpstr>
      <vt:lpstr>Increment and decrement operators</vt:lpstr>
      <vt:lpstr>Bitwise Operators</vt:lpstr>
      <vt:lpstr>Assignment Operators</vt:lpstr>
      <vt:lpstr>Conditional Expression</vt:lpstr>
      <vt:lpstr>PowerPoint Presentation</vt:lpstr>
      <vt:lpstr>Type Conversions</vt:lpstr>
      <vt:lpstr>Precedence and Order of Evaluation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6.087 Practical Programming in C, Lecture 2</dc:title>
  <dc:creator>Sharat Chikkerur</dc:creator>
  <cp:lastModifiedBy>Sean Kouma</cp:lastModifiedBy>
  <cp:revision>4</cp:revision>
  <dcterms:created xsi:type="dcterms:W3CDTF">2026-10-05T10:59:07Z</dcterms:created>
  <dcterms:modified xsi:type="dcterms:W3CDTF">2026-10-05T11:28:07Z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StructuredOutput v10.0.20070.1</vt:lpwstr>
  </property>
  <property fmtid="{D5CDD505-2E9C-101B-9397-08002B2CF9AE}" pid="3" name="Created">
    <vt:filetime>2010-04-03T00:00:00Z</vt:filetime>
  </property>
  <property fmtid="{D5CDD505-2E9C-101B-9397-08002B2CF9AE}" pid="4" name="Creator">
    <vt:lpwstr>LaTeX with beamer class version 3.07</vt:lpwstr>
  </property>
  <property fmtid="{D5CDD505-2E9C-101B-9397-08002B2CF9AE}" pid="5" name="LastSaved">
    <vt:filetime>2026-10-05T00:00:00Z</vt:filetime>
  </property>
  <property fmtid="{D5CDD505-2E9C-101B-9397-08002B2CF9AE}" pid="6" name="PTEX.Fullbanner">
    <vt:lpwstr>This is pdfTeX using libpoppler, Version 3.141592-1.40.3-2.2 (Web2C 7.5.6) kpathsea version 3.5.6</vt:lpwstr>
  </property>
  <property fmtid="{D5CDD505-2E9C-101B-9397-08002B2CF9AE}" pid="7" name="Producer">
    <vt:lpwstr>3-Heights(TM) PDF Security Shell 4.8.25.2 (http://www.pdf-tools.com)</vt:lpwstr>
  </property>
</Properties>
</file>