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80" d="100"/>
          <a:sy n="180" d="100"/>
        </p:scale>
        <p:origin x="978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32363" y="6714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32363" y="6587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32363" y="6460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0" y="3456051"/>
                </a:moveTo>
                <a:lnTo>
                  <a:pt x="4608055" y="3456051"/>
                </a:lnTo>
                <a:lnTo>
                  <a:pt x="4608055" y="0"/>
                </a:lnTo>
                <a:lnTo>
                  <a:pt x="0" y="0"/>
                </a:lnTo>
                <a:lnTo>
                  <a:pt x="0" y="3456051"/>
                </a:lnTo>
                <a:close/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000" y="331152"/>
            <a:ext cx="4392295" cy="29209"/>
          </a:xfrm>
          <a:custGeom>
            <a:avLst/>
            <a:gdLst/>
            <a:ahLst/>
            <a:cxnLst/>
            <a:rect l="l" t="t" r="r" b="b"/>
            <a:pathLst>
              <a:path w="4392295" h="29210">
                <a:moveTo>
                  <a:pt x="4392053" y="0"/>
                </a:moveTo>
                <a:lnTo>
                  <a:pt x="0" y="0"/>
                </a:lnTo>
                <a:lnTo>
                  <a:pt x="0" y="28803"/>
                </a:lnTo>
                <a:lnTo>
                  <a:pt x="4392053" y="28803"/>
                </a:lnTo>
                <a:lnTo>
                  <a:pt x="4392053" y="0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8000" y="3225596"/>
            <a:ext cx="4392295" cy="14604"/>
          </a:xfrm>
          <a:custGeom>
            <a:avLst/>
            <a:gdLst/>
            <a:ahLst/>
            <a:cxnLst/>
            <a:rect l="l" t="t" r="r" b="b"/>
            <a:pathLst>
              <a:path w="4392295" h="14605">
                <a:moveTo>
                  <a:pt x="4392053" y="0"/>
                </a:moveTo>
                <a:lnTo>
                  <a:pt x="0" y="0"/>
                </a:lnTo>
                <a:lnTo>
                  <a:pt x="0" y="14401"/>
                </a:lnTo>
                <a:lnTo>
                  <a:pt x="4392053" y="14401"/>
                </a:lnTo>
                <a:lnTo>
                  <a:pt x="4392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1452"/>
            <a:ext cx="287655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9392" y="602601"/>
            <a:ext cx="3911315" cy="2355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00486" y="3276263"/>
            <a:ext cx="176529" cy="153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35813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spc="60" dirty="0" err="1">
                <a:solidFill>
                  <a:srgbClr val="993333"/>
                </a:solidFill>
                <a:latin typeface="Arial"/>
                <a:cs typeface="Arial"/>
              </a:rPr>
              <a:t>TashTech</a:t>
            </a:r>
            <a:r>
              <a:rPr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Lecture</a:t>
            </a:r>
            <a:r>
              <a:rPr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6</a:t>
            </a:r>
            <a:r>
              <a:rPr sz="1400" b="1" spc="6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–</a:t>
            </a:r>
            <a:r>
              <a:rPr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October</a:t>
            </a:r>
            <a:r>
              <a:rPr sz="1400" b="1" spc="6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993333"/>
                </a:solidFill>
                <a:latin typeface="Arial"/>
                <a:cs typeface="Arial"/>
              </a:rPr>
              <a:t>20</a:t>
            </a: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,</a:t>
            </a:r>
            <a:r>
              <a:rPr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993333"/>
                </a:solidFill>
                <a:latin typeface="Arial"/>
                <a:cs typeface="Arial"/>
              </a:rPr>
              <a:t>20</a:t>
            </a:r>
            <a:r>
              <a:rPr lang="en-US" sz="1400" b="1" spc="-20" dirty="0">
                <a:solidFill>
                  <a:srgbClr val="993333"/>
                </a:solidFill>
                <a:latin typeface="Arial"/>
                <a:cs typeface="Arial"/>
              </a:rPr>
              <a:t>26</a:t>
            </a:r>
            <a:endParaRPr sz="14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950976"/>
            <a:ext cx="269875" cy="1600200"/>
            <a:chOff x="359994" y="950976"/>
            <a:chExt cx="269875" cy="1600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950976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1457972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94" y="1964969"/>
              <a:ext cx="76809" cy="768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2144725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2316810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7817" y="2488882"/>
              <a:ext cx="61874" cy="6187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14680" y="883779"/>
            <a:ext cx="473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4680" y="1390775"/>
            <a:ext cx="986155" cy="1215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Control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I/O</a:t>
            </a:r>
            <a:endParaRPr sz="1100">
              <a:latin typeface="Arial"/>
              <a:cs typeface="Arial"/>
            </a:endParaRPr>
          </a:p>
          <a:p>
            <a:pPr marL="187325" marR="5080">
              <a:lnSpc>
                <a:spcPct val="1026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Standard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I/O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String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I/O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File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I/O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445" y="654987"/>
            <a:ext cx="3787140" cy="13239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72415" indent="-130810">
              <a:lnSpc>
                <a:spcPct val="100000"/>
              </a:lnSpc>
              <a:spcBef>
                <a:spcPts val="434"/>
              </a:spcBef>
              <a:buSzPct val="90909"/>
              <a:buFont typeface="Arial"/>
              <a:buChar char="•"/>
              <a:tabLst>
                <a:tab pos="272415" algn="l"/>
              </a:tabLst>
            </a:pPr>
            <a:r>
              <a:rPr sz="1100" spc="-10" dirty="0">
                <a:latin typeface="Arial"/>
                <a:cs typeface="Arial"/>
              </a:rPr>
              <a:t>Blocks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combine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multiple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statements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unit.</a:t>
            </a:r>
            <a:endParaRPr sz="1100">
              <a:latin typeface="Arial"/>
              <a:cs typeface="Arial"/>
            </a:endParaRPr>
          </a:p>
          <a:p>
            <a:pPr marL="27241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72415" algn="l"/>
              </a:tabLst>
            </a:pPr>
            <a:r>
              <a:rPr sz="1100" dirty="0">
                <a:latin typeface="Arial"/>
                <a:cs typeface="Arial"/>
              </a:rPr>
              <a:t>Can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statement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expected.</a:t>
            </a:r>
            <a:endParaRPr sz="1100">
              <a:latin typeface="Arial"/>
              <a:cs typeface="Arial"/>
            </a:endParaRPr>
          </a:p>
          <a:p>
            <a:pPr marL="272415" marR="5080" indent="-130810">
              <a:lnSpc>
                <a:spcPct val="102600"/>
              </a:lnSpc>
              <a:spcBef>
                <a:spcPts val="295"/>
              </a:spcBef>
              <a:buSzPct val="90909"/>
              <a:buFont typeface="Arial"/>
              <a:buChar char="•"/>
              <a:tabLst>
                <a:tab pos="274320" algn="l"/>
              </a:tabLst>
            </a:pPr>
            <a:r>
              <a:rPr sz="1100" dirty="0">
                <a:latin typeface="Arial"/>
                <a:cs typeface="Arial"/>
              </a:rPr>
              <a:t>Creates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local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scope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(variables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declared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inside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local 	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block).</a:t>
            </a:r>
            <a:endParaRPr sz="1100">
              <a:latin typeface="Arial"/>
              <a:cs typeface="Arial"/>
            </a:endParaRPr>
          </a:p>
          <a:p>
            <a:pPr marL="27241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72415" algn="l"/>
              </a:tabLst>
            </a:pPr>
            <a:r>
              <a:rPr sz="1100" spc="-10" dirty="0">
                <a:latin typeface="Arial"/>
                <a:cs typeface="Arial"/>
              </a:rPr>
              <a:t>Blocks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nested.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093" y="1955768"/>
            <a:ext cx="1713230" cy="718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x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=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15049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4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=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30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8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both</a:t>
            </a:r>
            <a:r>
              <a:rPr sz="900" spc="4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x</a:t>
            </a:r>
            <a:r>
              <a:rPr sz="900" spc="3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and</a:t>
            </a:r>
            <a:r>
              <a:rPr sz="900" spc="3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y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70" dirty="0">
                <a:solidFill>
                  <a:srgbClr val="B50A0A"/>
                </a:solidFill>
                <a:latin typeface="Arial"/>
                <a:cs typeface="Arial"/>
              </a:rPr>
              <a:t>only</a:t>
            </a:r>
            <a:r>
              <a:rPr sz="900" spc="4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x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v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0627" y="2234153"/>
            <a:ext cx="6051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v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9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2445" y="2651691"/>
            <a:ext cx="63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55" dirty="0"/>
              <a:t> </a:t>
            </a:r>
            <a:r>
              <a:rPr spc="-10" dirty="0"/>
              <a:t>blocks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57695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79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if</a:t>
            </a:r>
            <a:r>
              <a:rPr sz="900" b="1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/>
              <a:t>...</a:t>
            </a:r>
            <a:r>
              <a:rPr sz="900" spc="-25" dirty="0"/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r>
              <a:rPr sz="900" b="1" spc="-1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/>
              <a:t>..</a:t>
            </a:r>
            <a:r>
              <a:rPr sz="900" spc="-165" dirty="0"/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r>
              <a:rPr sz="900" b="1" spc="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if</a:t>
            </a:r>
            <a:r>
              <a:rPr sz="900" b="1" spc="1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used</a:t>
            </a:r>
            <a:r>
              <a:rPr spc="-1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spc="-10" dirty="0"/>
              <a:t>conditional branching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execution</a:t>
            </a:r>
            <a:endParaRPr sz="900">
              <a:latin typeface="Arial"/>
              <a:cs typeface="Arial"/>
            </a:endParaRPr>
          </a:p>
          <a:p>
            <a:pPr marL="31750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/>
              <a:t>(</a:t>
            </a:r>
            <a:r>
              <a:rPr sz="900" spc="-70" dirty="0"/>
              <a:t> </a:t>
            </a:r>
            <a:r>
              <a:rPr sz="900" dirty="0"/>
              <a:t>cond</a:t>
            </a:r>
            <a:r>
              <a:rPr sz="900" spc="-65" dirty="0"/>
              <a:t> </a:t>
            </a:r>
            <a:r>
              <a:rPr sz="900" spc="-50" dirty="0"/>
              <a:t>)</a:t>
            </a:r>
            <a:endParaRPr sz="9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20"/>
              </a:spcBef>
            </a:pPr>
            <a:r>
              <a:rPr sz="900" spc="-50" dirty="0"/>
              <a:t>{</a:t>
            </a:r>
            <a:endParaRPr sz="900"/>
          </a:p>
          <a:p>
            <a:pPr marL="161925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</a:rPr>
              <a:t>/</a:t>
            </a:r>
            <a:r>
              <a:rPr sz="900" spc="-125" dirty="0">
                <a:solidFill>
                  <a:srgbClr val="B50A0A"/>
                </a:solidFill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2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</a:rPr>
              <a:t>code</a:t>
            </a:r>
            <a:r>
              <a:rPr sz="900" spc="430" dirty="0">
                <a:solidFill>
                  <a:srgbClr val="B50A0A"/>
                </a:solidFill>
              </a:rPr>
              <a:t> </a:t>
            </a:r>
            <a:r>
              <a:rPr sz="900" spc="55" dirty="0">
                <a:solidFill>
                  <a:srgbClr val="B50A0A"/>
                </a:solidFill>
              </a:rPr>
              <a:t>executed</a:t>
            </a:r>
            <a:r>
              <a:rPr sz="900" spc="180" dirty="0">
                <a:solidFill>
                  <a:srgbClr val="B50A0A"/>
                </a:solidFill>
              </a:rPr>
              <a:t>  </a:t>
            </a:r>
            <a:r>
              <a:rPr sz="900" dirty="0">
                <a:solidFill>
                  <a:srgbClr val="B50A0A"/>
                </a:solidFill>
              </a:rPr>
              <a:t>i</a:t>
            </a:r>
            <a:r>
              <a:rPr sz="900" spc="-35" dirty="0">
                <a:solidFill>
                  <a:srgbClr val="B50A0A"/>
                </a:solidFill>
              </a:rPr>
              <a:t> </a:t>
            </a:r>
            <a:r>
              <a:rPr sz="900" dirty="0">
                <a:solidFill>
                  <a:srgbClr val="B50A0A"/>
                </a:solidFill>
              </a:rPr>
              <a:t>f</a:t>
            </a:r>
            <a:r>
              <a:rPr sz="900" spc="160" dirty="0">
                <a:solidFill>
                  <a:srgbClr val="B50A0A"/>
                </a:solidFill>
              </a:rPr>
              <a:t>  </a:t>
            </a:r>
            <a:r>
              <a:rPr sz="900" dirty="0">
                <a:solidFill>
                  <a:srgbClr val="B50A0A"/>
                </a:solidFill>
              </a:rPr>
              <a:t>cond</a:t>
            </a:r>
            <a:r>
              <a:rPr sz="900" spc="125" dirty="0">
                <a:solidFill>
                  <a:srgbClr val="B50A0A"/>
                </a:solidFill>
              </a:rPr>
              <a:t>  </a:t>
            </a:r>
            <a:r>
              <a:rPr sz="900" spc="-10" dirty="0">
                <a:solidFill>
                  <a:srgbClr val="B50A0A"/>
                </a:solidFill>
              </a:rPr>
              <a:t>i</a:t>
            </a:r>
            <a:r>
              <a:rPr sz="900" spc="-95" dirty="0">
                <a:solidFill>
                  <a:srgbClr val="B50A0A"/>
                </a:solidFill>
              </a:rPr>
              <a:t> </a:t>
            </a:r>
            <a:r>
              <a:rPr sz="900" dirty="0">
                <a:solidFill>
                  <a:srgbClr val="B50A0A"/>
                </a:solidFill>
              </a:rPr>
              <a:t>s</a:t>
            </a:r>
            <a:r>
              <a:rPr sz="900" spc="165" dirty="0">
                <a:solidFill>
                  <a:srgbClr val="B50A0A"/>
                </a:solidFill>
              </a:rPr>
              <a:t>  </a:t>
            </a:r>
            <a:r>
              <a:rPr sz="900" spc="-10" dirty="0">
                <a:solidFill>
                  <a:srgbClr val="B50A0A"/>
                </a:solidFill>
              </a:rPr>
              <a:t>t</a:t>
            </a:r>
            <a:r>
              <a:rPr sz="900" spc="-120" dirty="0">
                <a:solidFill>
                  <a:srgbClr val="B50A0A"/>
                </a:solidFill>
              </a:rPr>
              <a:t> </a:t>
            </a:r>
            <a:r>
              <a:rPr sz="900" spc="-10" dirty="0">
                <a:solidFill>
                  <a:srgbClr val="B50A0A"/>
                </a:solidFill>
              </a:rPr>
              <a:t>r</a:t>
            </a:r>
            <a:r>
              <a:rPr sz="900" spc="-125" dirty="0">
                <a:solidFill>
                  <a:srgbClr val="B50A0A"/>
                </a:solidFill>
              </a:rPr>
              <a:t> </a:t>
            </a:r>
            <a:r>
              <a:rPr sz="900" spc="-10" dirty="0">
                <a:solidFill>
                  <a:srgbClr val="B50A0A"/>
                </a:solidFill>
              </a:rPr>
              <a:t>u</a:t>
            </a:r>
            <a:r>
              <a:rPr sz="900" spc="-120" dirty="0">
                <a:solidFill>
                  <a:srgbClr val="B50A0A"/>
                </a:solidFill>
              </a:rPr>
              <a:t> </a:t>
            </a:r>
            <a:r>
              <a:rPr sz="900" dirty="0">
                <a:solidFill>
                  <a:srgbClr val="B50A0A"/>
                </a:solidFill>
              </a:rPr>
              <a:t>e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</a:rPr>
              <a:t>/</a:t>
            </a:r>
            <a:endParaRPr sz="900">
              <a:latin typeface="Lucida Sans Unicode"/>
              <a:cs typeface="Lucida Sans Unicode"/>
            </a:endParaRPr>
          </a:p>
          <a:p>
            <a:pPr marL="24765">
              <a:lnSpc>
                <a:spcPct val="100000"/>
              </a:lnSpc>
              <a:spcBef>
                <a:spcPts val="15"/>
              </a:spcBef>
            </a:pPr>
            <a:r>
              <a:rPr sz="900" spc="-50" dirty="0"/>
              <a:t>}</a:t>
            </a:r>
            <a:endParaRPr sz="900"/>
          </a:p>
          <a:p>
            <a:pPr marL="20320">
              <a:lnSpc>
                <a:spcPct val="100000"/>
              </a:lnSpc>
              <a:spcBef>
                <a:spcPts val="15"/>
              </a:spcBef>
            </a:pPr>
            <a:r>
              <a:rPr sz="900" b="1" spc="3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endParaRPr sz="9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15"/>
              </a:spcBef>
            </a:pPr>
            <a:r>
              <a:rPr sz="900" spc="-50" dirty="0"/>
              <a:t>{</a:t>
            </a:r>
            <a:endParaRPr sz="900"/>
          </a:p>
          <a:p>
            <a:pPr marL="16192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solidFill>
                  <a:srgbClr val="B50A0A"/>
                </a:solidFill>
              </a:rPr>
              <a:t>/</a:t>
            </a:r>
            <a:r>
              <a:rPr sz="900" spc="-125" dirty="0">
                <a:solidFill>
                  <a:srgbClr val="B50A0A"/>
                </a:solidFill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2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</a:rPr>
              <a:t>code</a:t>
            </a:r>
            <a:r>
              <a:rPr sz="900" spc="430" dirty="0">
                <a:solidFill>
                  <a:srgbClr val="B50A0A"/>
                </a:solidFill>
              </a:rPr>
              <a:t> </a:t>
            </a:r>
            <a:r>
              <a:rPr sz="900" spc="55" dirty="0">
                <a:solidFill>
                  <a:srgbClr val="B50A0A"/>
                </a:solidFill>
              </a:rPr>
              <a:t>executed</a:t>
            </a:r>
            <a:r>
              <a:rPr sz="900" spc="180" dirty="0">
                <a:solidFill>
                  <a:srgbClr val="B50A0A"/>
                </a:solidFill>
              </a:rPr>
              <a:t>  </a:t>
            </a:r>
            <a:r>
              <a:rPr sz="900" dirty="0">
                <a:solidFill>
                  <a:srgbClr val="B50A0A"/>
                </a:solidFill>
              </a:rPr>
              <a:t>i</a:t>
            </a:r>
            <a:r>
              <a:rPr sz="900" spc="-35" dirty="0">
                <a:solidFill>
                  <a:srgbClr val="B50A0A"/>
                </a:solidFill>
              </a:rPr>
              <a:t> </a:t>
            </a:r>
            <a:r>
              <a:rPr sz="900" dirty="0">
                <a:solidFill>
                  <a:srgbClr val="B50A0A"/>
                </a:solidFill>
              </a:rPr>
              <a:t>f</a:t>
            </a:r>
            <a:r>
              <a:rPr sz="900" spc="160" dirty="0">
                <a:solidFill>
                  <a:srgbClr val="B50A0A"/>
                </a:solidFill>
              </a:rPr>
              <a:t>  </a:t>
            </a:r>
            <a:r>
              <a:rPr sz="900" dirty="0">
                <a:solidFill>
                  <a:srgbClr val="B50A0A"/>
                </a:solidFill>
              </a:rPr>
              <a:t>cond</a:t>
            </a:r>
            <a:r>
              <a:rPr sz="900" spc="125" dirty="0">
                <a:solidFill>
                  <a:srgbClr val="B50A0A"/>
                </a:solidFill>
              </a:rPr>
              <a:t>  </a:t>
            </a:r>
            <a:r>
              <a:rPr sz="900" spc="-10" dirty="0">
                <a:solidFill>
                  <a:srgbClr val="B50A0A"/>
                </a:solidFill>
              </a:rPr>
              <a:t>i</a:t>
            </a:r>
            <a:r>
              <a:rPr sz="900" spc="-100" dirty="0">
                <a:solidFill>
                  <a:srgbClr val="B50A0A"/>
                </a:solidFill>
              </a:rPr>
              <a:t> </a:t>
            </a:r>
            <a:r>
              <a:rPr sz="900" dirty="0">
                <a:solidFill>
                  <a:srgbClr val="B50A0A"/>
                </a:solidFill>
              </a:rPr>
              <a:t>s</a:t>
            </a:r>
            <a:r>
              <a:rPr sz="900" spc="175" dirty="0">
                <a:solidFill>
                  <a:srgbClr val="B50A0A"/>
                </a:solidFill>
              </a:rPr>
              <a:t>  </a:t>
            </a:r>
            <a:r>
              <a:rPr sz="900" spc="-10" dirty="0">
                <a:solidFill>
                  <a:srgbClr val="B50A0A"/>
                </a:solidFill>
              </a:rPr>
              <a:t>f</a:t>
            </a:r>
            <a:r>
              <a:rPr sz="900" spc="-114" dirty="0">
                <a:solidFill>
                  <a:srgbClr val="B50A0A"/>
                </a:solidFill>
              </a:rPr>
              <a:t> </a:t>
            </a:r>
            <a:r>
              <a:rPr sz="900" spc="-10" dirty="0">
                <a:solidFill>
                  <a:srgbClr val="B50A0A"/>
                </a:solidFill>
              </a:rPr>
              <a:t>a</a:t>
            </a:r>
            <a:r>
              <a:rPr sz="900" spc="-114" dirty="0">
                <a:solidFill>
                  <a:srgbClr val="B50A0A"/>
                </a:solidFill>
              </a:rPr>
              <a:t> </a:t>
            </a:r>
            <a:r>
              <a:rPr sz="900" spc="-10" dirty="0">
                <a:solidFill>
                  <a:srgbClr val="B50A0A"/>
                </a:solidFill>
              </a:rPr>
              <a:t>l</a:t>
            </a:r>
            <a:r>
              <a:rPr sz="900" spc="-110" dirty="0">
                <a:solidFill>
                  <a:srgbClr val="B50A0A"/>
                </a:solidFill>
              </a:rPr>
              <a:t> </a:t>
            </a:r>
            <a:r>
              <a:rPr sz="900" spc="-10" dirty="0">
                <a:solidFill>
                  <a:srgbClr val="B50A0A"/>
                </a:solidFill>
              </a:rPr>
              <a:t>s</a:t>
            </a:r>
            <a:r>
              <a:rPr sz="900" spc="-114" dirty="0">
                <a:solidFill>
                  <a:srgbClr val="B50A0A"/>
                </a:solidFill>
              </a:rPr>
              <a:t> </a:t>
            </a:r>
            <a:r>
              <a:rPr sz="900" dirty="0">
                <a:solidFill>
                  <a:srgbClr val="B50A0A"/>
                </a:solidFill>
              </a:rPr>
              <a:t>e</a:t>
            </a:r>
            <a:r>
              <a:rPr sz="900" spc="10" dirty="0">
                <a:solidFill>
                  <a:srgbClr val="B50A0A"/>
                </a:solidFill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</a:rPr>
              <a:t>/</a:t>
            </a:r>
            <a:endParaRPr sz="900">
              <a:latin typeface="Lucida Sans Unicode"/>
              <a:cs typeface="Lucida Sans Unicode"/>
            </a:endParaRPr>
          </a:p>
          <a:p>
            <a:pPr marL="24765">
              <a:lnSpc>
                <a:spcPct val="100000"/>
              </a:lnSpc>
              <a:spcBef>
                <a:spcPts val="15"/>
              </a:spcBef>
            </a:pPr>
            <a:r>
              <a:rPr sz="900" spc="-50" dirty="0"/>
              <a:t>}</a:t>
            </a:r>
            <a:endParaRPr sz="9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2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55" dirty="0"/>
              <a:t> </a:t>
            </a: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68602"/>
            <a:ext cx="3679825" cy="8528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>
              <a:lnSpc>
                <a:spcPct val="102600"/>
              </a:lnSpc>
              <a:spcBef>
                <a:spcPts val="5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switch</a:t>
            </a:r>
            <a:r>
              <a:rPr sz="900" dirty="0">
                <a:latin typeface="Arial"/>
                <a:cs typeface="Arial"/>
              </a:rPr>
              <a:t>..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multiple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conditions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(more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efficient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else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ladders).</a:t>
            </a:r>
            <a:endParaRPr sz="11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575"/>
              </a:spcBef>
            </a:pPr>
            <a:r>
              <a:rPr sz="900" b="1" spc="20" dirty="0">
                <a:solidFill>
                  <a:srgbClr val="0000FF"/>
                </a:solidFill>
                <a:latin typeface="Arial"/>
                <a:cs typeface="Arial"/>
              </a:rPr>
              <a:t>switch</a:t>
            </a:r>
            <a:r>
              <a:rPr sz="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( </a:t>
            </a:r>
            <a:r>
              <a:rPr sz="900" spc="55" dirty="0">
                <a:latin typeface="Arial"/>
                <a:cs typeface="Arial"/>
              </a:rPr>
              <a:t>opt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’A’</a:t>
            </a:r>
            <a:r>
              <a:rPr sz="900" spc="-385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972" y="1597985"/>
            <a:ext cx="763270" cy="85851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51130" marR="5080" indent="8890">
              <a:lnSpc>
                <a:spcPct val="101499"/>
              </a:lnSpc>
              <a:spcBef>
                <a:spcPts val="80"/>
              </a:spcBef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7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45" dirty="0">
                <a:solidFill>
                  <a:srgbClr val="B50A0A"/>
                </a:solidFill>
                <a:latin typeface="Arial"/>
                <a:cs typeface="Arial"/>
              </a:rPr>
              <a:t>execute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break</a:t>
            </a:r>
            <a:r>
              <a:rPr sz="900" b="1" spc="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’B’</a:t>
            </a:r>
            <a:r>
              <a:rPr sz="900" spc="-385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case</a:t>
            </a:r>
            <a:r>
              <a:rPr sz="900" b="1" spc="3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’C’</a:t>
            </a:r>
            <a:r>
              <a:rPr sz="900" spc="-385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21590" marR="5080" indent="138430">
              <a:lnSpc>
                <a:spcPct val="101499"/>
              </a:lnSpc>
            </a:pP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7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45" dirty="0">
                <a:solidFill>
                  <a:srgbClr val="B50A0A"/>
                </a:solidFill>
                <a:latin typeface="Arial"/>
                <a:cs typeface="Arial"/>
              </a:rPr>
              <a:t>execute </a:t>
            </a:r>
            <a:r>
              <a:rPr sz="900" b="1" spc="80" dirty="0">
                <a:solidFill>
                  <a:srgbClr val="0000FF"/>
                </a:solidFill>
                <a:latin typeface="Arial"/>
                <a:cs typeface="Arial"/>
              </a:rPr>
              <a:t>default</a:t>
            </a:r>
            <a:r>
              <a:rPr sz="9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0398" y="1597985"/>
            <a:ext cx="8718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18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opt</a:t>
            </a:r>
            <a:r>
              <a:rPr sz="900" spc="-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’A</a:t>
            </a:r>
            <a:r>
              <a:rPr sz="900" spc="-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0398" y="2154689"/>
            <a:ext cx="169163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18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opt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’B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19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|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|</a:t>
            </a:r>
            <a:r>
              <a:rPr sz="900" spc="17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opt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==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’C</a:t>
            </a:r>
            <a:r>
              <a:rPr sz="900" spc="-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479" y="2433022"/>
            <a:ext cx="63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3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Iterative</a:t>
            </a:r>
            <a:r>
              <a:rPr spc="110" dirty="0"/>
              <a:t> </a:t>
            </a:r>
            <a:r>
              <a:rPr spc="-10" dirty="0"/>
              <a:t>blocks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991982"/>
            <a:ext cx="3769360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143510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loop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condition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before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execution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block.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143510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do</a:t>
            </a:r>
            <a:r>
              <a:rPr sz="900" dirty="0">
                <a:latin typeface="Arial"/>
                <a:cs typeface="Arial"/>
              </a:rPr>
              <a:t>..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loop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condition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after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execution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block.</a:t>
            </a:r>
            <a:endParaRPr sz="1100">
              <a:latin typeface="Arial"/>
              <a:cs typeface="Arial"/>
            </a:endParaRPr>
          </a:p>
          <a:p>
            <a:pPr marL="146050" indent="-133350">
              <a:lnSpc>
                <a:spcPct val="100000"/>
              </a:lnSpc>
              <a:spcBef>
                <a:spcPts val="330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146050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loop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provides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initialization,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testing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iteration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together.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4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38099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spc="60" dirty="0" err="1">
                <a:solidFill>
                  <a:srgbClr val="993333"/>
                </a:solidFill>
                <a:latin typeface="Arial"/>
                <a:cs typeface="Arial"/>
              </a:rPr>
              <a:t>TashTech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Lecture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6</a:t>
            </a:r>
            <a:r>
              <a:rPr lang="en-US" sz="1400" b="1" spc="6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–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October</a:t>
            </a:r>
            <a:r>
              <a:rPr lang="en-US" sz="1400" b="1" spc="65" dirty="0">
                <a:solidFill>
                  <a:srgbClr val="993333"/>
                </a:solidFill>
                <a:latin typeface="Arial"/>
                <a:cs typeface="Arial"/>
              </a:rPr>
              <a:t> 20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,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spc="-20" dirty="0">
                <a:solidFill>
                  <a:srgbClr val="993333"/>
                </a:solidFill>
                <a:latin typeface="Arial"/>
                <a:cs typeface="Arial"/>
              </a:rPr>
              <a:t>2026</a:t>
            </a:r>
            <a:endParaRPr lang="en-US" sz="14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950976"/>
            <a:ext cx="269875" cy="1600200"/>
            <a:chOff x="359994" y="950976"/>
            <a:chExt cx="269875" cy="1600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950976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1457972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94" y="1964969"/>
              <a:ext cx="76809" cy="768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2144725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2316810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7817" y="2488882"/>
              <a:ext cx="61874" cy="6187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14680" y="883779"/>
            <a:ext cx="473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4680" y="1390775"/>
            <a:ext cx="755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Control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4680" y="1897772"/>
            <a:ext cx="986155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I/O</a:t>
            </a:r>
            <a:endParaRPr sz="1100">
              <a:latin typeface="Arial"/>
              <a:cs typeface="Arial"/>
            </a:endParaRPr>
          </a:p>
          <a:p>
            <a:pPr marL="187325" marR="5080">
              <a:lnSpc>
                <a:spcPct val="1026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Standard</a:t>
            </a:r>
            <a:r>
              <a:rPr sz="1100" spc="-50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I/O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String</a:t>
            </a:r>
            <a:r>
              <a:rPr sz="1100" spc="-3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I/O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File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Arial"/>
                <a:cs typeface="Arial"/>
              </a:rPr>
              <a:t>I/O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6760" y="327626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goto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85115" marR="5080" indent="-130810">
              <a:lnSpc>
                <a:spcPct val="102600"/>
              </a:lnSpc>
              <a:spcBef>
                <a:spcPts val="5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goto</a:t>
            </a:r>
            <a:r>
              <a:rPr sz="900" b="1" spc="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/>
              <a:t>allows</a:t>
            </a:r>
            <a:r>
              <a:rPr sz="1100" spc="-25" dirty="0"/>
              <a:t> </a:t>
            </a:r>
            <a:r>
              <a:rPr sz="1100" dirty="0"/>
              <a:t>you</a:t>
            </a:r>
            <a:r>
              <a:rPr sz="1100" spc="-20" dirty="0"/>
              <a:t> </a:t>
            </a:r>
            <a:r>
              <a:rPr sz="1100" dirty="0"/>
              <a:t>to</a:t>
            </a:r>
            <a:r>
              <a:rPr sz="1100" spc="-20" dirty="0"/>
              <a:t> </a:t>
            </a:r>
            <a:r>
              <a:rPr sz="1100" dirty="0"/>
              <a:t>jump</a:t>
            </a:r>
            <a:r>
              <a:rPr sz="1100" spc="-20" dirty="0"/>
              <a:t> </a:t>
            </a:r>
            <a:r>
              <a:rPr sz="1100" b="1" spc="-10" dirty="0">
                <a:latin typeface="Arial"/>
                <a:cs typeface="Arial"/>
              </a:rPr>
              <a:t>unconditionally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/>
              <a:t>to</a:t>
            </a:r>
            <a:r>
              <a:rPr sz="1100" spc="-20" dirty="0"/>
              <a:t> </a:t>
            </a:r>
            <a:r>
              <a:rPr sz="1100" dirty="0"/>
              <a:t>arbitrary</a:t>
            </a:r>
            <a:r>
              <a:rPr sz="1100" spc="-20" dirty="0"/>
              <a:t> </a:t>
            </a:r>
            <a:r>
              <a:rPr sz="1100" dirty="0"/>
              <a:t>part</a:t>
            </a:r>
            <a:r>
              <a:rPr sz="1100" spc="-25" dirty="0"/>
              <a:t> of 	</a:t>
            </a:r>
            <a:r>
              <a:rPr sz="1100" dirty="0"/>
              <a:t>your</a:t>
            </a:r>
            <a:r>
              <a:rPr sz="1100" spc="-45" dirty="0"/>
              <a:t> </a:t>
            </a:r>
            <a:r>
              <a:rPr sz="1100" dirty="0"/>
              <a:t>code</a:t>
            </a:r>
            <a:r>
              <a:rPr sz="1100" spc="-40" dirty="0"/>
              <a:t> </a:t>
            </a:r>
            <a:r>
              <a:rPr sz="1100" dirty="0"/>
              <a:t>(within</a:t>
            </a:r>
            <a:r>
              <a:rPr sz="1100" spc="-40" dirty="0"/>
              <a:t> </a:t>
            </a:r>
            <a:r>
              <a:rPr sz="1100" dirty="0"/>
              <a:t>the</a:t>
            </a:r>
            <a:r>
              <a:rPr sz="1100" spc="-40" dirty="0"/>
              <a:t> </a:t>
            </a:r>
            <a:r>
              <a:rPr sz="1100" dirty="0"/>
              <a:t>same</a:t>
            </a:r>
            <a:r>
              <a:rPr sz="1100" spc="-40" dirty="0"/>
              <a:t> </a:t>
            </a:r>
            <a:r>
              <a:rPr sz="1100" spc="-10" dirty="0"/>
              <a:t>function).</a:t>
            </a:r>
            <a:endParaRPr sz="1100">
              <a:latin typeface="Arial"/>
              <a:cs typeface="Arial"/>
            </a:endParaRPr>
          </a:p>
          <a:p>
            <a:pPr marL="28511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5750" algn="l"/>
              </a:tabLst>
            </a:pPr>
            <a:r>
              <a:rPr sz="1100" dirty="0"/>
              <a:t>the</a:t>
            </a:r>
            <a:r>
              <a:rPr sz="1100" spc="-20" dirty="0"/>
              <a:t> </a:t>
            </a:r>
            <a:r>
              <a:rPr sz="1100" spc="-10" dirty="0"/>
              <a:t>location</a:t>
            </a:r>
            <a:r>
              <a:rPr sz="1100" spc="-15" dirty="0"/>
              <a:t> </a:t>
            </a:r>
            <a:r>
              <a:rPr sz="1100" dirty="0"/>
              <a:t>is</a:t>
            </a:r>
            <a:r>
              <a:rPr sz="1100" spc="-20" dirty="0"/>
              <a:t> </a:t>
            </a:r>
            <a:r>
              <a:rPr sz="1100" spc="-10" dirty="0"/>
              <a:t>identified</a:t>
            </a:r>
            <a:r>
              <a:rPr sz="1100" spc="-15" dirty="0"/>
              <a:t> </a:t>
            </a:r>
            <a:r>
              <a:rPr sz="1100" dirty="0"/>
              <a:t>using</a:t>
            </a:r>
            <a:r>
              <a:rPr sz="1100" spc="-20" dirty="0"/>
              <a:t> </a:t>
            </a:r>
            <a:r>
              <a:rPr sz="1100" dirty="0"/>
              <a:t>a</a:t>
            </a:r>
            <a:r>
              <a:rPr sz="1100" spc="-15" dirty="0"/>
              <a:t> </a:t>
            </a:r>
            <a:r>
              <a:rPr sz="1100" spc="-10" dirty="0"/>
              <a:t>label.</a:t>
            </a:r>
            <a:endParaRPr sz="1100"/>
          </a:p>
          <a:p>
            <a:pPr marL="285115" marR="227965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/>
              <a:t>a</a:t>
            </a:r>
            <a:r>
              <a:rPr sz="1100" spc="-35" dirty="0"/>
              <a:t> </a:t>
            </a:r>
            <a:r>
              <a:rPr sz="1100" dirty="0"/>
              <a:t>label</a:t>
            </a:r>
            <a:r>
              <a:rPr sz="1100" spc="-20" dirty="0"/>
              <a:t> </a:t>
            </a:r>
            <a:r>
              <a:rPr sz="1100" dirty="0"/>
              <a:t>is</a:t>
            </a:r>
            <a:r>
              <a:rPr sz="1100" spc="-25" dirty="0"/>
              <a:t> </a:t>
            </a:r>
            <a:r>
              <a:rPr sz="1100" dirty="0"/>
              <a:t>a</a:t>
            </a:r>
            <a:r>
              <a:rPr sz="1100" spc="-20" dirty="0"/>
              <a:t> </a:t>
            </a:r>
            <a:r>
              <a:rPr sz="1100" dirty="0"/>
              <a:t>named</a:t>
            </a:r>
            <a:r>
              <a:rPr sz="1100" spc="-20" dirty="0"/>
              <a:t> </a:t>
            </a:r>
            <a:r>
              <a:rPr sz="1100" spc="-10" dirty="0"/>
              <a:t>location</a:t>
            </a:r>
            <a:r>
              <a:rPr sz="1100" spc="-25" dirty="0"/>
              <a:t> </a:t>
            </a:r>
            <a:r>
              <a:rPr sz="1100" dirty="0"/>
              <a:t>in</a:t>
            </a:r>
            <a:r>
              <a:rPr sz="1100" spc="-20" dirty="0"/>
              <a:t> </a:t>
            </a:r>
            <a:r>
              <a:rPr sz="1100" dirty="0"/>
              <a:t>the</a:t>
            </a:r>
            <a:r>
              <a:rPr sz="1100" spc="-20" dirty="0"/>
              <a:t> </a:t>
            </a:r>
            <a:r>
              <a:rPr sz="1100" dirty="0"/>
              <a:t>code.</a:t>
            </a:r>
            <a:r>
              <a:rPr sz="1100" spc="45" dirty="0"/>
              <a:t> </a:t>
            </a:r>
            <a:r>
              <a:rPr sz="1100" dirty="0"/>
              <a:t>It</a:t>
            </a:r>
            <a:r>
              <a:rPr sz="1100" spc="-25" dirty="0"/>
              <a:t> </a:t>
            </a:r>
            <a:r>
              <a:rPr sz="1100" dirty="0"/>
              <a:t>has</a:t>
            </a:r>
            <a:r>
              <a:rPr sz="1100" spc="-20" dirty="0"/>
              <a:t> </a:t>
            </a:r>
            <a:r>
              <a:rPr sz="1100" dirty="0"/>
              <a:t>the</a:t>
            </a:r>
            <a:r>
              <a:rPr sz="1100" spc="-20" dirty="0"/>
              <a:t> same 	</a:t>
            </a:r>
            <a:r>
              <a:rPr sz="1100" dirty="0"/>
              <a:t>form</a:t>
            </a:r>
            <a:r>
              <a:rPr sz="1100" spc="-30" dirty="0"/>
              <a:t> </a:t>
            </a:r>
            <a:r>
              <a:rPr sz="1100" dirty="0"/>
              <a:t>as</a:t>
            </a:r>
            <a:r>
              <a:rPr sz="1100" spc="-30" dirty="0"/>
              <a:t> </a:t>
            </a:r>
            <a:r>
              <a:rPr sz="1100" dirty="0"/>
              <a:t>a</a:t>
            </a:r>
            <a:r>
              <a:rPr sz="1100" spc="-25" dirty="0"/>
              <a:t> </a:t>
            </a:r>
            <a:r>
              <a:rPr sz="1100" spc="-10" dirty="0"/>
              <a:t>variable</a:t>
            </a:r>
            <a:r>
              <a:rPr sz="1100" spc="-30" dirty="0"/>
              <a:t> </a:t>
            </a:r>
            <a:r>
              <a:rPr sz="1100" spc="-10" dirty="0"/>
              <a:t>followed</a:t>
            </a:r>
            <a:r>
              <a:rPr sz="1100" spc="-25" dirty="0"/>
              <a:t> </a:t>
            </a:r>
            <a:r>
              <a:rPr sz="1100" dirty="0"/>
              <a:t>by</a:t>
            </a:r>
            <a:r>
              <a:rPr sz="1100" spc="-30" dirty="0"/>
              <a:t> </a:t>
            </a:r>
            <a:r>
              <a:rPr sz="1100" dirty="0"/>
              <a:t>a</a:t>
            </a:r>
            <a:r>
              <a:rPr sz="1100" spc="-25" dirty="0"/>
              <a:t> ’:’</a:t>
            </a:r>
            <a:endParaRPr sz="1100"/>
          </a:p>
          <a:p>
            <a:pPr marL="29845">
              <a:lnSpc>
                <a:spcPct val="100000"/>
              </a:lnSpc>
              <a:spcBef>
                <a:spcPts val="1170"/>
              </a:spcBef>
            </a:pPr>
            <a:r>
              <a:rPr sz="900" spc="-10" dirty="0"/>
              <a:t>s</a:t>
            </a:r>
            <a:r>
              <a:rPr sz="900" spc="-95" dirty="0"/>
              <a:t> </a:t>
            </a:r>
            <a:r>
              <a:rPr sz="900" spc="-10" dirty="0"/>
              <a:t>t</a:t>
            </a:r>
            <a:r>
              <a:rPr sz="900" spc="-90" dirty="0"/>
              <a:t> </a:t>
            </a:r>
            <a:r>
              <a:rPr sz="900" spc="-10" dirty="0"/>
              <a:t>a</a:t>
            </a:r>
            <a:r>
              <a:rPr sz="900" spc="-90" dirty="0"/>
              <a:t> </a:t>
            </a:r>
            <a:r>
              <a:rPr sz="900" spc="-10" dirty="0"/>
              <a:t>r</a:t>
            </a:r>
            <a:r>
              <a:rPr sz="900" spc="-90" dirty="0"/>
              <a:t> </a:t>
            </a:r>
            <a:r>
              <a:rPr sz="900" dirty="0"/>
              <a:t>t</a:t>
            </a:r>
            <a:r>
              <a:rPr sz="900" spc="55" dirty="0"/>
              <a:t> </a:t>
            </a:r>
            <a:r>
              <a:rPr sz="900" spc="-60" dirty="0"/>
              <a:t>:</a:t>
            </a:r>
            <a:endParaRPr sz="900"/>
          </a:p>
          <a:p>
            <a:pPr marL="24765">
              <a:lnSpc>
                <a:spcPct val="100000"/>
              </a:lnSpc>
              <a:spcBef>
                <a:spcPts val="15"/>
              </a:spcBef>
            </a:pPr>
            <a:r>
              <a:rPr sz="900" spc="-50" dirty="0"/>
              <a:t>{</a:t>
            </a:r>
            <a:endParaRPr sz="900"/>
          </a:p>
          <a:p>
            <a:pPr marL="168910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/>
              <a:t>(</a:t>
            </a:r>
            <a:r>
              <a:rPr sz="900" spc="-70" dirty="0"/>
              <a:t> </a:t>
            </a:r>
            <a:r>
              <a:rPr sz="900" dirty="0"/>
              <a:t>cond</a:t>
            </a:r>
            <a:r>
              <a:rPr sz="900" spc="-65" dirty="0"/>
              <a:t> </a:t>
            </a:r>
            <a:r>
              <a:rPr sz="900" spc="-50" dirty="0"/>
              <a:t>)</a:t>
            </a:r>
            <a:endParaRPr sz="900">
              <a:latin typeface="Arial"/>
              <a:cs typeface="Arial"/>
            </a:endParaRPr>
          </a:p>
          <a:p>
            <a:pPr marL="288290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goto</a:t>
            </a:r>
            <a:r>
              <a:rPr sz="900" b="1" spc="13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85" dirty="0"/>
              <a:t>outside</a:t>
            </a:r>
            <a:r>
              <a:rPr sz="900" spc="30" dirty="0"/>
              <a:t> </a:t>
            </a:r>
            <a:r>
              <a:rPr sz="900" spc="-50" dirty="0"/>
              <a:t>;</a:t>
            </a:r>
            <a:endParaRPr sz="900">
              <a:latin typeface="Arial"/>
              <a:cs typeface="Arial"/>
            </a:endParaRPr>
          </a:p>
          <a:p>
            <a:pPr marL="151765" marR="2883535" indent="10160">
              <a:lnSpc>
                <a:spcPct val="101499"/>
              </a:lnSpc>
            </a:pPr>
            <a:r>
              <a:rPr sz="900" spc="-10" dirty="0">
                <a:solidFill>
                  <a:srgbClr val="B50A0A"/>
                </a:solidFill>
              </a:rPr>
              <a:t>/</a:t>
            </a:r>
            <a:r>
              <a:rPr sz="900" spc="-125" dirty="0">
                <a:solidFill>
                  <a:srgbClr val="B50A0A"/>
                </a:solidFill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7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</a:rPr>
              <a:t>some</a:t>
            </a:r>
            <a:r>
              <a:rPr sz="900" spc="355" dirty="0">
                <a:solidFill>
                  <a:srgbClr val="B50A0A"/>
                </a:solidFill>
              </a:rPr>
              <a:t> </a:t>
            </a:r>
            <a:r>
              <a:rPr sz="900" dirty="0">
                <a:solidFill>
                  <a:srgbClr val="B50A0A"/>
                </a:solidFill>
              </a:rPr>
              <a:t>code</a:t>
            </a:r>
            <a:r>
              <a:rPr sz="900" spc="-80" dirty="0">
                <a:solidFill>
                  <a:srgbClr val="B50A0A"/>
                </a:solidFill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</a:rPr>
              <a:t>/</a:t>
            </a:r>
            <a:r>
              <a:rPr sz="900" dirty="0">
                <a:solidFill>
                  <a:srgbClr val="B50A0A"/>
                </a:solidFill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goto</a:t>
            </a:r>
            <a:r>
              <a:rPr sz="900" b="1" spc="14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spc="-10" dirty="0"/>
              <a:t>s</a:t>
            </a:r>
            <a:r>
              <a:rPr sz="900" spc="-75" dirty="0"/>
              <a:t> </a:t>
            </a:r>
            <a:r>
              <a:rPr sz="900" spc="-10" dirty="0"/>
              <a:t>t</a:t>
            </a:r>
            <a:r>
              <a:rPr sz="900" spc="-85" dirty="0"/>
              <a:t> </a:t>
            </a:r>
            <a:r>
              <a:rPr sz="900" spc="-10" dirty="0"/>
              <a:t>a</a:t>
            </a:r>
            <a:r>
              <a:rPr sz="900" spc="-85" dirty="0"/>
              <a:t> </a:t>
            </a:r>
            <a:r>
              <a:rPr sz="900" spc="-10" dirty="0"/>
              <a:t>r</a:t>
            </a:r>
            <a:r>
              <a:rPr sz="900" spc="-80" dirty="0"/>
              <a:t> </a:t>
            </a:r>
            <a:r>
              <a:rPr sz="900" dirty="0"/>
              <a:t>t</a:t>
            </a:r>
            <a:r>
              <a:rPr sz="900" spc="70" dirty="0"/>
              <a:t> </a:t>
            </a:r>
            <a:r>
              <a:rPr sz="900" spc="-50" dirty="0"/>
              <a:t>;</a:t>
            </a:r>
            <a:endParaRPr sz="900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20"/>
              </a:spcBef>
            </a:pPr>
            <a:r>
              <a:rPr sz="900" spc="-50" dirty="0"/>
              <a:t>}</a:t>
            </a:r>
            <a:endParaRPr sz="900"/>
          </a:p>
          <a:p>
            <a:pPr marL="24130">
              <a:lnSpc>
                <a:spcPct val="100000"/>
              </a:lnSpc>
              <a:spcBef>
                <a:spcPts val="15"/>
              </a:spcBef>
            </a:pPr>
            <a:r>
              <a:rPr sz="900" spc="85" dirty="0"/>
              <a:t>outside</a:t>
            </a:r>
            <a:r>
              <a:rPr sz="900" spc="5" dirty="0"/>
              <a:t> </a:t>
            </a:r>
            <a:r>
              <a:rPr sz="900" spc="-50" dirty="0"/>
              <a:t>:</a:t>
            </a:r>
            <a:endParaRPr sz="900"/>
          </a:p>
          <a:p>
            <a:pPr marL="254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B50A0A"/>
                </a:solidFill>
              </a:rPr>
              <a:t>/</a:t>
            </a:r>
            <a:r>
              <a:rPr sz="900" spc="-130" dirty="0">
                <a:solidFill>
                  <a:srgbClr val="B50A0A"/>
                </a:solidFill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85" dirty="0">
                <a:solidFill>
                  <a:srgbClr val="B50A0A"/>
                </a:solidFill>
              </a:rPr>
              <a:t>outside</a:t>
            </a:r>
            <a:r>
              <a:rPr sz="900" spc="130" dirty="0">
                <a:solidFill>
                  <a:srgbClr val="B50A0A"/>
                </a:solidFill>
              </a:rPr>
              <a:t>  </a:t>
            </a:r>
            <a:r>
              <a:rPr sz="900" spc="70" dirty="0">
                <a:solidFill>
                  <a:srgbClr val="B50A0A"/>
                </a:solidFill>
              </a:rPr>
              <a:t>block</a:t>
            </a:r>
            <a:r>
              <a:rPr sz="900" spc="-25" dirty="0">
                <a:solidFill>
                  <a:srgbClr val="B50A0A"/>
                </a:solidFill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</a:rPr>
              <a:t>/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6760" y="327626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5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Spaghetti</a:t>
            </a:r>
            <a:r>
              <a:rPr spc="150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883207"/>
            <a:ext cx="3820160" cy="9944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90233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Dijkstra.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Go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80" dirty="0">
                <a:latin typeface="Arial"/>
                <a:cs typeface="Arial"/>
              </a:rPr>
              <a:t>To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Statement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Considered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Harmful</a:t>
            </a:r>
            <a:r>
              <a:rPr sz="1100" spc="-10" dirty="0">
                <a:latin typeface="Arial"/>
                <a:cs typeface="Arial"/>
              </a:rPr>
              <a:t>. Communications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11(3),1968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Excess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goto</a:t>
            </a:r>
            <a:r>
              <a:rPr sz="9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creates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sphagetti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code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Using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goto</a:t>
            </a:r>
            <a:r>
              <a:rPr sz="900" b="1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makes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code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harder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debug.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Any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goto</a:t>
            </a:r>
            <a:r>
              <a:rPr sz="900" b="1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written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without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75"/>
              </a:spcBef>
            </a:pPr>
            <a:r>
              <a:rPr spc="-50" dirty="0"/>
              <a:t>6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452"/>
            <a:ext cx="12573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error</a:t>
            </a:r>
            <a:r>
              <a:rPr spc="40" dirty="0"/>
              <a:t> </a:t>
            </a:r>
            <a:r>
              <a:rPr spc="-10" dirty="0"/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299325"/>
            <a:ext cx="3913504" cy="11150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Language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like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C++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Java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provide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exception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mechanism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to </a:t>
            </a:r>
            <a:r>
              <a:rPr sz="1100" spc="-10" dirty="0">
                <a:latin typeface="Arial"/>
                <a:cs typeface="Arial"/>
              </a:rPr>
              <a:t>recover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errors.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goto</a:t>
            </a:r>
            <a:r>
              <a:rPr sz="9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provides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convenient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way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exit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nested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blocks.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100">
              <a:latin typeface="Arial"/>
              <a:cs typeface="Arial"/>
            </a:endParaRPr>
          </a:p>
          <a:p>
            <a:pPr marL="1979295">
              <a:lnSpc>
                <a:spcPct val="100000"/>
              </a:lnSpc>
            </a:pP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_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=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977389">
              <a:lnSpc>
                <a:spcPct val="100000"/>
              </a:lnSpc>
              <a:spcBef>
                <a:spcPts val="15"/>
              </a:spcBef>
            </a:pP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900" b="1" spc="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6250" y="1408976"/>
          <a:ext cx="4458965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7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8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90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9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0335">
                <a:tc>
                  <a:txBody>
                    <a:bodyPr/>
                    <a:lstStyle/>
                    <a:p>
                      <a:pPr marL="456565">
                        <a:lnSpc>
                          <a:spcPts val="1010"/>
                        </a:lnSpc>
                      </a:pPr>
                      <a:r>
                        <a:rPr sz="900" b="1" spc="6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900" b="1" spc="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10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{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458470">
                        <a:lnSpc>
                          <a:spcPts val="994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{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88900">
                        <a:lnSpc>
                          <a:spcPts val="994"/>
                        </a:lnSpc>
                      </a:pPr>
                      <a:r>
                        <a:rPr sz="900" b="1" spc="6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900" b="1" spc="-2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;</a:t>
                      </a:r>
                      <a:r>
                        <a:rPr sz="9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_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9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;</a:t>
                      </a:r>
                      <a:r>
                        <a:rPr sz="9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9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9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593090">
                        <a:lnSpc>
                          <a:spcPts val="994"/>
                        </a:lnSpc>
                      </a:pPr>
                      <a:r>
                        <a:rPr sz="900" b="1" spc="6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900" b="1" spc="6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994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{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61594" algn="ctr">
                        <a:lnSpc>
                          <a:spcPts val="994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{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234950">
                        <a:lnSpc>
                          <a:spcPts val="994"/>
                        </a:lnSpc>
                      </a:pPr>
                      <a:r>
                        <a:rPr sz="9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900" b="1" spc="-7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900" b="1" spc="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80" dirty="0">
                          <a:latin typeface="Arial"/>
                          <a:cs typeface="Arial"/>
                        </a:rPr>
                        <a:t>error_cond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065">
                <a:tc gridSpan="4">
                  <a:txBody>
                    <a:bodyPr/>
                    <a:lstStyle/>
                    <a:p>
                      <a:pPr marL="739140">
                        <a:lnSpc>
                          <a:spcPts val="994"/>
                        </a:lnSpc>
                      </a:pPr>
                      <a:r>
                        <a:rPr sz="9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900" b="1" spc="-7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900" b="1" spc="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80" dirty="0">
                          <a:latin typeface="Arial"/>
                          <a:cs typeface="Arial"/>
                        </a:rPr>
                        <a:t>error_cond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994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{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R="37465" algn="r">
                        <a:lnSpc>
                          <a:spcPts val="994"/>
                        </a:lnSpc>
                      </a:pPr>
                      <a:r>
                        <a:rPr sz="900" b="1" spc="-2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goto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255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9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364490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_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1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900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065">
                <a:tc gridSpan="2">
                  <a:txBody>
                    <a:bodyPr/>
                    <a:lstStyle/>
                    <a:p>
                      <a:pPr marL="868680">
                        <a:lnSpc>
                          <a:spcPts val="994"/>
                        </a:lnSpc>
                      </a:pP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6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5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900" spc="6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skips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994"/>
                        </a:lnSpc>
                      </a:pPr>
                      <a:r>
                        <a:rPr sz="900" spc="-5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994"/>
                        </a:lnSpc>
                      </a:pPr>
                      <a:r>
                        <a:rPr sz="900" spc="7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blocks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6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5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900" spc="-5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55600">
                        <a:lnSpc>
                          <a:spcPts val="994"/>
                        </a:lnSpc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break</a:t>
                      </a:r>
                      <a:r>
                        <a:rPr sz="900" b="1" spc="10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430">
                <a:tc gridSpan="2">
                  <a:txBody>
                    <a:bodyPr/>
                    <a:lstStyle/>
                    <a:p>
                      <a:pPr marR="101600" algn="ctr">
                        <a:lnSpc>
                          <a:spcPts val="990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}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990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}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9065">
                <a:tc gridSpan="2">
                  <a:txBody>
                    <a:bodyPr/>
                    <a:lstStyle/>
                    <a:p>
                      <a:pPr marR="375285" algn="ctr">
                        <a:lnSpc>
                          <a:spcPts val="994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}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27965">
                        <a:lnSpc>
                          <a:spcPts val="994"/>
                        </a:lnSpc>
                      </a:pP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6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900" spc="-1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900" spc="-1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900" spc="-1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900" spc="-1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990">
                        <a:lnSpc>
                          <a:spcPts val="994"/>
                        </a:lnSpc>
                      </a:pPr>
                      <a:r>
                        <a:rPr sz="900" spc="6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loop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6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6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900" spc="-5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9065">
                <a:tc gridSpan="2">
                  <a:txBody>
                    <a:bodyPr/>
                    <a:lstStyle/>
                    <a:p>
                      <a:pPr marR="34925" algn="ctr">
                        <a:lnSpc>
                          <a:spcPts val="994"/>
                        </a:lnSpc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9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9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: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994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}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03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8425">
                        <a:lnSpc>
                          <a:spcPts val="1005"/>
                        </a:lnSpc>
                      </a:pPr>
                      <a:r>
                        <a:rPr sz="9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900" b="1" spc="-7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900" b="1" spc="1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!</a:t>
                      </a:r>
                      <a:r>
                        <a:rPr sz="9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_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ts val="1005"/>
                        </a:lnSpc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break</a:t>
                      </a:r>
                      <a:r>
                        <a:rPr sz="900" b="1" spc="10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779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985"/>
                        </a:lnSpc>
                      </a:pP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6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5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900" spc="5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outer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355">
                        <a:lnSpc>
                          <a:spcPts val="985"/>
                        </a:lnSpc>
                      </a:pPr>
                      <a:r>
                        <a:rPr sz="900" spc="6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loop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6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6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900" spc="-5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938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47320" algn="ctr">
                        <a:lnSpc>
                          <a:spcPts val="1025"/>
                        </a:lnSpc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}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75"/>
              </a:spcBef>
            </a:pPr>
            <a:r>
              <a:rPr spc="-50" dirty="0"/>
              <a:t>7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38099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spc="60" dirty="0" err="1">
                <a:solidFill>
                  <a:srgbClr val="993333"/>
                </a:solidFill>
                <a:latin typeface="Arial"/>
                <a:cs typeface="Arial"/>
              </a:rPr>
              <a:t>TashTech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Lecture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6</a:t>
            </a:r>
            <a:r>
              <a:rPr lang="en-US" sz="1400" b="1" spc="6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–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October</a:t>
            </a:r>
            <a:r>
              <a:rPr lang="en-US" sz="1400" b="1" spc="65" dirty="0">
                <a:solidFill>
                  <a:srgbClr val="993333"/>
                </a:solidFill>
                <a:latin typeface="Arial"/>
                <a:cs typeface="Arial"/>
              </a:rPr>
              <a:t> 20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,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spc="-20" dirty="0">
                <a:solidFill>
                  <a:srgbClr val="993333"/>
                </a:solidFill>
                <a:latin typeface="Arial"/>
                <a:cs typeface="Arial"/>
              </a:rPr>
              <a:t>2026</a:t>
            </a:r>
            <a:endParaRPr lang="en-US" sz="14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59994" y="950976"/>
            <a:ext cx="269875" cy="1600200"/>
            <a:chOff x="359994" y="950976"/>
            <a:chExt cx="269875" cy="1600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" y="950976"/>
              <a:ext cx="76809" cy="768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994" y="1457972"/>
              <a:ext cx="76809" cy="768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994" y="1964969"/>
              <a:ext cx="76809" cy="768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817" y="2144725"/>
              <a:ext cx="61874" cy="618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7817" y="2316810"/>
              <a:ext cx="61874" cy="61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7817" y="2488882"/>
              <a:ext cx="61874" cy="6187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14680" y="883779"/>
            <a:ext cx="755015" cy="699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Control</a:t>
            </a:r>
            <a:r>
              <a:rPr sz="1100" spc="-4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flow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4680" y="1897772"/>
            <a:ext cx="986155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Arial"/>
                <a:cs typeface="Arial"/>
              </a:rPr>
              <a:t>I/O</a:t>
            </a:r>
            <a:endParaRPr sz="1100">
              <a:latin typeface="Arial"/>
              <a:cs typeface="Arial"/>
            </a:endParaRPr>
          </a:p>
          <a:p>
            <a:pPr marL="187325" marR="5080">
              <a:lnSpc>
                <a:spcPct val="102600"/>
              </a:lnSpc>
            </a:pPr>
            <a:r>
              <a:rPr sz="1100" dirty="0">
                <a:latin typeface="Arial"/>
                <a:cs typeface="Arial"/>
              </a:rPr>
              <a:t>Standard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I/O </a:t>
            </a:r>
            <a:r>
              <a:rPr sz="1100" dirty="0">
                <a:latin typeface="Arial"/>
                <a:cs typeface="Arial"/>
              </a:rPr>
              <a:t>String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I/O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I/O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6760" y="327626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8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Preliminaries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1016570"/>
            <a:ext cx="3756025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2875" marR="276860" indent="-130810">
              <a:lnSpc>
                <a:spcPct val="102600"/>
              </a:lnSpc>
              <a:spcBef>
                <a:spcPts val="55"/>
              </a:spcBef>
              <a:buSzPct val="90909"/>
              <a:buFont typeface="Arial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Input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output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facilities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provided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standard 	</a:t>
            </a:r>
            <a:r>
              <a:rPr sz="1100" dirty="0">
                <a:latin typeface="Arial"/>
                <a:cs typeface="Arial"/>
              </a:rPr>
              <a:t>library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&lt;stdio.</a:t>
            </a:r>
            <a:r>
              <a:rPr sz="900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h&gt;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language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itself.</a:t>
            </a:r>
            <a:endParaRPr sz="1100">
              <a:latin typeface="Arial"/>
              <a:cs typeface="Arial"/>
            </a:endParaRPr>
          </a:p>
          <a:p>
            <a:pPr marL="142875" marR="5080" indent="-130810">
              <a:lnSpc>
                <a:spcPct val="110200"/>
              </a:lnSpc>
              <a:spcBef>
                <a:spcPts val="200"/>
              </a:spcBef>
              <a:buSzPct val="90909"/>
              <a:buFont typeface="Arial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text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stream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consists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series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ending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’\n’</a:t>
            </a:r>
            <a:r>
              <a:rPr sz="1100" spc="-10" dirty="0">
                <a:latin typeface="Arial"/>
                <a:cs typeface="Arial"/>
              </a:rPr>
              <a:t>. 	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library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takes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conversion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from 	</a:t>
            </a:r>
            <a:r>
              <a:rPr sz="900" spc="-10" dirty="0">
                <a:latin typeface="Courier New"/>
                <a:cs typeface="Courier New"/>
              </a:rPr>
              <a:t>’\r\n’</a:t>
            </a:r>
            <a:r>
              <a:rPr sz="900" spc="-10" dirty="0">
                <a:latin typeface="Lucida Sans Unicode"/>
                <a:cs typeface="Lucida Sans Unicode"/>
              </a:rPr>
              <a:t>−</a:t>
            </a:r>
            <a:r>
              <a:rPr sz="900" spc="-10" dirty="0">
                <a:latin typeface="Courier New"/>
                <a:cs typeface="Courier New"/>
              </a:rPr>
              <a:t>’\n’</a:t>
            </a:r>
            <a:endParaRPr sz="900">
              <a:latin typeface="Courier New"/>
              <a:cs typeface="Courier New"/>
            </a:endParaRPr>
          </a:p>
          <a:p>
            <a:pPr marL="143510" indent="-130810">
              <a:lnSpc>
                <a:spcPct val="100000"/>
              </a:lnSpc>
              <a:spcBef>
                <a:spcPts val="375"/>
              </a:spcBef>
              <a:buSzPct val="90909"/>
              <a:buFont typeface="Arial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binary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stream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consists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series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raw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bytes.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streams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provided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library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buffered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6760" y="327626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8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Standard</a:t>
            </a:r>
            <a:r>
              <a:rPr spc="95" dirty="0"/>
              <a:t> </a:t>
            </a:r>
            <a:r>
              <a:rPr dirty="0"/>
              <a:t>input</a:t>
            </a:r>
            <a:r>
              <a:rPr spc="95" dirty="0"/>
              <a:t> </a:t>
            </a:r>
            <a:r>
              <a:rPr dirty="0"/>
              <a:t>and</a:t>
            </a:r>
            <a:r>
              <a:rPr spc="100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584" y="1019835"/>
            <a:ext cx="3636645" cy="12573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putchar(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-1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80670" indent="-130810">
              <a:lnSpc>
                <a:spcPct val="100000"/>
              </a:lnSpc>
              <a:spcBef>
                <a:spcPts val="375"/>
              </a:spcBef>
              <a:buSzPct val="90909"/>
              <a:buFont typeface="Arial"/>
              <a:buChar char="•"/>
              <a:tabLst>
                <a:tab pos="280670" algn="l"/>
              </a:tabLst>
            </a:pPr>
            <a:r>
              <a:rPr sz="1100" dirty="0">
                <a:latin typeface="Arial"/>
                <a:cs typeface="Arial"/>
              </a:rPr>
              <a:t>putchar(c)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standard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output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80670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0670" algn="l"/>
              </a:tabLst>
            </a:pP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printed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error.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getchar()</a:t>
            </a:r>
            <a:endParaRPr sz="900">
              <a:latin typeface="Arial"/>
              <a:cs typeface="Arial"/>
            </a:endParaRPr>
          </a:p>
          <a:p>
            <a:pPr marL="280670" indent="-130810">
              <a:lnSpc>
                <a:spcPct val="100000"/>
              </a:lnSpc>
              <a:spcBef>
                <a:spcPts val="375"/>
              </a:spcBef>
              <a:buSzPct val="90909"/>
              <a:buFont typeface="Arial"/>
              <a:buChar char="•"/>
              <a:tabLst>
                <a:tab pos="280670" algn="l"/>
              </a:tabLst>
            </a:pPr>
            <a:r>
              <a:rPr sz="1100" dirty="0">
                <a:latin typeface="Arial"/>
                <a:cs typeface="Arial"/>
              </a:rPr>
              <a:t>returns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next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standard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input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280670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0670" algn="l"/>
              </a:tabLst>
            </a:pPr>
            <a:r>
              <a:rPr sz="1100" dirty="0">
                <a:latin typeface="Arial"/>
                <a:cs typeface="Arial"/>
              </a:rPr>
              <a:t>it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error.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Standard</a:t>
            </a:r>
            <a:r>
              <a:rPr spc="95" dirty="0"/>
              <a:t> </a:t>
            </a:r>
            <a:r>
              <a:rPr dirty="0"/>
              <a:t>input</a:t>
            </a:r>
            <a:r>
              <a:rPr spc="95" dirty="0"/>
              <a:t> </a:t>
            </a:r>
            <a:r>
              <a:rPr dirty="0"/>
              <a:t>and</a:t>
            </a:r>
            <a:r>
              <a:rPr spc="100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18680"/>
            <a:ext cx="3862070" cy="29006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dirty="0">
                <a:latin typeface="Arial"/>
                <a:cs typeface="Arial"/>
              </a:rPr>
              <a:t>What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code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do?</a:t>
            </a:r>
            <a:endParaRPr sz="11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570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35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main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20"/>
              </a:spcBef>
            </a:pP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155575">
              <a:lnSpc>
                <a:spcPct val="100000"/>
              </a:lnSpc>
              <a:spcBef>
                <a:spcPts val="1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48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58750">
              <a:lnSpc>
                <a:spcPct val="100000"/>
              </a:lnSpc>
              <a:spcBef>
                <a:spcPts val="15"/>
              </a:spcBef>
            </a:pPr>
            <a:r>
              <a:rPr sz="900" b="1" spc="50" dirty="0">
                <a:solidFill>
                  <a:srgbClr val="0000FF"/>
                </a:solidFill>
                <a:latin typeface="Arial"/>
                <a:cs typeface="Arial"/>
              </a:rPr>
              <a:t>while</a:t>
            </a:r>
            <a:r>
              <a:rPr sz="9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75" dirty="0">
                <a:latin typeface="Arial"/>
                <a:cs typeface="Arial"/>
              </a:rPr>
              <a:t>c=getchar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8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!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=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EOF)</a:t>
            </a:r>
            <a:endParaRPr sz="9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{</a:t>
            </a:r>
            <a:endParaRPr sz="900">
              <a:latin typeface="Arial"/>
              <a:cs typeface="Arial"/>
            </a:endParaRPr>
          </a:p>
          <a:p>
            <a:pPr marL="30797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c&gt;=</a:t>
            </a:r>
            <a:r>
              <a:rPr sz="900" dirty="0">
                <a:latin typeface="Courier New"/>
                <a:cs typeface="Courier New"/>
              </a:rPr>
              <a:t>’A’</a:t>
            </a:r>
            <a:r>
              <a:rPr sz="900" spc="-25" dirty="0">
                <a:latin typeface="Courier New"/>
                <a:cs typeface="Courier New"/>
              </a:rPr>
              <a:t> </a:t>
            </a:r>
            <a:r>
              <a:rPr sz="900" dirty="0">
                <a:latin typeface="Arial"/>
                <a:cs typeface="Arial"/>
              </a:rPr>
              <a:t>&amp;&amp;</a:t>
            </a:r>
            <a:r>
              <a:rPr sz="900" spc="2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c&lt;=</a:t>
            </a:r>
            <a:r>
              <a:rPr sz="900" dirty="0">
                <a:latin typeface="Courier New"/>
                <a:cs typeface="Courier New"/>
              </a:rPr>
              <a:t>’Z’</a:t>
            </a:r>
            <a:r>
              <a:rPr sz="900" spc="-415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42799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Arial"/>
                <a:cs typeface="Arial"/>
              </a:rPr>
              <a:t>c=c</a:t>
            </a:r>
            <a:r>
              <a:rPr sz="900" spc="-10" dirty="0">
                <a:latin typeface="Lucida Sans Unicode"/>
                <a:cs typeface="Lucida Sans Unicode"/>
              </a:rPr>
              <a:t>−</a:t>
            </a:r>
            <a:r>
              <a:rPr sz="900" spc="-10" dirty="0">
                <a:latin typeface="Courier New"/>
                <a:cs typeface="Courier New"/>
              </a:rPr>
              <a:t>’A’</a:t>
            </a:r>
            <a:r>
              <a:rPr sz="900" spc="-10" dirty="0">
                <a:latin typeface="Arial"/>
                <a:cs typeface="Arial"/>
              </a:rPr>
              <a:t>+</a:t>
            </a:r>
            <a:r>
              <a:rPr sz="900" spc="-10" dirty="0">
                <a:latin typeface="Courier New"/>
                <a:cs typeface="Courier New"/>
              </a:rPr>
              <a:t>’a’</a:t>
            </a:r>
            <a:r>
              <a:rPr sz="900" spc="-335" dirty="0">
                <a:latin typeface="Courier New"/>
                <a:cs typeface="Courier New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  <a:spcBef>
                <a:spcPts val="15"/>
              </a:spcBef>
            </a:pPr>
            <a:r>
              <a:rPr sz="900" spc="75" dirty="0">
                <a:latin typeface="Arial"/>
                <a:cs typeface="Arial"/>
              </a:rPr>
              <a:t>putchar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6446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60655">
              <a:lnSpc>
                <a:spcPct val="100000"/>
              </a:lnSpc>
              <a:spcBef>
                <a:spcPts val="15"/>
              </a:spcBef>
            </a:pPr>
            <a:r>
              <a:rPr sz="900" b="1" spc="70" dirty="0">
                <a:solidFill>
                  <a:srgbClr val="0000FF"/>
                </a:solidFill>
                <a:latin typeface="Arial"/>
                <a:cs typeface="Arial"/>
              </a:rPr>
              <a:t>return</a:t>
            </a:r>
            <a:r>
              <a:rPr sz="900" b="1" spc="4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5"/>
              </a:spcBef>
            </a:pPr>
            <a:r>
              <a:rPr sz="900" spc="-50" dirty="0">
                <a:latin typeface="Arial"/>
                <a:cs typeface="Arial"/>
              </a:rPr>
              <a:t>}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100" spc="-80" dirty="0">
                <a:latin typeface="Arial"/>
                <a:cs typeface="Arial"/>
              </a:rPr>
              <a:t>To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instead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’&lt;’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(*nix).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Normal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invocation: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./a.out</a:t>
            </a:r>
            <a:endParaRPr sz="1100">
              <a:latin typeface="Arial"/>
              <a:cs typeface="Arial"/>
            </a:endParaRPr>
          </a:p>
          <a:p>
            <a:pPr marL="287655" marR="5080" indent="-130810">
              <a:lnSpc>
                <a:spcPct val="102600"/>
              </a:lnSpc>
              <a:spcBef>
                <a:spcPts val="295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Input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redirection: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a.out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&lt;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file.txt.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Treats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file.txt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source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	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input.This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feature,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language 	feature.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Standard</a:t>
            </a:r>
            <a:r>
              <a:rPr spc="100" dirty="0"/>
              <a:t> </a:t>
            </a:r>
            <a:r>
              <a:rPr spc="-10" dirty="0"/>
              <a:t>output:formatted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304" y="722871"/>
            <a:ext cx="3699510" cy="191833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409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4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printf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format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[],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arg1,arg2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,...)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7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printf()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formatted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output.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takes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variable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arguments.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It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printed.</a:t>
            </a:r>
            <a:endParaRPr sz="1100">
              <a:latin typeface="Arial"/>
              <a:cs typeface="Arial"/>
            </a:endParaRPr>
          </a:p>
          <a:p>
            <a:pPr marL="287655" marR="9271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literal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strings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well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format 	</a:t>
            </a:r>
            <a:r>
              <a:rPr sz="1100" dirty="0">
                <a:latin typeface="Arial"/>
                <a:cs typeface="Arial"/>
              </a:rPr>
              <a:t>specifiers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(starts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%).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Arial"/>
                <a:cs typeface="Arial"/>
              </a:rPr>
              <a:t>Examples:</a:t>
            </a:r>
            <a:endParaRPr sz="1100">
              <a:latin typeface="Arial"/>
              <a:cs typeface="Arial"/>
            </a:endParaRPr>
          </a:p>
          <a:p>
            <a:pPr marL="34925">
              <a:lnSpc>
                <a:spcPct val="100000"/>
              </a:lnSpc>
              <a:spcBef>
                <a:spcPts val="575"/>
              </a:spcBef>
            </a:pP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"hello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world\n"</a:t>
            </a:r>
            <a:r>
              <a:rPr sz="900" spc="-36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34925" marR="5080">
              <a:lnSpc>
                <a:spcPct val="101499"/>
              </a:lnSpc>
            </a:pP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"%d\n"</a:t>
            </a:r>
            <a:r>
              <a:rPr sz="900" spc="-26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4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70" dirty="0">
                <a:solidFill>
                  <a:srgbClr val="B50A0A"/>
                </a:solidFill>
                <a:latin typeface="Arial"/>
                <a:cs typeface="Arial"/>
              </a:rPr>
              <a:t>format</a:t>
            </a:r>
            <a:r>
              <a:rPr sz="900" spc="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:</a:t>
            </a:r>
            <a:r>
              <a:rPr sz="900" spc="3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%d</a:t>
            </a:r>
            <a:r>
              <a:rPr sz="900" spc="4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(</a:t>
            </a:r>
            <a:r>
              <a:rPr sz="900" spc="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g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,</a:t>
            </a:r>
            <a:r>
              <a:rPr sz="900" spc="-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argument</a:t>
            </a:r>
            <a:r>
              <a:rPr sz="900" spc="-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:</a:t>
            </a:r>
            <a:r>
              <a:rPr sz="900" spc="-1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10</a:t>
            </a:r>
            <a:r>
              <a:rPr sz="900" spc="-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Courier New"/>
                <a:cs typeface="Courier New"/>
              </a:rPr>
              <a:t>"Prices:%d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and</a:t>
            </a:r>
            <a:r>
              <a:rPr sz="900" spc="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%d\n"</a:t>
            </a:r>
            <a:r>
              <a:rPr sz="900" spc="-310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2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printf</a:t>
            </a:r>
            <a:r>
              <a:rPr spc="70" dirty="0"/>
              <a:t> </a:t>
            </a:r>
            <a:r>
              <a:rPr dirty="0"/>
              <a:t>format</a:t>
            </a:r>
            <a:r>
              <a:rPr spc="70" dirty="0"/>
              <a:t> </a:t>
            </a:r>
            <a:r>
              <a:rPr spc="-10" dirty="0"/>
              <a:t>specification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83257"/>
            <a:ext cx="3352800" cy="5734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specification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components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dirty="0">
                <a:latin typeface="Arial"/>
                <a:cs typeface="Arial"/>
              </a:rPr>
              <a:t>%[flags][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width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][.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precision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][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length]&lt;type&gt;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-10" dirty="0">
                <a:latin typeface="Arial"/>
                <a:cs typeface="Arial"/>
              </a:rPr>
              <a:t>type: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42798" y="1121587"/>
          <a:ext cx="3716654" cy="177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type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meaning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example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d,i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integer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"%d"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,10);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prints</a:t>
                      </a:r>
                      <a:r>
                        <a:rPr sz="900" spc="17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x,X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integer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(hex)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"%x"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,10);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9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print</a:t>
                      </a:r>
                      <a:r>
                        <a:rPr sz="900" spc="26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0xa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u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unsigned</a:t>
                      </a:r>
                      <a:r>
                        <a:rPr sz="11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integer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"%u"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,10);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prints</a:t>
                      </a:r>
                      <a:r>
                        <a:rPr sz="900" spc="17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c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character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"%c"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);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prints</a:t>
                      </a:r>
                      <a:r>
                        <a:rPr sz="900" spc="7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string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"%s"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"hello"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);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prints</a:t>
                      </a:r>
                      <a:r>
                        <a:rPr sz="900" spc="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hello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f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float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,2.3);</a:t>
                      </a:r>
                      <a:r>
                        <a:rPr sz="9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prints</a:t>
                      </a:r>
                      <a:r>
                        <a:rPr sz="900" spc="27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2.3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double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"%d"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,2.3);</a:t>
                      </a:r>
                      <a:r>
                        <a:rPr sz="9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prints</a:t>
                      </a:r>
                      <a:r>
                        <a:rPr sz="900" spc="27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2.3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e,E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float(exp)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1e3,1.2E3,1E</a:t>
                      </a:r>
                      <a:r>
                        <a:rPr sz="900" spc="-1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literal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latin typeface="Arial"/>
                          <a:cs typeface="Arial"/>
                        </a:rPr>
                        <a:t>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"%d</a:t>
                      </a:r>
                      <a:r>
                        <a:rPr sz="900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%%"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,10);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prints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10%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printf</a:t>
            </a:r>
            <a:r>
              <a:rPr spc="130" dirty="0"/>
              <a:t> </a:t>
            </a:r>
            <a:r>
              <a:rPr dirty="0"/>
              <a:t>format</a:t>
            </a:r>
            <a:r>
              <a:rPr spc="135" dirty="0"/>
              <a:t> </a:t>
            </a:r>
            <a:r>
              <a:rPr dirty="0"/>
              <a:t>specification</a:t>
            </a:r>
            <a:r>
              <a:rPr spc="13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46121"/>
            <a:ext cx="2254885" cy="34798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00" dirty="0">
                <a:latin typeface="Arial"/>
                <a:cs typeface="Arial"/>
              </a:rPr>
              <a:t>%[flags][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width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][. </a:t>
            </a:r>
            <a:r>
              <a:rPr sz="900" spc="-10" dirty="0">
                <a:latin typeface="Arial"/>
                <a:cs typeface="Arial"/>
              </a:rPr>
              <a:t>precision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][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modifier]&lt;type&gt;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-10" dirty="0">
                <a:latin typeface="Arial"/>
                <a:cs typeface="Arial"/>
              </a:rPr>
              <a:t>width: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64209" y="1232477"/>
          <a:ext cx="2474595" cy="895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format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output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"%d"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,10)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"10"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"%4d"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,10)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bb10</a:t>
                      </a:r>
                      <a:r>
                        <a:rPr sz="11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(b:space)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"%s"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"hello"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hello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"%7s"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"hello"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bbhello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28765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printf</a:t>
            </a:r>
            <a:r>
              <a:rPr sz="1400" b="1" spc="13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format</a:t>
            </a:r>
            <a:r>
              <a:rPr sz="1400" b="1" spc="13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specification</a:t>
            </a:r>
            <a:r>
              <a:rPr sz="1400" b="1" spc="13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993333"/>
                </a:solidFill>
                <a:latin typeface="Arial"/>
                <a:cs typeface="Arial"/>
              </a:rPr>
              <a:t>(cont.)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7294" y="737792"/>
            <a:ext cx="2254885" cy="34798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00" dirty="0">
                <a:latin typeface="Arial"/>
                <a:cs typeface="Arial"/>
              </a:rPr>
              <a:t>%[flags][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width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][. </a:t>
            </a:r>
            <a:r>
              <a:rPr sz="900" spc="-10" dirty="0">
                <a:latin typeface="Arial"/>
                <a:cs typeface="Arial"/>
              </a:rPr>
              <a:t>precision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][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modifier]&lt;type&gt;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-10" dirty="0">
                <a:latin typeface="Arial"/>
                <a:cs typeface="Arial"/>
              </a:rPr>
              <a:t>flag: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04468" y="1253261"/>
          <a:ext cx="2594610" cy="895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format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output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"%d,%+d,%+d"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,10,</a:t>
                      </a:r>
                      <a:r>
                        <a:rPr sz="900" spc="-1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10)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10,+10,-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"%04d"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,10)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0010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"%7s"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"hello"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bbhello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"%-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7s"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"hello"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hellobb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printf</a:t>
            </a:r>
            <a:r>
              <a:rPr spc="130" dirty="0"/>
              <a:t> </a:t>
            </a:r>
            <a:r>
              <a:rPr dirty="0"/>
              <a:t>format</a:t>
            </a:r>
            <a:r>
              <a:rPr spc="135" dirty="0"/>
              <a:t> </a:t>
            </a:r>
            <a:r>
              <a:rPr dirty="0"/>
              <a:t>specification</a:t>
            </a:r>
            <a:r>
              <a:rPr spc="13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38425"/>
            <a:ext cx="2254885" cy="34798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00" dirty="0">
                <a:latin typeface="Arial"/>
                <a:cs typeface="Arial"/>
              </a:rPr>
              <a:t>%[flags][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width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][. </a:t>
            </a:r>
            <a:r>
              <a:rPr sz="900" spc="-10" dirty="0">
                <a:latin typeface="Arial"/>
                <a:cs typeface="Arial"/>
              </a:rPr>
              <a:t>precision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][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modifier]&lt;type&gt;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-10" dirty="0">
                <a:latin typeface="Arial"/>
                <a:cs typeface="Arial"/>
              </a:rPr>
              <a:t>precision: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45833" y="1251724"/>
          <a:ext cx="3310890" cy="895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0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format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output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"%.2f,%.0f,1.141,1.141)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1.14,1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"%.2e,%.0e,1.141,100.00)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1.14e+00,1e+02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"%.4s"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"hello"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hell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"%.1s"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"hello"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printf</a:t>
            </a:r>
            <a:r>
              <a:rPr spc="130" dirty="0"/>
              <a:t> </a:t>
            </a:r>
            <a:r>
              <a:rPr dirty="0"/>
              <a:t>format</a:t>
            </a:r>
            <a:r>
              <a:rPr spc="135" dirty="0"/>
              <a:t> </a:t>
            </a:r>
            <a:r>
              <a:rPr dirty="0"/>
              <a:t>specification</a:t>
            </a:r>
            <a:r>
              <a:rPr spc="13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96731"/>
            <a:ext cx="2254885" cy="34798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00" dirty="0">
                <a:latin typeface="Arial"/>
                <a:cs typeface="Arial"/>
              </a:rPr>
              <a:t>%[flags][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width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][. </a:t>
            </a:r>
            <a:r>
              <a:rPr sz="900" spc="-10" dirty="0">
                <a:latin typeface="Arial"/>
                <a:cs typeface="Arial"/>
              </a:rPr>
              <a:t>precision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][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modifier]&lt;type&gt;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100" b="1" spc="-10" dirty="0">
                <a:latin typeface="Arial"/>
                <a:cs typeface="Arial"/>
              </a:rPr>
              <a:t>modifier: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33933" y="1283087"/>
          <a:ext cx="3134995" cy="718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0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modifier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meaning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interpreted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short.</a:t>
                      </a:r>
                      <a:r>
                        <a:rPr sz="11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Use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i,d,o,u,x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interpreted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long.</a:t>
                      </a:r>
                      <a:r>
                        <a:rPr sz="11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Use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i,d,o,u,x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interpreted</a:t>
                      </a:r>
                      <a:r>
                        <a:rPr sz="11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double.</a:t>
                      </a:r>
                      <a:r>
                        <a:rPr sz="11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Use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11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e,f,g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Digression:</a:t>
            </a:r>
            <a:r>
              <a:rPr spc="245" dirty="0"/>
              <a:t> </a:t>
            </a:r>
            <a:r>
              <a:rPr dirty="0"/>
              <a:t>character</a:t>
            </a:r>
            <a:r>
              <a:rPr spc="120" dirty="0"/>
              <a:t> </a:t>
            </a: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55" y="506512"/>
            <a:ext cx="3820160" cy="2350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3939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Since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reading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strings,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brief digression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strings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array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characters</a:t>
            </a:r>
            <a:endParaRPr sz="1100">
              <a:latin typeface="Arial"/>
              <a:cs typeface="Arial"/>
            </a:endParaRPr>
          </a:p>
          <a:p>
            <a:pPr marL="287655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C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restrict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length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string.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the 	</a:t>
            </a:r>
            <a:r>
              <a:rPr sz="1100" dirty="0">
                <a:latin typeface="Arial"/>
                <a:cs typeface="Arial"/>
              </a:rPr>
              <a:t>string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specified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0.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Arial"/>
                <a:cs typeface="Arial"/>
              </a:rPr>
              <a:t>For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instance,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"hello"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represented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array</a:t>
            </a:r>
            <a:endParaRPr sz="110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{</a:t>
            </a:r>
            <a:r>
              <a:rPr sz="900" spc="-10" dirty="0">
                <a:latin typeface="Courier New"/>
                <a:cs typeface="Courier New"/>
              </a:rPr>
              <a:t>’h’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0" dirty="0">
                <a:latin typeface="Courier New"/>
                <a:cs typeface="Courier New"/>
              </a:rPr>
              <a:t>’e’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0" dirty="0">
                <a:latin typeface="Courier New"/>
                <a:cs typeface="Courier New"/>
              </a:rPr>
              <a:t>’l’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0" dirty="0">
                <a:latin typeface="Courier New"/>
                <a:cs typeface="Courier New"/>
              </a:rPr>
              <a:t>’l’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0" dirty="0">
                <a:latin typeface="Courier New"/>
                <a:cs typeface="Courier New"/>
              </a:rPr>
              <a:t>’\0’</a:t>
            </a:r>
            <a:r>
              <a:rPr sz="900" spc="-10" dirty="0">
                <a:latin typeface="Arial"/>
                <a:cs typeface="Arial"/>
              </a:rPr>
              <a:t>}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Arial"/>
                <a:cs typeface="Arial"/>
              </a:rPr>
              <a:t>Declaration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examples: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3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</a:t>
            </a:r>
            <a:r>
              <a:rPr sz="900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[]=</a:t>
            </a:r>
            <a:r>
              <a:rPr sz="900" dirty="0">
                <a:latin typeface="Courier New"/>
                <a:cs typeface="Courier New"/>
              </a:rPr>
              <a:t>"hello"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3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3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30" dirty="0">
                <a:solidFill>
                  <a:srgbClr val="B50A0A"/>
                </a:solidFill>
                <a:latin typeface="Arial"/>
                <a:cs typeface="Arial"/>
              </a:rPr>
              <a:t>compiler</a:t>
            </a:r>
            <a:r>
              <a:rPr sz="900" spc="-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takes</a:t>
            </a:r>
            <a:r>
              <a:rPr sz="900" spc="-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care</a:t>
            </a:r>
            <a:r>
              <a:rPr sz="900" spc="-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of</a:t>
            </a:r>
            <a:r>
              <a:rPr sz="900" spc="-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size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str[10]=</a:t>
            </a:r>
            <a:r>
              <a:rPr sz="900" dirty="0">
                <a:latin typeface="Courier New"/>
                <a:cs typeface="Courier New"/>
              </a:rPr>
              <a:t>"hello"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5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make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sure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array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is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large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enough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[]={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10" dirty="0">
                <a:latin typeface="Courier New"/>
                <a:cs typeface="Courier New"/>
              </a:rPr>
              <a:t>’h’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0" dirty="0">
                <a:latin typeface="Courier New"/>
                <a:cs typeface="Courier New"/>
              </a:rPr>
              <a:t>’e’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0" dirty="0">
                <a:latin typeface="Courier New"/>
                <a:cs typeface="Courier New"/>
              </a:rPr>
              <a:t>’l’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0" dirty="0">
                <a:latin typeface="Courier New"/>
                <a:cs typeface="Courier New"/>
              </a:rPr>
              <a:t>’l’</a:t>
            </a:r>
            <a:r>
              <a:rPr sz="900" spc="-10" dirty="0">
                <a:latin typeface="Arial"/>
                <a:cs typeface="Arial"/>
              </a:rPr>
              <a:t>,0};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100" dirty="0">
                <a:latin typeface="Arial"/>
                <a:cs typeface="Arial"/>
              </a:rPr>
              <a:t>Note: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\"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want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</a:t>
            </a:r>
            <a:r>
              <a:rPr sz="1100" spc="-25" dirty="0">
                <a:latin typeface="Arial"/>
                <a:cs typeface="Arial"/>
              </a:rPr>
              <a:t> ".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Digression:</a:t>
            </a:r>
            <a:r>
              <a:rPr spc="245" dirty="0"/>
              <a:t> </a:t>
            </a:r>
            <a:r>
              <a:rPr dirty="0"/>
              <a:t>character</a:t>
            </a:r>
            <a:r>
              <a:rPr spc="120" dirty="0"/>
              <a:t> </a:t>
            </a:r>
            <a:r>
              <a:rPr spc="-10" dirty="0"/>
              <a:t>arrays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36" y="553032"/>
            <a:ext cx="3799204" cy="24237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Comparing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strings: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header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&lt;string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.</a:t>
            </a:r>
            <a:r>
              <a:rPr sz="900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h&gt;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provides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strcmp(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s[],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[])</a:t>
            </a:r>
            <a:r>
              <a:rPr sz="900" spc="2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compares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strings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 </a:t>
            </a:r>
            <a:r>
              <a:rPr sz="1100" dirty="0">
                <a:latin typeface="Arial"/>
                <a:cs typeface="Arial"/>
              </a:rPr>
              <a:t>dictionary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order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(lower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letters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after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capital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case).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&lt;0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before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0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function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&gt;0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after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  <a:p>
            <a:pPr marL="12700" marR="2042160" indent="274955">
              <a:lnSpc>
                <a:spcPct val="125299"/>
              </a:lnSpc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strcmp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sensitive Examples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35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strcmp(</a:t>
            </a:r>
            <a:r>
              <a:rPr sz="900" dirty="0">
                <a:latin typeface="Courier New"/>
                <a:cs typeface="Courier New"/>
              </a:rPr>
              <a:t>"A"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dirty="0">
                <a:latin typeface="Courier New"/>
                <a:cs typeface="Courier New"/>
              </a:rPr>
              <a:t>"a"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&lt;0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strcmp(</a:t>
            </a:r>
            <a:r>
              <a:rPr sz="900" dirty="0">
                <a:latin typeface="Courier New"/>
                <a:cs typeface="Courier New"/>
              </a:rPr>
              <a:t>"IRONMAN"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dirty="0">
                <a:latin typeface="Courier New"/>
                <a:cs typeface="Courier New"/>
              </a:rPr>
              <a:t>"BATMAN"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&gt;0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strcmp(</a:t>
            </a:r>
            <a:r>
              <a:rPr sz="900" dirty="0">
                <a:latin typeface="Courier New"/>
                <a:cs typeface="Courier New"/>
              </a:rPr>
              <a:t>"aA"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dirty="0">
                <a:latin typeface="Courier New"/>
                <a:cs typeface="Courier New"/>
              </a:rPr>
              <a:t>"aA"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==0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0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strcmp(</a:t>
            </a:r>
            <a:r>
              <a:rPr sz="900" dirty="0">
                <a:latin typeface="Courier New"/>
                <a:cs typeface="Courier New"/>
              </a:rPr>
              <a:t>"aA"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dirty="0">
                <a:latin typeface="Courier New"/>
                <a:cs typeface="Courier New"/>
              </a:rPr>
              <a:t>"a"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&gt;0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Formatted</a:t>
            </a:r>
            <a:r>
              <a:rPr spc="140" dirty="0"/>
              <a:t> </a:t>
            </a:r>
            <a:r>
              <a:rPr spc="-10" dirty="0"/>
              <a:t>input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584" y="537550"/>
            <a:ext cx="3858895" cy="23939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scanf(</a:t>
            </a:r>
            <a:r>
              <a:rPr sz="900" b="1" spc="-35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spc="-35" dirty="0">
                <a:latin typeface="Lucida Sans Unicode"/>
                <a:cs typeface="Lucida Sans Unicode"/>
              </a:rPr>
              <a:t>∗</a:t>
            </a:r>
            <a:r>
              <a:rPr sz="900" spc="-40" dirty="0">
                <a:latin typeface="Lucida Sans Unicode"/>
                <a:cs typeface="Lucida Sans Unicode"/>
              </a:rPr>
              <a:t> </a:t>
            </a:r>
            <a:r>
              <a:rPr sz="900" spc="-10" dirty="0">
                <a:latin typeface="Arial"/>
                <a:cs typeface="Arial"/>
              </a:rPr>
              <a:t>format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,...)</a:t>
            </a:r>
            <a:r>
              <a:rPr sz="900" spc="2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analog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0" dirty="0">
                <a:latin typeface="Arial"/>
                <a:cs typeface="Arial"/>
              </a:rPr>
              <a:t> printf.</a:t>
            </a:r>
            <a:endParaRPr sz="1100">
              <a:latin typeface="Arial"/>
              <a:cs typeface="Arial"/>
            </a:endParaRPr>
          </a:p>
          <a:p>
            <a:pPr marL="280035" marR="220979" indent="-130810">
              <a:lnSpc>
                <a:spcPct val="102600"/>
              </a:lnSpc>
              <a:spcBef>
                <a:spcPts val="300"/>
              </a:spcBef>
              <a:buSzPct val="111111"/>
              <a:buFont typeface="Arial"/>
              <a:buChar char="•"/>
              <a:tabLst>
                <a:tab pos="281940" algn="l"/>
              </a:tabLst>
            </a:pPr>
            <a:r>
              <a:rPr sz="900" dirty="0">
                <a:latin typeface="Arial"/>
                <a:cs typeface="Arial"/>
              </a:rPr>
              <a:t>scanf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reads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interpreting 	</a:t>
            </a:r>
            <a:r>
              <a:rPr sz="1100" dirty="0">
                <a:latin typeface="Arial"/>
                <a:cs typeface="Arial"/>
              </a:rPr>
              <a:t>them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according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specification</a:t>
            </a:r>
            <a:endParaRPr sz="1100">
              <a:latin typeface="Arial"/>
              <a:cs typeface="Arial"/>
            </a:endParaRPr>
          </a:p>
          <a:p>
            <a:pPr marL="280035" marR="43053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1940" algn="l"/>
              </a:tabLst>
            </a:pPr>
            <a:r>
              <a:rPr sz="1100" dirty="0">
                <a:latin typeface="Arial"/>
                <a:cs typeface="Arial"/>
              </a:rPr>
              <a:t>Similar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printf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18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scanf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also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takes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	</a:t>
            </a:r>
            <a:r>
              <a:rPr sz="1100" spc="-10" dirty="0">
                <a:latin typeface="Arial"/>
                <a:cs typeface="Arial"/>
              </a:rPr>
              <a:t>arguments.</a:t>
            </a:r>
            <a:endParaRPr sz="1100">
              <a:latin typeface="Arial"/>
              <a:cs typeface="Arial"/>
            </a:endParaRPr>
          </a:p>
          <a:p>
            <a:pPr marL="280670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80670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specification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1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printf</a:t>
            </a:r>
            <a:endParaRPr sz="900">
              <a:latin typeface="Arial"/>
              <a:cs typeface="Arial"/>
            </a:endParaRPr>
          </a:p>
          <a:p>
            <a:pPr marL="280035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1940" algn="l"/>
              </a:tabLst>
            </a:pPr>
            <a:r>
              <a:rPr sz="1100" dirty="0">
                <a:latin typeface="Arial"/>
                <a:cs typeface="Arial"/>
              </a:rPr>
              <a:t>When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multiple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items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read,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item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assumed 	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separated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white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space.</a:t>
            </a:r>
            <a:endParaRPr sz="1100">
              <a:latin typeface="Arial"/>
              <a:cs typeface="Arial"/>
            </a:endParaRPr>
          </a:p>
          <a:p>
            <a:pPr marL="280670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0670" algn="l"/>
              </a:tabLst>
            </a:pP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number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items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EOF.</a:t>
            </a:r>
            <a:endParaRPr sz="1100">
              <a:latin typeface="Arial"/>
              <a:cs typeface="Arial"/>
            </a:endParaRPr>
          </a:p>
          <a:p>
            <a:pPr marL="280670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0670" algn="l"/>
              </a:tabLst>
            </a:pPr>
            <a:r>
              <a:rPr sz="1100" b="1" dirty="0">
                <a:latin typeface="Arial"/>
                <a:cs typeface="Arial"/>
              </a:rPr>
              <a:t>Important: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scanf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ignores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white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spaces.</a:t>
            </a:r>
            <a:endParaRPr sz="1100">
              <a:latin typeface="Arial"/>
              <a:cs typeface="Arial"/>
            </a:endParaRPr>
          </a:p>
          <a:p>
            <a:pPr marL="280035" marR="20955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1940" algn="l"/>
              </a:tabLst>
            </a:pPr>
            <a:r>
              <a:rPr sz="1100" b="1" dirty="0">
                <a:latin typeface="Arial"/>
                <a:cs typeface="Arial"/>
              </a:rPr>
              <a:t>Important: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Arguments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address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 	(pointers).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14122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Formatted</a:t>
            </a:r>
            <a:r>
              <a:rPr sz="1400" b="1" spc="14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993333"/>
                </a:solidFill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7332" y="770126"/>
            <a:ext cx="310896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6985">
              <a:lnSpc>
                <a:spcPct val="102600"/>
              </a:lnSpc>
              <a:spcBef>
                <a:spcPts val="55"/>
              </a:spcBef>
            </a:pPr>
            <a:r>
              <a:rPr sz="900" dirty="0">
                <a:solidFill>
                  <a:srgbClr val="0000FF"/>
                </a:solidFill>
              </a:rPr>
              <a:t>int</a:t>
            </a:r>
            <a:r>
              <a:rPr sz="900" spc="185" dirty="0">
                <a:solidFill>
                  <a:srgbClr val="0000FF"/>
                </a:solidFill>
              </a:rPr>
              <a:t> </a:t>
            </a:r>
            <a:r>
              <a:rPr sz="900" b="0" spc="-35" dirty="0">
                <a:solidFill>
                  <a:srgbClr val="000000"/>
                </a:solidFill>
                <a:latin typeface="Arial"/>
                <a:cs typeface="Arial"/>
              </a:rPr>
              <a:t>scanf(</a:t>
            </a:r>
            <a:r>
              <a:rPr sz="900" spc="-35" dirty="0">
                <a:solidFill>
                  <a:srgbClr val="0000FF"/>
                </a:solidFill>
              </a:rPr>
              <a:t>char</a:t>
            </a:r>
            <a:r>
              <a:rPr sz="900" b="0" spc="-35" dirty="0">
                <a:solidFill>
                  <a:srgbClr val="000000"/>
                </a:solidFill>
                <a:latin typeface="Lucida Sans Unicode"/>
                <a:cs typeface="Lucida Sans Unicode"/>
              </a:rPr>
              <a:t>∗</a:t>
            </a:r>
            <a:r>
              <a:rPr sz="900" b="0" spc="-40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900" b="0" spc="-10" dirty="0">
                <a:solidFill>
                  <a:srgbClr val="000000"/>
                </a:solidFill>
                <a:latin typeface="Arial"/>
                <a:cs typeface="Arial"/>
              </a:rPr>
              <a:t>format</a:t>
            </a:r>
            <a:r>
              <a:rPr sz="9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000000"/>
                </a:solidFill>
                <a:latin typeface="Arial"/>
                <a:cs typeface="Arial"/>
              </a:rPr>
              <a:t>,...)</a:t>
            </a:r>
            <a:r>
              <a:rPr sz="900" b="0" spc="2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sz="1100"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sz="1100" b="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"/>
                <a:cs typeface="Arial"/>
              </a:rPr>
              <a:t>input</a:t>
            </a:r>
            <a:r>
              <a:rPr sz="1100" b="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"/>
                <a:cs typeface="Arial"/>
              </a:rPr>
              <a:t>analog</a:t>
            </a:r>
            <a:r>
              <a:rPr sz="1100" b="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b="0" dirty="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sz="1100" b="0" spc="-10" dirty="0">
                <a:solidFill>
                  <a:srgbClr val="000000"/>
                </a:solidFill>
                <a:latin typeface="Arial"/>
                <a:cs typeface="Arial"/>
              </a:rPr>
              <a:t> printf. Examples: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466" y="1442662"/>
          <a:ext cx="3933190" cy="1071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6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6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"%d"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,x)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scanf(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"%d"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,&amp;x)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"%10d"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,x)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scanf(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"%d"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,&amp;x)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,f)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scanf(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,&amp;f)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"%s"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,str)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scanf(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"%s"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,str)</a:t>
                      </a:r>
                      <a:r>
                        <a:rPr sz="9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note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"%s"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,str)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scanf(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"%20s"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,str)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note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required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printf</a:t>
                      </a:r>
                      <a:r>
                        <a:rPr sz="9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"%s</a:t>
                      </a:r>
                      <a:r>
                        <a:rPr sz="9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%s"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,fname,lname)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scanf(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"%20s</a:t>
                      </a:r>
                      <a:r>
                        <a:rPr sz="9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%20s"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,fname,lname)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String</a:t>
            </a:r>
            <a:r>
              <a:rPr spc="85" dirty="0"/>
              <a:t> </a:t>
            </a:r>
            <a:r>
              <a:rPr spc="-10" dirty="0"/>
              <a:t>input/output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0160" marR="5080">
              <a:lnSpc>
                <a:spcPct val="102600"/>
              </a:lnSpc>
              <a:spcBef>
                <a:spcPts val="55"/>
              </a:spcBef>
            </a:pPr>
            <a:r>
              <a:rPr dirty="0"/>
              <a:t>Instead</a:t>
            </a:r>
            <a:r>
              <a:rPr spc="-4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writing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standard</a:t>
            </a:r>
            <a:r>
              <a:rPr spc="-45" dirty="0"/>
              <a:t> </a:t>
            </a:r>
            <a:r>
              <a:rPr dirty="0"/>
              <a:t>output,</a:t>
            </a:r>
            <a:r>
              <a:rPr spc="-3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formatted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25" dirty="0"/>
              <a:t>can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written</a:t>
            </a:r>
            <a:r>
              <a:rPr spc="-2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read</a:t>
            </a:r>
            <a:r>
              <a:rPr spc="-25" dirty="0"/>
              <a:t> </a:t>
            </a:r>
            <a:r>
              <a:rPr dirty="0"/>
              <a:t>from</a:t>
            </a:r>
            <a:r>
              <a:rPr spc="-30" dirty="0"/>
              <a:t> </a:t>
            </a:r>
            <a:r>
              <a:rPr dirty="0"/>
              <a:t>character</a:t>
            </a:r>
            <a:r>
              <a:rPr spc="-25" dirty="0"/>
              <a:t> </a:t>
            </a:r>
            <a:r>
              <a:rPr spc="-10" dirty="0"/>
              <a:t>arrays.</a:t>
            </a:r>
          </a:p>
          <a:p>
            <a:pPr marL="17145">
              <a:lnSpc>
                <a:spcPct val="100000"/>
              </a:lnSpc>
              <a:spcBef>
                <a:spcPts val="2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3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/>
              <a:t>sprintf</a:t>
            </a:r>
            <a:r>
              <a:rPr sz="900" spc="-15" dirty="0"/>
              <a:t> </a:t>
            </a:r>
            <a:r>
              <a:rPr sz="900" dirty="0"/>
              <a:t>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/>
              <a:t>string</a:t>
            </a:r>
            <a:r>
              <a:rPr sz="900" spc="30" dirty="0"/>
              <a:t> </a:t>
            </a:r>
            <a:r>
              <a:rPr sz="900" dirty="0"/>
              <a:t>[],</a:t>
            </a:r>
            <a:r>
              <a:rPr sz="900" spc="-20" dirty="0"/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/>
              <a:t>format</a:t>
            </a:r>
            <a:r>
              <a:rPr sz="900" spc="-140" dirty="0"/>
              <a:t> </a:t>
            </a:r>
            <a:r>
              <a:rPr sz="900" spc="-10" dirty="0"/>
              <a:t>[],</a:t>
            </a:r>
            <a:r>
              <a:rPr sz="900" spc="-135" dirty="0"/>
              <a:t> </a:t>
            </a:r>
            <a:r>
              <a:rPr sz="900" spc="-10" dirty="0"/>
              <a:t>arg1,arg2)</a:t>
            </a:r>
            <a:endParaRPr sz="900">
              <a:latin typeface="Arial"/>
              <a:cs typeface="Arial"/>
            </a:endParaRPr>
          </a:p>
          <a:p>
            <a:pPr marL="285115" indent="-130810">
              <a:lnSpc>
                <a:spcPct val="100000"/>
              </a:lnSpc>
              <a:spcBef>
                <a:spcPts val="375"/>
              </a:spcBef>
              <a:buSzPct val="90909"/>
              <a:buFont typeface="Arial"/>
              <a:buChar char="•"/>
              <a:tabLst>
                <a:tab pos="285750" algn="l"/>
              </a:tabLst>
            </a:pPr>
            <a:r>
              <a:rPr sz="1100" dirty="0"/>
              <a:t>The</a:t>
            </a:r>
            <a:r>
              <a:rPr sz="1100" spc="-35" dirty="0"/>
              <a:t> </a:t>
            </a:r>
            <a:r>
              <a:rPr sz="1100" dirty="0"/>
              <a:t>format</a:t>
            </a:r>
            <a:r>
              <a:rPr sz="1100" spc="-35" dirty="0"/>
              <a:t> </a:t>
            </a:r>
            <a:r>
              <a:rPr sz="1100" dirty="0"/>
              <a:t>specification</a:t>
            </a:r>
            <a:r>
              <a:rPr sz="1100" spc="-35" dirty="0"/>
              <a:t> </a:t>
            </a:r>
            <a:r>
              <a:rPr sz="1100" dirty="0"/>
              <a:t>is</a:t>
            </a:r>
            <a:r>
              <a:rPr sz="1100" spc="-35" dirty="0"/>
              <a:t> </a:t>
            </a:r>
            <a:r>
              <a:rPr sz="1100" dirty="0"/>
              <a:t>the</a:t>
            </a:r>
            <a:r>
              <a:rPr sz="1100" spc="-35" dirty="0"/>
              <a:t> </a:t>
            </a:r>
            <a:r>
              <a:rPr sz="1100" dirty="0"/>
              <a:t>same</a:t>
            </a:r>
            <a:r>
              <a:rPr sz="1100" spc="-30" dirty="0"/>
              <a:t> </a:t>
            </a:r>
            <a:r>
              <a:rPr sz="1100" dirty="0"/>
              <a:t>as</a:t>
            </a:r>
            <a:r>
              <a:rPr sz="1100" spc="-35" dirty="0"/>
              <a:t> </a:t>
            </a:r>
            <a:r>
              <a:rPr sz="1100" spc="-10" dirty="0"/>
              <a:t>printf.</a:t>
            </a:r>
            <a:endParaRPr sz="1100"/>
          </a:p>
          <a:p>
            <a:pPr marL="28511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5750" algn="l"/>
              </a:tabLst>
            </a:pPr>
            <a:r>
              <a:rPr sz="1100" dirty="0"/>
              <a:t>The</a:t>
            </a:r>
            <a:r>
              <a:rPr sz="1100" spc="-35" dirty="0"/>
              <a:t> </a:t>
            </a:r>
            <a:r>
              <a:rPr sz="1100" dirty="0"/>
              <a:t>output</a:t>
            </a:r>
            <a:r>
              <a:rPr sz="1100" spc="-30" dirty="0"/>
              <a:t> </a:t>
            </a:r>
            <a:r>
              <a:rPr sz="1100" dirty="0"/>
              <a:t>is</a:t>
            </a:r>
            <a:r>
              <a:rPr sz="1100" spc="-30" dirty="0"/>
              <a:t> </a:t>
            </a:r>
            <a:r>
              <a:rPr sz="1100" dirty="0"/>
              <a:t>written</a:t>
            </a:r>
            <a:r>
              <a:rPr sz="1100" spc="-30" dirty="0"/>
              <a:t> </a:t>
            </a:r>
            <a:r>
              <a:rPr sz="1100" dirty="0"/>
              <a:t>to</a:t>
            </a:r>
            <a:r>
              <a:rPr sz="1100" spc="-35" dirty="0"/>
              <a:t> </a:t>
            </a:r>
            <a:r>
              <a:rPr sz="1100" dirty="0"/>
              <a:t>string</a:t>
            </a:r>
            <a:r>
              <a:rPr sz="1100" spc="-30" dirty="0"/>
              <a:t> </a:t>
            </a:r>
            <a:r>
              <a:rPr sz="1100" dirty="0"/>
              <a:t>(does</a:t>
            </a:r>
            <a:r>
              <a:rPr sz="1100" spc="-30" dirty="0"/>
              <a:t> </a:t>
            </a:r>
            <a:r>
              <a:rPr sz="1100" dirty="0"/>
              <a:t>not</a:t>
            </a:r>
            <a:r>
              <a:rPr sz="1100" spc="-30" dirty="0"/>
              <a:t> </a:t>
            </a:r>
            <a:r>
              <a:rPr sz="1100" dirty="0"/>
              <a:t>check</a:t>
            </a:r>
            <a:r>
              <a:rPr sz="1100" spc="-30" dirty="0"/>
              <a:t> </a:t>
            </a:r>
            <a:r>
              <a:rPr sz="1100" spc="-10" dirty="0"/>
              <a:t>size).</a:t>
            </a:r>
            <a:endParaRPr sz="1100"/>
          </a:p>
          <a:p>
            <a:pPr marL="285115" marR="85090" indent="-130810">
              <a:lnSpc>
                <a:spcPct val="102699"/>
              </a:lnSpc>
              <a:spcBef>
                <a:spcPts val="29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/>
              <a:t>Returns</a:t>
            </a:r>
            <a:r>
              <a:rPr sz="1100" spc="-30" dirty="0"/>
              <a:t> </a:t>
            </a:r>
            <a:r>
              <a:rPr sz="1100" dirty="0"/>
              <a:t>the</a:t>
            </a:r>
            <a:r>
              <a:rPr sz="1100" spc="-25" dirty="0"/>
              <a:t> </a:t>
            </a:r>
            <a:r>
              <a:rPr sz="1100" dirty="0"/>
              <a:t>number</a:t>
            </a:r>
            <a:r>
              <a:rPr sz="1100" spc="-25" dirty="0"/>
              <a:t> </a:t>
            </a:r>
            <a:r>
              <a:rPr sz="1100" dirty="0"/>
              <a:t>of</a:t>
            </a:r>
            <a:r>
              <a:rPr sz="1100" spc="-25" dirty="0"/>
              <a:t> </a:t>
            </a:r>
            <a:r>
              <a:rPr sz="1100" dirty="0"/>
              <a:t>character</a:t>
            </a:r>
            <a:r>
              <a:rPr sz="1100" spc="-30" dirty="0"/>
              <a:t> </a:t>
            </a:r>
            <a:r>
              <a:rPr sz="1100" dirty="0"/>
              <a:t>written</a:t>
            </a:r>
            <a:r>
              <a:rPr sz="1100" spc="-25" dirty="0"/>
              <a:t> </a:t>
            </a:r>
            <a:r>
              <a:rPr sz="1100" dirty="0"/>
              <a:t>or</a:t>
            </a:r>
            <a:r>
              <a:rPr sz="1100" spc="-25" dirty="0"/>
              <a:t> </a:t>
            </a:r>
            <a:r>
              <a:rPr sz="1100" spc="-10" dirty="0"/>
              <a:t>negative</a:t>
            </a:r>
            <a:r>
              <a:rPr sz="1100" spc="-25" dirty="0"/>
              <a:t> </a:t>
            </a:r>
            <a:r>
              <a:rPr sz="1100" spc="-10" dirty="0"/>
              <a:t>value 	</a:t>
            </a:r>
            <a:r>
              <a:rPr sz="1100" dirty="0"/>
              <a:t>on</a:t>
            </a:r>
            <a:r>
              <a:rPr sz="1100" spc="-20" dirty="0"/>
              <a:t> </a:t>
            </a:r>
            <a:r>
              <a:rPr sz="1100" spc="-10" dirty="0"/>
              <a:t>error.</a:t>
            </a:r>
            <a:endParaRPr sz="1100"/>
          </a:p>
          <a:p>
            <a:pPr marL="17145">
              <a:lnSpc>
                <a:spcPct val="100000"/>
              </a:lnSpc>
              <a:spcBef>
                <a:spcPts val="5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/>
              <a:t>sscanf(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/>
              <a:t>str</a:t>
            </a:r>
            <a:r>
              <a:rPr sz="900" spc="-15" dirty="0"/>
              <a:t> </a:t>
            </a:r>
            <a:r>
              <a:rPr sz="900" dirty="0"/>
              <a:t>[],</a:t>
            </a:r>
            <a:r>
              <a:rPr sz="900" spc="-30" dirty="0"/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/>
              <a:t>format</a:t>
            </a:r>
            <a:r>
              <a:rPr sz="900" spc="-140" dirty="0"/>
              <a:t> </a:t>
            </a:r>
            <a:r>
              <a:rPr sz="900" spc="-10" dirty="0"/>
              <a:t>[],</a:t>
            </a:r>
            <a:r>
              <a:rPr sz="900" spc="-135" dirty="0"/>
              <a:t> </a:t>
            </a:r>
            <a:r>
              <a:rPr sz="900" spc="-10" dirty="0"/>
              <a:t>arg1,arg2)</a:t>
            </a:r>
            <a:endParaRPr sz="900">
              <a:latin typeface="Arial"/>
              <a:cs typeface="Arial"/>
            </a:endParaRPr>
          </a:p>
          <a:p>
            <a:pPr marL="285115" indent="-130810">
              <a:lnSpc>
                <a:spcPct val="100000"/>
              </a:lnSpc>
              <a:spcBef>
                <a:spcPts val="375"/>
              </a:spcBef>
              <a:buSzPct val="90909"/>
              <a:buFont typeface="Arial"/>
              <a:buChar char="•"/>
              <a:tabLst>
                <a:tab pos="285750" algn="l"/>
              </a:tabLst>
            </a:pPr>
            <a:r>
              <a:rPr sz="1100" dirty="0"/>
              <a:t>The</a:t>
            </a:r>
            <a:r>
              <a:rPr sz="1100" spc="-35" dirty="0"/>
              <a:t> </a:t>
            </a:r>
            <a:r>
              <a:rPr sz="1100" dirty="0"/>
              <a:t>format</a:t>
            </a:r>
            <a:r>
              <a:rPr sz="1100" spc="-35" dirty="0"/>
              <a:t> </a:t>
            </a:r>
            <a:r>
              <a:rPr sz="1100" dirty="0"/>
              <a:t>specification</a:t>
            </a:r>
            <a:r>
              <a:rPr sz="1100" spc="-35" dirty="0"/>
              <a:t> </a:t>
            </a:r>
            <a:r>
              <a:rPr sz="1100" dirty="0"/>
              <a:t>is</a:t>
            </a:r>
            <a:r>
              <a:rPr sz="1100" spc="-35" dirty="0"/>
              <a:t> </a:t>
            </a:r>
            <a:r>
              <a:rPr sz="1100" dirty="0"/>
              <a:t>the</a:t>
            </a:r>
            <a:r>
              <a:rPr sz="1100" spc="-35" dirty="0"/>
              <a:t> </a:t>
            </a:r>
            <a:r>
              <a:rPr sz="1100" dirty="0"/>
              <a:t>same</a:t>
            </a:r>
            <a:r>
              <a:rPr sz="1100" spc="-30" dirty="0"/>
              <a:t> </a:t>
            </a:r>
            <a:r>
              <a:rPr sz="1100" dirty="0"/>
              <a:t>as</a:t>
            </a:r>
            <a:r>
              <a:rPr sz="1100" spc="-35" dirty="0"/>
              <a:t> </a:t>
            </a:r>
            <a:r>
              <a:rPr sz="1100" spc="-10" dirty="0"/>
              <a:t>scanf;</a:t>
            </a:r>
            <a:endParaRPr sz="1100"/>
          </a:p>
          <a:p>
            <a:pPr marL="285115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85750" algn="l"/>
              </a:tabLst>
            </a:pPr>
            <a:r>
              <a:rPr sz="1100" dirty="0"/>
              <a:t>The</a:t>
            </a:r>
            <a:r>
              <a:rPr sz="1100" spc="-30" dirty="0"/>
              <a:t> </a:t>
            </a:r>
            <a:r>
              <a:rPr sz="1100" dirty="0"/>
              <a:t>input</a:t>
            </a:r>
            <a:r>
              <a:rPr sz="1100" spc="-25" dirty="0"/>
              <a:t> </a:t>
            </a:r>
            <a:r>
              <a:rPr sz="1100" dirty="0"/>
              <a:t>is</a:t>
            </a:r>
            <a:r>
              <a:rPr sz="1100" spc="-30" dirty="0"/>
              <a:t> </a:t>
            </a:r>
            <a:r>
              <a:rPr sz="1100" dirty="0"/>
              <a:t>read</a:t>
            </a:r>
            <a:r>
              <a:rPr sz="1100" spc="-25" dirty="0"/>
              <a:t> </a:t>
            </a:r>
            <a:r>
              <a:rPr sz="1100" dirty="0"/>
              <a:t>from</a:t>
            </a:r>
            <a:r>
              <a:rPr sz="1100" spc="-30" dirty="0"/>
              <a:t> </a:t>
            </a:r>
            <a:r>
              <a:rPr sz="1100" dirty="0"/>
              <a:t>str</a:t>
            </a:r>
            <a:r>
              <a:rPr sz="1100" spc="-25" dirty="0"/>
              <a:t> </a:t>
            </a:r>
            <a:r>
              <a:rPr sz="1100" spc="-10" dirty="0"/>
              <a:t>variable.</a:t>
            </a:r>
            <a:endParaRPr sz="1100"/>
          </a:p>
          <a:p>
            <a:pPr marL="285115" marR="27051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/>
              <a:t>Returns</a:t>
            </a:r>
            <a:r>
              <a:rPr sz="1100" spc="-25" dirty="0"/>
              <a:t> </a:t>
            </a:r>
            <a:r>
              <a:rPr sz="1100" dirty="0"/>
              <a:t>the</a:t>
            </a:r>
            <a:r>
              <a:rPr sz="1100" spc="-25" dirty="0"/>
              <a:t> </a:t>
            </a:r>
            <a:r>
              <a:rPr sz="1100" dirty="0"/>
              <a:t>number</a:t>
            </a:r>
            <a:r>
              <a:rPr sz="1100" spc="-25" dirty="0"/>
              <a:t> </a:t>
            </a:r>
            <a:r>
              <a:rPr sz="1100" dirty="0"/>
              <a:t>of</a:t>
            </a:r>
            <a:r>
              <a:rPr sz="1100" spc="-20" dirty="0"/>
              <a:t> </a:t>
            </a:r>
            <a:r>
              <a:rPr sz="1100" dirty="0"/>
              <a:t>items</a:t>
            </a:r>
            <a:r>
              <a:rPr sz="1100" spc="-25" dirty="0"/>
              <a:t> </a:t>
            </a:r>
            <a:r>
              <a:rPr sz="1100" dirty="0"/>
              <a:t>read</a:t>
            </a:r>
            <a:r>
              <a:rPr sz="1100" spc="-25" dirty="0"/>
              <a:t> </a:t>
            </a:r>
            <a:r>
              <a:rPr sz="1100" dirty="0"/>
              <a:t>or</a:t>
            </a:r>
            <a:r>
              <a:rPr sz="1100" spc="-20" dirty="0"/>
              <a:t> </a:t>
            </a:r>
            <a:r>
              <a:rPr sz="1100" spc="-10" dirty="0"/>
              <a:t>negative</a:t>
            </a:r>
            <a:r>
              <a:rPr sz="1100" spc="-25" dirty="0"/>
              <a:t> </a:t>
            </a:r>
            <a:r>
              <a:rPr sz="1100" spc="-10" dirty="0"/>
              <a:t>value</a:t>
            </a:r>
            <a:r>
              <a:rPr sz="1100" spc="-25" dirty="0"/>
              <a:t> on 	</a:t>
            </a:r>
            <a:r>
              <a:rPr sz="1100" spc="-10" dirty="0"/>
              <a:t>error.</a:t>
            </a:r>
            <a:endParaRPr sz="11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File</a:t>
            </a:r>
            <a:r>
              <a:rPr spc="50" dirty="0"/>
              <a:t> </a:t>
            </a:r>
            <a:r>
              <a:rPr spc="-25" dirty="0"/>
              <a:t>I/O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68679"/>
            <a:ext cx="3871595" cy="24466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4765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So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far,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written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output.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allows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text/binary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files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fopen()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235"/>
              </a:spcBef>
            </a:pPr>
            <a:r>
              <a:rPr sz="900" spc="-65" dirty="0">
                <a:latin typeface="Arial"/>
                <a:cs typeface="Arial"/>
              </a:rPr>
              <a:t>FILE</a:t>
            </a:r>
            <a:r>
              <a:rPr sz="900" spc="-65" dirty="0">
                <a:latin typeface="Lucida Sans Unicode"/>
                <a:cs typeface="Lucida Sans Unicode"/>
              </a:rPr>
              <a:t>∗</a:t>
            </a:r>
            <a:r>
              <a:rPr sz="900" spc="-5" dirty="0">
                <a:latin typeface="Lucida Sans Unicode"/>
                <a:cs typeface="Lucida Sans Unicode"/>
              </a:rPr>
              <a:t> </a:t>
            </a:r>
            <a:r>
              <a:rPr sz="900" spc="-10" dirty="0">
                <a:latin typeface="Arial"/>
                <a:cs typeface="Arial"/>
              </a:rPr>
              <a:t>fopen(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name[],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mode[])</a:t>
            </a:r>
            <a:endParaRPr sz="900">
              <a:latin typeface="Arial"/>
              <a:cs typeface="Arial"/>
            </a:endParaRPr>
          </a:p>
          <a:p>
            <a:pPr marL="287655" marR="5080" indent="-130810">
              <a:lnSpc>
                <a:spcPct val="102600"/>
              </a:lnSpc>
              <a:spcBef>
                <a:spcPts val="34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mode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"r"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(read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only),"w"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(write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only),"a"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(append) 	</a:t>
            </a:r>
            <a:r>
              <a:rPr sz="1100" dirty="0">
                <a:latin typeface="Arial"/>
                <a:cs typeface="Arial"/>
              </a:rPr>
              <a:t>among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other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options.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"b"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appended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binary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files.</a:t>
            </a:r>
            <a:endParaRPr sz="1100">
              <a:latin typeface="Arial"/>
              <a:cs typeface="Arial"/>
            </a:endParaRPr>
          </a:p>
          <a:p>
            <a:pPr marL="287655" marR="30607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fopen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returns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pointer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stream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exists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or 	</a:t>
            </a:r>
            <a:r>
              <a:rPr sz="1100" dirty="0">
                <a:latin typeface="Arial"/>
                <a:cs typeface="Arial"/>
              </a:rPr>
              <a:t>NULL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otherwise.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We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don’t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need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know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details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type.</a:t>
            </a:r>
            <a:endParaRPr sz="1100">
              <a:latin typeface="Arial"/>
              <a:cs typeface="Arial"/>
            </a:endParaRPr>
          </a:p>
          <a:p>
            <a:pPr marL="287655" marR="73660" indent="-130810">
              <a:lnSpc>
                <a:spcPct val="102600"/>
              </a:lnSpc>
              <a:spcBef>
                <a:spcPts val="295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b="1" dirty="0">
                <a:latin typeface="Arial"/>
                <a:cs typeface="Arial"/>
              </a:rPr>
              <a:t>Important: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output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also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FILE* 	</a:t>
            </a:r>
            <a:r>
              <a:rPr sz="1100" dirty="0">
                <a:latin typeface="Arial"/>
                <a:cs typeface="Arial"/>
              </a:rPr>
              <a:t>datatypes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(stdin,stdout).</a:t>
            </a:r>
            <a:endParaRPr sz="1100">
              <a:latin typeface="Arial"/>
              <a:cs typeface="Arial"/>
            </a:endParaRPr>
          </a:p>
          <a:p>
            <a:pPr marL="287655" marR="62103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b="1" dirty="0">
                <a:latin typeface="Arial"/>
                <a:cs typeface="Arial"/>
              </a:rPr>
              <a:t>Important: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stderr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corresponds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error 	output(different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stdout).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22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File</a:t>
            </a:r>
            <a:r>
              <a:rPr spc="50" dirty="0"/>
              <a:t> </a:t>
            </a:r>
            <a:r>
              <a:rPr spc="-10" dirty="0"/>
              <a:t>I/O(cont.)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584" y="927849"/>
            <a:ext cx="3506470" cy="7994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fclose(FILE</a:t>
            </a:r>
            <a:r>
              <a:rPr sz="900" spc="-20" dirty="0">
                <a:latin typeface="Lucida Sans Unicode"/>
                <a:cs typeface="Lucida Sans Unicode"/>
              </a:rPr>
              <a:t>∗ </a:t>
            </a:r>
            <a:r>
              <a:rPr sz="900" spc="-25" dirty="0">
                <a:latin typeface="Arial"/>
                <a:cs typeface="Arial"/>
              </a:rPr>
              <a:t>fp)</a:t>
            </a:r>
            <a:endParaRPr sz="900">
              <a:latin typeface="Arial"/>
              <a:cs typeface="Arial"/>
            </a:endParaRPr>
          </a:p>
          <a:p>
            <a:pPr marL="280670" indent="-130810">
              <a:lnSpc>
                <a:spcPct val="100000"/>
              </a:lnSpc>
              <a:spcBef>
                <a:spcPts val="375"/>
              </a:spcBef>
              <a:buSzPct val="90909"/>
              <a:buFont typeface="Arial"/>
              <a:buChar char="•"/>
              <a:tabLst>
                <a:tab pos="280670" algn="l"/>
              </a:tabLst>
            </a:pPr>
            <a:r>
              <a:rPr sz="1100" dirty="0">
                <a:latin typeface="Arial"/>
                <a:cs typeface="Arial"/>
              </a:rPr>
              <a:t>closes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stream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(releases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resources).</a:t>
            </a:r>
            <a:endParaRPr sz="1100">
              <a:latin typeface="Arial"/>
              <a:cs typeface="Arial"/>
            </a:endParaRPr>
          </a:p>
          <a:p>
            <a:pPr marL="280035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1940" algn="l"/>
              </a:tabLst>
            </a:pPr>
            <a:r>
              <a:rPr sz="1100" dirty="0">
                <a:latin typeface="Arial"/>
                <a:cs typeface="Arial"/>
              </a:rPr>
              <a:t>fclose()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automatically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files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when 	</a:t>
            </a:r>
            <a:r>
              <a:rPr sz="1100" dirty="0">
                <a:latin typeface="Arial"/>
                <a:cs typeface="Arial"/>
              </a:rPr>
              <a:t>program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terminates.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File</a:t>
            </a:r>
            <a:r>
              <a:rPr spc="50" dirty="0"/>
              <a:t> </a:t>
            </a:r>
            <a:r>
              <a:rPr spc="-20" dirty="0"/>
              <a:t>input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86119"/>
            <a:ext cx="3874135" cy="279527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65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getc(FILE</a:t>
            </a:r>
            <a:r>
              <a:rPr sz="900" spc="-30" dirty="0">
                <a:latin typeface="Lucida Sans Unicode"/>
                <a:cs typeface="Lucida Sans Unicode"/>
              </a:rPr>
              <a:t>∗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fp)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67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reads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stream.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returns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error/end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file.</a:t>
            </a:r>
            <a:endParaRPr sz="1100">
              <a:latin typeface="Arial"/>
              <a:cs typeface="Arial"/>
            </a:endParaRPr>
          </a:p>
          <a:p>
            <a:pPr marL="12700" marR="517525">
              <a:lnSpc>
                <a:spcPct val="102600"/>
              </a:lnSpc>
              <a:spcBef>
                <a:spcPts val="600"/>
              </a:spcBef>
            </a:pPr>
            <a:r>
              <a:rPr sz="1100" dirty="0">
                <a:latin typeface="Arial"/>
                <a:cs typeface="Arial"/>
              </a:rPr>
              <a:t>Note: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getchar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read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character.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implement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#define</a:t>
            </a:r>
            <a:r>
              <a:rPr sz="900" b="1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getchar()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getc(stdin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dirty="0">
                <a:latin typeface="Arial"/>
                <a:cs typeface="Arial"/>
              </a:rPr>
              <a:t>[]</a:t>
            </a:r>
            <a:r>
              <a:rPr sz="900" spc="2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fgets(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line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[],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2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maxlen,FILE</a:t>
            </a:r>
            <a:r>
              <a:rPr sz="900" spc="-30" dirty="0">
                <a:latin typeface="Lucida Sans Unicode"/>
                <a:cs typeface="Lucida Sans Unicode"/>
              </a:rPr>
              <a:t>∗ </a:t>
            </a:r>
            <a:r>
              <a:rPr sz="900" spc="-25" dirty="0">
                <a:latin typeface="Arial"/>
                <a:cs typeface="Arial"/>
              </a:rPr>
              <a:t>fp)</a:t>
            </a:r>
            <a:endParaRPr sz="900">
              <a:latin typeface="Arial"/>
              <a:cs typeface="Arial"/>
            </a:endParaRPr>
          </a:p>
          <a:p>
            <a:pPr marL="287655" marR="5080" indent="-130810">
              <a:lnSpc>
                <a:spcPct val="102600"/>
              </a:lnSpc>
              <a:spcBef>
                <a:spcPts val="34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reads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(upto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maxlen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characters)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input 	</a:t>
            </a:r>
            <a:r>
              <a:rPr sz="1100" dirty="0">
                <a:latin typeface="Arial"/>
                <a:cs typeface="Arial"/>
              </a:rPr>
              <a:t>stream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(including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linebreak).</a:t>
            </a:r>
            <a:endParaRPr sz="1100">
              <a:latin typeface="Arial"/>
              <a:cs typeface="Arial"/>
            </a:endParaRPr>
          </a:p>
          <a:p>
            <a:pPr marL="287655" marR="45085" indent="-130810">
              <a:lnSpc>
                <a:spcPct val="102699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returns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array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line 	</a:t>
            </a:r>
            <a:r>
              <a:rPr sz="1100" spc="-10" dirty="0">
                <a:latin typeface="Arial"/>
                <a:cs typeface="Arial"/>
              </a:rPr>
              <a:t>(read-only)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return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NULL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stream.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24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File</a:t>
            </a:r>
            <a:r>
              <a:rPr spc="50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76415"/>
            <a:ext cx="3463925" cy="280162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409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2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putc(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c,FILE</a:t>
            </a:r>
            <a:r>
              <a:rPr sz="900" spc="-30" dirty="0">
                <a:latin typeface="Lucida Sans Unicode"/>
                <a:cs typeface="Lucida Sans Unicode"/>
              </a:rPr>
              <a:t>∗</a:t>
            </a:r>
            <a:r>
              <a:rPr sz="900" spc="-2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fp)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7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writes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output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stream.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returns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written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error.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295"/>
              </a:spcBef>
            </a:pPr>
            <a:r>
              <a:rPr sz="1100" dirty="0">
                <a:latin typeface="Arial"/>
                <a:cs typeface="Arial"/>
              </a:rPr>
              <a:t>Note: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putchar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simply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standard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output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write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character.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implement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follows: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#define</a:t>
            </a:r>
            <a:r>
              <a:rPr sz="9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putchar(c)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putc(c,stdout)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0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fputs(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line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[],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65" dirty="0">
                <a:latin typeface="Arial"/>
                <a:cs typeface="Arial"/>
              </a:rPr>
              <a:t>FILE</a:t>
            </a:r>
            <a:r>
              <a:rPr sz="900" spc="-65" dirty="0">
                <a:latin typeface="Lucida Sans Unicode"/>
                <a:cs typeface="Lucida Sans Unicode"/>
              </a:rPr>
              <a:t>∗</a:t>
            </a:r>
            <a:r>
              <a:rPr sz="900" spc="-2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fp)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7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writes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single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line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output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stream.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returns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zero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success,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otherwise.</a:t>
            </a:r>
            <a:endParaRPr sz="110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535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5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fscanf(FILE</a:t>
            </a:r>
            <a:r>
              <a:rPr sz="900" spc="-20" dirty="0">
                <a:latin typeface="Lucida Sans Unicode"/>
                <a:cs typeface="Lucida Sans Unicode"/>
              </a:rPr>
              <a:t>∗</a:t>
            </a:r>
            <a:r>
              <a:rPr sz="900" spc="-25" dirty="0">
                <a:latin typeface="Lucida Sans Unicode"/>
                <a:cs typeface="Lucida Sans Unicode"/>
              </a:rPr>
              <a:t> </a:t>
            </a:r>
            <a:r>
              <a:rPr sz="900" dirty="0">
                <a:latin typeface="Arial"/>
                <a:cs typeface="Arial"/>
              </a:rPr>
              <a:t>fp,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format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[],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arg1,arg2)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670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similar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scanf,sscanf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reads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items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input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stream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fp.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25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Command</a:t>
            </a:r>
            <a:r>
              <a:rPr spc="95" dirty="0"/>
              <a:t> </a:t>
            </a:r>
            <a:r>
              <a:rPr dirty="0"/>
              <a:t>line</a:t>
            </a:r>
            <a:r>
              <a:rPr spc="95" dirty="0"/>
              <a:t> </a:t>
            </a:r>
            <a:r>
              <a:rPr spc="-20" dirty="0"/>
              <a:t>input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5470" rIns="0" bIns="0" rtlCol="0">
            <a:spAutoFit/>
          </a:bodyPr>
          <a:lstStyle/>
          <a:p>
            <a:pPr marL="285115" marR="5080" indent="-130810">
              <a:lnSpc>
                <a:spcPct val="102600"/>
              </a:lnSpc>
              <a:spcBef>
                <a:spcPts val="55"/>
              </a:spcBef>
              <a:buSzPct val="90909"/>
              <a:buFont typeface="Arial"/>
              <a:buChar char="•"/>
              <a:tabLst>
                <a:tab pos="287020" algn="l"/>
              </a:tabLst>
            </a:pPr>
            <a:r>
              <a:rPr sz="1100" dirty="0"/>
              <a:t>In</a:t>
            </a:r>
            <a:r>
              <a:rPr sz="1100" spc="-40" dirty="0"/>
              <a:t> </a:t>
            </a:r>
            <a:r>
              <a:rPr sz="1100" spc="-10" dirty="0"/>
              <a:t>addition</a:t>
            </a:r>
            <a:r>
              <a:rPr sz="1100" spc="-35" dirty="0"/>
              <a:t> </a:t>
            </a:r>
            <a:r>
              <a:rPr sz="1100" dirty="0"/>
              <a:t>to</a:t>
            </a:r>
            <a:r>
              <a:rPr sz="1100" spc="-40" dirty="0"/>
              <a:t> </a:t>
            </a:r>
            <a:r>
              <a:rPr sz="1100" dirty="0"/>
              <a:t>taking</a:t>
            </a:r>
            <a:r>
              <a:rPr sz="1100" spc="-35" dirty="0"/>
              <a:t> </a:t>
            </a:r>
            <a:r>
              <a:rPr sz="1100" dirty="0"/>
              <a:t>input</a:t>
            </a:r>
            <a:r>
              <a:rPr sz="1100" spc="-35" dirty="0"/>
              <a:t> </a:t>
            </a:r>
            <a:r>
              <a:rPr sz="1100" dirty="0"/>
              <a:t>from</a:t>
            </a:r>
            <a:r>
              <a:rPr sz="1100" spc="-40" dirty="0"/>
              <a:t> </a:t>
            </a:r>
            <a:r>
              <a:rPr sz="1100" dirty="0"/>
              <a:t>standard</a:t>
            </a:r>
            <a:r>
              <a:rPr sz="1100" spc="-35" dirty="0"/>
              <a:t> </a:t>
            </a:r>
            <a:r>
              <a:rPr sz="1100" dirty="0"/>
              <a:t>input</a:t>
            </a:r>
            <a:r>
              <a:rPr sz="1100" spc="-35" dirty="0"/>
              <a:t> </a:t>
            </a:r>
            <a:r>
              <a:rPr sz="1100" dirty="0"/>
              <a:t>and</a:t>
            </a:r>
            <a:r>
              <a:rPr sz="1100" spc="-40" dirty="0"/>
              <a:t> </a:t>
            </a:r>
            <a:r>
              <a:rPr sz="1100" dirty="0"/>
              <a:t>files,</a:t>
            </a:r>
            <a:r>
              <a:rPr sz="1100" spc="-30" dirty="0"/>
              <a:t> </a:t>
            </a:r>
            <a:r>
              <a:rPr sz="1100" spc="-25" dirty="0"/>
              <a:t>you 	</a:t>
            </a:r>
            <a:r>
              <a:rPr sz="1100" dirty="0"/>
              <a:t>can</a:t>
            </a:r>
            <a:r>
              <a:rPr sz="1100" spc="-40" dirty="0"/>
              <a:t> </a:t>
            </a:r>
            <a:r>
              <a:rPr sz="1100" dirty="0"/>
              <a:t>also</a:t>
            </a:r>
            <a:r>
              <a:rPr sz="1100" spc="-35" dirty="0"/>
              <a:t> </a:t>
            </a:r>
            <a:r>
              <a:rPr sz="1100" dirty="0"/>
              <a:t>pass</a:t>
            </a:r>
            <a:r>
              <a:rPr sz="1100" spc="-35" dirty="0"/>
              <a:t> </a:t>
            </a:r>
            <a:r>
              <a:rPr sz="1100" dirty="0"/>
              <a:t>input</a:t>
            </a:r>
            <a:r>
              <a:rPr sz="1100" spc="-40" dirty="0"/>
              <a:t> </a:t>
            </a:r>
            <a:r>
              <a:rPr sz="1100" dirty="0"/>
              <a:t>while</a:t>
            </a:r>
            <a:r>
              <a:rPr sz="1100" spc="-35" dirty="0"/>
              <a:t> </a:t>
            </a:r>
            <a:r>
              <a:rPr sz="1100" spc="-10" dirty="0"/>
              <a:t>invoking</a:t>
            </a:r>
            <a:r>
              <a:rPr sz="1100" spc="-35" dirty="0"/>
              <a:t> </a:t>
            </a:r>
            <a:r>
              <a:rPr sz="1100" dirty="0"/>
              <a:t>the</a:t>
            </a:r>
            <a:r>
              <a:rPr sz="1100" spc="-40" dirty="0"/>
              <a:t> </a:t>
            </a:r>
            <a:r>
              <a:rPr sz="1100" spc="-10" dirty="0"/>
              <a:t>program.</a:t>
            </a:r>
            <a:endParaRPr sz="1100"/>
          </a:p>
          <a:p>
            <a:pPr marL="285115" marR="459740" indent="-130810">
              <a:lnSpc>
                <a:spcPct val="102600"/>
              </a:lnSpc>
              <a:spcBef>
                <a:spcPts val="300"/>
              </a:spcBef>
              <a:buSzPct val="90909"/>
              <a:buChar char="•"/>
              <a:tabLst>
                <a:tab pos="287020" algn="l"/>
              </a:tabLst>
            </a:pPr>
            <a:r>
              <a:rPr sz="1100" i="1" dirty="0">
                <a:latin typeface="Arial"/>
                <a:cs typeface="Arial"/>
              </a:rPr>
              <a:t>Command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line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parameters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/>
              <a:t>are</a:t>
            </a:r>
            <a:r>
              <a:rPr sz="1100" spc="-30" dirty="0"/>
              <a:t> </a:t>
            </a:r>
            <a:r>
              <a:rPr sz="1100" dirty="0"/>
              <a:t>very</a:t>
            </a:r>
            <a:r>
              <a:rPr sz="1100" spc="-25" dirty="0"/>
              <a:t> </a:t>
            </a:r>
            <a:r>
              <a:rPr sz="1100" dirty="0"/>
              <a:t>common</a:t>
            </a:r>
            <a:r>
              <a:rPr sz="1100" spc="-30" dirty="0"/>
              <a:t> </a:t>
            </a:r>
            <a:r>
              <a:rPr sz="1100" dirty="0"/>
              <a:t>in</a:t>
            </a:r>
            <a:r>
              <a:rPr sz="1100" spc="-25" dirty="0"/>
              <a:t> </a:t>
            </a:r>
            <a:r>
              <a:rPr sz="1100" spc="-20" dirty="0"/>
              <a:t>*nix 	</a:t>
            </a:r>
            <a:r>
              <a:rPr sz="1100" spc="-10" dirty="0"/>
              <a:t>environment.</a:t>
            </a:r>
            <a:endParaRPr sz="1100">
              <a:latin typeface="Arial"/>
              <a:cs typeface="Arial"/>
            </a:endParaRPr>
          </a:p>
          <a:p>
            <a:pPr marL="285115" marR="9271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7020" algn="l"/>
              </a:tabLst>
            </a:pPr>
            <a:r>
              <a:rPr sz="1100" dirty="0"/>
              <a:t>So</a:t>
            </a:r>
            <a:r>
              <a:rPr sz="1100" spc="-30" dirty="0"/>
              <a:t> </a:t>
            </a:r>
            <a:r>
              <a:rPr sz="1100" spc="-10" dirty="0"/>
              <a:t>far,</a:t>
            </a:r>
            <a:r>
              <a:rPr sz="1100" spc="-25" dirty="0"/>
              <a:t> </a:t>
            </a:r>
            <a:r>
              <a:rPr sz="1100" dirty="0"/>
              <a:t>we</a:t>
            </a:r>
            <a:r>
              <a:rPr sz="1100" spc="-25" dirty="0"/>
              <a:t> </a:t>
            </a:r>
            <a:r>
              <a:rPr sz="1100" spc="-10" dirty="0"/>
              <a:t>have</a:t>
            </a:r>
            <a:r>
              <a:rPr sz="1100" spc="-30" dirty="0"/>
              <a:t> </a:t>
            </a:r>
            <a:r>
              <a:rPr sz="1100" dirty="0"/>
              <a:t>used</a:t>
            </a:r>
            <a:r>
              <a:rPr sz="1100" spc="25" dirty="0"/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/>
              <a:t>main()</a:t>
            </a:r>
            <a:r>
              <a:rPr sz="900" spc="30" dirty="0"/>
              <a:t> </a:t>
            </a:r>
            <a:r>
              <a:rPr sz="1100" dirty="0"/>
              <a:t>as</a:t>
            </a:r>
            <a:r>
              <a:rPr sz="1100" spc="-25" dirty="0"/>
              <a:t> </a:t>
            </a:r>
            <a:r>
              <a:rPr sz="1100" dirty="0"/>
              <a:t>to</a:t>
            </a:r>
            <a:r>
              <a:rPr sz="1100" spc="-30" dirty="0"/>
              <a:t> </a:t>
            </a:r>
            <a:r>
              <a:rPr sz="1100" spc="-20" dirty="0"/>
              <a:t>invoke</a:t>
            </a:r>
            <a:r>
              <a:rPr sz="1100" spc="-25" dirty="0"/>
              <a:t> </a:t>
            </a:r>
            <a:r>
              <a:rPr sz="1100" dirty="0"/>
              <a:t>the</a:t>
            </a:r>
            <a:r>
              <a:rPr sz="1100" spc="-25" dirty="0"/>
              <a:t> </a:t>
            </a:r>
            <a:r>
              <a:rPr sz="1100" spc="-20" dirty="0"/>
              <a:t>main 	</a:t>
            </a:r>
            <a:r>
              <a:rPr sz="1100" dirty="0"/>
              <a:t>function.</a:t>
            </a:r>
            <a:r>
              <a:rPr sz="1100" spc="20" dirty="0"/>
              <a:t> </a:t>
            </a:r>
            <a:r>
              <a:rPr sz="1100" spc="-25" dirty="0"/>
              <a:t>However,</a:t>
            </a:r>
            <a:r>
              <a:rPr sz="1100" spc="-35" dirty="0"/>
              <a:t> </a:t>
            </a:r>
            <a:r>
              <a:rPr sz="1100" dirty="0"/>
              <a:t>main</a:t>
            </a:r>
            <a:r>
              <a:rPr sz="1100" spc="-40" dirty="0"/>
              <a:t> </a:t>
            </a:r>
            <a:r>
              <a:rPr sz="1100" dirty="0"/>
              <a:t>function</a:t>
            </a:r>
            <a:r>
              <a:rPr sz="1100" spc="-35" dirty="0"/>
              <a:t> </a:t>
            </a:r>
            <a:r>
              <a:rPr sz="1100" dirty="0"/>
              <a:t>can</a:t>
            </a:r>
            <a:r>
              <a:rPr sz="1100" spc="-40" dirty="0"/>
              <a:t> </a:t>
            </a:r>
            <a:r>
              <a:rPr sz="1100" dirty="0"/>
              <a:t>take</a:t>
            </a:r>
            <a:r>
              <a:rPr sz="1100" spc="-35" dirty="0"/>
              <a:t> </a:t>
            </a:r>
            <a:r>
              <a:rPr sz="1100" dirty="0"/>
              <a:t>arguments</a:t>
            </a:r>
            <a:r>
              <a:rPr sz="1100" spc="-40" dirty="0"/>
              <a:t> </a:t>
            </a:r>
            <a:r>
              <a:rPr sz="1100" spc="-20" dirty="0"/>
              <a:t>that 	</a:t>
            </a:r>
            <a:r>
              <a:rPr sz="1100" dirty="0"/>
              <a:t>are</a:t>
            </a:r>
            <a:r>
              <a:rPr sz="1100" spc="-45" dirty="0"/>
              <a:t> </a:t>
            </a:r>
            <a:r>
              <a:rPr sz="1100" dirty="0"/>
              <a:t>populated</a:t>
            </a:r>
            <a:r>
              <a:rPr sz="1100" spc="-40" dirty="0"/>
              <a:t> </a:t>
            </a:r>
            <a:r>
              <a:rPr sz="1100" dirty="0"/>
              <a:t>when</a:t>
            </a:r>
            <a:r>
              <a:rPr sz="1100" spc="-40" dirty="0"/>
              <a:t> </a:t>
            </a:r>
            <a:r>
              <a:rPr sz="1100" dirty="0"/>
              <a:t>the</a:t>
            </a:r>
            <a:r>
              <a:rPr sz="1100" spc="-40" dirty="0"/>
              <a:t> </a:t>
            </a:r>
            <a:r>
              <a:rPr sz="1100" dirty="0"/>
              <a:t>program</a:t>
            </a:r>
            <a:r>
              <a:rPr sz="1100" spc="-40" dirty="0"/>
              <a:t> </a:t>
            </a:r>
            <a:r>
              <a:rPr sz="1100" dirty="0"/>
              <a:t>is</a:t>
            </a:r>
            <a:r>
              <a:rPr sz="1100" spc="-45" dirty="0"/>
              <a:t> </a:t>
            </a:r>
            <a:r>
              <a:rPr sz="1100" spc="-10" dirty="0"/>
              <a:t>invoked.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Command</a:t>
            </a:r>
            <a:r>
              <a:rPr spc="100" dirty="0"/>
              <a:t> </a:t>
            </a:r>
            <a:r>
              <a:rPr dirty="0"/>
              <a:t>line</a:t>
            </a:r>
            <a:r>
              <a:rPr spc="100" dirty="0"/>
              <a:t> </a:t>
            </a:r>
            <a:r>
              <a:rPr dirty="0"/>
              <a:t>input</a:t>
            </a:r>
            <a:r>
              <a:rPr spc="10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304" y="786968"/>
            <a:ext cx="3759200" cy="181165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409"/>
              </a:spcBef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main(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argc,</a:t>
            </a:r>
            <a:r>
              <a:rPr sz="900" b="1" spc="-35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spc="-35" dirty="0">
                <a:latin typeface="Lucida Sans Unicode"/>
                <a:cs typeface="Lucida Sans Unicode"/>
              </a:rPr>
              <a:t>∗ </a:t>
            </a:r>
            <a:r>
              <a:rPr sz="900" spc="-10" dirty="0">
                <a:latin typeface="Arial"/>
                <a:cs typeface="Arial"/>
              </a:rPr>
              <a:t>argv[])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7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argc: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count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arguments.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argv[]: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array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pointers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arguments</a:t>
            </a:r>
            <a:endParaRPr sz="1100">
              <a:latin typeface="Arial"/>
              <a:cs typeface="Arial"/>
            </a:endParaRPr>
          </a:p>
          <a:p>
            <a:pPr marL="287655" marR="5080" indent="-130810">
              <a:lnSpc>
                <a:spcPct val="102600"/>
              </a:lnSpc>
              <a:spcBef>
                <a:spcPts val="295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note: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arguments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include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program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as 	</a:t>
            </a:r>
            <a:r>
              <a:rPr sz="1100" spc="-20" dirty="0">
                <a:latin typeface="Arial"/>
                <a:cs typeface="Arial"/>
              </a:rPr>
              <a:t>well.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Arial"/>
                <a:cs typeface="Arial"/>
              </a:rPr>
              <a:t>Examples:</a:t>
            </a:r>
            <a:endParaRPr sz="1100">
              <a:latin typeface="Arial"/>
              <a:cs typeface="Arial"/>
            </a:endParaRPr>
          </a:p>
          <a:p>
            <a:pPr marL="287655" marR="362585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./cat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a.txt b.txt </a:t>
            </a:r>
            <a:r>
              <a:rPr sz="1100" spc="-10" dirty="0">
                <a:latin typeface="Arial"/>
                <a:cs typeface="Arial"/>
              </a:rPr>
              <a:t>(argc=3,argv[0]="cat"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argv[1]="a.txt" 	argv[2]="b.txt"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./cat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(argc=1,argv[0]="cat")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2608</Words>
  <Application>Microsoft Office PowerPoint</Application>
  <PresentationFormat>Custom</PresentationFormat>
  <Paragraphs>367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Courier New</vt:lpstr>
      <vt:lpstr>Lucida Sans Unicode</vt:lpstr>
      <vt:lpstr>Times New Roman</vt:lpstr>
      <vt:lpstr>Office Theme</vt:lpstr>
      <vt:lpstr>PowerPoint Presentation</vt:lpstr>
      <vt:lpstr>Blocks</vt:lpstr>
      <vt:lpstr>Conditional blocks</vt:lpstr>
      <vt:lpstr>Conditional blocks</vt:lpstr>
      <vt:lpstr>Iterative blocks</vt:lpstr>
      <vt:lpstr>PowerPoint Presentation</vt:lpstr>
      <vt:lpstr>goto</vt:lpstr>
      <vt:lpstr>Spaghetti code</vt:lpstr>
      <vt:lpstr>error handling</vt:lpstr>
      <vt:lpstr>PowerPoint Presentation</vt:lpstr>
      <vt:lpstr>Preliminaries</vt:lpstr>
      <vt:lpstr>Standard input and output</vt:lpstr>
      <vt:lpstr>Standard input and output</vt:lpstr>
      <vt:lpstr>Standard output:formatted</vt:lpstr>
      <vt:lpstr>printf format specification</vt:lpstr>
      <vt:lpstr>printf format specification (cont.)</vt:lpstr>
      <vt:lpstr>PowerPoint Presentation</vt:lpstr>
      <vt:lpstr>printf format specification (cont.)</vt:lpstr>
      <vt:lpstr>printf format specification (cont.)</vt:lpstr>
      <vt:lpstr>Digression: character arrays</vt:lpstr>
      <vt:lpstr>Digression: character arrays</vt:lpstr>
      <vt:lpstr>Formatted input</vt:lpstr>
      <vt:lpstr>int scanf(char∗ format ,...) is the input analog of printf. Examples:</vt:lpstr>
      <vt:lpstr>String input/output</vt:lpstr>
      <vt:lpstr>File I/O</vt:lpstr>
      <vt:lpstr>File I/O(cont.)</vt:lpstr>
      <vt:lpstr>File input</vt:lpstr>
      <vt:lpstr>File output</vt:lpstr>
      <vt:lpstr>Command line input</vt:lpstr>
      <vt:lpstr>Command line input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6.087 Practical Programming in C, Lecture 4</dc:title>
  <dc:creator>Sharat Chikkerur</dc:creator>
  <cp:lastModifiedBy>Sean Kouma</cp:lastModifiedBy>
  <cp:revision>3</cp:revision>
  <dcterms:created xsi:type="dcterms:W3CDTF">2026-10-19T11:26:17Z</dcterms:created>
  <dcterms:modified xsi:type="dcterms:W3CDTF">2026-10-19T11:28:34Z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2010-04-03T00:00:00Z</vt:filetime>
  </property>
  <property fmtid="{D5CDD505-2E9C-101B-9397-08002B2CF9AE}" pid="4" name="Creator">
    <vt:lpwstr>LaTeX with beamer class version 3.07</vt:lpwstr>
  </property>
  <property fmtid="{D5CDD505-2E9C-101B-9397-08002B2CF9AE}" pid="5" name="LastSaved">
    <vt:filetime>2026-10-19T00:00:00Z</vt:filetime>
  </property>
  <property fmtid="{D5CDD505-2E9C-101B-9397-08002B2CF9AE}" pid="6" name="PTEX.Fullbanner">
    <vt:lpwstr>This is pdfTeX using libpoppler, Version 3.141592-1.40.3-2.2 (Web2C 7.5.6) kpathsea version 3.5.6</vt:lpwstr>
  </property>
  <property fmtid="{D5CDD505-2E9C-101B-9397-08002B2CF9AE}" pid="7" name="Producer">
    <vt:lpwstr>3-Heights(TM) PDF Security Shell 4.8.25.2 (http://www.pdf-tools.com)</vt:lpwstr>
  </property>
</Properties>
</file>