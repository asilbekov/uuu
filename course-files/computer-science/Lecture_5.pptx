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4" autoAdjust="0"/>
    <p:restoredTop sz="94660"/>
  </p:normalViewPr>
  <p:slideViewPr>
    <p:cSldViewPr>
      <p:cViewPr varScale="1">
        <p:scale>
          <a:sx n="180" d="100"/>
          <a:sy n="180" d="100"/>
        </p:scale>
        <p:origin x="99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32363" y="6714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32363" y="6587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32363" y="6460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51"/>
                </a:moveTo>
                <a:lnTo>
                  <a:pt x="4608055" y="3456051"/>
                </a:lnTo>
                <a:lnTo>
                  <a:pt x="4608055" y="0"/>
                </a:lnTo>
                <a:lnTo>
                  <a:pt x="0" y="0"/>
                </a:lnTo>
                <a:lnTo>
                  <a:pt x="0" y="3456051"/>
                </a:lnTo>
                <a:close/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000" y="331152"/>
            <a:ext cx="4392295" cy="29209"/>
          </a:xfrm>
          <a:custGeom>
            <a:avLst/>
            <a:gdLst/>
            <a:ahLst/>
            <a:cxnLst/>
            <a:rect l="l" t="t" r="r" b="b"/>
            <a:pathLst>
              <a:path w="4392295" h="29210">
                <a:moveTo>
                  <a:pt x="4392053" y="0"/>
                </a:moveTo>
                <a:lnTo>
                  <a:pt x="0" y="0"/>
                </a:lnTo>
                <a:lnTo>
                  <a:pt x="0" y="28803"/>
                </a:lnTo>
                <a:lnTo>
                  <a:pt x="4392053" y="28803"/>
                </a:lnTo>
                <a:lnTo>
                  <a:pt x="4392053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8000" y="3225596"/>
            <a:ext cx="4392295" cy="14604"/>
          </a:xfrm>
          <a:custGeom>
            <a:avLst/>
            <a:gdLst/>
            <a:ahLst/>
            <a:cxnLst/>
            <a:rect l="l" t="t" r="r" b="b"/>
            <a:pathLst>
              <a:path w="4392295" h="14605">
                <a:moveTo>
                  <a:pt x="4392053" y="0"/>
                </a:moveTo>
                <a:lnTo>
                  <a:pt x="0" y="0"/>
                </a:lnTo>
                <a:lnTo>
                  <a:pt x="0" y="14401"/>
                </a:lnTo>
                <a:lnTo>
                  <a:pt x="4392053" y="14401"/>
                </a:lnTo>
                <a:lnTo>
                  <a:pt x="439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1452"/>
            <a:ext cx="3003550" cy="2444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7644" y="751250"/>
            <a:ext cx="3442335" cy="1989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0486" y="3276263"/>
            <a:ext cx="176529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Lecture</a:t>
            </a:r>
            <a:r>
              <a:rPr spc="60" dirty="0"/>
              <a:t> </a:t>
            </a:r>
            <a:r>
              <a:rPr lang="en-US" spc="60" dirty="0"/>
              <a:t>5</a:t>
            </a:r>
            <a:r>
              <a:rPr spc="65" dirty="0"/>
              <a:t> </a:t>
            </a:r>
            <a:r>
              <a:rPr dirty="0"/>
              <a:t>–</a:t>
            </a:r>
            <a:r>
              <a:rPr spc="60" dirty="0"/>
              <a:t> </a:t>
            </a:r>
            <a:r>
              <a:rPr lang="en-US" spc="60" dirty="0"/>
              <a:t>October</a:t>
            </a:r>
            <a:r>
              <a:rPr spc="65" dirty="0"/>
              <a:t> </a:t>
            </a:r>
            <a:r>
              <a:rPr dirty="0"/>
              <a:t>13,</a:t>
            </a:r>
            <a:r>
              <a:rPr spc="60" dirty="0"/>
              <a:t> </a:t>
            </a:r>
            <a:r>
              <a:rPr spc="-20" dirty="0"/>
              <a:t>20</a:t>
            </a:r>
            <a:r>
              <a:rPr lang="en-US" spc="-20" dirty="0"/>
              <a:t>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88645"/>
            <a:ext cx="269875" cy="2387600"/>
            <a:chOff x="359994" y="588645"/>
            <a:chExt cx="269875" cy="2387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886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914476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240307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42007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592148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91029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236127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56195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817" y="274172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913799"/>
              <a:ext cx="61874" cy="618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4680" y="521460"/>
            <a:ext cx="2155825" cy="2509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944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Blocks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Compound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Statements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Control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187325" marR="527685">
              <a:lnSpc>
                <a:spcPct val="1026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Conditional Statements Loops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2700" marR="767715">
              <a:lnSpc>
                <a:spcPct val="1944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Modular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Programming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Scope</a:t>
            </a:r>
            <a:endParaRPr sz="1100">
              <a:latin typeface="Arial"/>
              <a:cs typeface="Arial"/>
            </a:endParaRPr>
          </a:p>
          <a:p>
            <a:pPr marL="187325" marR="838835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Static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Register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155" dirty="0"/>
              <a:t> </a:t>
            </a:r>
            <a:r>
              <a:rPr spc="-10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016570"/>
            <a:ext cx="3580129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118110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10" dirty="0">
                <a:latin typeface="Arial"/>
                <a:cs typeface="Arial"/>
              </a:rPr>
              <a:t> name/reference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10" dirty="0">
                <a:latin typeface="Arial"/>
                <a:cs typeface="Arial"/>
              </a:rPr>
              <a:t> value (usually </a:t>
            </a:r>
            <a:r>
              <a:rPr sz="1100" spc="-25" dirty="0">
                <a:latin typeface="Arial"/>
                <a:cs typeface="Arial"/>
              </a:rPr>
              <a:t>in 	</a:t>
            </a:r>
            <a:r>
              <a:rPr sz="1100" spc="-10" dirty="0">
                <a:latin typeface="Arial"/>
                <a:cs typeface="Arial"/>
              </a:rPr>
              <a:t>memory)</a:t>
            </a:r>
            <a:endParaRPr sz="1100">
              <a:latin typeface="Arial"/>
              <a:cs typeface="Arial"/>
            </a:endParaRPr>
          </a:p>
          <a:p>
            <a:pPr marL="14287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determines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memory, 	</a:t>
            </a:r>
            <a:r>
              <a:rPr sz="1100" dirty="0">
                <a:latin typeface="Arial"/>
                <a:cs typeface="Arial"/>
              </a:rPr>
              <a:t>what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allowed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Operator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performed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1-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  <a:p>
            <a:pPr marL="142875" marR="55244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Expression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combination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literal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values/variables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	</a:t>
            </a:r>
            <a:r>
              <a:rPr sz="1100" spc="-10" dirty="0">
                <a:latin typeface="Arial"/>
                <a:cs typeface="Arial"/>
              </a:rPr>
              <a:t>operators/functions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160" dirty="0"/>
              <a:t> </a:t>
            </a:r>
            <a:r>
              <a:rPr dirty="0"/>
              <a:t>Data</a:t>
            </a:r>
            <a:r>
              <a:rPr spc="60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78621"/>
            <a:ext cx="292925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Various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short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long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float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Numeric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signed</a:t>
            </a:r>
            <a:r>
              <a:rPr sz="1100" spc="-10" dirty="0">
                <a:latin typeface="Arial"/>
                <a:cs typeface="Arial"/>
              </a:rPr>
              <a:t>/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Implementation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little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endian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Careful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mixing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converting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(casting)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155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10460"/>
            <a:ext cx="3622040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Unary, </a:t>
            </a:r>
            <a:r>
              <a:rPr sz="1100" spc="-20" dirty="0">
                <a:latin typeface="Arial"/>
                <a:cs typeface="Arial"/>
              </a:rPr>
              <a:t>binary,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ternary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(1-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spc="-10" dirty="0">
                <a:latin typeface="Arial"/>
                <a:cs typeface="Arial"/>
              </a:rPr>
              <a:t> arguments)</a:t>
            </a:r>
            <a:endParaRPr sz="1100">
              <a:latin typeface="Arial"/>
              <a:cs typeface="Arial"/>
            </a:endParaRPr>
          </a:p>
          <a:p>
            <a:pPr marL="14287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Arithmetic</a:t>
            </a:r>
            <a:r>
              <a:rPr sz="1100" spc="-10" dirty="0">
                <a:latin typeface="Arial"/>
                <a:cs typeface="Arial"/>
              </a:rPr>
              <a:t> operators,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relational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operators,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(bitwise 	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logical)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assignment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Conditional expressions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Order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(precedence,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direction)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Lecture</a:t>
            </a:r>
            <a:r>
              <a:rPr lang="en-US" spc="60" dirty="0"/>
              <a:t> 5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</a:t>
            </a:r>
            <a:r>
              <a:rPr lang="en-US" spc="65" dirty="0"/>
              <a:t> </a:t>
            </a:r>
            <a:r>
              <a:rPr lang="en-US" dirty="0"/>
              <a:t>13,</a:t>
            </a:r>
            <a:r>
              <a:rPr lang="en-US" spc="60" dirty="0"/>
              <a:t> </a:t>
            </a:r>
            <a:r>
              <a:rPr lang="en-US" spc="-20" dirty="0"/>
              <a:t>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88645"/>
            <a:ext cx="269875" cy="2387600"/>
            <a:chOff x="359994" y="588645"/>
            <a:chExt cx="269875" cy="2387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886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914476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240307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42007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592148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91029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236127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56195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817" y="274172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913799"/>
              <a:ext cx="61874" cy="618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4680" y="521460"/>
            <a:ext cx="2155825" cy="2509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94400"/>
              </a:lnSpc>
            </a:pPr>
            <a:r>
              <a:rPr sz="1100" spc="-10" dirty="0">
                <a:latin typeface="Arial"/>
                <a:cs typeface="Arial"/>
              </a:rPr>
              <a:t>Blocks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Compound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Statements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Control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187325" marR="527685">
              <a:lnSpc>
                <a:spcPct val="1026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Conditional Statements Loops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2700" marR="767715">
              <a:lnSpc>
                <a:spcPct val="1944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Modular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Programming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Scope</a:t>
            </a:r>
            <a:endParaRPr sz="1100">
              <a:latin typeface="Arial"/>
              <a:cs typeface="Arial"/>
            </a:endParaRPr>
          </a:p>
          <a:p>
            <a:pPr marL="187325" marR="838835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Static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Register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Blocks</a:t>
            </a:r>
            <a:r>
              <a:rPr spc="95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dirty="0"/>
              <a:t>compound</a:t>
            </a:r>
            <a:r>
              <a:rPr spc="95" dirty="0"/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029080"/>
            <a:ext cx="3564254" cy="12515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38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statement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ends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semicolon: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235"/>
              </a:spcBef>
            </a:pPr>
            <a:r>
              <a:rPr sz="900" dirty="0">
                <a:latin typeface="Arial"/>
                <a:cs typeface="Arial"/>
              </a:rPr>
              <a:t>z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foo(x+y);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Consider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statements:</a:t>
            </a:r>
            <a:endParaRPr sz="1100">
              <a:latin typeface="Arial"/>
              <a:cs typeface="Arial"/>
            </a:endParaRPr>
          </a:p>
          <a:p>
            <a:pPr marL="149225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latin typeface="Arial"/>
                <a:cs typeface="Arial"/>
              </a:rPr>
              <a:t>temp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x+y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z</a:t>
            </a:r>
            <a:r>
              <a:rPr sz="900" spc="3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foo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969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Curly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braces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combine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compound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statement/</a:t>
            </a:r>
            <a:r>
              <a:rPr sz="1100" i="1" spc="-10" dirty="0">
                <a:latin typeface="Arial"/>
                <a:cs typeface="Arial"/>
              </a:rPr>
              <a:t>block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22881"/>
            <a:ext cx="2669540" cy="17843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Block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substitute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statement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Compiled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unit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20" dirty="0">
                <a:latin typeface="Arial"/>
                <a:cs typeface="Arial"/>
              </a:rPr>
              <a:t>Variables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declared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inside</a:t>
            </a:r>
            <a:endParaRPr sz="11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57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87655" marR="1372235" indent="10160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3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x+y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z</a:t>
            </a:r>
            <a:r>
              <a:rPr sz="900" spc="3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foo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9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Block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empty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{}</a:t>
            </a:r>
            <a:endParaRPr sz="1100">
              <a:latin typeface="Courier New"/>
              <a:cs typeface="Courier New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No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semicolon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Nested</a:t>
            </a:r>
            <a:r>
              <a:rPr spc="95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74536"/>
            <a:ext cx="2111375" cy="14655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79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Blocks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nested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inside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</a:t>
            </a:r>
            <a:endParaRPr sz="11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570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87655" marR="814705" indent="10160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3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x+y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z</a:t>
            </a:r>
            <a:r>
              <a:rPr sz="900" spc="3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foo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424180" marR="473075" indent="10795">
              <a:lnSpc>
                <a:spcPct val="101499"/>
              </a:lnSpc>
              <a:spcBef>
                <a:spcPts val="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temp2</a:t>
            </a:r>
            <a:r>
              <a:rPr sz="900" spc="3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x</a:t>
            </a:r>
            <a:r>
              <a:rPr sz="900" spc="-45" dirty="0">
                <a:latin typeface="Lucida Sans Unicode"/>
                <a:cs typeface="Lucida Sans Unicode"/>
              </a:rPr>
              <a:t>∗</a:t>
            </a:r>
            <a:r>
              <a:rPr sz="900" spc="-45" dirty="0">
                <a:latin typeface="Arial"/>
                <a:cs typeface="Arial"/>
              </a:rPr>
              <a:t>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z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+=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temp2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;</a:t>
            </a:r>
            <a:endParaRPr sz="9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Lecture</a:t>
            </a:r>
            <a:r>
              <a:rPr lang="en-US" spc="60" dirty="0"/>
              <a:t> 5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</a:t>
            </a:r>
            <a:r>
              <a:rPr lang="en-US" spc="65" dirty="0"/>
              <a:t> </a:t>
            </a:r>
            <a:r>
              <a:rPr lang="en-US" dirty="0"/>
              <a:t>13,</a:t>
            </a:r>
            <a:r>
              <a:rPr lang="en-US" spc="60" dirty="0"/>
              <a:t> </a:t>
            </a:r>
            <a:r>
              <a:rPr lang="en-US" spc="-20" dirty="0"/>
              <a:t>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88645"/>
            <a:ext cx="269875" cy="2387600"/>
            <a:chOff x="359994" y="588645"/>
            <a:chExt cx="269875" cy="2387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886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914476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240307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42007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592148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91029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236127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56195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817" y="274172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913799"/>
              <a:ext cx="61874" cy="618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4680" y="521460"/>
            <a:ext cx="2155825" cy="2509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944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Blocks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Compound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Statements </a:t>
            </a:r>
            <a:r>
              <a:rPr sz="1100" dirty="0">
                <a:latin typeface="Arial"/>
                <a:cs typeface="Arial"/>
              </a:rPr>
              <a:t>Control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187325" marR="527685">
              <a:lnSpc>
                <a:spcPct val="102600"/>
              </a:lnSpc>
            </a:pPr>
            <a:r>
              <a:rPr sz="1100" spc="-10" dirty="0">
                <a:latin typeface="Arial"/>
                <a:cs typeface="Arial"/>
              </a:rPr>
              <a:t>Conditional Statements Loops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2700" marR="767715">
              <a:lnSpc>
                <a:spcPct val="1944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Modular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Programming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Scope</a:t>
            </a:r>
            <a:endParaRPr sz="1100">
              <a:latin typeface="Arial"/>
              <a:cs typeface="Arial"/>
            </a:endParaRPr>
          </a:p>
          <a:p>
            <a:pPr marL="187325" marR="838835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Static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Register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Control</a:t>
            </a:r>
            <a:r>
              <a:rPr spc="85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13384"/>
            <a:ext cx="3370579" cy="16846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28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Unlike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C++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Java,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boolean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C89/C90)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ct val="1000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C99,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bool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available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(use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stdbool.h</a:t>
            </a:r>
            <a:r>
              <a:rPr sz="1000" spc="-1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5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series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expressions)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e.g.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</a:t>
            </a:r>
            <a:r>
              <a:rPr sz="900" spc="2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||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z</a:t>
            </a:r>
            <a:r>
              <a:rPr sz="900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Expression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zero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⇒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true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Expression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numeric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pointer)</a:t>
            </a:r>
            <a:endParaRPr sz="1100">
              <a:latin typeface="Arial"/>
              <a:cs typeface="Arial"/>
            </a:endParaRPr>
          </a:p>
          <a:p>
            <a:pPr marL="151130">
              <a:lnSpc>
                <a:spcPct val="100000"/>
              </a:lnSpc>
              <a:spcBef>
                <a:spcPts val="57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const</a:t>
            </a:r>
            <a:r>
              <a:rPr sz="900" b="1" spc="4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"some</a:t>
            </a:r>
            <a:r>
              <a:rPr sz="900" spc="3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text"</a:t>
            </a:r>
            <a:r>
              <a:rPr sz="900" spc="-390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700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16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not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20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20402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Conditional</a:t>
            </a:r>
            <a:r>
              <a:rPr sz="1400" b="1" spc="15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statements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858" y="1358136"/>
            <a:ext cx="158115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if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statement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switch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statement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55" dirty="0"/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390" dirty="0">
                <a:latin typeface="Courier New"/>
                <a:cs typeface="Courier New"/>
              </a:rPr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9658" y="988448"/>
            <a:ext cx="2221230" cy="1394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32715" marR="1490345" indent="-120650">
              <a:lnSpc>
                <a:spcPct val="101499"/>
              </a:lnSpc>
              <a:spcBef>
                <a:spcPts val="8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2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2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r>
              <a:rPr sz="900" spc="5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+=</a:t>
            </a:r>
            <a:r>
              <a:rPr sz="900" spc="3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/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900">
              <a:latin typeface="Arial"/>
              <a:cs typeface="Arial"/>
            </a:endParaRPr>
          </a:p>
          <a:p>
            <a:pPr marL="265430" indent="-130810">
              <a:lnSpc>
                <a:spcPct val="100000"/>
              </a:lnSpc>
              <a:buSzPct val="90909"/>
              <a:buFont typeface="Lucida Sans Unicode"/>
              <a:buChar char="•"/>
              <a:tabLst>
                <a:tab pos="265430" algn="l"/>
              </a:tabLst>
            </a:pP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</a:t>
            </a:r>
            <a:endParaRPr sz="1100">
              <a:latin typeface="Arial"/>
              <a:cs typeface="Arial"/>
            </a:endParaRPr>
          </a:p>
          <a:p>
            <a:pPr marL="283845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if</a:t>
            </a:r>
            <a:r>
              <a:rPr sz="900" b="1" spc="3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(x</a:t>
            </a:r>
            <a:r>
              <a:rPr sz="900" spc="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 ==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0)</a:t>
            </a:r>
            <a:endParaRPr sz="900">
              <a:latin typeface="Arial"/>
              <a:cs typeface="Arial"/>
            </a:endParaRPr>
          </a:p>
          <a:p>
            <a:pPr marL="265430" indent="-130810">
              <a:lnSpc>
                <a:spcPct val="100000"/>
              </a:lnSpc>
              <a:spcBef>
                <a:spcPts val="375"/>
              </a:spcBef>
              <a:buSzPct val="90909"/>
              <a:buFont typeface="Lucida Sans Unicode"/>
              <a:buChar char="•"/>
              <a:tabLst>
                <a:tab pos="265430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true,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inner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statement</a:t>
            </a:r>
            <a:endParaRPr sz="11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latin typeface="Arial"/>
                <a:cs typeface="Arial"/>
              </a:rPr>
              <a:t>y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+=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x/2;</a:t>
            </a:r>
            <a:endParaRPr sz="900">
              <a:latin typeface="Arial"/>
              <a:cs typeface="Arial"/>
            </a:endParaRPr>
          </a:p>
          <a:p>
            <a:pPr marL="265430" indent="-130810">
              <a:lnSpc>
                <a:spcPct val="100000"/>
              </a:lnSpc>
              <a:spcBef>
                <a:spcPts val="370"/>
              </a:spcBef>
              <a:buSzPct val="90909"/>
              <a:buFont typeface="Lucida Sans Unicode"/>
              <a:buChar char="•"/>
              <a:tabLst>
                <a:tab pos="265430" algn="l"/>
              </a:tabLst>
            </a:pPr>
            <a:r>
              <a:rPr sz="1100" dirty="0">
                <a:latin typeface="Arial"/>
                <a:cs typeface="Arial"/>
              </a:rPr>
              <a:t>Otherwise,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nothing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75" dirty="0"/>
              <a:t> </a:t>
            </a:r>
            <a:r>
              <a:rPr b="0" dirty="0">
                <a:latin typeface="Courier New"/>
                <a:cs typeface="Courier New"/>
              </a:rPr>
              <a:t>else</a:t>
            </a:r>
            <a:r>
              <a:rPr b="0" spc="-375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644" y="946602"/>
            <a:ext cx="2602230" cy="15011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44145" marR="1578610" indent="-120650">
              <a:lnSpc>
                <a:spcPct val="101499"/>
              </a:lnSpc>
              <a:spcBef>
                <a:spcPts val="8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2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==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 y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+=</a:t>
            </a:r>
            <a:r>
              <a:rPr sz="900" spc="3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/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14414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y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+=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/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900">
              <a:latin typeface="Arial"/>
              <a:cs typeface="Arial"/>
            </a:endParaRPr>
          </a:p>
          <a:p>
            <a:pPr marL="277495" indent="-130810">
              <a:lnSpc>
                <a:spcPct val="100000"/>
              </a:lnSpc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spc="-10" dirty="0">
                <a:latin typeface="Arial"/>
                <a:cs typeface="Arial"/>
              </a:rPr>
              <a:t>Optional</a:t>
            </a:r>
            <a:endParaRPr sz="1100">
              <a:latin typeface="Arial"/>
              <a:cs typeface="Arial"/>
            </a:endParaRPr>
          </a:p>
          <a:p>
            <a:pPr marL="277495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spc="-10" dirty="0">
                <a:latin typeface="Arial"/>
                <a:cs typeface="Arial"/>
              </a:rPr>
              <a:t>Execute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false</a:t>
            </a:r>
            <a:endParaRPr sz="1100">
              <a:latin typeface="Arial"/>
              <a:cs typeface="Arial"/>
            </a:endParaRPr>
          </a:p>
          <a:p>
            <a:pPr marL="279400">
              <a:lnSpc>
                <a:spcPct val="100000"/>
              </a:lnSpc>
              <a:spcBef>
                <a:spcPts val="235"/>
              </a:spcBef>
            </a:pPr>
            <a:r>
              <a:rPr sz="900" dirty="0">
                <a:latin typeface="Arial"/>
                <a:cs typeface="Arial"/>
              </a:rPr>
              <a:t>y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+= </a:t>
            </a:r>
            <a:r>
              <a:rPr sz="900" spc="-10" dirty="0">
                <a:latin typeface="Arial"/>
                <a:cs typeface="Arial"/>
              </a:rPr>
              <a:t>(x+1)/2;</a:t>
            </a:r>
            <a:endParaRPr sz="900">
              <a:latin typeface="Arial"/>
              <a:cs typeface="Arial"/>
            </a:endParaRPr>
          </a:p>
          <a:p>
            <a:pPr marL="277495" indent="-130810">
              <a:lnSpc>
                <a:spcPct val="100000"/>
              </a:lnSpc>
              <a:spcBef>
                <a:spcPts val="375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dirty="0">
                <a:latin typeface="Arial"/>
                <a:cs typeface="Arial"/>
              </a:rPr>
              <a:t>Either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inner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statement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block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45" dirty="0"/>
              <a:t> </a:t>
            </a:r>
            <a:r>
              <a:rPr b="0" dirty="0">
                <a:latin typeface="Courier New"/>
                <a:cs typeface="Courier New"/>
              </a:rPr>
              <a:t>else</a:t>
            </a:r>
            <a:r>
              <a:rPr b="0" spc="110" dirty="0">
                <a:latin typeface="Courier New"/>
                <a:cs typeface="Courier New"/>
              </a:rPr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405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44145" marR="2418080" indent="-120650">
              <a:lnSpc>
                <a:spcPct val="101499"/>
              </a:lnSpc>
              <a:spcBef>
                <a:spcPts val="80"/>
              </a:spcBef>
            </a:pP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2</a:t>
            </a:r>
            <a:r>
              <a:rPr spc="310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0</a:t>
            </a:r>
            <a:r>
              <a:rPr spc="-160" dirty="0"/>
              <a:t> </a:t>
            </a:r>
            <a:r>
              <a:rPr spc="-50" dirty="0"/>
              <a:t>)</a:t>
            </a:r>
            <a:r>
              <a:rPr dirty="0"/>
              <a:t> y</a:t>
            </a:r>
            <a:r>
              <a:rPr spc="335" dirty="0"/>
              <a:t> </a:t>
            </a:r>
            <a:r>
              <a:rPr dirty="0"/>
              <a:t>+=</a:t>
            </a:r>
            <a:r>
              <a:rPr spc="340" dirty="0"/>
              <a:t> </a:t>
            </a:r>
            <a:r>
              <a:rPr dirty="0"/>
              <a:t>x</a:t>
            </a:r>
            <a:r>
              <a:rPr spc="-55" dirty="0"/>
              <a:t> </a:t>
            </a:r>
            <a:r>
              <a:rPr spc="-10" dirty="0"/>
              <a:t>/</a:t>
            </a:r>
            <a:r>
              <a:rPr spc="-100" dirty="0"/>
              <a:t> </a:t>
            </a:r>
            <a:r>
              <a:rPr spc="-10" dirty="0"/>
              <a:t>2</a:t>
            </a:r>
            <a:r>
              <a:rPr spc="-100" dirty="0"/>
              <a:t> </a:t>
            </a:r>
            <a:r>
              <a:rPr spc="-50" dirty="0"/>
              <a:t>;</a:t>
            </a:r>
          </a:p>
          <a:p>
            <a:pPr marL="144145" marR="2076450" indent="-132080">
              <a:lnSpc>
                <a:spcPct val="101499"/>
              </a:lnSpc>
            </a:pPr>
            <a:r>
              <a:rPr b="1" spc="5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90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4</a:t>
            </a:r>
            <a:r>
              <a:rPr spc="315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1</a:t>
            </a:r>
            <a:r>
              <a:rPr spc="-160" dirty="0"/>
              <a:t> </a:t>
            </a:r>
            <a:r>
              <a:rPr spc="-50" dirty="0"/>
              <a:t>)</a:t>
            </a:r>
            <a:r>
              <a:rPr dirty="0"/>
              <a:t> y</a:t>
            </a:r>
            <a:r>
              <a:rPr spc="350" dirty="0"/>
              <a:t> </a:t>
            </a:r>
            <a:r>
              <a:rPr dirty="0"/>
              <a:t>+=</a:t>
            </a:r>
            <a:r>
              <a:rPr spc="425" dirty="0"/>
              <a:t> </a:t>
            </a:r>
            <a:r>
              <a:rPr spc="-10" dirty="0"/>
              <a:t>2</a:t>
            </a:r>
            <a:r>
              <a:rPr spc="-130" dirty="0"/>
              <a:t> </a:t>
            </a:r>
            <a:r>
              <a:rPr spc="-260" dirty="0">
                <a:latin typeface="Lucida Sans Unicode"/>
                <a:cs typeface="Lucida Sans Unicode"/>
              </a:rPr>
              <a:t>∗</a:t>
            </a:r>
            <a:r>
              <a:rPr spc="-165" dirty="0">
                <a:latin typeface="Lucida Sans Unicode"/>
                <a:cs typeface="Lucida Sans Unicode"/>
              </a:rPr>
              <a:t> </a:t>
            </a:r>
            <a:r>
              <a:rPr spc="-10" dirty="0"/>
              <a:t>(</a:t>
            </a:r>
            <a:r>
              <a:rPr spc="-130" dirty="0"/>
              <a:t> </a:t>
            </a:r>
            <a:r>
              <a:rPr spc="-10" dirty="0"/>
              <a:t>(</a:t>
            </a:r>
            <a:r>
              <a:rPr spc="-90" dirty="0"/>
              <a:t> </a:t>
            </a:r>
            <a:r>
              <a:rPr spc="-10" dirty="0"/>
              <a:t>x</a:t>
            </a:r>
            <a:r>
              <a:rPr spc="-60" dirty="0"/>
              <a:t> </a:t>
            </a:r>
            <a:r>
              <a:rPr spc="-10" dirty="0"/>
              <a:t>+</a:t>
            </a:r>
            <a:r>
              <a:rPr spc="-105" dirty="0"/>
              <a:t> </a:t>
            </a:r>
            <a:r>
              <a:rPr spc="-10" dirty="0"/>
              <a:t>3</a:t>
            </a:r>
            <a:r>
              <a:rPr spc="-110" dirty="0"/>
              <a:t> </a:t>
            </a:r>
            <a:r>
              <a:rPr spc="-10" dirty="0"/>
              <a:t>)</a:t>
            </a:r>
            <a:r>
              <a:rPr spc="-105" dirty="0"/>
              <a:t> </a:t>
            </a:r>
            <a:r>
              <a:rPr spc="-10" dirty="0"/>
              <a:t>/</a:t>
            </a:r>
            <a:r>
              <a:rPr spc="-110" dirty="0"/>
              <a:t> </a:t>
            </a:r>
            <a:r>
              <a:rPr spc="-10" dirty="0"/>
              <a:t>4</a:t>
            </a:r>
            <a:r>
              <a:rPr spc="-105" dirty="0"/>
              <a:t> </a:t>
            </a:r>
            <a:r>
              <a:rPr spc="-10" dirty="0"/>
              <a:t>)</a:t>
            </a:r>
            <a:r>
              <a:rPr spc="-110" dirty="0"/>
              <a:t> </a:t>
            </a:r>
            <a:r>
              <a:rPr spc="-50" dirty="0"/>
              <a:t>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</a:p>
          <a:p>
            <a:pPr marL="144145">
              <a:lnSpc>
                <a:spcPct val="100000"/>
              </a:lnSpc>
              <a:spcBef>
                <a:spcPts val="15"/>
              </a:spcBef>
            </a:pPr>
            <a:r>
              <a:rPr dirty="0"/>
              <a:t>y</a:t>
            </a:r>
            <a:r>
              <a:rPr spc="345" dirty="0"/>
              <a:t> </a:t>
            </a:r>
            <a:r>
              <a:rPr dirty="0"/>
              <a:t>+=</a:t>
            </a:r>
            <a:r>
              <a:rPr spc="425" dirty="0"/>
              <a:t>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spc="-10" dirty="0"/>
              <a:t>x</a:t>
            </a:r>
            <a:r>
              <a:rPr spc="-80" dirty="0"/>
              <a:t> </a:t>
            </a:r>
            <a:r>
              <a:rPr spc="-10" dirty="0"/>
              <a:t>+</a:t>
            </a:r>
            <a:r>
              <a:rPr spc="-120" dirty="0"/>
              <a:t> </a:t>
            </a:r>
            <a:r>
              <a:rPr spc="-10" dirty="0"/>
              <a:t>1</a:t>
            </a:r>
            <a:r>
              <a:rPr spc="-114" dirty="0"/>
              <a:t> </a:t>
            </a:r>
            <a:r>
              <a:rPr spc="-10" dirty="0"/>
              <a:t>)</a:t>
            </a:r>
            <a:r>
              <a:rPr spc="-120" dirty="0"/>
              <a:t> </a:t>
            </a:r>
            <a:r>
              <a:rPr spc="-10" dirty="0"/>
              <a:t>/</a:t>
            </a:r>
            <a:r>
              <a:rPr spc="-120" dirty="0"/>
              <a:t> </a:t>
            </a:r>
            <a:r>
              <a:rPr spc="-10" dirty="0"/>
              <a:t>2</a:t>
            </a:r>
            <a:r>
              <a:rPr spc="-114" dirty="0"/>
              <a:t> </a:t>
            </a:r>
            <a:r>
              <a:rPr spc="-50" dirty="0"/>
              <a:t>;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pc="-50" dirty="0"/>
          </a:p>
          <a:p>
            <a:pPr marL="277495" indent="-130810">
              <a:lnSpc>
                <a:spcPct val="100000"/>
              </a:lnSpc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spc="-10" dirty="0"/>
              <a:t>Additional</a:t>
            </a:r>
            <a:r>
              <a:rPr sz="1100" spc="-35" dirty="0"/>
              <a:t> </a:t>
            </a:r>
            <a:r>
              <a:rPr sz="1100" dirty="0"/>
              <a:t>alternative</a:t>
            </a:r>
            <a:r>
              <a:rPr sz="1100" spc="-35" dirty="0"/>
              <a:t> </a:t>
            </a:r>
            <a:r>
              <a:rPr sz="1100" dirty="0"/>
              <a:t>control</a:t>
            </a:r>
            <a:r>
              <a:rPr sz="1100" spc="-35" dirty="0"/>
              <a:t> </a:t>
            </a:r>
            <a:r>
              <a:rPr sz="1100" spc="-10" dirty="0"/>
              <a:t>paths</a:t>
            </a:r>
            <a:endParaRPr sz="1100"/>
          </a:p>
          <a:p>
            <a:pPr marL="27749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279400" algn="l"/>
              </a:tabLst>
            </a:pPr>
            <a:r>
              <a:rPr sz="1100" spc="-10" dirty="0"/>
              <a:t>Conditions</a:t>
            </a:r>
            <a:r>
              <a:rPr sz="1100" spc="-30" dirty="0"/>
              <a:t> </a:t>
            </a:r>
            <a:r>
              <a:rPr sz="1100" spc="-10" dirty="0"/>
              <a:t>evaluated</a:t>
            </a:r>
            <a:r>
              <a:rPr sz="1100" spc="-25" dirty="0"/>
              <a:t> </a:t>
            </a:r>
            <a:r>
              <a:rPr sz="1100" dirty="0"/>
              <a:t>in</a:t>
            </a:r>
            <a:r>
              <a:rPr sz="1100" spc="-25" dirty="0"/>
              <a:t> </a:t>
            </a:r>
            <a:r>
              <a:rPr sz="1100" dirty="0"/>
              <a:t>order</a:t>
            </a:r>
            <a:r>
              <a:rPr sz="1100" spc="-25" dirty="0"/>
              <a:t> </a:t>
            </a:r>
            <a:r>
              <a:rPr sz="1100" dirty="0"/>
              <a:t>until</a:t>
            </a:r>
            <a:r>
              <a:rPr sz="1100" spc="-25" dirty="0"/>
              <a:t> </a:t>
            </a:r>
            <a:r>
              <a:rPr sz="1100" dirty="0"/>
              <a:t>one</a:t>
            </a:r>
            <a:r>
              <a:rPr sz="1100" spc="-25" dirty="0"/>
              <a:t> </a:t>
            </a:r>
            <a:r>
              <a:rPr sz="1100" dirty="0"/>
              <a:t>is</a:t>
            </a:r>
            <a:r>
              <a:rPr sz="1100" spc="-30" dirty="0"/>
              <a:t> </a:t>
            </a:r>
            <a:r>
              <a:rPr sz="1100" dirty="0"/>
              <a:t>met;</a:t>
            </a:r>
            <a:r>
              <a:rPr sz="1100" spc="-25" dirty="0"/>
              <a:t> </a:t>
            </a:r>
            <a:r>
              <a:rPr sz="1100" spc="-10" dirty="0"/>
              <a:t>inner 	</a:t>
            </a:r>
            <a:r>
              <a:rPr sz="1100" dirty="0"/>
              <a:t>statement</a:t>
            </a:r>
            <a:r>
              <a:rPr sz="1100" spc="-40" dirty="0"/>
              <a:t> </a:t>
            </a:r>
            <a:r>
              <a:rPr sz="1100" dirty="0"/>
              <a:t>then</a:t>
            </a:r>
            <a:r>
              <a:rPr sz="1100" spc="-40" dirty="0"/>
              <a:t> </a:t>
            </a:r>
            <a:r>
              <a:rPr sz="1100" spc="-10" dirty="0"/>
              <a:t>executed</a:t>
            </a:r>
            <a:endParaRPr sz="1100"/>
          </a:p>
          <a:p>
            <a:pPr marL="277495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dirty="0"/>
              <a:t>If</a:t>
            </a:r>
            <a:r>
              <a:rPr sz="1100" spc="-20" dirty="0"/>
              <a:t> </a:t>
            </a:r>
            <a:r>
              <a:rPr sz="1100" spc="-10" dirty="0"/>
              <a:t>multiple</a:t>
            </a:r>
            <a:r>
              <a:rPr sz="1100" spc="-15" dirty="0"/>
              <a:t> </a:t>
            </a:r>
            <a:r>
              <a:rPr sz="1100" spc="-10" dirty="0"/>
              <a:t>conditions</a:t>
            </a:r>
            <a:r>
              <a:rPr sz="1100" spc="-15" dirty="0"/>
              <a:t> </a:t>
            </a:r>
            <a:r>
              <a:rPr sz="1100" dirty="0"/>
              <a:t>true,</a:t>
            </a:r>
            <a:r>
              <a:rPr sz="1100" spc="-15" dirty="0"/>
              <a:t> </a:t>
            </a:r>
            <a:r>
              <a:rPr sz="1100" dirty="0"/>
              <a:t>only</a:t>
            </a:r>
            <a:r>
              <a:rPr sz="1100" spc="-20" dirty="0"/>
              <a:t> </a:t>
            </a:r>
            <a:r>
              <a:rPr sz="1100" dirty="0"/>
              <a:t>first</a:t>
            </a:r>
            <a:r>
              <a:rPr sz="1100" spc="-15" dirty="0"/>
              <a:t> </a:t>
            </a:r>
            <a:r>
              <a:rPr sz="1100" spc="-10" dirty="0"/>
              <a:t>executed</a:t>
            </a:r>
            <a:endParaRPr sz="1100"/>
          </a:p>
          <a:p>
            <a:pPr marL="277495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277495" algn="l"/>
              </a:tabLst>
            </a:pPr>
            <a:r>
              <a:rPr sz="1100" spc="-10" dirty="0"/>
              <a:t>Equivalent</a:t>
            </a:r>
            <a:r>
              <a:rPr sz="1100" spc="-25" dirty="0"/>
              <a:t> </a:t>
            </a:r>
            <a:r>
              <a:rPr sz="1100" dirty="0"/>
              <a:t>to</a:t>
            </a:r>
            <a:r>
              <a:rPr sz="1100" spc="-15" dirty="0"/>
              <a:t> </a:t>
            </a:r>
            <a:r>
              <a:rPr sz="1100" dirty="0"/>
              <a:t>nested</a:t>
            </a:r>
            <a:r>
              <a:rPr sz="1100" spc="-15" dirty="0"/>
              <a:t> </a:t>
            </a:r>
            <a:r>
              <a:rPr sz="1100" spc="-20" dirty="0">
                <a:latin typeface="Courier New"/>
                <a:cs typeface="Courier New"/>
              </a:rPr>
              <a:t>if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/>
              <a:t>statements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Nesting</a:t>
            </a:r>
            <a:r>
              <a:rPr spc="70" dirty="0"/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375" dirty="0">
                <a:latin typeface="Courier New"/>
                <a:cs typeface="Courier New"/>
              </a:rPr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866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4</a:t>
            </a:r>
            <a:r>
              <a:rPr spc="310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0</a:t>
            </a:r>
            <a:r>
              <a:rPr spc="-160" dirty="0"/>
              <a:t> </a:t>
            </a:r>
            <a:r>
              <a:rPr spc="-50" dirty="0"/>
              <a:t>)</a:t>
            </a:r>
          </a:p>
          <a:p>
            <a:pPr marL="280670" marR="2264410" indent="-120014">
              <a:lnSpc>
                <a:spcPct val="101499"/>
              </a:lnSpc>
            </a:pP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pc="-10" dirty="0"/>
              <a:t>(</a:t>
            </a:r>
            <a:r>
              <a:rPr spc="-85" dirty="0"/>
              <a:t> </a:t>
            </a:r>
            <a:r>
              <a:rPr dirty="0"/>
              <a:t>x</a:t>
            </a:r>
            <a:r>
              <a:rPr spc="200" dirty="0"/>
              <a:t> </a:t>
            </a:r>
            <a:r>
              <a:rPr dirty="0"/>
              <a:t>%</a:t>
            </a:r>
            <a:r>
              <a:rPr spc="175" dirty="0"/>
              <a:t> </a:t>
            </a:r>
            <a:r>
              <a:rPr dirty="0"/>
              <a:t>2</a:t>
            </a:r>
            <a:r>
              <a:rPr spc="310" dirty="0"/>
              <a:t> </a:t>
            </a:r>
            <a:r>
              <a:rPr dirty="0"/>
              <a:t>==</a:t>
            </a:r>
            <a:r>
              <a:rPr spc="390" dirty="0"/>
              <a:t> </a:t>
            </a:r>
            <a:r>
              <a:rPr spc="-10" dirty="0"/>
              <a:t>0</a:t>
            </a:r>
            <a:r>
              <a:rPr spc="-160" dirty="0"/>
              <a:t> </a:t>
            </a:r>
            <a:r>
              <a:rPr spc="-50" dirty="0"/>
              <a:t>)</a:t>
            </a:r>
            <a:r>
              <a:rPr dirty="0"/>
              <a:t> y</a:t>
            </a:r>
            <a:r>
              <a:rPr spc="330" dirty="0"/>
              <a:t> </a:t>
            </a:r>
            <a:r>
              <a:rPr dirty="0"/>
              <a:t>=</a:t>
            </a:r>
            <a:r>
              <a:rPr spc="400" dirty="0"/>
              <a:t> </a:t>
            </a:r>
            <a:r>
              <a:rPr spc="-10" dirty="0"/>
              <a:t>2</a:t>
            </a:r>
            <a:r>
              <a:rPr spc="-145" dirty="0"/>
              <a:t> </a:t>
            </a:r>
            <a:r>
              <a:rPr spc="-50" dirty="0"/>
              <a:t>;</a:t>
            </a:r>
          </a:p>
          <a:p>
            <a:pPr marL="12065">
              <a:lnSpc>
                <a:spcPct val="100000"/>
              </a:lnSpc>
              <a:spcBef>
                <a:spcPts val="15"/>
              </a:spcBef>
            </a:pPr>
            <a:r>
              <a:rPr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</a:p>
          <a:p>
            <a:pPr marL="144145">
              <a:lnSpc>
                <a:spcPct val="100000"/>
              </a:lnSpc>
              <a:spcBef>
                <a:spcPts val="15"/>
              </a:spcBef>
            </a:pPr>
            <a:r>
              <a:rPr dirty="0"/>
              <a:t>y</a:t>
            </a:r>
            <a:r>
              <a:rPr spc="330" dirty="0"/>
              <a:t> </a:t>
            </a:r>
            <a:r>
              <a:rPr dirty="0"/>
              <a:t>=</a:t>
            </a:r>
            <a:r>
              <a:rPr spc="400" dirty="0"/>
              <a:t> </a:t>
            </a:r>
            <a:r>
              <a:rPr spc="-10" dirty="0"/>
              <a:t>1</a:t>
            </a:r>
            <a:r>
              <a:rPr spc="-145" dirty="0"/>
              <a:t> </a:t>
            </a:r>
            <a:r>
              <a:rPr spc="-50" dirty="0"/>
              <a:t>;</a:t>
            </a:r>
          </a:p>
          <a:p>
            <a:pPr marL="1905">
              <a:lnSpc>
                <a:spcPct val="100000"/>
              </a:lnSpc>
              <a:spcBef>
                <a:spcPts val="675"/>
              </a:spcBef>
            </a:pPr>
            <a:r>
              <a:rPr sz="1100" spc="-80" dirty="0"/>
              <a:t>To</a:t>
            </a:r>
            <a:r>
              <a:rPr sz="1100" spc="-5" dirty="0"/>
              <a:t> </a:t>
            </a:r>
            <a:r>
              <a:rPr sz="1100" dirty="0"/>
              <a:t>which</a:t>
            </a:r>
            <a:r>
              <a:rPr sz="1100" spc="-75" dirty="0"/>
              <a:t> </a:t>
            </a:r>
            <a:r>
              <a:rPr sz="1100" spc="-20" dirty="0">
                <a:latin typeface="Courier New"/>
                <a:cs typeface="Courier New"/>
              </a:rPr>
              <a:t>if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/>
              <a:t>statement</a:t>
            </a:r>
            <a:r>
              <a:rPr sz="1100" spc="-30" dirty="0"/>
              <a:t> </a:t>
            </a:r>
            <a:r>
              <a:rPr sz="1100" dirty="0"/>
              <a:t>does</a:t>
            </a:r>
            <a:r>
              <a:rPr sz="1100" spc="-25" dirty="0"/>
              <a:t> </a:t>
            </a:r>
            <a:r>
              <a:rPr sz="1100" dirty="0"/>
              <a:t>the</a:t>
            </a:r>
            <a:r>
              <a:rPr sz="1100" spc="-20" dirty="0"/>
              <a:t> </a:t>
            </a:r>
            <a:r>
              <a:rPr sz="1100" spc="-20" dirty="0">
                <a:latin typeface="Courier New"/>
                <a:cs typeface="Courier New"/>
              </a:rPr>
              <a:t>else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/>
              <a:t>keyword</a:t>
            </a:r>
            <a:r>
              <a:rPr sz="1100" spc="-25" dirty="0"/>
              <a:t> </a:t>
            </a:r>
            <a:r>
              <a:rPr sz="1100" spc="-10" dirty="0"/>
              <a:t>belong?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Nesting</a:t>
            </a:r>
            <a:r>
              <a:rPr spc="70" dirty="0"/>
              <a:t> </a:t>
            </a:r>
            <a:r>
              <a:rPr b="0" dirty="0">
                <a:latin typeface="Courier New"/>
                <a:cs typeface="Courier New"/>
              </a:rPr>
              <a:t>if</a:t>
            </a:r>
            <a:r>
              <a:rPr b="0" spc="-375" dirty="0">
                <a:latin typeface="Courier New"/>
                <a:cs typeface="Courier New"/>
              </a:rPr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6364"/>
            <a:ext cx="3418840" cy="10483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spc="-8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associate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else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if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statement: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braces</a:t>
            </a:r>
            <a:endParaRPr sz="1100">
              <a:latin typeface="Arial"/>
              <a:cs typeface="Arial"/>
            </a:endParaRPr>
          </a:p>
          <a:p>
            <a:pPr marL="34925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2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4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==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2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1465" marR="2247900" indent="-120014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2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==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 y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}</a:t>
            </a:r>
            <a:r>
              <a:rPr sz="900" spc="480" dirty="0">
                <a:latin typeface="Arial"/>
                <a:cs typeface="Arial"/>
              </a:rPr>
              <a:t> </a:t>
            </a:r>
            <a:r>
              <a:rPr sz="900"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Arial"/>
                <a:cs typeface="Arial"/>
              </a:rPr>
              <a:t>y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90" dirty="0"/>
              <a:t> </a:t>
            </a:r>
            <a:r>
              <a:rPr b="0" dirty="0">
                <a:latin typeface="Courier New"/>
                <a:cs typeface="Courier New"/>
              </a:rPr>
              <a:t>switch</a:t>
            </a:r>
            <a:r>
              <a:rPr b="0" spc="-360" dirty="0">
                <a:latin typeface="Courier New"/>
                <a:cs typeface="Courier New"/>
              </a:rPr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85150"/>
            <a:ext cx="2501265" cy="22574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Alternative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statement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Integer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Considers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endParaRPr sz="11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57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0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’Y’</a:t>
            </a:r>
            <a:r>
              <a:rPr sz="900" spc="-395" dirty="0">
                <a:latin typeface="Courier New"/>
                <a:cs typeface="Courier New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3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ch</a:t>
            </a:r>
            <a:r>
              <a:rPr sz="900" spc="3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-1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3370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1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3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something</a:t>
            </a:r>
            <a:r>
              <a:rPr sz="900" spc="4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4815">
              <a:lnSpc>
                <a:spcPct val="100000"/>
              </a:lnSpc>
              <a:spcBef>
                <a:spcPts val="2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R="518159" algn="r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’N’</a:t>
            </a:r>
            <a:r>
              <a:rPr sz="900" spc="-395" dirty="0">
                <a:latin typeface="Courier New"/>
                <a:cs typeface="Courier New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34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ch</a:t>
            </a:r>
            <a:r>
              <a:rPr sz="900" spc="3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’N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R="518159" algn="r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3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something</a:t>
            </a:r>
            <a:r>
              <a:rPr sz="900" spc="4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else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481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R="586740" algn="r">
              <a:lnSpc>
                <a:spcPct val="100000"/>
              </a:lnSpc>
              <a:spcBef>
                <a:spcPts val="15"/>
              </a:spcBef>
            </a:pPr>
            <a:r>
              <a:rPr sz="900" b="1" spc="80" dirty="0">
                <a:solidFill>
                  <a:srgbClr val="0000FF"/>
                </a:solidFill>
                <a:latin typeface="Arial"/>
                <a:cs typeface="Arial"/>
              </a:rPr>
              <a:t>default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9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otherwise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R="586740" algn="r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3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4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h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h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4815">
              <a:lnSpc>
                <a:spcPct val="100000"/>
              </a:lnSpc>
              <a:spcBef>
                <a:spcPts val="2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Multiple</a:t>
            </a:r>
            <a:r>
              <a:rPr spc="110" dirty="0"/>
              <a:t> </a:t>
            </a:r>
            <a:r>
              <a:rPr spc="-10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54594"/>
            <a:ext cx="3339465" cy="10814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Compares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order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When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found,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executing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inner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until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latin typeface="Courier New"/>
                <a:cs typeface="Courier New"/>
              </a:rPr>
              <a:t>break;</a:t>
            </a:r>
            <a:r>
              <a:rPr sz="1100" spc="-3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reached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Execution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“falls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through”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break;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included</a:t>
            </a:r>
            <a:endParaRPr sz="1100">
              <a:latin typeface="Arial"/>
              <a:cs typeface="Arial"/>
            </a:endParaRPr>
          </a:p>
          <a:p>
            <a:pPr marL="2130425">
              <a:lnSpc>
                <a:spcPct val="100000"/>
              </a:lnSpc>
              <a:spcBef>
                <a:spcPts val="92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0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838" y="1612933"/>
            <a:ext cx="1494155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9563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0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R="602615" algn="ctr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’Y’</a:t>
            </a:r>
            <a:r>
              <a:rPr sz="900" spc="-38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R="602615" algn="ctr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’y’</a:t>
            </a:r>
            <a:r>
              <a:rPr sz="900" spc="-38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93370" marR="5080" algn="ctr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3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something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ch</a:t>
            </a:r>
            <a:r>
              <a:rPr sz="900" spc="3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-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or</a:t>
            </a:r>
            <a:endParaRPr sz="900">
              <a:latin typeface="Arial"/>
              <a:cs typeface="Arial"/>
            </a:endParaRPr>
          </a:p>
          <a:p>
            <a:pPr marL="281940" algn="ctr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ch</a:t>
            </a:r>
            <a:r>
              <a:rPr sz="900" spc="3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R="532130" algn="ctr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011" y="2587162"/>
            <a:ext cx="63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2739" y="1612933"/>
            <a:ext cx="1361440" cy="1136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3533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’Y’</a:t>
            </a:r>
            <a:r>
              <a:rPr sz="900" spc="-38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160655" marR="5080" algn="ctr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3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something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ch</a:t>
            </a:r>
            <a:r>
              <a:rPr sz="900" spc="3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-1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R="735330" algn="ctr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’N’</a:t>
            </a:r>
            <a:r>
              <a:rPr sz="900" spc="-38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160655" marR="5080" algn="ctr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3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something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ch</a:t>
            </a:r>
            <a:r>
              <a:rPr sz="900" spc="3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-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or</a:t>
            </a:r>
            <a:endParaRPr sz="900">
              <a:latin typeface="Arial"/>
              <a:cs typeface="Arial"/>
            </a:endParaRPr>
          </a:p>
          <a:p>
            <a:pPr marL="149225" algn="ctr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ch</a:t>
            </a:r>
            <a:r>
              <a:rPr sz="900" spc="3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’N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R="664845" algn="ctr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7249" y="2726315"/>
            <a:ext cx="63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90" dirty="0"/>
              <a:t> </a:t>
            </a:r>
            <a:r>
              <a:rPr b="0" dirty="0">
                <a:latin typeface="Courier New"/>
                <a:cs typeface="Courier New"/>
              </a:rPr>
              <a:t>switch</a:t>
            </a:r>
            <a:r>
              <a:rPr b="0" spc="-360" dirty="0">
                <a:latin typeface="Courier New"/>
                <a:cs typeface="Courier New"/>
              </a:rPr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263292"/>
            <a:ext cx="370522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Contents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switch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statement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block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Case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labels: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block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Similar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goto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keyword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(next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lecture.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Loop</a:t>
            </a:r>
            <a:r>
              <a:rPr spc="105" dirty="0"/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79281"/>
            <a:ext cx="244094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while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Arial"/>
                <a:cs typeface="Arial"/>
              </a:rPr>
              <a:t>loop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for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Arial"/>
                <a:cs typeface="Arial"/>
              </a:rPr>
              <a:t>loop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do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spc="-20" dirty="0">
                <a:latin typeface="Courier New"/>
                <a:cs typeface="Courier New"/>
              </a:rPr>
              <a:t>while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Arial"/>
                <a:cs typeface="Arial"/>
              </a:rPr>
              <a:t>loop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latin typeface="Courier New"/>
                <a:cs typeface="Courier New"/>
              </a:rPr>
              <a:t>break</a:t>
            </a:r>
            <a:r>
              <a:rPr sz="1100" spc="-35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 </a:t>
            </a:r>
            <a:r>
              <a:rPr sz="1100" spc="-20" dirty="0">
                <a:latin typeface="Courier New"/>
                <a:cs typeface="Courier New"/>
              </a:rPr>
              <a:t>continue</a:t>
            </a:r>
            <a:r>
              <a:rPr sz="1100" spc="-3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keywords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80" dirty="0"/>
              <a:t> </a:t>
            </a:r>
            <a:r>
              <a:rPr b="0" dirty="0">
                <a:latin typeface="Courier New"/>
                <a:cs typeface="Courier New"/>
              </a:rPr>
              <a:t>while</a:t>
            </a:r>
            <a:r>
              <a:rPr b="0" spc="-36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768" y="1141953"/>
            <a:ext cx="3792854" cy="1012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4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loop</a:t>
            </a:r>
            <a:r>
              <a:rPr sz="900" spc="45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body</a:t>
            </a:r>
            <a:r>
              <a:rPr sz="900" spc="48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Arial"/>
              <a:cs typeface="Arial"/>
            </a:endParaRPr>
          </a:p>
          <a:p>
            <a:pPr marL="278130" marR="414020" indent="-130810">
              <a:lnSpc>
                <a:spcPct val="102600"/>
              </a:lnSpc>
              <a:buSzPct val="90909"/>
              <a:buFont typeface="Lucida Sans Unicode"/>
              <a:buChar char="•"/>
              <a:tabLst>
                <a:tab pos="280035" algn="l"/>
              </a:tabLst>
            </a:pPr>
            <a:r>
              <a:rPr sz="1100" spc="-10" dirty="0">
                <a:latin typeface="Arial"/>
                <a:cs typeface="Arial"/>
              </a:rPr>
              <a:t>Simplest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structure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body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long</a:t>
            </a:r>
            <a:r>
              <a:rPr sz="1100" spc="-25" dirty="0">
                <a:latin typeface="Arial"/>
                <a:cs typeface="Arial"/>
              </a:rPr>
              <a:t> as 	</a:t>
            </a: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true</a:t>
            </a:r>
            <a:endParaRPr sz="1100">
              <a:latin typeface="Arial"/>
              <a:cs typeface="Arial"/>
            </a:endParaRPr>
          </a:p>
          <a:p>
            <a:pPr marL="27813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278130" algn="l"/>
              </a:tabLst>
            </a:pP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body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never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executed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b="0" dirty="0">
                <a:latin typeface="Courier New"/>
                <a:cs typeface="Courier New"/>
              </a:rPr>
              <a:t>for</a:t>
            </a:r>
            <a:r>
              <a:rPr b="0" spc="-38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445" y="617634"/>
            <a:ext cx="3898265" cy="2323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45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2100" marR="2124710" indent="-145415">
              <a:lnSpc>
                <a:spcPct val="101499"/>
              </a:lnSpc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2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5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++)</a:t>
            </a:r>
            <a:r>
              <a:rPr sz="900" spc="5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∗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900">
              <a:latin typeface="Arial"/>
              <a:cs typeface="Arial"/>
            </a:endParaRPr>
          </a:p>
          <a:p>
            <a:pPr marL="272415" indent="-130810">
              <a:lnSpc>
                <a:spcPct val="100000"/>
              </a:lnSpc>
              <a:spcBef>
                <a:spcPts val="5"/>
              </a:spcBef>
              <a:buSzPct val="90909"/>
              <a:buFont typeface="Lucida Sans Unicode"/>
              <a:buChar char="•"/>
              <a:tabLst>
                <a:tab pos="27241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“counting”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loop</a:t>
            </a:r>
            <a:endParaRPr sz="1100">
              <a:latin typeface="Arial"/>
              <a:cs typeface="Arial"/>
            </a:endParaRPr>
          </a:p>
          <a:p>
            <a:pPr marL="272415" marR="40894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274320" algn="l"/>
              </a:tabLst>
            </a:pPr>
            <a:r>
              <a:rPr sz="1100" dirty="0">
                <a:latin typeface="Arial"/>
                <a:cs typeface="Arial"/>
              </a:rPr>
              <a:t>Inside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parentheses,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three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separated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 	</a:t>
            </a:r>
            <a:r>
              <a:rPr sz="1100" spc="-10" dirty="0">
                <a:latin typeface="Arial"/>
                <a:cs typeface="Arial"/>
              </a:rPr>
              <a:t>semicolons:</a:t>
            </a:r>
            <a:endParaRPr sz="1100">
              <a:latin typeface="Arial"/>
              <a:cs typeface="Arial"/>
            </a:endParaRPr>
          </a:p>
          <a:p>
            <a:pPr marL="551815" lvl="1" indent="-128270">
              <a:lnSpc>
                <a:spcPts val="1200"/>
              </a:lnSpc>
              <a:spcBef>
                <a:spcPts val="470"/>
              </a:spcBef>
              <a:buSzPct val="90000"/>
              <a:buFont typeface="Lucida Sans Unicode"/>
              <a:buChar char="•"/>
              <a:tabLst>
                <a:tab pos="551815" algn="l"/>
              </a:tabLst>
            </a:pPr>
            <a:r>
              <a:rPr sz="1000" dirty="0">
                <a:latin typeface="Arial"/>
                <a:cs typeface="Arial"/>
              </a:rPr>
              <a:t>Initialization: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Courier New"/>
                <a:cs typeface="Courier New"/>
              </a:rPr>
              <a:t>i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55181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551815" algn="l"/>
              </a:tabLst>
            </a:pPr>
            <a:r>
              <a:rPr sz="1000" dirty="0">
                <a:latin typeface="Arial"/>
                <a:cs typeface="Arial"/>
              </a:rPr>
              <a:t>Condition: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Courier New"/>
                <a:cs typeface="Courier New"/>
              </a:rPr>
              <a:t>i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&lt;=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n</a:t>
            </a:r>
            <a:endParaRPr sz="1000">
              <a:latin typeface="Courier New"/>
              <a:cs typeface="Courier New"/>
            </a:endParaRPr>
          </a:p>
          <a:p>
            <a:pPr marL="55181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551815" algn="l"/>
              </a:tabLst>
            </a:pPr>
            <a:r>
              <a:rPr sz="1000" dirty="0">
                <a:latin typeface="Arial"/>
                <a:cs typeface="Arial"/>
              </a:rPr>
              <a:t>Increment: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i++</a:t>
            </a:r>
            <a:endParaRPr sz="1000">
              <a:latin typeface="Courier New"/>
              <a:cs typeface="Courier New"/>
            </a:endParaRPr>
          </a:p>
          <a:p>
            <a:pPr marL="272415" indent="-130810">
              <a:lnSpc>
                <a:spcPct val="100000"/>
              </a:lnSpc>
              <a:spcBef>
                <a:spcPts val="555"/>
              </a:spcBef>
              <a:buSzPct val="90909"/>
              <a:buFont typeface="Lucida Sans Unicode"/>
              <a:buChar char="•"/>
              <a:tabLst>
                <a:tab pos="272415" algn="l"/>
              </a:tabLst>
            </a:pPr>
            <a:r>
              <a:rPr sz="1100" spc="-10" dirty="0">
                <a:latin typeface="Arial"/>
                <a:cs typeface="Arial"/>
              </a:rPr>
              <a:t>Expressions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empty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(condition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assumed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“true”)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b="0" dirty="0">
                <a:latin typeface="Courier New"/>
                <a:cs typeface="Courier New"/>
              </a:rPr>
              <a:t>for</a:t>
            </a:r>
            <a:r>
              <a:rPr b="0" spc="-38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03682"/>
            <a:ext cx="2333625" cy="16052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spc="-10" dirty="0">
                <a:latin typeface="Arial"/>
                <a:cs typeface="Arial"/>
              </a:rPr>
              <a:t>Equivalent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20" dirty="0">
                <a:latin typeface="Courier New"/>
                <a:cs typeface="Courier New"/>
              </a:rPr>
              <a:t>while</a:t>
            </a:r>
            <a:r>
              <a:rPr sz="1100" spc="-3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Arial"/>
                <a:cs typeface="Arial"/>
              </a:rPr>
              <a:t>loop:</a:t>
            </a:r>
            <a:endParaRPr sz="11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2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4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4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z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7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307340" marR="5080" indent="-149225">
              <a:lnSpc>
                <a:spcPct val="101499"/>
              </a:lnSpc>
            </a:pP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r>
              <a:rPr sz="900" dirty="0">
                <a:latin typeface="Arial"/>
                <a:cs typeface="Arial"/>
              </a:rPr>
              <a:t> j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∗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i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++;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increment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b="0" dirty="0">
                <a:latin typeface="Courier New"/>
                <a:cs typeface="Courier New"/>
              </a:rPr>
              <a:t>for</a:t>
            </a:r>
            <a:r>
              <a:rPr b="0" spc="-385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37385"/>
            <a:ext cx="3431540" cy="165036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79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Compound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separated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commas</a:t>
            </a:r>
            <a:endParaRPr sz="11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2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4640">
              <a:lnSpc>
                <a:spcPct val="100000"/>
              </a:lnSpc>
              <a:spcBef>
                <a:spcPts val="15"/>
              </a:spcBef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4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3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6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465" dirty="0"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∗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++)</a:t>
            </a:r>
            <a:endParaRPr sz="900">
              <a:latin typeface="Arial"/>
              <a:cs typeface="Arial"/>
            </a:endParaRPr>
          </a:p>
          <a:p>
            <a:pPr marL="43624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j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2875" marR="5080" indent="-130810">
              <a:lnSpc>
                <a:spcPct val="102600"/>
              </a:lnSpc>
              <a:spcBef>
                <a:spcPts val="94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Comma: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lowest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precedence,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evaluated 	left-to-</a:t>
            </a:r>
            <a:r>
              <a:rPr sz="1100" dirty="0">
                <a:latin typeface="Arial"/>
                <a:cs typeface="Arial"/>
              </a:rPr>
              <a:t>right;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arguments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b="0" dirty="0">
                <a:latin typeface="Courier New"/>
                <a:cs typeface="Courier New"/>
              </a:rPr>
              <a:t>do-while</a:t>
            </a:r>
            <a:r>
              <a:rPr b="0" spc="-340" dirty="0">
                <a:latin typeface="Courier New"/>
                <a:cs typeface="Courier New"/>
              </a:rPr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458" y="790620"/>
            <a:ext cx="1994535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do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loop</a:t>
            </a:r>
            <a:r>
              <a:rPr sz="900" spc="45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body</a:t>
            </a:r>
            <a:r>
              <a:rPr sz="900" spc="48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55575" marR="13335" indent="5715">
              <a:lnSpc>
                <a:spcPct val="101499"/>
              </a:lnSpc>
            </a:pPr>
            <a:r>
              <a:rPr sz="900" spc="60" dirty="0">
                <a:latin typeface="Arial"/>
                <a:cs typeface="Arial"/>
              </a:rPr>
              <a:t>puts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"Keep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going? (y/n) "</a:t>
            </a:r>
            <a:r>
              <a:rPr sz="900" spc="-36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c</a:t>
            </a:r>
            <a:r>
              <a:rPr sz="900" spc="3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spc="75" dirty="0">
                <a:latin typeface="Arial"/>
                <a:cs typeface="Arial"/>
              </a:rPr>
              <a:t>getchar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other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processing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}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==</a:t>
            </a:r>
            <a:r>
              <a:rPr sz="900" spc="29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’y’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dirty="0">
                <a:latin typeface="Arial"/>
                <a:cs typeface="Arial"/>
              </a:rPr>
              <a:t>&amp;&amp;</a:t>
            </a:r>
            <a:r>
              <a:rPr sz="900" spc="36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8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other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2536" y="1625683"/>
            <a:ext cx="10128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58" y="1924925"/>
            <a:ext cx="3619500" cy="784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5080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Differs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while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after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each 	</a:t>
            </a:r>
            <a:r>
              <a:rPr sz="1100" spc="-10" dirty="0">
                <a:latin typeface="Arial"/>
                <a:cs typeface="Arial"/>
              </a:rPr>
              <a:t>iteration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Body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executed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once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semicolon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80" dirty="0"/>
              <a:t> </a:t>
            </a:r>
            <a:r>
              <a:rPr b="0" dirty="0">
                <a:latin typeface="Courier New"/>
                <a:cs typeface="Courier New"/>
              </a:rPr>
              <a:t>break</a:t>
            </a:r>
            <a:r>
              <a:rPr b="0" spc="-365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627656"/>
            <a:ext cx="3513454" cy="21513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Sometimes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want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terminate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early</a:t>
            </a:r>
            <a:endParaRPr sz="1100">
              <a:latin typeface="Arial"/>
              <a:cs typeface="Arial"/>
            </a:endParaRPr>
          </a:p>
          <a:p>
            <a:pPr marL="142875" marR="5080" indent="-130810">
              <a:lnSpc>
                <a:spcPct val="102600"/>
              </a:lnSpc>
              <a:spcBef>
                <a:spcPts val="300"/>
              </a:spcBef>
              <a:buClr>
                <a:srgbClr val="000000"/>
              </a:buClr>
              <a:buSzPct val="111111"/>
              <a:buFont typeface="Lucida Sans Unicode"/>
              <a:buChar char="•"/>
              <a:tabLst>
                <a:tab pos="14478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innermost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switch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statement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exit 	early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Consider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modification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do-while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example:</a:t>
            </a:r>
            <a:endParaRPr sz="1100">
              <a:latin typeface="Arial"/>
              <a:cs typeface="Arial"/>
            </a:endParaRPr>
          </a:p>
          <a:p>
            <a:pPr marL="151765">
              <a:lnSpc>
                <a:spcPct val="100000"/>
              </a:lnSpc>
              <a:spcBef>
                <a:spcPts val="57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414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do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loop</a:t>
            </a:r>
            <a:r>
              <a:rPr sz="900" spc="45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body</a:t>
            </a:r>
            <a:r>
              <a:rPr sz="900" spc="48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020" marR="1400810" indent="5715">
              <a:lnSpc>
                <a:spcPct val="101499"/>
              </a:lnSpc>
            </a:pPr>
            <a:r>
              <a:rPr sz="900" spc="60" dirty="0">
                <a:latin typeface="Arial"/>
                <a:cs typeface="Arial"/>
              </a:rPr>
              <a:t>puts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"Keep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going? (y/n) "</a:t>
            </a:r>
            <a:r>
              <a:rPr sz="900" spc="-36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c</a:t>
            </a:r>
            <a:r>
              <a:rPr sz="900" spc="3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spc="75" dirty="0">
                <a:latin typeface="Arial"/>
                <a:cs typeface="Arial"/>
              </a:rPr>
              <a:t>getchar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30416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!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’y’</a:t>
            </a:r>
            <a:r>
              <a:rPr sz="900" spc="-420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42481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other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processing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}</a:t>
            </a:r>
            <a:r>
              <a:rPr sz="900" spc="490" dirty="0"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9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other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b="0" dirty="0">
                <a:latin typeface="Courier New"/>
                <a:cs typeface="Courier New"/>
              </a:rPr>
              <a:t>continue</a:t>
            </a:r>
            <a:r>
              <a:rPr b="0" spc="-340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460639"/>
            <a:ext cx="3832225" cy="25692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skip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</a:t>
            </a:r>
            <a:endParaRPr sz="1100">
              <a:latin typeface="Arial"/>
              <a:cs typeface="Arial"/>
            </a:endParaRPr>
          </a:p>
          <a:p>
            <a:pPr marL="142875" marR="104139" indent="-130810">
              <a:lnSpc>
                <a:spcPct val="102600"/>
              </a:lnSpc>
              <a:spcBef>
                <a:spcPts val="300"/>
              </a:spcBef>
              <a:buClr>
                <a:srgbClr val="000000"/>
              </a:buClr>
              <a:buSzPct val="111111"/>
              <a:buFont typeface="Lucida Sans Unicode"/>
              <a:buChar char="•"/>
              <a:tabLst>
                <a:tab pos="14478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continue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skips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innermost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body,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jumping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loop 	</a:t>
            </a:r>
            <a:r>
              <a:rPr sz="1100" spc="-10" dirty="0">
                <a:latin typeface="Arial"/>
                <a:cs typeface="Arial"/>
              </a:rPr>
              <a:t>condition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Example:</a:t>
            </a:r>
            <a:endParaRPr sz="11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57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define</a:t>
            </a:r>
            <a:r>
              <a:rPr sz="900" b="1" spc="4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65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?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gcd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5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spc="70" dirty="0">
                <a:latin typeface="Arial"/>
                <a:cs typeface="Arial"/>
              </a:rPr>
              <a:t>minval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4640">
              <a:lnSpc>
                <a:spcPct val="100000"/>
              </a:lnSpc>
              <a:spcBef>
                <a:spcPts val="15"/>
              </a:spcBef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spc="70" dirty="0">
                <a:latin typeface="Arial"/>
                <a:cs typeface="Arial"/>
              </a:rPr>
              <a:t>minval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8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++)</a:t>
            </a:r>
            <a:r>
              <a:rPr sz="900" spc="48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1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3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not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4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43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562610">
              <a:lnSpc>
                <a:spcPct val="100000"/>
              </a:lnSpc>
              <a:spcBef>
                <a:spcPts val="15"/>
              </a:spcBef>
            </a:pPr>
            <a:r>
              <a:rPr sz="900" b="1" spc="30" dirty="0">
                <a:solidFill>
                  <a:srgbClr val="0000FF"/>
                </a:solidFill>
                <a:latin typeface="Arial"/>
                <a:cs typeface="Arial"/>
              </a:rPr>
              <a:t>continue</a:t>
            </a:r>
            <a:r>
              <a:rPr sz="900" b="1" spc="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572770" marR="5080" indent="-132715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1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3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3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18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48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both</a:t>
            </a:r>
            <a:r>
              <a:rPr sz="900" spc="3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3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and</a:t>
            </a:r>
            <a:r>
              <a:rPr sz="900" spc="3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43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5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20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Lecture</a:t>
            </a:r>
            <a:r>
              <a:rPr lang="en-US" spc="60" dirty="0"/>
              <a:t> 5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</a:t>
            </a:r>
            <a:r>
              <a:rPr lang="en-US" spc="65" dirty="0"/>
              <a:t> </a:t>
            </a:r>
            <a:r>
              <a:rPr lang="en-US" dirty="0"/>
              <a:t>13,</a:t>
            </a:r>
            <a:r>
              <a:rPr lang="en-US" spc="60" dirty="0"/>
              <a:t> </a:t>
            </a:r>
            <a:r>
              <a:rPr lang="en-US" spc="-20" dirty="0"/>
              <a:t>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88645"/>
            <a:ext cx="269875" cy="2387600"/>
            <a:chOff x="359994" y="588645"/>
            <a:chExt cx="269875" cy="2387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886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914476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240307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42007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592148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91029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236127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56195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817" y="274172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913799"/>
              <a:ext cx="61874" cy="618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4680" y="521460"/>
            <a:ext cx="2155825" cy="2509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944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Blocks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Compound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Statements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Control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187325" marR="527685">
              <a:lnSpc>
                <a:spcPct val="1026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Conditional Statements Loops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spc="-10" dirty="0"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2700" marR="767715">
              <a:lnSpc>
                <a:spcPct val="1944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Modular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Programming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Scope</a:t>
            </a:r>
            <a:endParaRPr sz="1100">
              <a:latin typeface="Arial"/>
              <a:cs typeface="Arial"/>
            </a:endParaRPr>
          </a:p>
          <a:p>
            <a:pPr marL="187325" marR="838835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Static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Register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25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933565"/>
            <a:ext cx="3134360" cy="14097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79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Already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including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main()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R="1903095" algn="r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8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R="1903095" algn="r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09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4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success</a:t>
            </a:r>
            <a:r>
              <a:rPr sz="900" spc="4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969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Basic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syntax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explained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Lecture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How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functions?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25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Divide</a:t>
            </a:r>
            <a:r>
              <a:rPr spc="80" dirty="0"/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spc="-10" dirty="0"/>
              <a:t>conquer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53833"/>
            <a:ext cx="3651885" cy="24263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5080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Conceptualize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broken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smaller 	</a:t>
            </a:r>
            <a:r>
              <a:rPr sz="1100" spc="-20" dirty="0">
                <a:latin typeface="Arial"/>
                <a:cs typeface="Arial"/>
              </a:rPr>
              <a:t>parts</a:t>
            </a:r>
            <a:endParaRPr sz="1100">
              <a:latin typeface="Arial"/>
              <a:cs typeface="Arial"/>
            </a:endParaRPr>
          </a:p>
          <a:p>
            <a:pPr marL="142875" marR="43180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Let’s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design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solve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Diophantine 	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(</a:t>
            </a:r>
            <a:r>
              <a:rPr sz="1100" i="1" spc="-40" dirty="0">
                <a:latin typeface="Bookman Old Style"/>
                <a:cs typeface="Bookman Old Style"/>
              </a:rPr>
              <a:t>ax</a:t>
            </a:r>
            <a:r>
              <a:rPr sz="1100" i="1" spc="-9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175" dirty="0">
                <a:latin typeface="Bookman Old Style"/>
                <a:cs typeface="Bookman Old Style"/>
              </a:rPr>
              <a:t>by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c</a:t>
            </a:r>
            <a:r>
              <a:rPr sz="1100" spc="-20" dirty="0">
                <a:latin typeface="Arial"/>
                <a:cs typeface="Arial"/>
              </a:rPr>
              <a:t>,</a:t>
            </a:r>
            <a:r>
              <a:rPr sz="1100" i="1" spc="-20" dirty="0">
                <a:latin typeface="Bookman Old Style"/>
                <a:cs typeface="Bookman Old Style"/>
              </a:rPr>
              <a:t>x,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integers):</a:t>
            </a:r>
            <a:endParaRPr sz="1100">
              <a:latin typeface="Arial"/>
              <a:cs typeface="Arial"/>
            </a:endParaRPr>
          </a:p>
          <a:p>
            <a:pPr marL="144780" marR="1297305">
              <a:lnSpc>
                <a:spcPct val="100000"/>
              </a:lnSpc>
              <a:spcBef>
                <a:spcPts val="275"/>
              </a:spcBef>
            </a:pPr>
            <a:r>
              <a:rPr sz="1000" i="1" dirty="0">
                <a:latin typeface="Courier New"/>
                <a:cs typeface="Courier New"/>
              </a:rPr>
              <a:t>get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a,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b,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c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from</a:t>
            </a:r>
            <a:r>
              <a:rPr sz="1000" i="1" spc="-2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command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spc="-20" dirty="0">
                <a:latin typeface="Courier New"/>
                <a:cs typeface="Courier New"/>
              </a:rPr>
              <a:t>line </a:t>
            </a:r>
            <a:r>
              <a:rPr sz="1000" i="1" dirty="0">
                <a:latin typeface="Courier New"/>
                <a:cs typeface="Courier New"/>
              </a:rPr>
              <a:t>compute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g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=</a:t>
            </a:r>
            <a:r>
              <a:rPr sz="1000" i="1" spc="-20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gcd(a,b)</a:t>
            </a:r>
            <a:endParaRPr sz="1000">
              <a:latin typeface="Courier New"/>
              <a:cs typeface="Courier New"/>
            </a:endParaRPr>
          </a:p>
          <a:p>
            <a:pPr marL="271145" marR="841375" indent="-12700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i="1" dirty="0">
                <a:latin typeface="Courier New"/>
                <a:cs typeface="Courier New"/>
              </a:rPr>
              <a:t>c</a:t>
            </a:r>
            <a:r>
              <a:rPr sz="1000" i="1" spc="-2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is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not</a:t>
            </a:r>
            <a:r>
              <a:rPr sz="1000" i="1" spc="-2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a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multiple</a:t>
            </a:r>
            <a:r>
              <a:rPr sz="1000" i="1" spc="-2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of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the</a:t>
            </a:r>
            <a:r>
              <a:rPr sz="1000" i="1" spc="-20" dirty="0">
                <a:latin typeface="Courier New"/>
                <a:cs typeface="Courier New"/>
              </a:rPr>
              <a:t> gcd</a:t>
            </a:r>
            <a:r>
              <a:rPr sz="1000" spc="-20" dirty="0">
                <a:latin typeface="Courier New"/>
                <a:cs typeface="Courier New"/>
              </a:rPr>
              <a:t>) </a:t>
            </a:r>
            <a:r>
              <a:rPr sz="1000" i="1" dirty="0">
                <a:latin typeface="Courier New"/>
                <a:cs typeface="Courier New"/>
              </a:rPr>
              <a:t>no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solutions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exist;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spc="-20" dirty="0">
                <a:latin typeface="Courier New"/>
                <a:cs typeface="Courier New"/>
              </a:rPr>
              <a:t>exit</a:t>
            </a:r>
            <a:endParaRPr sz="1000">
              <a:latin typeface="Courier New"/>
              <a:cs typeface="Courier New"/>
            </a:endParaRPr>
          </a:p>
          <a:p>
            <a:pPr marL="144780">
              <a:lnSpc>
                <a:spcPts val="1150"/>
              </a:lnSpc>
            </a:pPr>
            <a:r>
              <a:rPr sz="1000" i="1" dirty="0">
                <a:latin typeface="Courier New"/>
                <a:cs typeface="Courier New"/>
              </a:rPr>
              <a:t>run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Extended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Euclidean</a:t>
            </a:r>
            <a:r>
              <a:rPr sz="1000" i="1" spc="-3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algorithm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on</a:t>
            </a:r>
            <a:r>
              <a:rPr sz="1000" i="1" spc="-3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a,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spc="-50" dirty="0">
                <a:latin typeface="Courier New"/>
                <a:cs typeface="Courier New"/>
              </a:rPr>
              <a:t>b</a:t>
            </a:r>
            <a:endParaRPr sz="1000">
              <a:latin typeface="Courier New"/>
              <a:cs typeface="Courier New"/>
            </a:endParaRPr>
          </a:p>
          <a:p>
            <a:pPr marL="144780">
              <a:lnSpc>
                <a:spcPts val="1200"/>
              </a:lnSpc>
            </a:pPr>
            <a:r>
              <a:rPr sz="1000" i="1" dirty="0">
                <a:latin typeface="Courier New"/>
                <a:cs typeface="Courier New"/>
              </a:rPr>
              <a:t>rescale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x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and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y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output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by</a:t>
            </a:r>
            <a:r>
              <a:rPr sz="1000" i="1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(c/g)</a:t>
            </a:r>
            <a:endParaRPr sz="1000">
              <a:latin typeface="Courier New"/>
              <a:cs typeface="Courier New"/>
            </a:endParaRPr>
          </a:p>
          <a:p>
            <a:pPr marL="144780">
              <a:lnSpc>
                <a:spcPct val="100000"/>
              </a:lnSpc>
              <a:spcBef>
                <a:spcPts val="155"/>
              </a:spcBef>
            </a:pPr>
            <a:r>
              <a:rPr sz="1000" i="1" dirty="0">
                <a:latin typeface="Courier New"/>
                <a:cs typeface="Courier New"/>
              </a:rPr>
              <a:t>print</a:t>
            </a:r>
            <a:r>
              <a:rPr sz="1000" i="1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solution</a:t>
            </a:r>
            <a:endParaRPr sz="1000">
              <a:latin typeface="Courier New"/>
              <a:cs typeface="Courier New"/>
            </a:endParaRPr>
          </a:p>
          <a:p>
            <a:pPr marL="143510" indent="-130810">
              <a:lnSpc>
                <a:spcPct val="100000"/>
              </a:lnSpc>
              <a:spcBef>
                <a:spcPts val="65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Extended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Euclidean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integers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x,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140" dirty="0">
                <a:latin typeface="Bookman Old Style"/>
                <a:cs typeface="Bookman Old Style"/>
              </a:rPr>
              <a:t>y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Arial"/>
                <a:cs typeface="Arial"/>
              </a:rPr>
              <a:t>s.t.</a:t>
            </a:r>
            <a:endParaRPr sz="1100">
              <a:latin typeface="Arial"/>
              <a:cs typeface="Arial"/>
            </a:endParaRPr>
          </a:p>
          <a:p>
            <a:pPr marL="248920" algn="ctr">
              <a:lnSpc>
                <a:spcPct val="100000"/>
              </a:lnSpc>
              <a:spcBef>
                <a:spcPts val="1130"/>
              </a:spcBef>
            </a:pPr>
            <a:r>
              <a:rPr sz="1100" i="1" spc="-55" dirty="0">
                <a:latin typeface="Bookman Old Style"/>
                <a:cs typeface="Bookman Old Style"/>
              </a:rPr>
              <a:t>ax</a:t>
            </a:r>
            <a:r>
              <a:rPr sz="1100" i="1" spc="-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175" dirty="0">
                <a:latin typeface="Bookman Old Style"/>
                <a:cs typeface="Bookman Old Style"/>
              </a:rPr>
              <a:t>by</a:t>
            </a:r>
            <a:r>
              <a:rPr sz="1100" i="1" spc="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spc="-50" dirty="0">
                <a:latin typeface="Tahoma"/>
                <a:cs typeface="Tahoma"/>
              </a:rPr>
              <a:t>gcd(</a:t>
            </a:r>
            <a:r>
              <a:rPr sz="1100" i="1" spc="-50" dirty="0">
                <a:latin typeface="Bookman Old Style"/>
                <a:cs typeface="Bookman Old Style"/>
              </a:rPr>
              <a:t>a,</a:t>
            </a:r>
            <a:r>
              <a:rPr sz="1100" i="1" spc="-13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Computing</a:t>
            </a:r>
            <a:r>
              <a:rPr spc="105" dirty="0"/>
              <a:t> </a:t>
            </a:r>
            <a:r>
              <a:rPr dirty="0"/>
              <a:t>the</a:t>
            </a:r>
            <a:r>
              <a:rPr spc="110" dirty="0"/>
              <a:t> </a:t>
            </a:r>
            <a:r>
              <a:rPr spc="-25" dirty="0"/>
              <a:t>gcd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498892"/>
            <a:ext cx="3109595" cy="4914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79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Compute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gcd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Euclidean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gcd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508" y="967290"/>
            <a:ext cx="1637664" cy="858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{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5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3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&lt;</a:t>
            </a:r>
            <a:r>
              <a:rPr sz="900" spc="3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endParaRPr sz="900">
              <a:latin typeface="Arial"/>
              <a:cs typeface="Arial"/>
            </a:endParaRPr>
          </a:p>
          <a:p>
            <a:pPr marL="142240" marR="619760" indent="13335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b</a:t>
            </a:r>
            <a:r>
              <a:rPr sz="900" spc="3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1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224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0005" y="967290"/>
            <a:ext cx="10928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performs</a:t>
            </a:r>
            <a:r>
              <a:rPr sz="900" spc="4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swap</a:t>
            </a:r>
            <a:r>
              <a:rPr sz="900" spc="4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306" y="1802301"/>
            <a:ext cx="3792220" cy="60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 dirty="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940"/>
              </a:spcBef>
              <a:buSzPct val="90909"/>
              <a:buFont typeface="Lucida Sans Unicode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Algorithm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relies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gcd(</a:t>
            </a:r>
            <a:r>
              <a:rPr sz="1100" i="1" spc="-50" dirty="0">
                <a:latin typeface="Bookman Old Style"/>
                <a:cs typeface="Bookman Old Style"/>
              </a:rPr>
              <a:t>a,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110" dirty="0">
                <a:latin typeface="Bookman Old Style"/>
                <a:cs typeface="Bookman Old Style"/>
              </a:rPr>
              <a:t>b</a:t>
            </a:r>
            <a:r>
              <a:rPr sz="1100" spc="-11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gcd(</a:t>
            </a:r>
            <a:r>
              <a:rPr sz="1100" i="1" spc="-65" dirty="0">
                <a:latin typeface="Bookman Old Style"/>
                <a:cs typeface="Bookman Old Style"/>
              </a:rPr>
              <a:t>b,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125" dirty="0">
                <a:latin typeface="Bookman Old Style"/>
                <a:cs typeface="Bookman Old Style"/>
              </a:rPr>
              <a:t>a</a:t>
            </a:r>
            <a:r>
              <a:rPr sz="1100" i="1" spc="-3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ahoma"/>
                <a:cs typeface="Tahoma"/>
              </a:rPr>
              <a:t>mod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85" dirty="0">
                <a:latin typeface="Bookman Old Style"/>
                <a:cs typeface="Bookman Old Style"/>
              </a:rPr>
              <a:t>b</a:t>
            </a:r>
            <a:r>
              <a:rPr sz="1100" spc="-85" dirty="0">
                <a:latin typeface="Tahoma"/>
                <a:cs typeface="Tahoma"/>
              </a:rPr>
              <a:t>)</a:t>
            </a:r>
            <a:r>
              <a:rPr sz="1100" i="1" spc="-85" dirty="0">
                <a:latin typeface="Bookman Old Style"/>
                <a:cs typeface="Bookman Old Style"/>
              </a:rPr>
              <a:t>,</a:t>
            </a:r>
            <a:r>
              <a:rPr sz="110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natural 	</a:t>
            </a:r>
            <a:r>
              <a:rPr sz="1100" dirty="0">
                <a:latin typeface="Arial"/>
                <a:cs typeface="Arial"/>
              </a:rPr>
              <a:t>numbers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spc="-125" dirty="0">
                <a:latin typeface="Bookman Old Style"/>
                <a:cs typeface="Bookman Old Style"/>
              </a:rPr>
              <a:t>a</a:t>
            </a:r>
            <a:r>
              <a:rPr sz="1100" i="1" spc="-30" dirty="0">
                <a:latin typeface="Bookman Old Style"/>
                <a:cs typeface="Bookman Old Style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45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Extended</a:t>
            </a:r>
            <a:r>
              <a:rPr spc="135" dirty="0"/>
              <a:t> </a:t>
            </a:r>
            <a:r>
              <a:rPr dirty="0"/>
              <a:t>Euclidean</a:t>
            </a:r>
            <a:r>
              <a:rPr spc="14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73040"/>
            <a:ext cx="2911475" cy="15011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100" dirty="0">
                <a:latin typeface="Arial"/>
                <a:cs typeface="Arial"/>
              </a:rPr>
              <a:t>Pseudocode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Extended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Euclidean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algorithm:</a:t>
            </a:r>
            <a:endParaRPr sz="1100">
              <a:latin typeface="Arial"/>
              <a:cs typeface="Arial"/>
            </a:endParaRPr>
          </a:p>
          <a:p>
            <a:pPr marL="12700" marR="461009">
              <a:lnSpc>
                <a:spcPct val="100000"/>
              </a:lnSpc>
              <a:spcBef>
                <a:spcPts val="275"/>
              </a:spcBef>
            </a:pPr>
            <a:r>
              <a:rPr sz="1000" i="1" dirty="0">
                <a:latin typeface="Courier New"/>
                <a:cs typeface="Courier New"/>
              </a:rPr>
              <a:t>Initialize</a:t>
            </a:r>
            <a:r>
              <a:rPr sz="1000" i="1" spc="-5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state</a:t>
            </a:r>
            <a:r>
              <a:rPr sz="1000" i="1" spc="-5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variables</a:t>
            </a:r>
            <a:r>
              <a:rPr sz="1000" i="1" spc="-50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(x,y)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i="1" dirty="0">
                <a:latin typeface="Courier New"/>
                <a:cs typeface="Courier New"/>
              </a:rPr>
              <a:t>a</a:t>
            </a:r>
            <a:r>
              <a:rPr sz="1000" i="1" spc="-1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&lt;</a:t>
            </a:r>
            <a:r>
              <a:rPr sz="1000" i="1" spc="-15" dirty="0">
                <a:latin typeface="Courier New"/>
                <a:cs typeface="Courier New"/>
              </a:rPr>
              <a:t> </a:t>
            </a:r>
            <a:r>
              <a:rPr sz="1000" i="1" spc="-25" dirty="0">
                <a:latin typeface="Courier New"/>
                <a:cs typeface="Courier New"/>
              </a:rPr>
              <a:t>b</a:t>
            </a:r>
            <a:r>
              <a:rPr sz="1000" spc="-25" dirty="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39065">
              <a:lnSpc>
                <a:spcPts val="1190"/>
              </a:lnSpc>
            </a:pPr>
            <a:r>
              <a:rPr sz="1000" i="1" spc="-10" dirty="0">
                <a:latin typeface="Courier New"/>
                <a:cs typeface="Courier New"/>
              </a:rPr>
              <a:t>swap(a,b)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95"/>
              </a:lnSpc>
            </a:pPr>
            <a:r>
              <a:rPr sz="1000" dirty="0">
                <a:latin typeface="Courier New"/>
                <a:cs typeface="Courier New"/>
              </a:rPr>
              <a:t>while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i="1" dirty="0">
                <a:latin typeface="Courier New"/>
                <a:cs typeface="Courier New"/>
              </a:rPr>
              <a:t>b</a:t>
            </a:r>
            <a:r>
              <a:rPr sz="1000" i="1" spc="-2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&gt;</a:t>
            </a:r>
            <a:r>
              <a:rPr sz="1000" i="1" spc="-2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0</a:t>
            </a:r>
            <a:r>
              <a:rPr sz="1000" dirty="0">
                <a:latin typeface="Courier New"/>
                <a:cs typeface="Courier New"/>
              </a:rPr>
              <a:t>)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39065" marR="638175">
              <a:lnSpc>
                <a:spcPts val="1200"/>
              </a:lnSpc>
              <a:spcBef>
                <a:spcPts val="40"/>
              </a:spcBef>
            </a:pPr>
            <a:r>
              <a:rPr sz="1000" i="1" dirty="0">
                <a:latin typeface="Courier New"/>
                <a:cs typeface="Courier New"/>
              </a:rPr>
              <a:t>compute</a:t>
            </a:r>
            <a:r>
              <a:rPr sz="1000" i="1" spc="-5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quotient,</a:t>
            </a:r>
            <a:r>
              <a:rPr sz="1000" i="1" spc="-55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remainder </a:t>
            </a:r>
            <a:r>
              <a:rPr sz="1000" i="1" dirty="0">
                <a:latin typeface="Courier New"/>
                <a:cs typeface="Courier New"/>
              </a:rPr>
              <a:t>update</a:t>
            </a:r>
            <a:r>
              <a:rPr sz="1000" i="1" spc="-5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state</a:t>
            </a:r>
            <a:r>
              <a:rPr sz="1000" i="1" spc="-4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variables</a:t>
            </a:r>
            <a:r>
              <a:rPr sz="1000" i="1" spc="-45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(x,y)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5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00" i="1" dirty="0">
                <a:latin typeface="Courier New"/>
                <a:cs typeface="Courier New"/>
              </a:rPr>
              <a:t>return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gcd</a:t>
            </a:r>
            <a:r>
              <a:rPr sz="1000" i="1" spc="-3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and</a:t>
            </a:r>
            <a:r>
              <a:rPr sz="1000" i="1" spc="-3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state</a:t>
            </a:r>
            <a:r>
              <a:rPr sz="1000" i="1" spc="-35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variables</a:t>
            </a:r>
            <a:r>
              <a:rPr sz="1000" i="1" spc="-40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(x,y)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28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Returning</a:t>
            </a:r>
            <a:r>
              <a:rPr spc="125" dirty="0"/>
              <a:t> </a:t>
            </a:r>
            <a:r>
              <a:rPr dirty="0"/>
              <a:t>multiple</a:t>
            </a:r>
            <a:r>
              <a:rPr spc="130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971028"/>
            <a:ext cx="3650615" cy="14522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5080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Extended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Euclidean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gcd,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 	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x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(up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Solution: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global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17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Declare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outside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variables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declared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outside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block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globals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persist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throughout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life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program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can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accessed/modified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function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Divide</a:t>
            </a:r>
            <a:r>
              <a:rPr spc="80" dirty="0"/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spc="-10" dirty="0"/>
              <a:t>conquer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36083"/>
            <a:ext cx="3045460" cy="10026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2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Break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down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sub-problems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1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Consider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iteration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recursion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ct val="1000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How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implement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gcd(a,b)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recursively?</a:t>
            </a:r>
            <a:endParaRPr sz="10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5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Minimize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Writing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pseudocode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help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30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Lecture</a:t>
            </a:r>
            <a:r>
              <a:rPr lang="en-US" spc="60" dirty="0"/>
              <a:t> 5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</a:t>
            </a:r>
            <a:r>
              <a:rPr lang="en-US" spc="65" dirty="0"/>
              <a:t> </a:t>
            </a:r>
            <a:r>
              <a:rPr lang="en-US" dirty="0"/>
              <a:t>13,</a:t>
            </a:r>
            <a:r>
              <a:rPr lang="en-US" spc="60" dirty="0"/>
              <a:t> </a:t>
            </a:r>
            <a:r>
              <a:rPr lang="en-US" spc="-20" dirty="0"/>
              <a:t>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88645"/>
            <a:ext cx="269875" cy="2387600"/>
            <a:chOff x="359994" y="588645"/>
            <a:chExt cx="269875" cy="2387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886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914476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240307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42007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592148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91029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236127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56195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817" y="274172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913799"/>
              <a:ext cx="61874" cy="618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4680" y="521460"/>
            <a:ext cx="2155825" cy="2509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944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Blocks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Compound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Statements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Control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187325" marR="527685">
              <a:lnSpc>
                <a:spcPct val="1026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Conditional Statements Loops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2700" marR="767715">
              <a:lnSpc>
                <a:spcPct val="194400"/>
              </a:lnSpc>
            </a:pPr>
            <a:r>
              <a:rPr sz="1100" dirty="0">
                <a:latin typeface="Arial"/>
                <a:cs typeface="Arial"/>
              </a:rPr>
              <a:t>Modular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Scope</a:t>
            </a:r>
            <a:endParaRPr sz="1100">
              <a:latin typeface="Arial"/>
              <a:cs typeface="Arial"/>
            </a:endParaRPr>
          </a:p>
          <a:p>
            <a:pPr marL="187325" marR="838835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Static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Register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31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Programming</a:t>
            </a:r>
            <a:r>
              <a:rPr spc="100" dirty="0"/>
              <a:t> </a:t>
            </a:r>
            <a:r>
              <a:rPr dirty="0"/>
              <a:t>modules</a:t>
            </a:r>
            <a:r>
              <a:rPr spc="100" dirty="0"/>
              <a:t> </a:t>
            </a:r>
            <a:r>
              <a:rPr dirty="0"/>
              <a:t>in</a:t>
            </a:r>
            <a:r>
              <a:rPr spc="100" dirty="0"/>
              <a:t> </a:t>
            </a:r>
            <a:r>
              <a:rPr spc="-50"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091220"/>
            <a:ext cx="3353435" cy="11163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2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monolithic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1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Module: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interface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implementation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interface: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header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files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implementation: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auxilliary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source/object</a:t>
            </a:r>
            <a:r>
              <a:rPr sz="1000" spc="-10" dirty="0">
                <a:latin typeface="Arial"/>
                <a:cs typeface="Arial"/>
              </a:rPr>
              <a:t> files</a:t>
            </a:r>
            <a:endParaRPr sz="1000">
              <a:latin typeface="Arial"/>
              <a:cs typeface="Arial"/>
            </a:endParaRPr>
          </a:p>
          <a:p>
            <a:pPr marL="142875" marR="5080" indent="-130810">
              <a:lnSpc>
                <a:spcPct val="102600"/>
              </a:lnSpc>
              <a:spcBef>
                <a:spcPts val="32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Same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concept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carries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external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libraries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(next 	week.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0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31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75" dirty="0"/>
              <a:t> </a:t>
            </a:r>
            <a:r>
              <a:rPr dirty="0"/>
              <a:t>Euclid</a:t>
            </a:r>
            <a:r>
              <a:rPr spc="75" dirty="0"/>
              <a:t> </a:t>
            </a:r>
            <a:r>
              <a:rPr spc="-10" dirty="0"/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79281"/>
            <a:ext cx="333438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Euclid’s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useful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contexts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Would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functionality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programs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Solution: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module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Euclid’s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algorithms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Need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dirty="0">
                <a:latin typeface="Courier New"/>
                <a:cs typeface="Courier New"/>
              </a:rPr>
              <a:t>.h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(</a:t>
            </a:r>
            <a:r>
              <a:rPr sz="1100" spc="-20" dirty="0">
                <a:latin typeface="Courier New"/>
                <a:cs typeface="Courier New"/>
              </a:rPr>
              <a:t>.c</a:t>
            </a:r>
            <a:r>
              <a:rPr sz="1100" spc="-2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75" dirty="0"/>
              <a:t> </a:t>
            </a:r>
            <a:r>
              <a:rPr dirty="0"/>
              <a:t>source:</a:t>
            </a:r>
            <a:r>
              <a:rPr spc="195" dirty="0"/>
              <a:t> </a:t>
            </a:r>
            <a:r>
              <a:rPr b="0" spc="-10" dirty="0">
                <a:latin typeface="Courier New"/>
                <a:cs typeface="Courier New"/>
              </a:rPr>
              <a:t>euclid.c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74523"/>
            <a:ext cx="2014855" cy="63055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dirty="0">
                <a:latin typeface="Arial"/>
                <a:cs typeface="Arial"/>
              </a:rPr>
              <a:t>Implement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gcd()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euclid.c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57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1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3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gcd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7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gcd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spc="-6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420" y="1282072"/>
            <a:ext cx="1637664" cy="858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{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5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3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&lt;</a:t>
            </a:r>
            <a:r>
              <a:rPr sz="900" spc="3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endParaRPr sz="900">
              <a:latin typeface="Arial"/>
              <a:cs typeface="Arial"/>
            </a:endParaRPr>
          </a:p>
          <a:p>
            <a:pPr marL="142240" marR="619760" indent="13335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b</a:t>
            </a:r>
            <a:r>
              <a:rPr sz="900" spc="3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%</a:t>
            </a:r>
            <a:r>
              <a:rPr sz="900" spc="1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224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2917" y="1282072"/>
            <a:ext cx="10928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performs</a:t>
            </a:r>
            <a:r>
              <a:rPr sz="900" spc="4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swap</a:t>
            </a:r>
            <a:r>
              <a:rPr sz="900" spc="4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045850"/>
            <a:ext cx="2884805" cy="65849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65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00" dirty="0">
                <a:latin typeface="Arial"/>
                <a:cs typeface="Arial"/>
              </a:rPr>
              <a:t>Extended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Euclidean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Courier New"/>
                <a:cs typeface="Courier New"/>
              </a:rPr>
              <a:t>ext_euclid()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euclid.c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90" dirty="0"/>
              <a:t> </a:t>
            </a:r>
            <a:r>
              <a:rPr b="0" dirty="0">
                <a:latin typeface="Courier New"/>
                <a:cs typeface="Courier New"/>
              </a:rPr>
              <a:t>extern</a:t>
            </a:r>
            <a:r>
              <a:rPr b="0" spc="-360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74762"/>
            <a:ext cx="3744595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203835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Need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inform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about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functions/global 	variables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euclid.c</a:t>
            </a:r>
            <a:endParaRPr sz="1100">
              <a:latin typeface="Courier New"/>
              <a:cs typeface="Courier New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prototypes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file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variables: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re-</a:t>
            </a:r>
            <a:r>
              <a:rPr sz="1100" dirty="0">
                <a:latin typeface="Arial"/>
                <a:cs typeface="Arial"/>
              </a:rPr>
              <a:t>declare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global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latin typeface="Courier New"/>
                <a:cs typeface="Courier New"/>
              </a:rPr>
              <a:t>extern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keyword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header</a:t>
            </a:r>
            <a:r>
              <a:rPr sz="1100" spc="-20" dirty="0">
                <a:latin typeface="Arial"/>
                <a:cs typeface="Arial"/>
              </a:rPr>
              <a:t> file</a:t>
            </a:r>
            <a:endParaRPr sz="1100">
              <a:latin typeface="Arial"/>
              <a:cs typeface="Arial"/>
            </a:endParaRPr>
          </a:p>
          <a:p>
            <a:pPr marL="142875" marR="5080" indent="-130810">
              <a:lnSpc>
                <a:spcPct val="102600"/>
              </a:lnSpc>
              <a:spcBef>
                <a:spcPts val="29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spc="-20" dirty="0">
                <a:latin typeface="Courier New"/>
                <a:cs typeface="Courier New"/>
              </a:rPr>
              <a:t>extern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informs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compiler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somewhere 	</a:t>
            </a:r>
            <a:r>
              <a:rPr sz="1100" spc="-20" dirty="0">
                <a:latin typeface="Arial"/>
                <a:cs typeface="Arial"/>
              </a:rPr>
              <a:t>else</a:t>
            </a:r>
            <a:endParaRPr sz="1100">
              <a:latin typeface="Arial"/>
              <a:cs typeface="Arial"/>
            </a:endParaRPr>
          </a:p>
          <a:p>
            <a:pPr marL="142875" marR="240665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Enables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access/modifying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global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 	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80" dirty="0"/>
              <a:t> </a:t>
            </a:r>
            <a:r>
              <a:rPr dirty="0"/>
              <a:t>header:</a:t>
            </a:r>
            <a:r>
              <a:rPr spc="200" dirty="0"/>
              <a:t> </a:t>
            </a:r>
            <a:r>
              <a:rPr b="0" spc="-10" dirty="0">
                <a:latin typeface="Courier New"/>
                <a:cs typeface="Courier New"/>
              </a:rPr>
              <a:t>euclid.h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59078"/>
            <a:ext cx="3714115" cy="2350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Header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prototypes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gcd()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ext_euclid()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ensure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85" dirty="0">
                <a:solidFill>
                  <a:srgbClr val="B50A0A"/>
                </a:solidFill>
                <a:latin typeface="Arial"/>
                <a:cs typeface="Arial"/>
              </a:rPr>
              <a:t>included</a:t>
            </a:r>
            <a:r>
              <a:rPr sz="900" spc="16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only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once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40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u="sng" spc="27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Arial"/>
                <a:cs typeface="Arial"/>
              </a:rPr>
              <a:t>EUCLID_H</a:t>
            </a:r>
            <a:r>
              <a:rPr sz="9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9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define</a:t>
            </a:r>
            <a:r>
              <a:rPr sz="900" b="1" spc="3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u="sng" spc="27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Arial"/>
                <a:cs typeface="Arial"/>
              </a:rPr>
              <a:t>EUCLID_H</a:t>
            </a:r>
            <a:r>
              <a:rPr sz="9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declared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.</a:t>
            </a:r>
            <a:r>
              <a:rPr sz="900" spc="-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  <a:spcBef>
                <a:spcPts val="15"/>
              </a:spcBef>
            </a:pP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extern</a:t>
            </a:r>
            <a:r>
              <a:rPr sz="900" b="1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compute</a:t>
            </a:r>
            <a:r>
              <a:rPr sz="900" spc="4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gcd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gcd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8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compute</a:t>
            </a:r>
            <a:r>
              <a:rPr sz="900" spc="3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3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</a:t>
            </a:r>
            <a:r>
              <a:rPr sz="900" spc="3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gcd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and</a:t>
            </a:r>
            <a:r>
              <a:rPr sz="900" spc="4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solve</a:t>
            </a:r>
            <a:r>
              <a:rPr sz="900" spc="4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ax+by=g</a:t>
            </a:r>
            <a:r>
              <a:rPr sz="900" spc="4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endif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Using</a:t>
            </a:r>
            <a:r>
              <a:rPr spc="75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Euclid</a:t>
            </a:r>
            <a:r>
              <a:rPr spc="75" dirty="0"/>
              <a:t> </a:t>
            </a:r>
            <a:r>
              <a:rPr spc="-10" dirty="0"/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452804"/>
            <a:ext cx="3719195" cy="13055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5080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Want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gcd()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ext_euclid()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	</a:t>
            </a:r>
            <a:r>
              <a:rPr sz="1100" dirty="0">
                <a:latin typeface="Arial"/>
                <a:cs typeface="Arial"/>
              </a:rPr>
              <a:t>main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diophant.c</a:t>
            </a:r>
            <a:endParaRPr sz="1100">
              <a:latin typeface="Courier New"/>
              <a:cs typeface="Courier New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Need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header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euclid.h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#include</a:t>
            </a:r>
            <a:r>
              <a:rPr sz="9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"euclid.h"</a:t>
            </a:r>
            <a:r>
              <a:rPr sz="900" spc="-24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(file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Courier New"/>
                <a:cs typeface="Courier New"/>
              </a:rPr>
              <a:t>“.”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search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path)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function:</a:t>
            </a:r>
            <a:endParaRPr sz="1100">
              <a:latin typeface="Arial"/>
              <a:cs typeface="Arial"/>
            </a:endParaRPr>
          </a:p>
          <a:p>
            <a:pPr marL="283845" marR="1668145" indent="12700">
              <a:lnSpc>
                <a:spcPct val="101499"/>
              </a:lnSpc>
              <a:spcBef>
                <a:spcPts val="55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compute</a:t>
            </a:r>
            <a:r>
              <a:rPr sz="900" spc="3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3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</a:t>
            </a:r>
            <a:r>
              <a:rPr sz="900" spc="3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gcd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6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gcd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58" y="1886960"/>
            <a:ext cx="3221355" cy="12198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83845" marR="5080" indent="1270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compute</a:t>
            </a:r>
            <a:r>
              <a:rPr sz="900" spc="4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x</a:t>
            </a:r>
            <a:r>
              <a:rPr sz="900" spc="4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and</a:t>
            </a:r>
            <a:r>
              <a:rPr sz="900" spc="43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using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Extended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Euclidean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3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969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10" dirty="0">
                <a:latin typeface="Arial"/>
                <a:cs typeface="Arial"/>
              </a:rPr>
              <a:t>Results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global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x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y</a:t>
            </a:r>
            <a:endParaRPr sz="1100">
              <a:latin typeface="Courier New"/>
              <a:cs typeface="Courier New"/>
            </a:endParaRPr>
          </a:p>
          <a:p>
            <a:pPr marL="287020" marR="1170305" indent="10160">
              <a:lnSpc>
                <a:spcPct val="101499"/>
              </a:lnSpc>
              <a:spcBef>
                <a:spcPts val="56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85" dirty="0">
                <a:solidFill>
                  <a:srgbClr val="B50A0A"/>
                </a:solidFill>
                <a:latin typeface="Arial"/>
                <a:cs typeface="Arial"/>
              </a:rPr>
              <a:t>rescale</a:t>
            </a:r>
            <a:r>
              <a:rPr sz="900" spc="4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so</a:t>
            </a:r>
            <a:r>
              <a:rPr sz="900" spc="4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ax+by</a:t>
            </a:r>
            <a:r>
              <a:rPr sz="900" spc="3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</a:t>
            </a:r>
            <a:r>
              <a:rPr sz="900" spc="3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48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grow</a:t>
            </a:r>
            <a:r>
              <a:rPr sz="900" spc="3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/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87020" marR="2266315">
              <a:lnSpc>
                <a:spcPct val="101499"/>
              </a:lnSpc>
            </a:pPr>
            <a:r>
              <a:rPr sz="900" dirty="0">
                <a:latin typeface="Arial"/>
                <a:cs typeface="Arial"/>
              </a:rPr>
              <a:t>x</a:t>
            </a:r>
            <a:r>
              <a:rPr sz="900" spc="290" dirty="0">
                <a:latin typeface="Arial"/>
                <a:cs typeface="Arial"/>
              </a:rPr>
              <a:t> </a:t>
            </a:r>
            <a:r>
              <a:rPr sz="900" spc="-10" dirty="0">
                <a:latin typeface="Lucida Sans Unicode"/>
                <a:cs typeface="Lucida Sans Unicode"/>
              </a:rPr>
              <a:t>∗</a:t>
            </a:r>
            <a:r>
              <a:rPr sz="900" spc="-10" dirty="0">
                <a:latin typeface="Arial"/>
                <a:cs typeface="Arial"/>
              </a:rPr>
              <a:t>=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grow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y</a:t>
            </a:r>
            <a:r>
              <a:rPr sz="900" spc="290" dirty="0">
                <a:latin typeface="Arial"/>
                <a:cs typeface="Arial"/>
              </a:rPr>
              <a:t> </a:t>
            </a:r>
            <a:r>
              <a:rPr sz="900" spc="-10" dirty="0">
                <a:latin typeface="Lucida Sans Unicode"/>
                <a:cs typeface="Lucida Sans Unicode"/>
              </a:rPr>
              <a:t>∗</a:t>
            </a:r>
            <a:r>
              <a:rPr sz="900" spc="-10" dirty="0">
                <a:latin typeface="Arial"/>
                <a:cs typeface="Arial"/>
              </a:rPr>
              <a:t>=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grow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0574" y="1886960"/>
            <a:ext cx="4749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alg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.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36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Compiling</a:t>
            </a:r>
            <a:r>
              <a:rPr spc="85" dirty="0"/>
              <a:t> </a:t>
            </a:r>
            <a:r>
              <a:rPr dirty="0"/>
              <a:t>with</a:t>
            </a:r>
            <a:r>
              <a:rPr spc="8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Euclid</a:t>
            </a:r>
            <a:r>
              <a:rPr spc="85" dirty="0"/>
              <a:t> </a:t>
            </a:r>
            <a:r>
              <a:rPr spc="-10" dirty="0"/>
              <a:t>module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6458" y="821865"/>
            <a:ext cx="3678554" cy="17672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89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68910" algn="l"/>
              </a:tabLst>
            </a:pPr>
            <a:r>
              <a:rPr sz="1100" dirty="0">
                <a:latin typeface="Arial"/>
                <a:cs typeface="Arial"/>
              </a:rPr>
              <a:t>Just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compiling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diophant.c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insufficient</a:t>
            </a:r>
            <a:endParaRPr sz="1100">
              <a:latin typeface="Arial"/>
              <a:cs typeface="Arial"/>
            </a:endParaRPr>
          </a:p>
          <a:p>
            <a:pPr marL="168910" indent="-130810">
              <a:lnSpc>
                <a:spcPct val="100000"/>
              </a:lnSpc>
              <a:spcBef>
                <a:spcPts val="334"/>
              </a:spcBef>
              <a:buSzPct val="90909"/>
              <a:buFont typeface="Lucida Sans Unicode"/>
              <a:buChar char="•"/>
              <a:tabLst>
                <a:tab pos="16891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gcd()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ext_euclid()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  <a:p>
            <a:pPr marL="17018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Courier New"/>
                <a:cs typeface="Courier New"/>
              </a:rPr>
              <a:t>euclid.c</a:t>
            </a:r>
            <a:r>
              <a:rPr sz="1100" spc="-10" dirty="0">
                <a:latin typeface="Arial"/>
                <a:cs typeface="Arial"/>
              </a:rPr>
              <a:t>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compiled,</a:t>
            </a:r>
            <a:r>
              <a:rPr sz="1100" spc="-25" dirty="0">
                <a:latin typeface="Arial"/>
                <a:cs typeface="Arial"/>
              </a:rPr>
              <a:t> too</a:t>
            </a:r>
            <a:endParaRPr sz="1100">
              <a:latin typeface="Arial"/>
              <a:cs typeface="Arial"/>
            </a:endParaRPr>
          </a:p>
          <a:p>
            <a:pPr marL="168275" marR="90170" indent="-130810">
              <a:lnSpc>
                <a:spcPct val="102600"/>
              </a:lnSpc>
              <a:spcBef>
                <a:spcPts val="295"/>
              </a:spcBef>
              <a:buSzPct val="90909"/>
              <a:buFont typeface="Lucida Sans Unicode"/>
              <a:buChar char="•"/>
              <a:tabLst>
                <a:tab pos="170180" algn="l"/>
              </a:tabLst>
            </a:pPr>
            <a:r>
              <a:rPr sz="1100" dirty="0">
                <a:latin typeface="Arial"/>
                <a:cs typeface="Arial"/>
              </a:rPr>
              <a:t>When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compiling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	</a:t>
            </a:r>
            <a:r>
              <a:rPr sz="1100" spc="-10" dirty="0">
                <a:latin typeface="Arial"/>
                <a:cs typeface="Arial"/>
              </a:rPr>
              <a:t>linked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together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output</a:t>
            </a:r>
            <a:endParaRPr sz="1100">
              <a:latin typeface="Arial"/>
              <a:cs typeface="Arial"/>
            </a:endParaRPr>
          </a:p>
          <a:p>
            <a:pPr marL="1689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68910" algn="l"/>
              </a:tabLst>
            </a:pPr>
            <a:r>
              <a:rPr sz="1100" dirty="0">
                <a:latin typeface="Arial"/>
                <a:cs typeface="Arial"/>
              </a:rPr>
              <a:t>One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gcc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accomplish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this:</a:t>
            </a:r>
            <a:endParaRPr sz="1100">
              <a:latin typeface="Arial"/>
              <a:cs typeface="Arial"/>
            </a:endParaRPr>
          </a:p>
          <a:p>
            <a:pPr marL="375285" marR="636905">
              <a:lnSpc>
                <a:spcPct val="100000"/>
              </a:lnSpc>
              <a:spcBef>
                <a:spcPts val="345"/>
              </a:spcBef>
            </a:pPr>
            <a:r>
              <a:rPr sz="1000" spc="-10" dirty="0">
                <a:latin typeface="Courier New"/>
                <a:cs typeface="Courier New"/>
              </a:rPr>
              <a:t>athena%</a:t>
            </a:r>
            <a:r>
              <a:rPr sz="750" spc="-15" baseline="50000" dirty="0">
                <a:latin typeface="Arial"/>
                <a:cs typeface="Arial"/>
              </a:rPr>
              <a:t>1</a:t>
            </a:r>
            <a:r>
              <a:rPr sz="750" spc="487" baseline="50000" dirty="0">
                <a:latin typeface="Arial"/>
                <a:cs typeface="Arial"/>
              </a:rPr>
              <a:t> </a:t>
            </a:r>
            <a:r>
              <a:rPr sz="1000" dirty="0">
                <a:latin typeface="Courier New"/>
                <a:cs typeface="Courier New"/>
              </a:rPr>
              <a:t>gcc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</a:t>
            </a:r>
            <a:r>
              <a:rPr sz="1000" dirty="0">
                <a:latin typeface="Courier New"/>
                <a:cs typeface="Courier New"/>
              </a:rPr>
              <a:t>g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</a:t>
            </a:r>
            <a:r>
              <a:rPr sz="1000" dirty="0">
                <a:latin typeface="Courier New"/>
                <a:cs typeface="Courier New"/>
              </a:rPr>
              <a:t>O0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</a:t>
            </a:r>
            <a:r>
              <a:rPr sz="1000" dirty="0">
                <a:latin typeface="Courier New"/>
                <a:cs typeface="Courier New"/>
              </a:rPr>
              <a:t>Wall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diophant.c </a:t>
            </a:r>
            <a:r>
              <a:rPr sz="1000" dirty="0">
                <a:latin typeface="Courier New"/>
                <a:cs typeface="Courier New"/>
              </a:rPr>
              <a:t>euclid.c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</a:t>
            </a:r>
            <a:r>
              <a:rPr sz="1000" dirty="0">
                <a:latin typeface="Courier New"/>
                <a:cs typeface="Courier New"/>
              </a:rPr>
              <a:t>o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diophant.o</a:t>
            </a:r>
            <a:endParaRPr sz="1000">
              <a:latin typeface="Courier New"/>
              <a:cs typeface="Courier New"/>
            </a:endParaRPr>
          </a:p>
          <a:p>
            <a:pPr marL="168910" indent="-130810">
              <a:lnSpc>
                <a:spcPct val="100000"/>
              </a:lnSpc>
              <a:spcBef>
                <a:spcPts val="325"/>
              </a:spcBef>
              <a:buSzPct val="90909"/>
              <a:buFont typeface="Lucida Sans Unicode"/>
              <a:buChar char="•"/>
              <a:tabLst>
                <a:tab pos="168910" algn="l"/>
              </a:tabLst>
            </a:pPr>
            <a:r>
              <a:rPr sz="1100" spc="-20" dirty="0">
                <a:latin typeface="Courier New"/>
                <a:cs typeface="Courier New"/>
              </a:rPr>
              <a:t>diophant.o</a:t>
            </a:r>
            <a:r>
              <a:rPr sz="1100" spc="-355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can be run as </a:t>
            </a:r>
            <a:r>
              <a:rPr sz="1100" spc="-10" dirty="0">
                <a:latin typeface="Arial"/>
                <a:cs typeface="Arial"/>
              </a:rPr>
              <a:t>usual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Lecture</a:t>
            </a:r>
            <a:r>
              <a:rPr lang="en-US" spc="60" dirty="0"/>
              <a:t> 5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</a:t>
            </a:r>
            <a:r>
              <a:rPr lang="en-US" spc="65" dirty="0"/>
              <a:t> </a:t>
            </a:r>
            <a:r>
              <a:rPr lang="en-US" dirty="0"/>
              <a:t>13,</a:t>
            </a:r>
            <a:r>
              <a:rPr lang="en-US" spc="60" dirty="0"/>
              <a:t> </a:t>
            </a:r>
            <a:r>
              <a:rPr lang="en-US" spc="-20" dirty="0"/>
              <a:t>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88645"/>
            <a:ext cx="269875" cy="2387600"/>
            <a:chOff x="359994" y="588645"/>
            <a:chExt cx="269875" cy="2387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886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914476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240307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42007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592148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910296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2236127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561958"/>
              <a:ext cx="76809" cy="768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817" y="2741726"/>
              <a:ext cx="61874" cy="61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913799"/>
              <a:ext cx="61874" cy="618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4680" y="521460"/>
            <a:ext cx="2155825" cy="2509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944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Blocks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Compound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Statements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Control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187325" marR="527685">
              <a:lnSpc>
                <a:spcPct val="1026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Conditional Statements Loops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2700" marR="767715">
              <a:lnSpc>
                <a:spcPct val="1944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Modular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Programming </a:t>
            </a: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10" dirty="0">
                <a:latin typeface="Arial"/>
                <a:cs typeface="Arial"/>
              </a:rPr>
              <a:t> Scope</a:t>
            </a:r>
            <a:endParaRPr sz="1100">
              <a:latin typeface="Arial"/>
              <a:cs typeface="Arial"/>
            </a:endParaRPr>
          </a:p>
          <a:p>
            <a:pPr marL="187325" marR="838835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Static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 </a:t>
            </a:r>
            <a:r>
              <a:rPr sz="1100" dirty="0">
                <a:latin typeface="Arial"/>
                <a:cs typeface="Arial"/>
              </a:rPr>
              <a:t>Register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38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Variable</a:t>
            </a:r>
            <a:r>
              <a:rPr spc="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10460"/>
            <a:ext cx="3722370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i="1" dirty="0">
                <a:latin typeface="Arial"/>
                <a:cs typeface="Arial"/>
              </a:rPr>
              <a:t>scope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valid</a:t>
            </a:r>
            <a:endParaRPr sz="1100">
              <a:latin typeface="Arial"/>
              <a:cs typeface="Arial"/>
            </a:endParaRPr>
          </a:p>
          <a:p>
            <a:pPr marL="142875" marR="587375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Many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corresponds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variable’s 	declaration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spc="-20" dirty="0">
                <a:latin typeface="Arial"/>
                <a:cs typeface="Arial"/>
              </a:rPr>
              <a:t>Variables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declared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outside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global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scope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definitions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scope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38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25324"/>
            <a:ext cx="3174365" cy="4914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scope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example?</a:t>
            </a:r>
            <a:endParaRPr sz="11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nmax</a:t>
            </a:r>
            <a:r>
              <a:rPr sz="900" spc="2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445" y="1132873"/>
            <a:ext cx="2386330" cy="858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2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3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main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8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argc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25" dirty="0">
                <a:latin typeface="Arial"/>
                <a:cs typeface="Arial"/>
              </a:rPr>
              <a:t> 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20" dirty="0">
                <a:latin typeface="Lucida Sans Unicode"/>
                <a:cs typeface="Lucida Sans Unicode"/>
              </a:rPr>
              <a:t>∗∗</a:t>
            </a:r>
            <a:r>
              <a:rPr sz="900" spc="409" dirty="0">
                <a:latin typeface="Lucida Sans Unicode"/>
                <a:cs typeface="Lucida Sans Unicode"/>
              </a:rPr>
              <a:t> </a:t>
            </a:r>
            <a:r>
              <a:rPr sz="900" spc="55" dirty="0">
                <a:latin typeface="Arial"/>
                <a:cs typeface="Arial"/>
              </a:rPr>
              <a:t>argv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5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3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endParaRPr sz="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56210" marR="626745" indent="-6350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spc="5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3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3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1724" y="1272052"/>
            <a:ext cx="9518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453" y="1967948"/>
            <a:ext cx="2113280" cy="85851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76225" marR="5080" indent="-129539">
              <a:lnSpc>
                <a:spcPct val="101499"/>
              </a:lnSpc>
              <a:spcBef>
                <a:spcPts val="80"/>
              </a:spcBef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3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nmax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n++)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{</a:t>
            </a:r>
            <a:r>
              <a:rPr sz="900" dirty="0">
                <a:latin typeface="Arial"/>
                <a:cs typeface="Arial"/>
              </a:rPr>
              <a:t> c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273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4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922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success</a:t>
            </a:r>
            <a:r>
              <a:rPr sz="900" spc="4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39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Scope</a:t>
            </a:r>
            <a:r>
              <a:rPr spc="100" dirty="0"/>
              <a:t> </a:t>
            </a:r>
            <a:r>
              <a:rPr dirty="0"/>
              <a:t>and</a:t>
            </a:r>
            <a:r>
              <a:rPr spc="105" dirty="0"/>
              <a:t> </a:t>
            </a:r>
            <a:r>
              <a:rPr dirty="0"/>
              <a:t>nested</a:t>
            </a:r>
            <a:r>
              <a:rPr spc="100" dirty="0"/>
              <a:t> </a:t>
            </a:r>
            <a:r>
              <a:rPr spc="-10" dirty="0"/>
              <a:t>declarations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25324"/>
            <a:ext cx="2069464" cy="4914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dirty="0">
                <a:latin typeface="Arial"/>
                <a:cs typeface="Arial"/>
              </a:rPr>
              <a:t>How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printed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now?</a:t>
            </a:r>
            <a:endParaRPr sz="11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nmax</a:t>
            </a:r>
            <a:r>
              <a:rPr sz="900" spc="2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445" y="1132873"/>
            <a:ext cx="2797175" cy="1693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2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3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main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8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argc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25" dirty="0">
                <a:latin typeface="Arial"/>
                <a:cs typeface="Arial"/>
              </a:rPr>
              <a:t> 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20" dirty="0">
                <a:latin typeface="Lucida Sans Unicode"/>
                <a:cs typeface="Lucida Sans Unicode"/>
              </a:rPr>
              <a:t>∗∗</a:t>
            </a:r>
            <a:r>
              <a:rPr sz="900" spc="409" dirty="0">
                <a:latin typeface="Lucida Sans Unicode"/>
                <a:cs typeface="Lucida Sans Unicode"/>
              </a:rPr>
              <a:t> </a:t>
            </a:r>
            <a:r>
              <a:rPr sz="900" spc="55" dirty="0">
                <a:latin typeface="Arial"/>
                <a:cs typeface="Arial"/>
              </a:rPr>
              <a:t>argv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5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4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56210" marR="342900" indent="-6350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nmax</a:t>
            </a:r>
            <a:r>
              <a:rPr sz="900" spc="2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25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spc="-10" dirty="0">
                <a:latin typeface="Arial"/>
                <a:cs typeface="Arial"/>
              </a:rPr>
              <a:t> 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3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3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76225" marR="688340" indent="-129539">
              <a:lnSpc>
                <a:spcPct val="101499"/>
              </a:lnSpc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3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nmax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n++)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{</a:t>
            </a:r>
            <a:r>
              <a:rPr sz="900" dirty="0">
                <a:latin typeface="Arial"/>
                <a:cs typeface="Arial"/>
              </a:rPr>
              <a:t> c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273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4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922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success</a:t>
            </a:r>
            <a:r>
              <a:rPr sz="900" spc="4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2692" y="1272052"/>
            <a:ext cx="5410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40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Static</a:t>
            </a:r>
            <a:r>
              <a:rPr spc="8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372" y="863751"/>
            <a:ext cx="3874135" cy="1703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71780" marR="62230" indent="-130810">
              <a:lnSpc>
                <a:spcPct val="102600"/>
              </a:lnSpc>
              <a:spcBef>
                <a:spcPts val="55"/>
              </a:spcBef>
              <a:buSzPct val="90909"/>
              <a:buFont typeface="Lucida Sans Unicode"/>
              <a:buChar char="•"/>
              <a:tabLst>
                <a:tab pos="273685" algn="l"/>
              </a:tabLst>
            </a:pPr>
            <a:r>
              <a:rPr sz="1100" spc="-20" dirty="0">
                <a:latin typeface="Courier New"/>
                <a:cs typeface="Courier New"/>
              </a:rPr>
              <a:t>static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keyword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meanings,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depending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where 	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declared</a:t>
            </a:r>
            <a:endParaRPr sz="1100">
              <a:latin typeface="Arial"/>
              <a:cs typeface="Arial"/>
            </a:endParaRPr>
          </a:p>
          <a:p>
            <a:pPr marL="271780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273685" algn="l"/>
              </a:tabLst>
            </a:pPr>
            <a:r>
              <a:rPr sz="1100" dirty="0">
                <a:latin typeface="Arial"/>
                <a:cs typeface="Arial"/>
              </a:rPr>
              <a:t>Outside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static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variables/functions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visible 	</a:t>
            </a:r>
            <a:r>
              <a:rPr sz="1100" dirty="0">
                <a:latin typeface="Arial"/>
                <a:cs typeface="Arial"/>
              </a:rPr>
              <a:t>within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globally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(cannot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extern</a:t>
            </a:r>
            <a:r>
              <a:rPr sz="1100" spc="-10" dirty="0">
                <a:latin typeface="Arial"/>
                <a:cs typeface="Arial"/>
              </a:rPr>
              <a:t>’ed)</a:t>
            </a:r>
            <a:endParaRPr sz="1100">
              <a:latin typeface="Arial"/>
              <a:cs typeface="Arial"/>
            </a:endParaRPr>
          </a:p>
          <a:p>
            <a:pPr marL="271780" indent="-130810">
              <a:lnSpc>
                <a:spcPct val="100000"/>
              </a:lnSpc>
              <a:spcBef>
                <a:spcPts val="175"/>
              </a:spcBef>
              <a:buSzPct val="90909"/>
              <a:buFont typeface="Lucida Sans Unicode"/>
              <a:buChar char="•"/>
              <a:tabLst>
                <a:tab pos="271780" algn="l"/>
              </a:tabLst>
            </a:pPr>
            <a:r>
              <a:rPr sz="1100" dirty="0">
                <a:latin typeface="Arial"/>
                <a:cs typeface="Arial"/>
              </a:rPr>
              <a:t>Inside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static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variables:</a:t>
            </a:r>
            <a:endParaRPr sz="1100">
              <a:latin typeface="Arial"/>
              <a:cs typeface="Arial"/>
            </a:endParaRPr>
          </a:p>
          <a:p>
            <a:pPr marL="551180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551180" algn="l"/>
              </a:tabLst>
            </a:pP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still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local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10" dirty="0">
                <a:latin typeface="Arial"/>
                <a:cs typeface="Arial"/>
              </a:rPr>
              <a:t> function</a:t>
            </a:r>
            <a:endParaRPr sz="1000">
              <a:latin typeface="Arial"/>
              <a:cs typeface="Arial"/>
            </a:endParaRPr>
          </a:p>
          <a:p>
            <a:pPr marL="551180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551180" algn="l"/>
              </a:tabLst>
            </a:pPr>
            <a:r>
              <a:rPr sz="1000" dirty="0">
                <a:latin typeface="Arial"/>
                <a:cs typeface="Arial"/>
              </a:rPr>
              <a:t>are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initialized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during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program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initialization</a:t>
            </a:r>
            <a:endParaRPr sz="1000">
              <a:latin typeface="Arial"/>
              <a:cs typeface="Arial"/>
            </a:endParaRPr>
          </a:p>
          <a:p>
            <a:pPr marL="551180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551180" algn="l"/>
              </a:tabLst>
            </a:pPr>
            <a:r>
              <a:rPr sz="1000" dirty="0">
                <a:latin typeface="Arial"/>
                <a:cs typeface="Arial"/>
              </a:rPr>
              <a:t>do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reinitialized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call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900" b="1" spc="15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55" dirty="0">
                <a:latin typeface="Arial"/>
                <a:cs typeface="Arial"/>
              </a:rPr>
              <a:t>some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70" dirty="0">
                <a:latin typeface="Arial"/>
                <a:cs typeface="Arial"/>
              </a:rPr>
              <a:t>Persistent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50" dirty="0">
                <a:latin typeface="Arial"/>
                <a:cs typeface="Arial"/>
              </a:rPr>
              <a:t>Var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41</a:t>
            </a: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Register</a:t>
            </a:r>
            <a:r>
              <a:rPr spc="114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735277"/>
            <a:ext cx="3769360" cy="197421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During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execution,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processed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registers</a:t>
            </a:r>
            <a:endParaRPr sz="1100">
              <a:latin typeface="Arial"/>
              <a:cs typeface="Arial"/>
            </a:endParaRPr>
          </a:p>
          <a:p>
            <a:pPr marL="14287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Explicitly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commonly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registers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minimize 	</a:t>
            </a:r>
            <a:r>
              <a:rPr sz="1100" dirty="0">
                <a:latin typeface="Arial"/>
                <a:cs typeface="Arial"/>
              </a:rPr>
              <a:t>load/store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overhead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ts val="1260"/>
              </a:lnSpc>
              <a:spcBef>
                <a:spcPts val="175"/>
              </a:spcBef>
              <a:buSzPct val="90909"/>
              <a:buFont typeface="Lucida Sans Unicode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explicitly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declare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certain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registers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using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ts val="1260"/>
              </a:lnSpc>
            </a:pPr>
            <a:r>
              <a:rPr sz="1100" spc="-20" dirty="0">
                <a:latin typeface="Courier New"/>
                <a:cs typeface="Courier New"/>
              </a:rPr>
              <a:t>register</a:t>
            </a:r>
            <a:r>
              <a:rPr sz="1100" spc="-31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keyword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must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simple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(implementation-</a:t>
            </a:r>
            <a:r>
              <a:rPr sz="1000" spc="-10" dirty="0">
                <a:latin typeface="Arial"/>
                <a:cs typeface="Arial"/>
              </a:rPr>
              <a:t>dependent)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only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local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variables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arguments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eligible</a:t>
            </a:r>
            <a:endParaRPr sz="1000">
              <a:latin typeface="Arial"/>
              <a:cs typeface="Arial"/>
            </a:endParaRPr>
          </a:p>
          <a:p>
            <a:pPr marL="422275" marR="140335" lvl="1" indent="-128270">
              <a:lnSpc>
                <a:spcPts val="1200"/>
              </a:lnSpc>
              <a:spcBef>
                <a:spcPts val="3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excess/unallowed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register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declarations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ignored,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compiled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regular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variables</a:t>
            </a:r>
            <a:endParaRPr sz="1000">
              <a:latin typeface="Arial"/>
              <a:cs typeface="Arial"/>
            </a:endParaRPr>
          </a:p>
          <a:p>
            <a:pPr marL="142875" marR="46355" indent="-130810">
              <a:lnSpc>
                <a:spcPct val="102600"/>
              </a:lnSpc>
              <a:spcBef>
                <a:spcPts val="275"/>
              </a:spcBef>
              <a:buSzPct val="90909"/>
              <a:buFont typeface="Lucida Sans Unicode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Registers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reside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	</a:t>
            </a:r>
            <a:r>
              <a:rPr sz="1100" dirty="0">
                <a:latin typeface="Arial"/>
                <a:cs typeface="Arial"/>
              </a:rPr>
              <a:t>register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illegal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42</a:t>
            </a: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36665"/>
            <a:ext cx="3729990" cy="20224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scope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example, revisited,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register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variables:</a:t>
            </a:r>
            <a:endParaRPr sz="110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57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2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3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main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8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900" b="1" spc="15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argc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900" b="1" spc="-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9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900" b="1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0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20" dirty="0">
                <a:latin typeface="Lucida Sans Unicode"/>
                <a:cs typeface="Lucida Sans Unicode"/>
              </a:rPr>
              <a:t>∗∗</a:t>
            </a:r>
            <a:r>
              <a:rPr sz="900" spc="409" dirty="0">
                <a:latin typeface="Lucida Sans Unicode"/>
                <a:cs typeface="Lucida Sans Unicode"/>
              </a:rPr>
              <a:t> </a:t>
            </a:r>
            <a:r>
              <a:rPr sz="900" spc="55" dirty="0">
                <a:latin typeface="Arial"/>
                <a:cs typeface="Arial"/>
              </a:rPr>
              <a:t>argv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71450" marR="646430" indent="-8255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9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nmax</a:t>
            </a:r>
            <a:r>
              <a:rPr sz="900" spc="2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spc="-10" dirty="0">
                <a:latin typeface="Arial"/>
                <a:cs typeface="Arial"/>
              </a:rPr>
              <a:t> 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3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7145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3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1465" marR="1606550" indent="-129539">
              <a:lnSpc>
                <a:spcPct val="101499"/>
              </a:lnSpc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3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nmax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n++)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{</a:t>
            </a:r>
            <a:r>
              <a:rPr sz="900" dirty="0">
                <a:latin typeface="Arial"/>
                <a:cs typeface="Arial"/>
              </a:rPr>
              <a:t> c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30797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"%3d: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4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success</a:t>
            </a:r>
            <a:r>
              <a:rPr sz="900" spc="4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43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76729"/>
            <a:ext cx="3855085" cy="1553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30" dirty="0">
                <a:latin typeface="Arial"/>
                <a:cs typeface="Arial"/>
              </a:rPr>
              <a:t>Topics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covered: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Lucida Sans Unicode"/>
              <a:buChar char="•"/>
              <a:tabLst>
                <a:tab pos="289560" algn="l"/>
              </a:tabLst>
            </a:pPr>
            <a:r>
              <a:rPr sz="1100" spc="-10" dirty="0">
                <a:latin typeface="Arial"/>
                <a:cs typeface="Arial"/>
              </a:rPr>
              <a:t>Controlling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flow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statements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	</a:t>
            </a:r>
            <a:r>
              <a:rPr sz="1100" spc="-10" dirty="0">
                <a:latin typeface="Arial"/>
                <a:cs typeface="Arial"/>
              </a:rPr>
              <a:t>loops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287655" algn="l"/>
              </a:tabLst>
            </a:pPr>
            <a:r>
              <a:rPr sz="1100" spc="-10" dirty="0">
                <a:latin typeface="Arial"/>
                <a:cs typeface="Arial"/>
              </a:rPr>
              <a:t>Dividing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complex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simpler</a:t>
            </a:r>
            <a:endParaRPr sz="1100">
              <a:latin typeface="Arial"/>
              <a:cs typeface="Arial"/>
            </a:endParaRPr>
          </a:p>
          <a:p>
            <a:pPr marL="289560" marR="82550">
              <a:lnSpc>
                <a:spcPct val="102600"/>
              </a:lnSpc>
              <a:spcBef>
                <a:spcPts val="5"/>
              </a:spcBef>
            </a:pPr>
            <a:r>
              <a:rPr sz="1100" spc="-10" dirty="0">
                <a:latin typeface="Arial"/>
                <a:cs typeface="Arial"/>
              </a:rPr>
              <a:t>sub-programs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modular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 techniques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Lucida Sans Unicode"/>
              <a:buChar char="•"/>
              <a:tabLst>
                <a:tab pos="287655" algn="l"/>
              </a:tabLst>
            </a:pPr>
            <a:r>
              <a:rPr sz="1100" spc="-20" dirty="0">
                <a:latin typeface="Arial"/>
                <a:cs typeface="Arial"/>
              </a:rPr>
              <a:t>Variable </a:t>
            </a:r>
            <a:r>
              <a:rPr sz="1100" dirty="0">
                <a:latin typeface="Arial"/>
                <a:cs typeface="Arial"/>
              </a:rPr>
              <a:t>scope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rules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extern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static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latin typeface="Courier New"/>
                <a:cs typeface="Courier New"/>
              </a:rPr>
              <a:t>register</a:t>
            </a:r>
            <a:r>
              <a:rPr sz="1100" spc="-31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44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3602</Words>
  <Application>Microsoft Office PowerPoint</Application>
  <PresentationFormat>Custom</PresentationFormat>
  <Paragraphs>491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Bookman Old Style</vt:lpstr>
      <vt:lpstr>Courier New</vt:lpstr>
      <vt:lpstr>Lucida Sans Unicode</vt:lpstr>
      <vt:lpstr>Tahoma</vt:lpstr>
      <vt:lpstr>Times New Roman</vt:lpstr>
      <vt:lpstr>Office Theme</vt:lpstr>
      <vt:lpstr>Lecture 5 – October 13, 2026</vt:lpstr>
      <vt:lpstr>Review: Definitions</vt:lpstr>
      <vt:lpstr>Review: Data types</vt:lpstr>
      <vt:lpstr>Review: Operators</vt:lpstr>
      <vt:lpstr>Lecture 5 – October 13, 2026</vt:lpstr>
      <vt:lpstr>Blocks and compound statements</vt:lpstr>
      <vt:lpstr>Blocks</vt:lpstr>
      <vt:lpstr>Nested blocks</vt:lpstr>
      <vt:lpstr>Lecture 5 – October 13, 2026</vt:lpstr>
      <vt:lpstr>Control conditions</vt:lpstr>
      <vt:lpstr>PowerPoint Presentation</vt:lpstr>
      <vt:lpstr>The if statement</vt:lpstr>
      <vt:lpstr>The else keyword</vt:lpstr>
      <vt:lpstr>The else if keyword</vt:lpstr>
      <vt:lpstr>Nesting if statements</vt:lpstr>
      <vt:lpstr>Nesting if statements</vt:lpstr>
      <vt:lpstr>The switch statement</vt:lpstr>
      <vt:lpstr>Multiple cases</vt:lpstr>
      <vt:lpstr>The switch statement</vt:lpstr>
      <vt:lpstr>Loop statements</vt:lpstr>
      <vt:lpstr>The while loop</vt:lpstr>
      <vt:lpstr>The for loop</vt:lpstr>
      <vt:lpstr>The for loop</vt:lpstr>
      <vt:lpstr>The for loop</vt:lpstr>
      <vt:lpstr>The do-while loop</vt:lpstr>
      <vt:lpstr>The break keyword</vt:lpstr>
      <vt:lpstr>The continue keyword</vt:lpstr>
      <vt:lpstr>Lecture 5 – October 13, 2026</vt:lpstr>
      <vt:lpstr>Functions</vt:lpstr>
      <vt:lpstr>Divide and conquer</vt:lpstr>
      <vt:lpstr>Computing the gcd</vt:lpstr>
      <vt:lpstr>Extended Euclidean algorithm</vt:lpstr>
      <vt:lpstr>Returning multiple values</vt:lpstr>
      <vt:lpstr>Divide and conquer</vt:lpstr>
      <vt:lpstr>Lecture 5 – October 13, 2026</vt:lpstr>
      <vt:lpstr>Programming modules in C</vt:lpstr>
      <vt:lpstr>The Euclid module</vt:lpstr>
      <vt:lpstr>The source: euclid.c</vt:lpstr>
      <vt:lpstr>The extern keyword</vt:lpstr>
      <vt:lpstr>The header: euclid.h</vt:lpstr>
      <vt:lpstr>Using the Euclid module</vt:lpstr>
      <vt:lpstr>Compiling with the Euclid module</vt:lpstr>
      <vt:lpstr>Lecture 5 – October 13, 2026</vt:lpstr>
      <vt:lpstr>Variable scope</vt:lpstr>
      <vt:lpstr>An example</vt:lpstr>
      <vt:lpstr>Scope and nested declarations</vt:lpstr>
      <vt:lpstr>Static variables</vt:lpstr>
      <vt:lpstr>Register variables</vt:lpstr>
      <vt:lpstr>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6.087 Practical Programming in C, Lecture 3</dc:title>
  <dc:creator>Daniel Weller</dc:creator>
  <cp:lastModifiedBy>Sean Kouma</cp:lastModifiedBy>
  <cp:revision>4</cp:revision>
  <dcterms:created xsi:type="dcterms:W3CDTF">2026-10-12T10:37:07Z</dcterms:created>
  <dcterms:modified xsi:type="dcterms:W3CDTF">2026-10-12T10:47:39Z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2010-03-07T00:00:00Z</vt:filetime>
  </property>
  <property fmtid="{D5CDD505-2E9C-101B-9397-08002B2CF9AE}" pid="4" name="Creator">
    <vt:lpwstr>LaTeX with beamer class version 3.07</vt:lpwstr>
  </property>
  <property fmtid="{D5CDD505-2E9C-101B-9397-08002B2CF9AE}" pid="5" name="LastSaved">
    <vt:filetime>2026-10-12T00:00:00Z</vt:filetime>
  </property>
  <property fmtid="{D5CDD505-2E9C-101B-9397-08002B2CF9AE}" pid="6" name="PTEX.Fullbanner">
    <vt:lpwstr>This is MiKTeX-pdfTeX 2.8.3563 (1.40.10)</vt:lpwstr>
  </property>
  <property fmtid="{D5CDD505-2E9C-101B-9397-08002B2CF9AE}" pid="7" name="Producer">
    <vt:lpwstr>3-Heights(TM) PDF Security Shell 4.8.25.2 (http://www.pdf-tools.com)</vt:lpwstr>
  </property>
</Properties>
</file>