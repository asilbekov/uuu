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80" d="100"/>
          <a:sy n="180" d="100"/>
        </p:scale>
        <p:origin x="97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-2044"/>
            <a:ext cx="3236595" cy="30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1858" y="792134"/>
            <a:ext cx="3703320" cy="1860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5086" y="3276263"/>
            <a:ext cx="201929" cy="15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939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0.png"/><Relationship Id="rId5" Type="http://schemas.openxmlformats.org/officeDocument/2006/relationships/image" Target="../media/image17.png"/><Relationship Id="rId10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1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-2044"/>
            <a:ext cx="4000120" cy="296873"/>
          </a:xfrm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60" dirty="0" err="1"/>
              <a:t>TashTech</a:t>
            </a:r>
            <a:r>
              <a:rPr spc="60" dirty="0"/>
              <a:t> </a:t>
            </a:r>
            <a:r>
              <a:rPr dirty="0"/>
              <a:t>Lecture</a:t>
            </a:r>
            <a:r>
              <a:rPr spc="60" dirty="0"/>
              <a:t> </a:t>
            </a:r>
            <a:r>
              <a:rPr lang="en-US" spc="60" dirty="0"/>
              <a:t>7</a:t>
            </a:r>
            <a:r>
              <a:rPr spc="65" dirty="0"/>
              <a:t> </a:t>
            </a:r>
            <a:r>
              <a:rPr dirty="0"/>
              <a:t>–</a:t>
            </a:r>
            <a:r>
              <a:rPr lang="en-US" spc="60" dirty="0"/>
              <a:t> October 27</a:t>
            </a:r>
            <a:r>
              <a:rPr dirty="0"/>
              <a:t>,</a:t>
            </a:r>
            <a:r>
              <a:rPr spc="60" dirty="0"/>
              <a:t> </a:t>
            </a:r>
            <a:r>
              <a:rPr spc="-20" dirty="0"/>
              <a:t>20</a:t>
            </a:r>
            <a:r>
              <a:rPr lang="en-US" spc="-20" dirty="0"/>
              <a:t>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03745"/>
            <a:ext cx="269875" cy="2580005"/>
            <a:chOff x="359994" y="503745"/>
            <a:chExt cx="269875" cy="2580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037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787133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17" y="966901"/>
              <a:ext cx="61874" cy="61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138974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311046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586750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1870138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817" y="2049894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325598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50535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817" y="267743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817" y="28495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817" y="3021584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4680" y="436561"/>
            <a:ext cx="2125345" cy="270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87325" marR="5080" indent="-175260">
              <a:lnSpc>
                <a:spcPct val="102600"/>
              </a:lnSpc>
              <a:spcBef>
                <a:spcPts val="87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Pointers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Memory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Addresses Physical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Virtual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Memory Addressing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Indirection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Multiple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Outputs</a:t>
            </a:r>
            <a:endParaRPr sz="1100">
              <a:latin typeface="Arial"/>
              <a:cs typeface="Arial"/>
            </a:endParaRPr>
          </a:p>
          <a:p>
            <a:pPr marL="12700" marR="313055">
              <a:lnSpc>
                <a:spcPct val="1690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Arrays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Arithmetic Strings</a:t>
            </a:r>
            <a:endParaRPr sz="11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Utility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87325" marR="33020" indent="-175260" algn="just">
              <a:lnSpc>
                <a:spcPct val="102600"/>
              </a:lnSpc>
              <a:spcBef>
                <a:spcPts val="88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Sorting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Algorithms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Linear</a:t>
            </a:r>
            <a:r>
              <a:rPr sz="11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  <a:p>
            <a:pPr marL="187325" marR="1055370" algn="just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Simple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Sort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Faster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Sorting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Binary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229" dirty="0"/>
              <a:t> </a:t>
            </a:r>
            <a:r>
              <a:rPr dirty="0"/>
              <a:t>Unconditional</a:t>
            </a:r>
            <a:r>
              <a:rPr spc="114" dirty="0"/>
              <a:t> </a:t>
            </a:r>
            <a:r>
              <a:rPr spc="-10" dirty="0"/>
              <a:t>jumps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61172"/>
            <a:ext cx="3661410" cy="24091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111111"/>
              <a:buFont typeface="Cambria"/>
              <a:buChar char="•"/>
              <a:tabLst>
                <a:tab pos="14605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keyword: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jump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somewhere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Position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identified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labels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Example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loop)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1100" spc="-2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57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20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2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4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z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53670" marR="2364740" indent="132715">
              <a:lnSpc>
                <a:spcPct val="101499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loop_cond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55" dirty="0">
                <a:latin typeface="Arial"/>
                <a:cs typeface="Arial"/>
              </a:rPr>
              <a:t> loop_body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302895" marR="1815464" indent="-6350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body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here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++;</a:t>
            </a:r>
            <a:endParaRPr sz="900">
              <a:latin typeface="Arial"/>
              <a:cs typeface="Arial"/>
            </a:endParaRPr>
          </a:p>
          <a:p>
            <a:pPr marL="153670">
              <a:lnSpc>
                <a:spcPct val="100000"/>
              </a:lnSpc>
              <a:spcBef>
                <a:spcPts val="15"/>
              </a:spcBef>
            </a:pPr>
            <a:r>
              <a:rPr sz="900" spc="55" dirty="0">
                <a:latin typeface="Arial"/>
                <a:cs typeface="Arial"/>
              </a:rPr>
              <a:t>loop_cond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3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d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3545">
              <a:lnSpc>
                <a:spcPct val="100000"/>
              </a:lnSpc>
              <a:spcBef>
                <a:spcPts val="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loop_body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Excessive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“spaghetti”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50" dirty="0"/>
              <a:t> </a:t>
            </a:r>
            <a:r>
              <a:rPr dirty="0"/>
              <a:t>I/O</a:t>
            </a:r>
            <a:r>
              <a:rPr spc="4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70074"/>
            <a:ext cx="3749040" cy="16681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I/O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stdio.h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</a:t>
            </a:r>
            <a:endParaRPr sz="1100">
              <a:latin typeface="Arial"/>
              <a:cs typeface="Arial"/>
            </a:endParaRPr>
          </a:p>
          <a:p>
            <a:pPr marL="144780" marR="501015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I/O: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putchar()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getchar()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getc()</a:t>
            </a:r>
            <a:r>
              <a:rPr sz="1100" spc="-10" dirty="0">
                <a:latin typeface="Arial"/>
                <a:cs typeface="Arial"/>
              </a:rPr>
              <a:t>, </a:t>
            </a:r>
            <a:r>
              <a:rPr sz="1100" spc="-10" dirty="0">
                <a:latin typeface="Courier New"/>
                <a:cs typeface="Courier New"/>
              </a:rPr>
              <a:t>putc()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String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I/O: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puts()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gets()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fgets()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fputs()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Formatted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I/O: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fprintf()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fscanf()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Open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close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fopen()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fclose()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read/write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position: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feof()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fseek()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ftell()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etc.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200" dirty="0"/>
              <a:t> </a:t>
            </a:r>
            <a:r>
              <a:rPr b="0" dirty="0">
                <a:latin typeface="Courier New"/>
                <a:cs typeface="Courier New"/>
              </a:rPr>
              <a:t>printf()</a:t>
            </a:r>
            <a:r>
              <a:rPr b="0" spc="-365" dirty="0">
                <a:latin typeface="Courier New"/>
                <a:cs typeface="Courier New"/>
              </a:rPr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b="0" spc="-10" dirty="0">
                <a:latin typeface="Courier New"/>
                <a:cs typeface="Courier New"/>
              </a:rPr>
              <a:t>scanf()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41959"/>
            <a:ext cx="3769360" cy="19672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38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Formatted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output:</a:t>
            </a:r>
            <a:endParaRPr sz="11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4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printf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[],</a:t>
            </a:r>
            <a:r>
              <a:rPr sz="900" spc="2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arg1,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arg2,</a:t>
            </a:r>
            <a:r>
              <a:rPr sz="900" spc="40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...)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35" dirty="0">
                <a:latin typeface="Arial"/>
                <a:cs typeface="Arial"/>
              </a:rPr>
              <a:t>Takes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ts val="126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Format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specification: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ts val="1260"/>
              </a:lnSpc>
            </a:pPr>
            <a:r>
              <a:rPr sz="1100" spc="-10" dirty="0">
                <a:latin typeface="Courier New"/>
                <a:cs typeface="Courier New"/>
              </a:rPr>
              <a:t>%[flags][width][.precision][length]&lt;type&gt;</a:t>
            </a:r>
            <a:endParaRPr sz="1100">
              <a:latin typeface="Courier New"/>
              <a:cs typeface="Courier New"/>
            </a:endParaRPr>
          </a:p>
          <a:p>
            <a:pPr marL="422275" marR="335915" lvl="1" indent="-128270">
              <a:lnSpc>
                <a:spcPct val="1000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types: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(int),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X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(unsigned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int),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85" dirty="0">
                <a:latin typeface="Arial"/>
                <a:cs typeface="Arial"/>
              </a:rPr>
              <a:t>F,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G </a:t>
            </a:r>
            <a:r>
              <a:rPr sz="1000" dirty="0">
                <a:latin typeface="Arial"/>
                <a:cs typeface="Arial"/>
              </a:rPr>
              <a:t>(double),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(char),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(string)</a:t>
            </a:r>
            <a:endParaRPr sz="1000">
              <a:latin typeface="Arial"/>
              <a:cs typeface="Arial"/>
            </a:endParaRPr>
          </a:p>
          <a:p>
            <a:pPr marL="422275" marR="5080" lvl="1" indent="-128270">
              <a:lnSpc>
                <a:spcPts val="1200"/>
              </a:lnSpc>
              <a:spcBef>
                <a:spcPts val="30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flags,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width,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precision,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length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-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modify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number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characters</a:t>
            </a:r>
            <a:r>
              <a:rPr sz="1000" spc="-10" dirty="0">
                <a:latin typeface="Arial"/>
                <a:cs typeface="Arial"/>
              </a:rPr>
              <a:t> printed</a:t>
            </a:r>
            <a:endParaRPr sz="1000">
              <a:latin typeface="Arial"/>
              <a:cs typeface="Arial"/>
            </a:endParaRPr>
          </a:p>
          <a:p>
            <a:pPr marL="144780" marR="48895" indent="-132715">
              <a:lnSpc>
                <a:spcPct val="102600"/>
              </a:lnSpc>
              <a:spcBef>
                <a:spcPts val="27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Formatted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scanf()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arguments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(except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strings),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ignores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whitespace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input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95" dirty="0"/>
              <a:t> </a:t>
            </a:r>
            <a:r>
              <a:rPr dirty="0"/>
              <a:t>Strings</a:t>
            </a:r>
            <a:r>
              <a:rPr spc="85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dirty="0"/>
              <a:t>character</a:t>
            </a:r>
            <a:r>
              <a:rPr spc="85" dirty="0"/>
              <a:t> </a:t>
            </a:r>
            <a:r>
              <a:rPr spc="-10" dirty="0"/>
              <a:t>arrays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0053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/>
              <a:t>Strings</a:t>
            </a:r>
            <a:r>
              <a:rPr sz="1100" spc="-40" dirty="0"/>
              <a:t> </a:t>
            </a:r>
            <a:r>
              <a:rPr sz="1100" dirty="0"/>
              <a:t>represented</a:t>
            </a:r>
            <a:r>
              <a:rPr sz="1100" spc="-35" dirty="0"/>
              <a:t> </a:t>
            </a:r>
            <a:r>
              <a:rPr sz="1100" dirty="0"/>
              <a:t>in</a:t>
            </a:r>
            <a:r>
              <a:rPr sz="1100" spc="-30" dirty="0"/>
              <a:t> </a:t>
            </a:r>
            <a:r>
              <a:rPr sz="1100" dirty="0"/>
              <a:t>C</a:t>
            </a:r>
            <a:r>
              <a:rPr sz="1100" spc="-30" dirty="0"/>
              <a:t> </a:t>
            </a:r>
            <a:r>
              <a:rPr sz="1100" dirty="0"/>
              <a:t>as</a:t>
            </a:r>
            <a:r>
              <a:rPr sz="1100" spc="-30" dirty="0"/>
              <a:t> </a:t>
            </a:r>
            <a:r>
              <a:rPr sz="1100" dirty="0"/>
              <a:t>an</a:t>
            </a:r>
            <a:r>
              <a:rPr sz="1100" spc="-35" dirty="0"/>
              <a:t> </a:t>
            </a:r>
            <a:r>
              <a:rPr sz="1100" spc="-10" dirty="0"/>
              <a:t>array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30" dirty="0"/>
              <a:t> </a:t>
            </a:r>
            <a:r>
              <a:rPr sz="1100" dirty="0"/>
              <a:t>characters</a:t>
            </a:r>
            <a:r>
              <a:rPr sz="1100" spc="-30" dirty="0"/>
              <a:t> </a:t>
            </a:r>
            <a:r>
              <a:rPr sz="1100" dirty="0"/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[]</a:t>
            </a:r>
            <a:r>
              <a:rPr sz="900" spc="-155" dirty="0"/>
              <a:t> </a:t>
            </a:r>
            <a:r>
              <a:rPr sz="1100" spc="-50" dirty="0"/>
              <a:t>)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/>
              <a:t>String</a:t>
            </a:r>
            <a:r>
              <a:rPr sz="1100" spc="-25" dirty="0"/>
              <a:t> </a:t>
            </a:r>
            <a:r>
              <a:rPr sz="1100" dirty="0"/>
              <a:t>must</a:t>
            </a:r>
            <a:r>
              <a:rPr sz="1100" spc="-15" dirty="0"/>
              <a:t> </a:t>
            </a:r>
            <a:r>
              <a:rPr sz="1100" dirty="0"/>
              <a:t>be</a:t>
            </a:r>
            <a:r>
              <a:rPr sz="1100" spc="-15" dirty="0"/>
              <a:t> </a:t>
            </a:r>
            <a:r>
              <a:rPr sz="1100" spc="-10" dirty="0"/>
              <a:t>null-</a:t>
            </a:r>
            <a:r>
              <a:rPr sz="1100" dirty="0"/>
              <a:t>terminated</a:t>
            </a:r>
            <a:r>
              <a:rPr sz="1100" spc="-15" dirty="0"/>
              <a:t> </a:t>
            </a:r>
            <a:r>
              <a:rPr sz="1100" spc="-20" dirty="0"/>
              <a:t>(</a:t>
            </a:r>
            <a:r>
              <a:rPr sz="1100" spc="-20" dirty="0">
                <a:latin typeface="Courier New"/>
                <a:cs typeface="Courier New"/>
              </a:rPr>
              <a:t>’\0’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at</a:t>
            </a:r>
            <a:r>
              <a:rPr sz="1100" spc="-10" dirty="0"/>
              <a:t> </a:t>
            </a:r>
            <a:r>
              <a:rPr sz="1100" spc="-20" dirty="0"/>
              <a:t>end)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/>
              <a:t>Declaration:</a:t>
            </a:r>
            <a:endParaRPr sz="1100"/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/>
              <a:t>str</a:t>
            </a:r>
            <a:r>
              <a:rPr spc="-55" dirty="0"/>
              <a:t> </a:t>
            </a:r>
            <a:r>
              <a:rPr dirty="0"/>
              <a:t>[]</a:t>
            </a:r>
            <a:r>
              <a:rPr spc="295" dirty="0"/>
              <a:t> </a:t>
            </a:r>
            <a:r>
              <a:rPr dirty="0"/>
              <a:t>=</a:t>
            </a:r>
            <a:r>
              <a:rPr spc="25" dirty="0"/>
              <a:t> </a:t>
            </a:r>
            <a:r>
              <a:rPr dirty="0">
                <a:latin typeface="Courier New"/>
                <a:cs typeface="Courier New"/>
              </a:rPr>
              <a:t>"I</a:t>
            </a:r>
            <a:r>
              <a:rPr spc="-10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am</a:t>
            </a:r>
            <a:r>
              <a:rPr spc="-1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spc="-1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string."</a:t>
            </a:r>
            <a:r>
              <a:rPr dirty="0"/>
              <a:t>;</a:t>
            </a:r>
            <a:r>
              <a:rPr spc="45" dirty="0"/>
              <a:t> </a:t>
            </a:r>
            <a:r>
              <a:rPr sz="1100" spc="-25" dirty="0"/>
              <a:t>or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235"/>
              </a:spcBef>
            </a:pP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/>
              <a:t>str[20]</a:t>
            </a:r>
            <a:r>
              <a:rPr spc="215" dirty="0"/>
              <a:t> </a:t>
            </a:r>
            <a:r>
              <a:rPr dirty="0"/>
              <a:t>=</a:t>
            </a:r>
            <a:r>
              <a:rPr spc="35" dirty="0"/>
              <a:t> </a:t>
            </a:r>
            <a:r>
              <a:rPr dirty="0">
                <a:latin typeface="Courier New"/>
                <a:cs typeface="Courier New"/>
              </a:rPr>
              <a:t>"I</a:t>
            </a:r>
            <a:r>
              <a:rPr spc="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am</a:t>
            </a:r>
            <a:r>
              <a:rPr spc="5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spc="5" dirty="0"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string."</a:t>
            </a:r>
            <a:r>
              <a:rPr spc="-10" dirty="0"/>
              <a:t>;</a:t>
            </a:r>
          </a:p>
          <a:p>
            <a:pPr marL="146050" indent="-133350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20" dirty="0">
                <a:latin typeface="Courier New"/>
                <a:cs typeface="Courier New"/>
              </a:rPr>
              <a:t>strcpy()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-</a:t>
            </a:r>
            <a:r>
              <a:rPr sz="1100" spc="-35" dirty="0"/>
              <a:t> </a:t>
            </a:r>
            <a:r>
              <a:rPr sz="1100" dirty="0"/>
              <a:t>function</a:t>
            </a:r>
            <a:r>
              <a:rPr sz="1100" spc="-15" dirty="0"/>
              <a:t> </a:t>
            </a:r>
            <a:r>
              <a:rPr sz="1100" dirty="0"/>
              <a:t>for</a:t>
            </a:r>
            <a:r>
              <a:rPr sz="1100" spc="-20" dirty="0"/>
              <a:t> </a:t>
            </a:r>
            <a:r>
              <a:rPr sz="1100" spc="-10" dirty="0"/>
              <a:t>copying</a:t>
            </a:r>
            <a:r>
              <a:rPr sz="1100" spc="-15" dirty="0"/>
              <a:t> </a:t>
            </a:r>
            <a:r>
              <a:rPr sz="1100" dirty="0"/>
              <a:t>one</a:t>
            </a:r>
            <a:r>
              <a:rPr sz="1100" spc="-20" dirty="0"/>
              <a:t> </a:t>
            </a:r>
            <a:r>
              <a:rPr sz="1100" dirty="0"/>
              <a:t>string</a:t>
            </a:r>
            <a:r>
              <a:rPr sz="1100" spc="-20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spc="-10" dirty="0"/>
              <a:t>another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/>
              <a:t>More</a:t>
            </a:r>
            <a:r>
              <a:rPr sz="1100" spc="-45" dirty="0"/>
              <a:t> </a:t>
            </a:r>
            <a:r>
              <a:rPr sz="1100" dirty="0"/>
              <a:t>about</a:t>
            </a:r>
            <a:r>
              <a:rPr sz="1100" spc="-20" dirty="0"/>
              <a:t> </a:t>
            </a:r>
            <a:r>
              <a:rPr sz="1100" dirty="0"/>
              <a:t>strings</a:t>
            </a:r>
            <a:r>
              <a:rPr sz="1100" spc="-25" dirty="0"/>
              <a:t> </a:t>
            </a:r>
            <a:r>
              <a:rPr sz="1100" dirty="0"/>
              <a:t>and</a:t>
            </a:r>
            <a:r>
              <a:rPr sz="1100" spc="-20" dirty="0"/>
              <a:t> </a:t>
            </a:r>
            <a:r>
              <a:rPr sz="1100" dirty="0"/>
              <a:t>string</a:t>
            </a:r>
            <a:r>
              <a:rPr sz="1100" spc="-20" dirty="0"/>
              <a:t> </a:t>
            </a:r>
            <a:r>
              <a:rPr sz="1100" dirty="0"/>
              <a:t>functions</a:t>
            </a:r>
            <a:r>
              <a:rPr sz="1100" spc="-25" dirty="0"/>
              <a:t> </a:t>
            </a:r>
            <a:r>
              <a:rPr sz="1100" spc="-20" dirty="0"/>
              <a:t>today.</a:t>
            </a:r>
            <a:r>
              <a:rPr sz="1100" spc="-125" dirty="0"/>
              <a:t> </a:t>
            </a:r>
            <a:r>
              <a:rPr sz="1100" dirty="0"/>
              <a:t>.</a:t>
            </a:r>
            <a:r>
              <a:rPr sz="1100" spc="-125" dirty="0"/>
              <a:t> </a:t>
            </a:r>
            <a:r>
              <a:rPr sz="1100" spc="-50" dirty="0"/>
              <a:t>.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4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-2044"/>
            <a:ext cx="4038550" cy="296873"/>
          </a:xfrm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60" dirty="0" err="1"/>
              <a:t>TashTech</a:t>
            </a:r>
            <a:r>
              <a:rPr lang="en-US" spc="60" dirty="0"/>
              <a:t> </a:t>
            </a:r>
            <a:r>
              <a:rPr lang="en-US" dirty="0"/>
              <a:t>Lecture</a:t>
            </a:r>
            <a:r>
              <a:rPr lang="en-US" spc="60" dirty="0"/>
              <a:t> 7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 27, 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03745"/>
            <a:ext cx="269875" cy="2580005"/>
            <a:chOff x="359994" y="503745"/>
            <a:chExt cx="269875" cy="2580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037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787133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17" y="966901"/>
              <a:ext cx="61874" cy="61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138974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311046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586750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1870138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817" y="2049894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325598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50535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817" y="267743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817" y="28495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817" y="3021584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4680" y="436561"/>
            <a:ext cx="2125345" cy="270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87325" marR="5080" indent="-175260">
              <a:lnSpc>
                <a:spcPct val="102600"/>
              </a:lnSpc>
              <a:spcBef>
                <a:spcPts val="875"/>
              </a:spcBef>
            </a:pPr>
            <a:r>
              <a:rPr sz="1100" spc="-10" dirty="0">
                <a:latin typeface="Arial"/>
                <a:cs typeface="Arial"/>
              </a:rPr>
              <a:t>Pointers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Addresses Physical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Virtual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 Addressing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Indirection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Outputs</a:t>
            </a:r>
            <a:endParaRPr sz="1100">
              <a:latin typeface="Arial"/>
              <a:cs typeface="Arial"/>
            </a:endParaRPr>
          </a:p>
          <a:p>
            <a:pPr marL="12700" marR="313055">
              <a:lnSpc>
                <a:spcPct val="1690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Arrays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Arithmetic Strings</a:t>
            </a:r>
            <a:endParaRPr sz="11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Utility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87325" marR="33020" indent="-175260" algn="just">
              <a:lnSpc>
                <a:spcPct val="102600"/>
              </a:lnSpc>
              <a:spcBef>
                <a:spcPts val="88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Sorting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Algorithms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Linear</a:t>
            </a:r>
            <a:r>
              <a:rPr sz="11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  <a:p>
            <a:pPr marL="187325" marR="1055370" algn="just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Simple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Sort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Faster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Sorting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Binary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Pointers</a:t>
            </a:r>
            <a:r>
              <a:rPr spc="55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spc="-10" dirty="0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09787"/>
            <a:ext cx="3480435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Pointer: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endParaRPr sz="1100">
              <a:latin typeface="Arial"/>
              <a:cs typeface="Arial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Address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access/modify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from </a:t>
            </a:r>
            <a:r>
              <a:rPr sz="1100" spc="-10" dirty="0">
                <a:latin typeface="Arial"/>
                <a:cs typeface="Arial"/>
              </a:rPr>
              <a:t>anywhere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Extremely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useful,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especially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structures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Well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known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obfuscating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Physical</a:t>
            </a:r>
            <a:r>
              <a:rPr spc="100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virtual</a:t>
            </a:r>
            <a:r>
              <a:rPr spc="105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96326"/>
            <a:ext cx="3620135" cy="135826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44780" marR="5080" indent="-132715">
              <a:lnSpc>
                <a:spcPts val="1200"/>
              </a:lnSpc>
              <a:spcBef>
                <a:spcPts val="229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resources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computer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50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"/>
                <a:cs typeface="Arial"/>
              </a:rPr>
              <a:t>cache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25" dirty="0">
                <a:latin typeface="Arial"/>
                <a:cs typeface="Arial"/>
              </a:rPr>
              <a:t>RAM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hard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disk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"/>
                <a:cs typeface="Arial"/>
              </a:rPr>
              <a:t>removable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storage</a:t>
            </a:r>
            <a:endParaRPr sz="1000">
              <a:latin typeface="Arial"/>
              <a:cs typeface="Arial"/>
            </a:endParaRPr>
          </a:p>
          <a:p>
            <a:pPr marL="144780" marR="107950" indent="-132715">
              <a:lnSpc>
                <a:spcPct val="102600"/>
              </a:lnSpc>
              <a:spcBef>
                <a:spcPts val="32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Virtual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abstraction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addressable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 accessible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Physical</a:t>
            </a:r>
            <a:r>
              <a:rPr spc="105" dirty="0"/>
              <a:t> </a:t>
            </a:r>
            <a:r>
              <a:rPr dirty="0"/>
              <a:t>memory</a:t>
            </a:r>
            <a:r>
              <a:rPr spc="105" dirty="0"/>
              <a:t> </a:t>
            </a:r>
            <a:r>
              <a:rPr spc="-10" dirty="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57615"/>
            <a:ext cx="3695065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speeds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Memory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management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major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OS</a:t>
            </a:r>
            <a:endParaRPr sz="1100">
              <a:latin typeface="Arial"/>
              <a:cs typeface="Arial"/>
            </a:endParaRPr>
          </a:p>
          <a:p>
            <a:pPr marL="144780" marR="5080" indent="-132715">
              <a:lnSpc>
                <a:spcPct val="102600"/>
              </a:lnSpc>
              <a:spcBef>
                <a:spcPts val="29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ensure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available</a:t>
            </a:r>
            <a:endParaRPr sz="1100">
              <a:latin typeface="Arial"/>
              <a:cs typeface="Arial"/>
            </a:endParaRPr>
          </a:p>
          <a:p>
            <a:pPr marL="144780" marR="473075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OS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moves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around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during execution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Embedded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processors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limited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Virtual</a:t>
            </a:r>
            <a:r>
              <a:rPr spc="140" dirty="0"/>
              <a:t> </a:t>
            </a:r>
            <a:r>
              <a:rPr spc="-10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24660"/>
            <a:ext cx="3749675" cy="1816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9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How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physical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have?</a:t>
            </a:r>
            <a:endParaRPr sz="1100">
              <a:latin typeface="Arial"/>
              <a:cs typeface="Arial"/>
            </a:endParaRPr>
          </a:p>
          <a:p>
            <a:pPr marL="144780" marR="32385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Answer: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(cache)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(RAM)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100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(hard </a:t>
            </a:r>
            <a:r>
              <a:rPr sz="1100" dirty="0">
                <a:latin typeface="Arial"/>
                <a:cs typeface="Arial"/>
              </a:rPr>
              <a:t>drive)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How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virtual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</a:t>
            </a:r>
            <a:r>
              <a:rPr sz="1100" spc="-20" dirty="0">
                <a:latin typeface="Arial"/>
                <a:cs typeface="Arial"/>
              </a:rPr>
              <a:t> have?</a:t>
            </a:r>
            <a:endParaRPr sz="1100">
              <a:latin typeface="Arial"/>
              <a:cs typeface="Arial"/>
            </a:endParaRPr>
          </a:p>
          <a:p>
            <a:pPr marL="144780" marR="18161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Answer: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&lt;4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(32-</a:t>
            </a:r>
            <a:r>
              <a:rPr sz="1100" dirty="0">
                <a:latin typeface="Arial"/>
                <a:cs typeface="Arial"/>
              </a:rPr>
              <a:t>bit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OS),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typically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Windows, 3-</a:t>
            </a:r>
            <a:r>
              <a:rPr sz="1100" dirty="0">
                <a:latin typeface="Arial"/>
                <a:cs typeface="Arial"/>
              </a:rPr>
              <a:t>4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GB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linux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Virtual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 </a:t>
            </a:r>
            <a:r>
              <a:rPr sz="1100" dirty="0">
                <a:latin typeface="Arial"/>
                <a:cs typeface="Arial"/>
              </a:rPr>
              <a:t>parts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physical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Usable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virtual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stack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heap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0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stack: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declared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variables</a:t>
            </a:r>
            <a:r>
              <a:rPr sz="1000" spc="-25" dirty="0">
                <a:latin typeface="Arial"/>
                <a:cs typeface="Arial"/>
              </a:rPr>
              <a:t> go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heap: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dynamic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memory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goes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Addressing</a:t>
            </a:r>
            <a:r>
              <a:rPr spc="14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31867"/>
            <a:ext cx="3400425" cy="20148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2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Every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residing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address!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doesn’t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address?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register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variables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constants/literals/preprocessor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defines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spc="-10" dirty="0">
                <a:latin typeface="Arial"/>
                <a:cs typeface="Arial"/>
              </a:rPr>
              <a:t>expressions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(unless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result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variable)</a:t>
            </a:r>
            <a:endParaRPr sz="10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5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How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variable?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&amp;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operator</a:t>
            </a:r>
            <a:endParaRPr sz="11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4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.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65" dirty="0">
                <a:latin typeface="Arial"/>
                <a:cs typeface="Arial"/>
              </a:rPr>
              <a:t>14159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pn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54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&amp;n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address</a:t>
            </a:r>
            <a:r>
              <a:rPr sz="900" spc="4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4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4986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900" b="1" spc="3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140" dirty="0">
                <a:latin typeface="Lucida Sans Unicode"/>
                <a:cs typeface="Lucida Sans Unicode"/>
              </a:rPr>
              <a:t> </a:t>
            </a:r>
            <a:r>
              <a:rPr sz="900" spc="60" dirty="0">
                <a:latin typeface="Arial"/>
                <a:cs typeface="Arial"/>
              </a:rPr>
              <a:t>ppi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&amp;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address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double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Address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*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Dereferencing</a:t>
            </a:r>
            <a:r>
              <a:rPr spc="175" dirty="0"/>
              <a:t> </a:t>
            </a:r>
            <a:r>
              <a:rPr spc="-1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758" y="701876"/>
            <a:ext cx="3685540" cy="20574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84150" algn="l"/>
              </a:tabLst>
            </a:pPr>
            <a:r>
              <a:rPr sz="1100" dirty="0">
                <a:latin typeface="Arial"/>
                <a:cs typeface="Arial"/>
              </a:rPr>
              <a:t>I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what?</a:t>
            </a:r>
            <a:endParaRPr sz="1100">
              <a:latin typeface="Arial"/>
              <a:cs typeface="Arial"/>
            </a:endParaRPr>
          </a:p>
          <a:p>
            <a:pPr marL="182880" marR="98806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82880" algn="l"/>
              </a:tabLst>
            </a:pPr>
            <a:r>
              <a:rPr sz="1100" spc="-10" dirty="0">
                <a:latin typeface="Arial"/>
                <a:cs typeface="Arial"/>
              </a:rPr>
              <a:t>Accessing/modifying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variable: dereferencing/indirection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650" spc="-75" baseline="-10101" dirty="0">
                <a:latin typeface="Courier New"/>
                <a:cs typeface="Courier New"/>
              </a:rPr>
              <a:t>*</a:t>
            </a:r>
            <a:endParaRPr sz="1650" baseline="-10101">
              <a:latin typeface="Courier New"/>
              <a:cs typeface="Courier New"/>
            </a:endParaRPr>
          </a:p>
          <a:p>
            <a:pPr marL="205740" marR="1528445" indent="-6985">
              <a:lnSpc>
                <a:spcPct val="101499"/>
              </a:lnSpc>
              <a:spcBef>
                <a:spcPts val="55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"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p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4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3</a:t>
            </a:r>
            <a:r>
              <a:rPr sz="900" spc="-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.</a:t>
            </a:r>
            <a:r>
              <a:rPr sz="900" spc="-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14159</a:t>
            </a:r>
            <a:r>
              <a:rPr sz="900" spc="-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\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"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"pi</a:t>
            </a:r>
            <a:r>
              <a:rPr sz="900" spc="1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=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%g\n"</a:t>
            </a:r>
            <a:r>
              <a:rPr sz="900" spc="-36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90" dirty="0">
                <a:latin typeface="Lucida Sans Unicode"/>
                <a:cs typeface="Lucida Sans Unicode"/>
              </a:rPr>
              <a:t> </a:t>
            </a:r>
            <a:r>
              <a:rPr sz="900" spc="60" dirty="0">
                <a:latin typeface="Arial"/>
                <a:cs typeface="Arial"/>
              </a:rPr>
              <a:t>ppi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198755">
              <a:lnSpc>
                <a:spcPct val="100000"/>
              </a:lnSpc>
              <a:spcBef>
                <a:spcPts val="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4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now</a:t>
            </a:r>
            <a:r>
              <a:rPr sz="900" spc="3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equals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7.14159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15"/>
              </a:spcBef>
            </a:pP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145" dirty="0">
                <a:latin typeface="Lucida Sans Unicode"/>
                <a:cs typeface="Lucida Sans Unicode"/>
              </a:rPr>
              <a:t> </a:t>
            </a:r>
            <a:r>
              <a:rPr sz="900" spc="60" dirty="0">
                <a:latin typeface="Arial"/>
                <a:cs typeface="Arial"/>
              </a:rPr>
              <a:t>ppi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140" dirty="0">
                <a:latin typeface="Lucida Sans Unicode"/>
                <a:cs typeface="Lucida Sans Unicode"/>
              </a:rPr>
              <a:t> </a:t>
            </a:r>
            <a:r>
              <a:rPr sz="900" spc="60" dirty="0">
                <a:latin typeface="Arial"/>
                <a:cs typeface="Arial"/>
              </a:rPr>
              <a:t>ppi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65" dirty="0">
                <a:latin typeface="Lucida Sans Unicode"/>
                <a:cs typeface="Lucida Sans Unicode"/>
              </a:rPr>
              <a:t>∗</a:t>
            </a:r>
            <a:r>
              <a:rPr sz="900" spc="-65" dirty="0">
                <a:latin typeface="Arial"/>
                <a:cs typeface="Arial"/>
              </a:rPr>
              <a:t>pn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841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84150" algn="l"/>
              </a:tabLst>
            </a:pPr>
            <a:r>
              <a:rPr sz="1100" spc="-10" dirty="0">
                <a:latin typeface="Arial"/>
                <a:cs typeface="Arial"/>
              </a:rPr>
              <a:t>Dereferenced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endParaRPr sz="1100">
              <a:latin typeface="Arial"/>
              <a:cs typeface="Arial"/>
            </a:endParaRPr>
          </a:p>
          <a:p>
            <a:pPr marL="182880" marR="177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82880" algn="l"/>
              </a:tabLst>
            </a:pPr>
            <a:r>
              <a:rPr sz="1100" dirty="0">
                <a:latin typeface="Arial"/>
                <a:cs typeface="Arial"/>
              </a:rPr>
              <a:t>null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pointer,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i.e.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Courier New"/>
                <a:cs typeface="Courier New"/>
              </a:rPr>
              <a:t>NULL</a:t>
            </a:r>
            <a:r>
              <a:rPr sz="1100" dirty="0">
                <a:latin typeface="Arial"/>
                <a:cs typeface="Arial"/>
              </a:rPr>
              <a:t>):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reference anything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Casting</a:t>
            </a:r>
            <a:r>
              <a:rPr spc="105" dirty="0"/>
              <a:t> </a:t>
            </a:r>
            <a:r>
              <a:rPr spc="-1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6458" y="825270"/>
            <a:ext cx="3803650" cy="1816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0180" marR="267970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7018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pointer </a:t>
            </a:r>
            <a:r>
              <a:rPr sz="1100" spc="-20" dirty="0">
                <a:latin typeface="Arial"/>
                <a:cs typeface="Arial"/>
              </a:rPr>
              <a:t>type</a:t>
            </a:r>
            <a:endParaRPr sz="1100">
              <a:latin typeface="Arial"/>
              <a:cs typeface="Arial"/>
            </a:endParaRPr>
          </a:p>
          <a:p>
            <a:pPr marL="171450">
              <a:lnSpc>
                <a:spcPct val="100000"/>
              </a:lnSpc>
              <a:spcBef>
                <a:spcPts val="235"/>
              </a:spcBef>
            </a:pPr>
            <a:r>
              <a:rPr sz="900" dirty="0">
                <a:latin typeface="Arial"/>
                <a:cs typeface="Arial"/>
              </a:rPr>
              <a:t>ppi</a:t>
            </a:r>
            <a:r>
              <a:rPr sz="900" spc="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60" dirty="0">
                <a:latin typeface="Lucida Sans Unicode"/>
                <a:cs typeface="Lucida Sans Unicode"/>
              </a:rPr>
              <a:t>∗</a:t>
            </a:r>
            <a:r>
              <a:rPr sz="900" spc="-60" dirty="0">
                <a:latin typeface="Arial"/>
                <a:cs typeface="Arial"/>
              </a:rPr>
              <a:t>)pn;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2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pn</a:t>
            </a:r>
            <a:r>
              <a:rPr sz="900" spc="2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originally</a:t>
            </a:r>
            <a:r>
              <a:rPr sz="900" spc="3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type</a:t>
            </a:r>
            <a:r>
              <a:rPr sz="900" spc="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int</a:t>
            </a:r>
            <a:r>
              <a:rPr sz="900" spc="2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20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70180" marR="361315" indent="-132715">
              <a:lnSpc>
                <a:spcPct val="102600"/>
              </a:lnSpc>
              <a:spcBef>
                <a:spcPts val="340"/>
              </a:spcBef>
              <a:buSzPct val="90909"/>
              <a:buFont typeface="Cambria"/>
              <a:buChar char="•"/>
              <a:tabLst>
                <a:tab pos="170180" algn="l"/>
              </a:tabLst>
            </a:pPr>
            <a:r>
              <a:rPr sz="1100" dirty="0">
                <a:latin typeface="Arial"/>
                <a:cs typeface="Arial"/>
              </a:rPr>
              <a:t>Implicit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to/from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Courier New"/>
                <a:cs typeface="Courier New"/>
              </a:rPr>
              <a:t>void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650" spc="-30" baseline="-10101" dirty="0">
                <a:latin typeface="Courier New"/>
                <a:cs typeface="Courier New"/>
              </a:rPr>
              <a:t>*</a:t>
            </a:r>
            <a:r>
              <a:rPr sz="1650" spc="-540" baseline="-10101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possible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(more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next week.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70180" marR="304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70180" algn="l"/>
              </a:tabLst>
            </a:pPr>
            <a:r>
              <a:rPr sz="1100" spc="-10" dirty="0">
                <a:latin typeface="Arial"/>
                <a:cs typeface="Arial"/>
              </a:rPr>
              <a:t>Dereferenced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regardless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type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170180" marR="922655" indent="-132715">
              <a:lnSpc>
                <a:spcPts val="1200"/>
              </a:lnSpc>
              <a:spcBef>
                <a:spcPts val="315"/>
              </a:spcBef>
              <a:buSzPct val="90909"/>
              <a:buFont typeface="Cambria"/>
              <a:buChar char="•"/>
              <a:tabLst>
                <a:tab pos="170180" algn="l"/>
              </a:tabLst>
            </a:pPr>
            <a:r>
              <a:rPr sz="1100" spc="-20" dirty="0">
                <a:latin typeface="Arial"/>
                <a:cs typeface="Arial"/>
              </a:rPr>
              <a:t>Possible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segmentation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faults,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 difficult-to-</a:t>
            </a:r>
            <a:r>
              <a:rPr sz="1100" dirty="0">
                <a:latin typeface="Arial"/>
                <a:cs typeface="Arial"/>
              </a:rPr>
              <a:t>identify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errors</a:t>
            </a:r>
            <a:endParaRPr sz="1100">
              <a:latin typeface="Arial"/>
              <a:cs typeface="Arial"/>
            </a:endParaRPr>
          </a:p>
          <a:p>
            <a:pPr marL="447675" lvl="1" indent="-128270">
              <a:lnSpc>
                <a:spcPct val="100000"/>
              </a:lnSpc>
              <a:spcBef>
                <a:spcPts val="150"/>
              </a:spcBef>
              <a:buSzPct val="90000"/>
              <a:buFont typeface="Lucida Sans Unicode"/>
              <a:buChar char="•"/>
              <a:tabLst>
                <a:tab pos="447675" algn="l"/>
              </a:tabLst>
            </a:pPr>
            <a:r>
              <a:rPr sz="1000" dirty="0">
                <a:latin typeface="Arial"/>
                <a:cs typeface="Arial"/>
              </a:rPr>
              <a:t>What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happens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dereference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ppi</a:t>
            </a:r>
            <a:r>
              <a:rPr sz="1000" spc="-32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Arial"/>
                <a:cs typeface="Arial"/>
              </a:rPr>
              <a:t>now?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Functions</a:t>
            </a:r>
            <a:r>
              <a:rPr spc="125" dirty="0"/>
              <a:t> </a:t>
            </a:r>
            <a:r>
              <a:rPr dirty="0"/>
              <a:t>with</a:t>
            </a:r>
            <a:r>
              <a:rPr spc="130" dirty="0"/>
              <a:t> </a:t>
            </a:r>
            <a:r>
              <a:rPr dirty="0"/>
              <a:t>multiple</a:t>
            </a:r>
            <a:r>
              <a:rPr spc="130" dirty="0"/>
              <a:t> </a:t>
            </a:r>
            <a:r>
              <a:rPr spc="-10" dirty="0"/>
              <a:t>outputs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20139"/>
            <a:ext cx="3553460" cy="2327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9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Extended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Euclidean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Courier New"/>
                <a:cs typeface="Courier New"/>
              </a:rPr>
              <a:t>ext_euclid(a,b)</a:t>
            </a:r>
            <a:r>
              <a:rPr sz="1100" spc="-34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Wednesday’s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lecture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Garamond"/>
                <a:cs typeface="Garamond"/>
              </a:rPr>
              <a:t>gcd(</a:t>
            </a:r>
            <a:r>
              <a:rPr sz="1100" i="1" dirty="0">
                <a:latin typeface="Bookman Old Style"/>
                <a:cs typeface="Bookman Old Style"/>
              </a:rPr>
              <a:t>a,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10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Garamond"/>
                <a:cs typeface="Garamond"/>
              </a:rPr>
              <a:t>)</a:t>
            </a:r>
            <a:r>
              <a:rPr sz="1100" spc="-20" dirty="0">
                <a:latin typeface="Arial"/>
                <a:cs typeface="Arial"/>
              </a:rPr>
              <a:t>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x</a:t>
            </a:r>
            <a:r>
              <a:rPr sz="1100" spc="-35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y</a:t>
            </a:r>
            <a:r>
              <a:rPr sz="1100" spc="-34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s.t.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spc="-55" dirty="0">
                <a:latin typeface="Bookman Old Style"/>
                <a:cs typeface="Bookman Old Style"/>
              </a:rPr>
              <a:t>ax</a:t>
            </a:r>
            <a:r>
              <a:rPr sz="1100" i="1" spc="-80" dirty="0">
                <a:latin typeface="Bookman Old Style"/>
                <a:cs typeface="Bookman Old Style"/>
              </a:rPr>
              <a:t> </a:t>
            </a:r>
            <a:r>
              <a:rPr sz="1100" spc="100" dirty="0">
                <a:latin typeface="Garamond"/>
                <a:cs typeface="Garamond"/>
              </a:rPr>
              <a:t>+</a:t>
            </a:r>
            <a:r>
              <a:rPr sz="1100" spc="-25" dirty="0">
                <a:latin typeface="Garamond"/>
                <a:cs typeface="Garamond"/>
              </a:rPr>
              <a:t> </a:t>
            </a:r>
            <a:r>
              <a:rPr sz="1100" i="1" spc="-175" dirty="0">
                <a:latin typeface="Bookman Old Style"/>
                <a:cs typeface="Bookman Old Style"/>
              </a:rPr>
              <a:t>by</a:t>
            </a:r>
            <a:r>
              <a:rPr sz="1100" i="1" spc="20" dirty="0">
                <a:latin typeface="Bookman Old Style"/>
                <a:cs typeface="Bookman Old Style"/>
              </a:rPr>
              <a:t> </a:t>
            </a:r>
            <a:r>
              <a:rPr sz="1100" spc="100" dirty="0">
                <a:latin typeface="Garamond"/>
                <a:cs typeface="Garamond"/>
              </a:rPr>
              <a:t>=</a:t>
            </a:r>
            <a:r>
              <a:rPr sz="1100" spc="40" dirty="0">
                <a:latin typeface="Garamond"/>
                <a:cs typeface="Garamond"/>
              </a:rPr>
              <a:t> </a:t>
            </a:r>
            <a:r>
              <a:rPr sz="1100" dirty="0">
                <a:latin typeface="Garamond"/>
                <a:cs typeface="Garamond"/>
              </a:rPr>
              <a:t>gcd(</a:t>
            </a:r>
            <a:r>
              <a:rPr sz="1100" i="1" dirty="0">
                <a:latin typeface="Bookman Old Style"/>
                <a:cs typeface="Bookman Old Style"/>
              </a:rPr>
              <a:t>a,</a:t>
            </a:r>
            <a:r>
              <a:rPr sz="1100" i="1" spc="-145" dirty="0">
                <a:latin typeface="Bookman Old Style"/>
                <a:cs typeface="Bookman Old Style"/>
              </a:rPr>
              <a:t> </a:t>
            </a:r>
            <a:r>
              <a:rPr sz="110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Used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x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y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outputs:</a:t>
            </a:r>
            <a:endParaRPr sz="11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ext_euclid(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a,</a:t>
            </a:r>
            <a:r>
              <a:rPr sz="900" spc="229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b,</a:t>
            </a:r>
            <a:r>
              <a:rPr sz="900" spc="229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0" dirty="0">
                <a:latin typeface="Lucida Sans Unicode"/>
                <a:cs typeface="Lucida Sans Unicode"/>
              </a:rPr>
              <a:t>∗</a:t>
            </a:r>
            <a:r>
              <a:rPr sz="900" spc="-30" dirty="0">
                <a:latin typeface="Arial"/>
                <a:cs typeface="Arial"/>
              </a:rPr>
              <a:t>x,</a:t>
            </a:r>
            <a:r>
              <a:rPr sz="900" spc="22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Lucida Sans Unicode"/>
                <a:cs typeface="Lucida Sans Unicode"/>
              </a:rPr>
              <a:t>∗</a:t>
            </a:r>
            <a:r>
              <a:rPr sz="900" spc="-20" dirty="0">
                <a:latin typeface="Arial"/>
                <a:cs typeface="Arial"/>
              </a:rPr>
              <a:t>y);</a:t>
            </a:r>
            <a:endParaRPr sz="900">
              <a:latin typeface="Arial"/>
              <a:cs typeface="Arial"/>
            </a:endParaRPr>
          </a:p>
          <a:p>
            <a:pPr marL="144780" marR="142875" indent="-132715">
              <a:lnSpc>
                <a:spcPct val="102600"/>
              </a:lnSpc>
              <a:spcBef>
                <a:spcPts val="34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Calling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ext_euclid()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receive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x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y</a:t>
            </a:r>
            <a:r>
              <a:rPr sz="1100" spc="-2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7320" marR="887730" indent="12700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0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assume</a:t>
            </a:r>
            <a:r>
              <a:rPr sz="900" spc="3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4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declared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50" dirty="0">
                <a:latin typeface="Arial"/>
                <a:cs typeface="Arial"/>
              </a:rPr>
              <a:t>b,&amp;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,&amp;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Warning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about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x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y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being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before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initialized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Accessing</a:t>
            </a:r>
            <a:r>
              <a:rPr spc="75" dirty="0"/>
              <a:t> </a:t>
            </a:r>
            <a:r>
              <a:rPr dirty="0"/>
              <a:t>caller’s</a:t>
            </a:r>
            <a:r>
              <a:rPr spc="8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07413"/>
            <a:ext cx="3050540" cy="22021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Want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swap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integers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Need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modify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swap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them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Pointers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57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3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swap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0" dirty="0">
                <a:latin typeface="Lucida Sans Unicode"/>
                <a:cs typeface="Lucida Sans Unicode"/>
              </a:rPr>
              <a:t>∗</a:t>
            </a:r>
            <a:r>
              <a:rPr sz="900" spc="-100" dirty="0">
                <a:latin typeface="Arial"/>
                <a:cs typeface="Arial"/>
              </a:rPr>
              <a:t>x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70" dirty="0"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0" dirty="0">
                <a:latin typeface="Lucida Sans Unicode"/>
                <a:cs typeface="Lucida Sans Unicode"/>
              </a:rPr>
              <a:t>∗</a:t>
            </a:r>
            <a:r>
              <a:rPr sz="900" spc="-100" dirty="0">
                <a:latin typeface="Arial"/>
                <a:cs typeface="Arial"/>
              </a:rPr>
              <a:t>y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3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spc="-100" dirty="0">
                <a:latin typeface="Lucida Sans Unicode"/>
                <a:cs typeface="Lucida Sans Unicode"/>
              </a:rPr>
              <a:t>∗</a:t>
            </a:r>
            <a:r>
              <a:rPr sz="900" spc="-100" dirty="0">
                <a:latin typeface="Arial"/>
                <a:cs typeface="Arial"/>
              </a:rPr>
              <a:t>x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2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60" dirty="0">
                <a:latin typeface="Arial"/>
                <a:cs typeface="Arial"/>
              </a:rPr>
              <a:t> </a:t>
            </a:r>
            <a:r>
              <a:rPr sz="900" spc="-100" dirty="0">
                <a:latin typeface="Lucida Sans Unicode"/>
                <a:cs typeface="Lucida Sans Unicode"/>
              </a:rPr>
              <a:t>∗</a:t>
            </a:r>
            <a:r>
              <a:rPr sz="900" spc="-100" dirty="0">
                <a:latin typeface="Arial"/>
                <a:cs typeface="Arial"/>
              </a:rPr>
              <a:t>y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Lucida Sans Unicode"/>
                <a:cs typeface="Lucida Sans Unicode"/>
              </a:rPr>
              <a:t>∗</a:t>
            </a:r>
            <a:r>
              <a:rPr sz="900" dirty="0">
                <a:latin typeface="Arial"/>
                <a:cs typeface="Arial"/>
              </a:rPr>
              <a:t>y</a:t>
            </a:r>
            <a:r>
              <a:rPr sz="900" spc="2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Calling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swap()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"/>
                <a:cs typeface="Arial"/>
              </a:rPr>
              <a:t>function:</a:t>
            </a:r>
            <a:endParaRPr sz="1100">
              <a:latin typeface="Arial"/>
              <a:cs typeface="Arial"/>
            </a:endParaRPr>
          </a:p>
          <a:p>
            <a:pPr marL="146050" marR="1749425" indent="14604">
              <a:lnSpc>
                <a:spcPct val="101499"/>
              </a:lnSpc>
              <a:spcBef>
                <a:spcPts val="56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5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7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dirty="0">
                <a:latin typeface="Arial"/>
                <a:cs typeface="Arial"/>
              </a:rPr>
              <a:t> swap(&amp;a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20" dirty="0">
                <a:latin typeface="Arial"/>
                <a:cs typeface="Arial"/>
              </a:rPr>
              <a:t>&amp;b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37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now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4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3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7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3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</a:t>
            </a:r>
            <a:r>
              <a:rPr sz="900" spc="3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5</a:t>
            </a:r>
            <a:r>
              <a:rPr sz="900" spc="4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Variables</a:t>
            </a:r>
            <a:r>
              <a:rPr spc="75" dirty="0"/>
              <a:t> </a:t>
            </a:r>
            <a:r>
              <a:rPr dirty="0"/>
              <a:t>passing</a:t>
            </a:r>
            <a:r>
              <a:rPr spc="75" dirty="0"/>
              <a:t> </a:t>
            </a:r>
            <a:r>
              <a:rPr dirty="0"/>
              <a:t>out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72873"/>
            <a:ext cx="2736215" cy="20224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wrong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code?</a:t>
            </a:r>
            <a:endParaRPr sz="11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include</a:t>
            </a:r>
            <a:r>
              <a:rPr sz="900" b="1" spc="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&lt;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.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h&gt;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"/>
              <a:cs typeface="Arial"/>
            </a:endParaRPr>
          </a:p>
          <a:p>
            <a:pPr marL="151765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459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get_message</a:t>
            </a:r>
            <a:r>
              <a:rPr sz="900" spc="-10" dirty="0">
                <a:latin typeface="Arial"/>
                <a:cs typeface="Arial"/>
              </a:rPr>
              <a:t> (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3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829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3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msg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13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"Aren’t</a:t>
            </a:r>
            <a:r>
              <a:rPr sz="900" spc="2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pointers</a:t>
            </a:r>
            <a:r>
              <a:rPr sz="900" spc="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fun?"</a:t>
            </a:r>
            <a:r>
              <a:rPr sz="900" spc="-39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msg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8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3370" marR="421005" indent="-5080">
              <a:lnSpc>
                <a:spcPct val="101499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125" dirty="0">
                <a:latin typeface="Lucida Sans Unicode"/>
                <a:cs typeface="Lucida Sans Unicode"/>
              </a:rPr>
              <a:t> 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get_message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60" dirty="0">
                <a:latin typeface="Arial"/>
                <a:cs typeface="Arial"/>
              </a:rPr>
              <a:t> puts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Variables</a:t>
            </a:r>
            <a:r>
              <a:rPr spc="75" dirty="0"/>
              <a:t> </a:t>
            </a:r>
            <a:r>
              <a:rPr dirty="0"/>
              <a:t>passing</a:t>
            </a:r>
            <a:r>
              <a:rPr spc="75" dirty="0"/>
              <a:t> </a:t>
            </a:r>
            <a:r>
              <a:rPr dirty="0"/>
              <a:t>out</a:t>
            </a:r>
            <a:r>
              <a:rPr spc="7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72873"/>
            <a:ext cx="3121025" cy="23133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wrong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code?</a:t>
            </a:r>
            <a:endParaRPr sz="110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include</a:t>
            </a:r>
            <a:r>
              <a:rPr sz="900" b="1" spc="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&lt;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.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h&gt;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"/>
              <a:cs typeface="Arial"/>
            </a:endParaRPr>
          </a:p>
          <a:p>
            <a:pPr marL="151765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459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get_message</a:t>
            </a:r>
            <a:r>
              <a:rPr sz="900" spc="-10" dirty="0">
                <a:latin typeface="Arial"/>
                <a:cs typeface="Arial"/>
              </a:rPr>
              <a:t> (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3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829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3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msg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13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"Aren’t</a:t>
            </a:r>
            <a:r>
              <a:rPr sz="900" spc="2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pointers</a:t>
            </a:r>
            <a:r>
              <a:rPr sz="900" spc="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fun?"</a:t>
            </a:r>
            <a:r>
              <a:rPr sz="900" spc="-39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msg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9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8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3370" marR="805815" indent="-5080">
              <a:lnSpc>
                <a:spcPct val="101499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125" dirty="0">
                <a:latin typeface="Lucida Sans Unicode"/>
                <a:cs typeface="Lucida Sans Unicode"/>
              </a:rPr>
              <a:t> 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get_message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r>
              <a:rPr sz="900" spc="60" dirty="0">
                <a:latin typeface="Arial"/>
                <a:cs typeface="Arial"/>
              </a:rPr>
              <a:t> puts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invalid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scope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-2044"/>
            <a:ext cx="3962350" cy="296873"/>
          </a:xfrm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60" dirty="0" err="1"/>
              <a:t>TashTech</a:t>
            </a:r>
            <a:r>
              <a:rPr lang="en-US" spc="60" dirty="0"/>
              <a:t> </a:t>
            </a:r>
            <a:r>
              <a:rPr lang="en-US" dirty="0"/>
              <a:t>Lecture</a:t>
            </a:r>
            <a:r>
              <a:rPr lang="en-US" spc="60" dirty="0"/>
              <a:t> 7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 27, 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03745"/>
            <a:ext cx="269875" cy="2580005"/>
            <a:chOff x="359994" y="503745"/>
            <a:chExt cx="269875" cy="2580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037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787133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17" y="966901"/>
              <a:ext cx="61874" cy="61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138974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311046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586750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1870138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817" y="2049894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325598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50535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817" y="267743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817" y="28495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817" y="3021584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4680" y="436561"/>
            <a:ext cx="2125345" cy="270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87325" marR="5080" indent="-175260">
              <a:lnSpc>
                <a:spcPct val="102600"/>
              </a:lnSpc>
              <a:spcBef>
                <a:spcPts val="87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Pointers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Memory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Addresses Physical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Virtual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Memory Addressing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Indirection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Multiple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Outputs</a:t>
            </a:r>
            <a:endParaRPr sz="1100">
              <a:latin typeface="Arial"/>
              <a:cs typeface="Arial"/>
            </a:endParaRPr>
          </a:p>
          <a:p>
            <a:pPr marL="12700" marR="313055">
              <a:lnSpc>
                <a:spcPct val="169000"/>
              </a:lnSpc>
            </a:pPr>
            <a:r>
              <a:rPr sz="1100" spc="-10" dirty="0">
                <a:latin typeface="Arial"/>
                <a:cs typeface="Arial"/>
              </a:rPr>
              <a:t>Arrays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Arithmetic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Strings</a:t>
            </a:r>
            <a:endParaRPr sz="11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Utility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87325" marR="33020" indent="-175260" algn="just">
              <a:lnSpc>
                <a:spcPct val="102600"/>
              </a:lnSpc>
              <a:spcBef>
                <a:spcPts val="88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Sorting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Algorithms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Linear</a:t>
            </a:r>
            <a:r>
              <a:rPr sz="11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  <a:p>
            <a:pPr marL="187325" marR="1055370" algn="just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Simple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Sort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Faster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Sorting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Binary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Arrays</a:t>
            </a:r>
            <a:r>
              <a:rPr spc="70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spc="-10" dirty="0"/>
              <a:t>pointers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63065"/>
            <a:ext cx="3718560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Primitive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contiguous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Consider array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Garamond"/>
                <a:cs typeface="Garamond"/>
              </a:rPr>
              <a:t>8</a:t>
            </a:r>
            <a:r>
              <a:rPr sz="1100" spc="20" dirty="0">
                <a:latin typeface="Garamond"/>
                <a:cs typeface="Garamond"/>
              </a:rPr>
              <a:t> </a:t>
            </a:r>
            <a:r>
              <a:rPr sz="1100" spc="-10" dirty="0">
                <a:latin typeface="Arial"/>
                <a:cs typeface="Arial"/>
              </a:rPr>
              <a:t>ints:</a:t>
            </a:r>
            <a:endParaRPr sz="11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</a:t>
            </a:r>
            <a:r>
              <a:rPr sz="900" spc="-20" dirty="0">
                <a:latin typeface="Arial"/>
                <a:cs typeface="Arial"/>
              </a:rPr>
              <a:t> [8];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Accessing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arr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entry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operator:</a:t>
            </a:r>
            <a:endParaRPr sz="11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2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[0];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20" dirty="0">
                <a:latin typeface="Courier New"/>
                <a:cs typeface="Courier New"/>
              </a:rPr>
              <a:t>arr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element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Garamond"/>
                <a:cs typeface="Garamond"/>
              </a:rPr>
              <a:t>0</a:t>
            </a:r>
            <a:r>
              <a:rPr sz="1100" spc="15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array:</a:t>
            </a:r>
            <a:endParaRPr sz="11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95" dirty="0">
                <a:latin typeface="Lucida Sans Unicode"/>
                <a:cs typeface="Lucida Sans Unicode"/>
              </a:rPr>
              <a:t>∗</a:t>
            </a:r>
            <a:r>
              <a:rPr sz="900" spc="-95" dirty="0">
                <a:latin typeface="Arial"/>
                <a:cs typeface="Arial"/>
              </a:rPr>
              <a:t>pa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arr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0" dirty="0">
                <a:latin typeface="Arial"/>
                <a:cs typeface="Arial"/>
              </a:rPr>
              <a:t> </a:t>
            </a:r>
            <a:r>
              <a:rPr sz="1100" dirty="0">
                <a:latin typeface="Cambria"/>
                <a:cs typeface="Cambria"/>
              </a:rPr>
              <a:t>⇔</a:t>
            </a:r>
            <a:r>
              <a:rPr sz="1100" spc="114" dirty="0">
                <a:latin typeface="Cambria"/>
                <a:cs typeface="Cambria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95" dirty="0">
                <a:latin typeface="Lucida Sans Unicode"/>
                <a:cs typeface="Lucida Sans Unicode"/>
              </a:rPr>
              <a:t>∗</a:t>
            </a:r>
            <a:r>
              <a:rPr sz="900" spc="-95" dirty="0">
                <a:latin typeface="Arial"/>
                <a:cs typeface="Arial"/>
              </a:rPr>
              <a:t>pa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&amp;arr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[0];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Not</a:t>
            </a:r>
            <a:r>
              <a:rPr sz="1100" spc="-10" dirty="0">
                <a:latin typeface="Arial"/>
                <a:cs typeface="Arial"/>
              </a:rPr>
              <a:t> modifiable/reassignable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 pointer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spc="105" dirty="0"/>
              <a:t> </a:t>
            </a:r>
            <a:r>
              <a:rPr b="0" dirty="0">
                <a:latin typeface="Courier New"/>
                <a:cs typeface="Courier New"/>
              </a:rPr>
              <a:t>sizeof()</a:t>
            </a:r>
            <a:r>
              <a:rPr b="0" spc="-340" dirty="0">
                <a:latin typeface="Courier New"/>
                <a:cs typeface="Courier New"/>
              </a:rPr>
              <a:t> </a:t>
            </a:r>
            <a:r>
              <a:rPr spc="-10" dirty="0"/>
              <a:t>operator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88466"/>
            <a:ext cx="3298825" cy="211709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38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primitive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types/variables,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bytes:</a:t>
            </a:r>
            <a:endParaRPr sz="1100" dirty="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25" dirty="0">
                <a:latin typeface="Arial"/>
                <a:cs typeface="Arial"/>
              </a:rPr>
              <a:t> 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1</a:t>
            </a:r>
            <a:r>
              <a:rPr sz="900" spc="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7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f;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9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sizeof(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8</a:t>
            </a:r>
            <a:r>
              <a:rPr sz="900" spc="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Garamond"/>
                <a:cs typeface="Garamond"/>
              </a:rPr>
              <a:t>64</a:t>
            </a:r>
            <a:r>
              <a:rPr sz="1100" dirty="0">
                <a:latin typeface="Arial"/>
                <a:cs typeface="Arial"/>
              </a:rPr>
              <a:t>-bit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OS)</a:t>
            </a:r>
            <a:endParaRPr sz="1100" dirty="0">
              <a:latin typeface="Arial"/>
              <a:cs typeface="Arial"/>
            </a:endParaRPr>
          </a:p>
          <a:p>
            <a:pPr marL="144780" marR="59690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primitive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size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bytes: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[8];</a:t>
            </a:r>
            <a:r>
              <a:rPr sz="900" spc="370" dirty="0"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20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sizeof(</a:t>
            </a:r>
            <a:r>
              <a:rPr sz="900" spc="-1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arr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32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Garamond"/>
                <a:cs typeface="Garamond"/>
              </a:rPr>
              <a:t>64</a:t>
            </a:r>
            <a:r>
              <a:rPr sz="1100" dirty="0">
                <a:latin typeface="Arial"/>
                <a:cs typeface="Arial"/>
              </a:rPr>
              <a:t>-bit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OS)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sz="9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arr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[5];</a:t>
            </a:r>
            <a:r>
              <a:rPr sz="900" spc="365" dirty="0"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20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sizeof(</a:t>
            </a:r>
            <a:r>
              <a:rPr sz="900" spc="-1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arr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40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dirty="0">
                <a:latin typeface="Garamond"/>
                <a:cs typeface="Garamond"/>
              </a:rPr>
              <a:t>64</a:t>
            </a:r>
            <a:r>
              <a:rPr sz="1100" dirty="0">
                <a:latin typeface="Arial"/>
                <a:cs typeface="Arial"/>
              </a:rPr>
              <a:t>-bit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OS)</a:t>
            </a:r>
            <a:endParaRPr sz="1100" dirty="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length:</a:t>
            </a:r>
            <a:endParaRPr sz="1100" dirty="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57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needs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4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be</a:t>
            </a:r>
            <a:r>
              <a:rPr sz="900" spc="3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on</a:t>
            </a:r>
            <a:r>
              <a:rPr sz="900" spc="3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one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when</a:t>
            </a:r>
            <a:r>
              <a:rPr sz="900" spc="3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implemented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7320">
              <a:lnSpc>
                <a:spcPct val="100000"/>
              </a:lnSpc>
              <a:spcBef>
                <a:spcPts val="15"/>
              </a:spcBef>
              <a:tabLst>
                <a:tab pos="2879090" algn="l"/>
              </a:tabLst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900" b="1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define</a:t>
            </a:r>
            <a:r>
              <a:rPr sz="900" b="1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 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 </a:t>
            </a:r>
            <a:r>
              <a:rPr sz="900" spc="-50" dirty="0"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	==</a:t>
            </a:r>
            <a:r>
              <a:rPr sz="900" spc="3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3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?</a:t>
            </a:r>
            <a:endParaRPr sz="900" dirty="0">
              <a:latin typeface="Arial"/>
              <a:cs typeface="Arial"/>
            </a:endParaRPr>
          </a:p>
          <a:p>
            <a:pPr marL="28384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0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/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969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about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sizeof()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lang="en-US" sz="1100" spc="-20" dirty="0">
                <a:latin typeface="Arial"/>
                <a:cs typeface="Arial"/>
              </a:rPr>
              <a:t>time</a:t>
            </a:r>
            <a:r>
              <a:rPr sz="1100" spc="-2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Pointer</a:t>
            </a:r>
            <a:r>
              <a:rPr spc="40" dirty="0"/>
              <a:t> </a:t>
            </a:r>
            <a:r>
              <a:rPr spc="-10" dirty="0"/>
              <a:t>arithmetic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/>
              <a:t>Suppose</a:t>
            </a:r>
            <a:r>
              <a:rPr sz="1100" spc="2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95" dirty="0">
                <a:latin typeface="Lucida Sans Unicode"/>
                <a:cs typeface="Lucida Sans Unicode"/>
              </a:rPr>
              <a:t>∗</a:t>
            </a:r>
            <a:r>
              <a:rPr sz="900" spc="-95" dirty="0"/>
              <a:t>pa</a:t>
            </a:r>
            <a:r>
              <a:rPr sz="900" spc="-5" dirty="0"/>
              <a:t> </a:t>
            </a:r>
            <a:r>
              <a:rPr sz="900" dirty="0"/>
              <a:t>=</a:t>
            </a:r>
            <a:r>
              <a:rPr sz="900" spc="10" dirty="0"/>
              <a:t> </a:t>
            </a:r>
            <a:r>
              <a:rPr sz="900" spc="-10" dirty="0"/>
              <a:t>arr</a:t>
            </a:r>
            <a:r>
              <a:rPr sz="900" spc="-150" dirty="0"/>
              <a:t> </a:t>
            </a:r>
            <a:r>
              <a:rPr sz="900" spc="-50" dirty="0"/>
              <a:t>;</a:t>
            </a:r>
            <a:endParaRPr sz="900">
              <a:latin typeface="Lucida Sans Unicode"/>
              <a:cs typeface="Lucida Sans Unicode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/>
              <a:t>Pointer</a:t>
            </a:r>
            <a:r>
              <a:rPr sz="1100" spc="-50" dirty="0"/>
              <a:t> </a:t>
            </a:r>
            <a:r>
              <a:rPr sz="1100" dirty="0"/>
              <a:t>not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25" dirty="0"/>
              <a:t> </a:t>
            </a:r>
            <a:r>
              <a:rPr sz="1100" dirty="0">
                <a:latin typeface="Courier New"/>
                <a:cs typeface="Courier New"/>
              </a:rPr>
              <a:t>int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dirty="0"/>
              <a:t>but</a:t>
            </a:r>
            <a:r>
              <a:rPr sz="1100" spc="-25" dirty="0"/>
              <a:t> </a:t>
            </a:r>
            <a:r>
              <a:rPr sz="1100" dirty="0"/>
              <a:t>can</a:t>
            </a:r>
            <a:r>
              <a:rPr sz="1100" spc="-25" dirty="0"/>
              <a:t> </a:t>
            </a:r>
            <a:r>
              <a:rPr sz="1100" dirty="0"/>
              <a:t>add</a:t>
            </a:r>
            <a:r>
              <a:rPr sz="1100" spc="-25" dirty="0"/>
              <a:t> </a:t>
            </a:r>
            <a:r>
              <a:rPr sz="1100" dirty="0"/>
              <a:t>or</a:t>
            </a:r>
            <a:r>
              <a:rPr sz="1100" spc="-25" dirty="0"/>
              <a:t> </a:t>
            </a:r>
            <a:r>
              <a:rPr sz="1100" dirty="0"/>
              <a:t>subtract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30" dirty="0"/>
              <a:t> </a:t>
            </a:r>
            <a:r>
              <a:rPr sz="1100" spc="-20" dirty="0">
                <a:latin typeface="Courier New"/>
                <a:cs typeface="Courier New"/>
              </a:rPr>
              <a:t>int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from</a:t>
            </a:r>
            <a:r>
              <a:rPr sz="1100" spc="-25" dirty="0"/>
              <a:t> </a:t>
            </a:r>
            <a:r>
              <a:rPr sz="1100" spc="-50" dirty="0"/>
              <a:t>a </a:t>
            </a:r>
            <a:r>
              <a:rPr sz="1100" spc="-10" dirty="0"/>
              <a:t>pointer: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dirty="0"/>
              <a:t>pa</a:t>
            </a:r>
            <a:r>
              <a:rPr spc="-15" dirty="0"/>
              <a:t> </a:t>
            </a:r>
            <a:r>
              <a:rPr dirty="0"/>
              <a:t>+</a:t>
            </a:r>
            <a:r>
              <a:rPr spc="85" dirty="0"/>
              <a:t> </a:t>
            </a:r>
            <a:r>
              <a:rPr dirty="0"/>
              <a:t>i</a:t>
            </a:r>
            <a:r>
              <a:rPr spc="140" dirty="0"/>
              <a:t> </a:t>
            </a:r>
            <a:r>
              <a:rPr sz="1100" dirty="0"/>
              <a:t>points</a:t>
            </a:r>
            <a:r>
              <a:rPr sz="1100" spc="-20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spc="-10" dirty="0">
                <a:latin typeface="Courier New"/>
                <a:cs typeface="Courier New"/>
              </a:rPr>
              <a:t>arr[i]</a:t>
            </a:r>
            <a:endParaRPr sz="1100">
              <a:latin typeface="Courier New"/>
              <a:cs typeface="Courier New"/>
            </a:endParaRPr>
          </a:p>
          <a:p>
            <a:pPr marL="144780" marR="225425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/>
              <a:t>Address</a:t>
            </a:r>
            <a:r>
              <a:rPr sz="1100" spc="-35" dirty="0"/>
              <a:t> </a:t>
            </a:r>
            <a:r>
              <a:rPr sz="1100" spc="-10" dirty="0"/>
              <a:t>value</a:t>
            </a:r>
            <a:r>
              <a:rPr sz="1100" spc="-35" dirty="0"/>
              <a:t> </a:t>
            </a:r>
            <a:r>
              <a:rPr sz="1100" dirty="0"/>
              <a:t>increments</a:t>
            </a:r>
            <a:r>
              <a:rPr sz="1100" spc="-35" dirty="0"/>
              <a:t> </a:t>
            </a:r>
            <a:r>
              <a:rPr sz="1100" dirty="0"/>
              <a:t>by</a:t>
            </a:r>
            <a:r>
              <a:rPr sz="1100" spc="-35" dirty="0"/>
              <a:t> </a:t>
            </a:r>
            <a:r>
              <a:rPr sz="1100" i="1" spc="60" dirty="0">
                <a:latin typeface="Bookman Old Style"/>
                <a:cs typeface="Bookman Old Style"/>
              </a:rPr>
              <a:t>i</a:t>
            </a:r>
            <a:r>
              <a:rPr sz="1100" i="1" spc="-60" dirty="0">
                <a:latin typeface="Bookman Old Style"/>
                <a:cs typeface="Bookman Old Style"/>
              </a:rPr>
              <a:t> </a:t>
            </a:r>
            <a:r>
              <a:rPr sz="1100" dirty="0"/>
              <a:t>times</a:t>
            </a:r>
            <a:r>
              <a:rPr sz="1100" spc="-35" dirty="0"/>
              <a:t> </a:t>
            </a:r>
            <a:r>
              <a:rPr sz="1100" dirty="0"/>
              <a:t>size</a:t>
            </a:r>
            <a:r>
              <a:rPr sz="1100" spc="-35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dirty="0"/>
              <a:t>data</a:t>
            </a:r>
            <a:r>
              <a:rPr sz="1100" spc="-35" dirty="0"/>
              <a:t> </a:t>
            </a:r>
            <a:r>
              <a:rPr sz="1100" spc="-20" dirty="0"/>
              <a:t>type </a:t>
            </a:r>
            <a:r>
              <a:rPr sz="1100" spc="-10" dirty="0"/>
              <a:t>Suppose</a:t>
            </a:r>
            <a:r>
              <a:rPr sz="1100" dirty="0"/>
              <a:t> </a:t>
            </a:r>
            <a:r>
              <a:rPr sz="1100" spc="-20" dirty="0">
                <a:latin typeface="Courier New"/>
                <a:cs typeface="Courier New"/>
              </a:rPr>
              <a:t>arr[0]</a:t>
            </a:r>
            <a:r>
              <a:rPr sz="1100" spc="-355" dirty="0">
                <a:latin typeface="Courier New"/>
                <a:cs typeface="Courier New"/>
              </a:rPr>
              <a:t> </a:t>
            </a:r>
            <a:r>
              <a:rPr sz="1100" dirty="0"/>
              <a:t>has</a:t>
            </a:r>
            <a:r>
              <a:rPr sz="1100" spc="5" dirty="0"/>
              <a:t> </a:t>
            </a:r>
            <a:r>
              <a:rPr sz="1100" dirty="0"/>
              <a:t>address </a:t>
            </a:r>
            <a:r>
              <a:rPr sz="1100" dirty="0">
                <a:latin typeface="Garamond"/>
                <a:cs typeface="Garamond"/>
              </a:rPr>
              <a:t>100</a:t>
            </a:r>
            <a:r>
              <a:rPr sz="1100" dirty="0"/>
              <a:t>.</a:t>
            </a:r>
            <a:r>
              <a:rPr sz="1100" spc="75" dirty="0"/>
              <a:t> </a:t>
            </a:r>
            <a:r>
              <a:rPr sz="1100" dirty="0"/>
              <a:t>Then </a:t>
            </a:r>
            <a:r>
              <a:rPr sz="1100" spc="-20" dirty="0">
                <a:latin typeface="Courier New"/>
                <a:cs typeface="Courier New"/>
              </a:rPr>
              <a:t>arr[3]</a:t>
            </a:r>
            <a:r>
              <a:rPr sz="1100" spc="-350" dirty="0">
                <a:latin typeface="Courier New"/>
                <a:cs typeface="Courier New"/>
              </a:rPr>
              <a:t> </a:t>
            </a:r>
            <a:r>
              <a:rPr sz="1100" spc="-25" dirty="0"/>
              <a:t>has </a:t>
            </a:r>
            <a:r>
              <a:rPr sz="1100" dirty="0"/>
              <a:t>address</a:t>
            </a:r>
            <a:r>
              <a:rPr sz="1100" spc="-45" dirty="0"/>
              <a:t> </a:t>
            </a:r>
            <a:r>
              <a:rPr sz="1100" spc="-20" dirty="0">
                <a:latin typeface="Garamond"/>
                <a:cs typeface="Garamond"/>
              </a:rPr>
              <a:t>112</a:t>
            </a:r>
            <a:r>
              <a:rPr sz="1100" spc="-20" dirty="0"/>
              <a:t>.</a:t>
            </a:r>
            <a:endParaRPr sz="1100">
              <a:latin typeface="Garamond"/>
              <a:cs typeface="Garamond"/>
            </a:endParaRPr>
          </a:p>
          <a:p>
            <a:pPr marL="146050" indent="-133350">
              <a:lnSpc>
                <a:spcPts val="1260"/>
              </a:lnSpc>
              <a:spcBef>
                <a:spcPts val="17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/>
              <a:t>Suppose</a:t>
            </a:r>
            <a:r>
              <a:rPr sz="1100" spc="-4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dirty="0"/>
              <a:t>pc</a:t>
            </a:r>
            <a:r>
              <a:rPr sz="900" spc="-20" dirty="0"/>
              <a:t> </a:t>
            </a:r>
            <a:r>
              <a:rPr sz="900" dirty="0"/>
              <a:t>=</a:t>
            </a:r>
            <a:r>
              <a:rPr sz="900" spc="60" dirty="0"/>
              <a:t> </a:t>
            </a:r>
            <a:r>
              <a:rPr sz="900" dirty="0"/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Lucida Sans Unicode"/>
                <a:cs typeface="Lucida Sans Unicode"/>
              </a:rPr>
              <a:t>∗</a:t>
            </a:r>
            <a:r>
              <a:rPr sz="900" spc="-40" dirty="0"/>
              <a:t>)pa;</a:t>
            </a:r>
            <a:r>
              <a:rPr sz="900" spc="30" dirty="0"/>
              <a:t> </a:t>
            </a:r>
            <a:r>
              <a:rPr sz="1100" dirty="0"/>
              <a:t>What</a:t>
            </a:r>
            <a:r>
              <a:rPr sz="1100" spc="-20" dirty="0"/>
              <a:t> </a:t>
            </a:r>
            <a:r>
              <a:rPr sz="1100" spc="-10" dirty="0"/>
              <a:t>value</a:t>
            </a:r>
            <a:r>
              <a:rPr sz="1100" spc="-20" dirty="0"/>
              <a:t> </a:t>
            </a:r>
            <a:r>
              <a:rPr sz="1100" dirty="0"/>
              <a:t>of</a:t>
            </a:r>
            <a:r>
              <a:rPr sz="1100" spc="-20" dirty="0"/>
              <a:t> </a:t>
            </a:r>
            <a:r>
              <a:rPr sz="1100" i="1" spc="60" dirty="0">
                <a:latin typeface="Bookman Old Style"/>
                <a:cs typeface="Bookman Old Style"/>
              </a:rPr>
              <a:t>i</a:t>
            </a:r>
            <a:r>
              <a:rPr sz="1100" i="1" spc="-50" dirty="0">
                <a:latin typeface="Bookman Old Style"/>
                <a:cs typeface="Bookman Old Style"/>
              </a:rPr>
              <a:t> </a:t>
            </a:r>
            <a:r>
              <a:rPr sz="1100" spc="-10" dirty="0"/>
              <a:t>satisfies</a:t>
            </a:r>
            <a:endParaRPr sz="1100">
              <a:latin typeface="Bookman Old Style"/>
              <a:cs typeface="Bookman Old Style"/>
            </a:endParaRPr>
          </a:p>
          <a:p>
            <a:pPr marL="151765">
              <a:lnSpc>
                <a:spcPts val="1260"/>
              </a:lnSpc>
            </a:pPr>
            <a:r>
              <a:rPr spc="-10" dirty="0"/>
              <a:t>(</a:t>
            </a:r>
            <a:r>
              <a:rPr spc="-140" dirty="0"/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b="1" spc="2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∗</a:t>
            </a:r>
            <a:r>
              <a:rPr spc="-10" dirty="0"/>
              <a:t>)(pc+i)</a:t>
            </a:r>
            <a:r>
              <a:rPr spc="145" dirty="0"/>
              <a:t> </a:t>
            </a:r>
            <a:r>
              <a:rPr dirty="0"/>
              <a:t>==</a:t>
            </a:r>
            <a:r>
              <a:rPr spc="-25" dirty="0"/>
              <a:t> </a:t>
            </a:r>
            <a:r>
              <a:rPr dirty="0"/>
              <a:t>pa</a:t>
            </a:r>
            <a:r>
              <a:rPr spc="-20" dirty="0"/>
              <a:t> </a:t>
            </a:r>
            <a:r>
              <a:rPr dirty="0"/>
              <a:t>+</a:t>
            </a:r>
            <a:r>
              <a:rPr spc="-25" dirty="0"/>
              <a:t> 3</a:t>
            </a:r>
            <a:r>
              <a:rPr sz="1100" spc="-25" dirty="0"/>
              <a:t>?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Pointer</a:t>
            </a:r>
            <a:r>
              <a:rPr spc="40" dirty="0"/>
              <a:t> </a:t>
            </a:r>
            <a:r>
              <a:rPr spc="-10" dirty="0"/>
              <a:t>arithmetic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/>
              <a:t>Suppose</a:t>
            </a:r>
            <a:r>
              <a:rPr sz="1100" spc="2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95" dirty="0">
                <a:latin typeface="Lucida Sans Unicode"/>
                <a:cs typeface="Lucida Sans Unicode"/>
              </a:rPr>
              <a:t>∗</a:t>
            </a:r>
            <a:r>
              <a:rPr sz="900" spc="-95" dirty="0"/>
              <a:t>pa</a:t>
            </a:r>
            <a:r>
              <a:rPr sz="900" spc="-5" dirty="0"/>
              <a:t> </a:t>
            </a:r>
            <a:r>
              <a:rPr sz="900" dirty="0"/>
              <a:t>=</a:t>
            </a:r>
            <a:r>
              <a:rPr sz="900" spc="10" dirty="0"/>
              <a:t> </a:t>
            </a:r>
            <a:r>
              <a:rPr sz="900" spc="-10" dirty="0"/>
              <a:t>arr</a:t>
            </a:r>
            <a:r>
              <a:rPr sz="900" spc="-150" dirty="0"/>
              <a:t> </a:t>
            </a:r>
            <a:r>
              <a:rPr sz="900" spc="-50" dirty="0"/>
              <a:t>;</a:t>
            </a:r>
            <a:endParaRPr sz="900">
              <a:latin typeface="Lucida Sans Unicode"/>
              <a:cs typeface="Lucida Sans Unicode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/>
              <a:t>Pointer</a:t>
            </a:r>
            <a:r>
              <a:rPr sz="1100" spc="-50" dirty="0"/>
              <a:t> </a:t>
            </a:r>
            <a:r>
              <a:rPr sz="1100" dirty="0"/>
              <a:t>not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25" dirty="0"/>
              <a:t> </a:t>
            </a:r>
            <a:r>
              <a:rPr sz="1100" dirty="0">
                <a:latin typeface="Courier New"/>
                <a:cs typeface="Courier New"/>
              </a:rPr>
              <a:t>int</a:t>
            </a:r>
            <a:r>
              <a:rPr sz="1100" dirty="0"/>
              <a:t>,</a:t>
            </a:r>
            <a:r>
              <a:rPr sz="1100" spc="-25" dirty="0"/>
              <a:t> </a:t>
            </a:r>
            <a:r>
              <a:rPr sz="1100" dirty="0"/>
              <a:t>but</a:t>
            </a:r>
            <a:r>
              <a:rPr sz="1100" spc="-25" dirty="0"/>
              <a:t> </a:t>
            </a:r>
            <a:r>
              <a:rPr sz="1100" dirty="0"/>
              <a:t>can</a:t>
            </a:r>
            <a:r>
              <a:rPr sz="1100" spc="-25" dirty="0"/>
              <a:t> </a:t>
            </a:r>
            <a:r>
              <a:rPr sz="1100" dirty="0"/>
              <a:t>add</a:t>
            </a:r>
            <a:r>
              <a:rPr sz="1100" spc="-25" dirty="0"/>
              <a:t> </a:t>
            </a:r>
            <a:r>
              <a:rPr sz="1100" dirty="0"/>
              <a:t>or</a:t>
            </a:r>
            <a:r>
              <a:rPr sz="1100" spc="-25" dirty="0"/>
              <a:t> </a:t>
            </a:r>
            <a:r>
              <a:rPr sz="1100" dirty="0"/>
              <a:t>subtract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30" dirty="0"/>
              <a:t> </a:t>
            </a:r>
            <a:r>
              <a:rPr sz="1100" spc="-20" dirty="0">
                <a:latin typeface="Courier New"/>
                <a:cs typeface="Courier New"/>
              </a:rPr>
              <a:t>int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/>
              <a:t>from</a:t>
            </a:r>
            <a:r>
              <a:rPr sz="1100" spc="-25" dirty="0"/>
              <a:t> </a:t>
            </a:r>
            <a:r>
              <a:rPr sz="1100" spc="-50" dirty="0"/>
              <a:t>a </a:t>
            </a:r>
            <a:r>
              <a:rPr sz="1100" spc="-10" dirty="0"/>
              <a:t>pointer: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dirty="0"/>
              <a:t>pa</a:t>
            </a:r>
            <a:r>
              <a:rPr spc="-15" dirty="0"/>
              <a:t> </a:t>
            </a:r>
            <a:r>
              <a:rPr dirty="0"/>
              <a:t>+</a:t>
            </a:r>
            <a:r>
              <a:rPr spc="85" dirty="0"/>
              <a:t> </a:t>
            </a:r>
            <a:r>
              <a:rPr dirty="0"/>
              <a:t>i</a:t>
            </a:r>
            <a:r>
              <a:rPr spc="140" dirty="0"/>
              <a:t> </a:t>
            </a:r>
            <a:r>
              <a:rPr sz="1100" dirty="0"/>
              <a:t>points</a:t>
            </a:r>
            <a:r>
              <a:rPr sz="1100" spc="-20" dirty="0"/>
              <a:t> </a:t>
            </a:r>
            <a:r>
              <a:rPr sz="1100" dirty="0"/>
              <a:t>to</a:t>
            </a:r>
            <a:r>
              <a:rPr sz="1100" spc="-15" dirty="0"/>
              <a:t> </a:t>
            </a:r>
            <a:r>
              <a:rPr sz="1100" spc="-10" dirty="0">
                <a:latin typeface="Courier New"/>
                <a:cs typeface="Courier New"/>
              </a:rPr>
              <a:t>arr[i]</a:t>
            </a:r>
            <a:endParaRPr sz="1100">
              <a:latin typeface="Courier New"/>
              <a:cs typeface="Courier New"/>
            </a:endParaRPr>
          </a:p>
          <a:p>
            <a:pPr marL="144780" marR="225425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/>
              <a:t>Address</a:t>
            </a:r>
            <a:r>
              <a:rPr sz="1100" spc="-35" dirty="0"/>
              <a:t> </a:t>
            </a:r>
            <a:r>
              <a:rPr sz="1100" spc="-10" dirty="0"/>
              <a:t>value</a:t>
            </a:r>
            <a:r>
              <a:rPr sz="1100" spc="-35" dirty="0"/>
              <a:t> </a:t>
            </a:r>
            <a:r>
              <a:rPr sz="1100" dirty="0"/>
              <a:t>increments</a:t>
            </a:r>
            <a:r>
              <a:rPr sz="1100" spc="-35" dirty="0"/>
              <a:t> </a:t>
            </a:r>
            <a:r>
              <a:rPr sz="1100" dirty="0"/>
              <a:t>by</a:t>
            </a:r>
            <a:r>
              <a:rPr sz="1100" spc="-35" dirty="0"/>
              <a:t> </a:t>
            </a:r>
            <a:r>
              <a:rPr sz="1100" i="1" spc="60" dirty="0">
                <a:latin typeface="Bookman Old Style"/>
                <a:cs typeface="Bookman Old Style"/>
              </a:rPr>
              <a:t>i</a:t>
            </a:r>
            <a:r>
              <a:rPr sz="1100" i="1" spc="-60" dirty="0">
                <a:latin typeface="Bookman Old Style"/>
                <a:cs typeface="Bookman Old Style"/>
              </a:rPr>
              <a:t> </a:t>
            </a:r>
            <a:r>
              <a:rPr sz="1100" dirty="0"/>
              <a:t>times</a:t>
            </a:r>
            <a:r>
              <a:rPr sz="1100" spc="-35" dirty="0"/>
              <a:t> </a:t>
            </a:r>
            <a:r>
              <a:rPr sz="1100" dirty="0"/>
              <a:t>size</a:t>
            </a:r>
            <a:r>
              <a:rPr sz="1100" spc="-35" dirty="0"/>
              <a:t> </a:t>
            </a:r>
            <a:r>
              <a:rPr sz="1100" dirty="0"/>
              <a:t>of</a:t>
            </a:r>
            <a:r>
              <a:rPr sz="1100" spc="-35" dirty="0"/>
              <a:t> </a:t>
            </a:r>
            <a:r>
              <a:rPr sz="1100" dirty="0"/>
              <a:t>data</a:t>
            </a:r>
            <a:r>
              <a:rPr sz="1100" spc="-35" dirty="0"/>
              <a:t> </a:t>
            </a:r>
            <a:r>
              <a:rPr sz="1100" spc="-20" dirty="0"/>
              <a:t>type </a:t>
            </a:r>
            <a:r>
              <a:rPr sz="1100" spc="-10" dirty="0"/>
              <a:t>Suppose</a:t>
            </a:r>
            <a:r>
              <a:rPr sz="1100" dirty="0"/>
              <a:t> </a:t>
            </a:r>
            <a:r>
              <a:rPr sz="1100" spc="-20" dirty="0">
                <a:latin typeface="Courier New"/>
                <a:cs typeface="Courier New"/>
              </a:rPr>
              <a:t>arr[0]</a:t>
            </a:r>
            <a:r>
              <a:rPr sz="1100" spc="-355" dirty="0">
                <a:latin typeface="Courier New"/>
                <a:cs typeface="Courier New"/>
              </a:rPr>
              <a:t> </a:t>
            </a:r>
            <a:r>
              <a:rPr sz="1100" dirty="0"/>
              <a:t>has</a:t>
            </a:r>
            <a:r>
              <a:rPr sz="1100" spc="5" dirty="0"/>
              <a:t> </a:t>
            </a:r>
            <a:r>
              <a:rPr sz="1100" dirty="0"/>
              <a:t>address </a:t>
            </a:r>
            <a:r>
              <a:rPr sz="1100" dirty="0">
                <a:latin typeface="Garamond"/>
                <a:cs typeface="Garamond"/>
              </a:rPr>
              <a:t>100</a:t>
            </a:r>
            <a:r>
              <a:rPr sz="1100" dirty="0"/>
              <a:t>.</a:t>
            </a:r>
            <a:r>
              <a:rPr sz="1100" spc="75" dirty="0"/>
              <a:t> </a:t>
            </a:r>
            <a:r>
              <a:rPr sz="1100" dirty="0"/>
              <a:t>Then </a:t>
            </a:r>
            <a:r>
              <a:rPr sz="1100" spc="-20" dirty="0">
                <a:latin typeface="Courier New"/>
                <a:cs typeface="Courier New"/>
              </a:rPr>
              <a:t>arr[3]</a:t>
            </a:r>
            <a:r>
              <a:rPr sz="1100" spc="-350" dirty="0">
                <a:latin typeface="Courier New"/>
                <a:cs typeface="Courier New"/>
              </a:rPr>
              <a:t> </a:t>
            </a:r>
            <a:r>
              <a:rPr sz="1100" spc="-25" dirty="0"/>
              <a:t>has </a:t>
            </a:r>
            <a:r>
              <a:rPr sz="1100" dirty="0"/>
              <a:t>address</a:t>
            </a:r>
            <a:r>
              <a:rPr sz="1100" spc="-45" dirty="0"/>
              <a:t> </a:t>
            </a:r>
            <a:r>
              <a:rPr sz="1100" spc="-20" dirty="0">
                <a:latin typeface="Garamond"/>
                <a:cs typeface="Garamond"/>
              </a:rPr>
              <a:t>112</a:t>
            </a:r>
            <a:r>
              <a:rPr sz="1100" spc="-20" dirty="0"/>
              <a:t>.</a:t>
            </a:r>
            <a:endParaRPr sz="1100">
              <a:latin typeface="Garamond"/>
              <a:cs typeface="Garamond"/>
            </a:endParaRPr>
          </a:p>
          <a:p>
            <a:pPr marL="146050" indent="-133350">
              <a:lnSpc>
                <a:spcPts val="1260"/>
              </a:lnSpc>
              <a:spcBef>
                <a:spcPts val="17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/>
              <a:t>Suppose</a:t>
            </a:r>
            <a:r>
              <a:rPr sz="1100" spc="-4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dirty="0"/>
              <a:t>pc</a:t>
            </a:r>
            <a:r>
              <a:rPr sz="900" spc="-20" dirty="0"/>
              <a:t> </a:t>
            </a:r>
            <a:r>
              <a:rPr sz="900" dirty="0"/>
              <a:t>=</a:t>
            </a:r>
            <a:r>
              <a:rPr sz="900" spc="60" dirty="0"/>
              <a:t> </a:t>
            </a:r>
            <a:r>
              <a:rPr sz="900" dirty="0"/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40" dirty="0">
                <a:latin typeface="Lucida Sans Unicode"/>
                <a:cs typeface="Lucida Sans Unicode"/>
              </a:rPr>
              <a:t>∗</a:t>
            </a:r>
            <a:r>
              <a:rPr sz="900" spc="-40" dirty="0"/>
              <a:t>)pa;</a:t>
            </a:r>
            <a:r>
              <a:rPr sz="900" spc="30" dirty="0"/>
              <a:t> </a:t>
            </a:r>
            <a:r>
              <a:rPr sz="1100" dirty="0"/>
              <a:t>What</a:t>
            </a:r>
            <a:r>
              <a:rPr sz="1100" spc="-20" dirty="0"/>
              <a:t> </a:t>
            </a:r>
            <a:r>
              <a:rPr sz="1100" spc="-10" dirty="0"/>
              <a:t>value</a:t>
            </a:r>
            <a:r>
              <a:rPr sz="1100" spc="-20" dirty="0"/>
              <a:t> </a:t>
            </a:r>
            <a:r>
              <a:rPr sz="1100" dirty="0"/>
              <a:t>of</a:t>
            </a:r>
            <a:r>
              <a:rPr sz="1100" spc="-20" dirty="0"/>
              <a:t> </a:t>
            </a:r>
            <a:r>
              <a:rPr sz="1100" i="1" spc="60" dirty="0">
                <a:latin typeface="Bookman Old Style"/>
                <a:cs typeface="Bookman Old Style"/>
              </a:rPr>
              <a:t>i</a:t>
            </a:r>
            <a:r>
              <a:rPr sz="1100" i="1" spc="-50" dirty="0">
                <a:latin typeface="Bookman Old Style"/>
                <a:cs typeface="Bookman Old Style"/>
              </a:rPr>
              <a:t> </a:t>
            </a:r>
            <a:r>
              <a:rPr sz="1100" spc="-10" dirty="0"/>
              <a:t>satisfies</a:t>
            </a:r>
            <a:endParaRPr sz="1100">
              <a:latin typeface="Bookman Old Style"/>
              <a:cs typeface="Bookman Old Style"/>
            </a:endParaRPr>
          </a:p>
          <a:p>
            <a:pPr marL="151765">
              <a:lnSpc>
                <a:spcPts val="1260"/>
              </a:lnSpc>
            </a:pPr>
            <a:r>
              <a:rPr spc="-10" dirty="0"/>
              <a:t>(</a:t>
            </a:r>
            <a:r>
              <a:rPr spc="-140" dirty="0"/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b="1" spc="2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10" dirty="0">
                <a:latin typeface="Lucida Sans Unicode"/>
                <a:cs typeface="Lucida Sans Unicode"/>
              </a:rPr>
              <a:t>∗</a:t>
            </a:r>
            <a:r>
              <a:rPr spc="-10" dirty="0"/>
              <a:t>)(pc+i)</a:t>
            </a:r>
            <a:r>
              <a:rPr spc="145" dirty="0"/>
              <a:t> </a:t>
            </a:r>
            <a:r>
              <a:rPr dirty="0"/>
              <a:t>==</a:t>
            </a:r>
            <a:r>
              <a:rPr spc="-25" dirty="0"/>
              <a:t> </a:t>
            </a:r>
            <a:r>
              <a:rPr dirty="0"/>
              <a:t>pa</a:t>
            </a:r>
            <a:r>
              <a:rPr spc="-20" dirty="0"/>
              <a:t> </a:t>
            </a:r>
            <a:r>
              <a:rPr dirty="0"/>
              <a:t>+</a:t>
            </a:r>
            <a:r>
              <a:rPr spc="-25" dirty="0"/>
              <a:t> 3</a:t>
            </a:r>
            <a:r>
              <a:rPr sz="1100" spc="-25" dirty="0"/>
              <a:t>?</a:t>
            </a:r>
            <a:endParaRPr sz="1100">
              <a:latin typeface="Lucida Sans Unicode"/>
              <a:cs typeface="Lucida Sans Unicode"/>
            </a:endParaRPr>
          </a:p>
          <a:p>
            <a:pPr marL="422275" lvl="1" indent="-128270">
              <a:lnSpc>
                <a:spcPct val="1000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i="1" spc="65" dirty="0">
                <a:latin typeface="Bookman Old Style"/>
                <a:cs typeface="Bookman Old Style"/>
              </a:rPr>
              <a:t>i</a:t>
            </a:r>
            <a:r>
              <a:rPr sz="1000" i="1" spc="-25" dirty="0">
                <a:latin typeface="Bookman Old Style"/>
                <a:cs typeface="Bookman Old Style"/>
              </a:rPr>
              <a:t> </a:t>
            </a:r>
            <a:r>
              <a:rPr sz="1000" spc="105" dirty="0">
                <a:latin typeface="Garamond"/>
                <a:cs typeface="Garamond"/>
              </a:rPr>
              <a:t>=</a:t>
            </a:r>
            <a:r>
              <a:rPr sz="1000" spc="25" dirty="0">
                <a:latin typeface="Garamond"/>
                <a:cs typeface="Garamond"/>
              </a:rPr>
              <a:t> </a:t>
            </a:r>
            <a:r>
              <a:rPr sz="1000" spc="-25" dirty="0">
                <a:latin typeface="Garamond"/>
                <a:cs typeface="Garamond"/>
              </a:rPr>
              <a:t>12</a:t>
            </a:r>
            <a:endParaRPr sz="1000">
              <a:latin typeface="Garamond"/>
              <a:cs typeface="Garamon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-2044"/>
            <a:ext cx="3809950" cy="296873"/>
          </a:xfrm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60" dirty="0" err="1"/>
              <a:t>TashTech</a:t>
            </a:r>
            <a:r>
              <a:rPr lang="en-US" spc="60" dirty="0"/>
              <a:t> </a:t>
            </a:r>
            <a:r>
              <a:rPr lang="en-US" dirty="0"/>
              <a:t>Lecture</a:t>
            </a:r>
            <a:r>
              <a:rPr lang="en-US" spc="60" dirty="0"/>
              <a:t> 7</a:t>
            </a:r>
            <a:r>
              <a:rPr lang="en-US" spc="65" dirty="0"/>
              <a:t> </a:t>
            </a:r>
            <a:r>
              <a:rPr lang="en-US" dirty="0"/>
              <a:t>–</a:t>
            </a:r>
            <a:r>
              <a:rPr lang="en-US" spc="60" dirty="0"/>
              <a:t> October 27, 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03745"/>
            <a:ext cx="269875" cy="2580005"/>
            <a:chOff x="359994" y="503745"/>
            <a:chExt cx="269875" cy="2580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037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787133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17" y="966901"/>
              <a:ext cx="61874" cy="61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138974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311046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586750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1870138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817" y="2049894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325598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50535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817" y="267743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817" y="28495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817" y="3021584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4680" y="436561"/>
            <a:ext cx="2125345" cy="270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87325" marR="5080" indent="-175260">
              <a:lnSpc>
                <a:spcPct val="102600"/>
              </a:lnSpc>
              <a:spcBef>
                <a:spcPts val="87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Pointers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Memory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Addresses Physical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Virtual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Memory Addressing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Indirection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Multiple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Outputs</a:t>
            </a:r>
            <a:endParaRPr sz="1100">
              <a:latin typeface="Arial"/>
              <a:cs typeface="Arial"/>
            </a:endParaRPr>
          </a:p>
          <a:p>
            <a:pPr marL="12700" marR="313055">
              <a:lnSpc>
                <a:spcPct val="1690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Arrays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Arithmetic </a:t>
            </a:r>
            <a:r>
              <a:rPr sz="1100" spc="-10" dirty="0">
                <a:latin typeface="Arial"/>
                <a:cs typeface="Arial"/>
              </a:rPr>
              <a:t>Strings</a:t>
            </a:r>
            <a:endParaRPr sz="11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String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Utility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87325" marR="33020" indent="-175260" algn="just">
              <a:lnSpc>
                <a:spcPct val="102600"/>
              </a:lnSpc>
              <a:spcBef>
                <a:spcPts val="88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Sorting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Algorithms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Linear</a:t>
            </a:r>
            <a:r>
              <a:rPr sz="1100" spc="-7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  <a:p>
            <a:pPr marL="187325" marR="1055370" algn="just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Simple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Sort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Faster</a:t>
            </a:r>
            <a:r>
              <a:rPr sz="1100" spc="-4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Sorting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Binary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Strings</a:t>
            </a:r>
            <a:r>
              <a:rPr spc="65" dirty="0"/>
              <a:t> </a:t>
            </a:r>
            <a:r>
              <a:rPr dirty="0"/>
              <a:t>as</a:t>
            </a:r>
            <a:r>
              <a:rPr spc="70" dirty="0"/>
              <a:t> </a:t>
            </a: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33283"/>
            <a:ext cx="3489325" cy="12954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5080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Strings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null-</a:t>
            </a:r>
            <a:r>
              <a:rPr sz="1100" dirty="0">
                <a:latin typeface="Arial"/>
                <a:cs typeface="Arial"/>
              </a:rPr>
              <a:t>terminated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(last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==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’</a:t>
            </a:r>
            <a:r>
              <a:rPr sz="1100" spc="-20" dirty="0">
                <a:latin typeface="Cambria"/>
                <a:cs typeface="Cambria"/>
              </a:rPr>
              <a:t>\</a:t>
            </a:r>
            <a:r>
              <a:rPr sz="1100" spc="-20" dirty="0">
                <a:latin typeface="Courier New"/>
                <a:cs typeface="Courier New"/>
              </a:rPr>
              <a:t>0’</a:t>
            </a:r>
            <a:r>
              <a:rPr sz="1100" spc="-2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Suppose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"This</a:t>
            </a:r>
            <a:r>
              <a:rPr sz="900" spc="-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is</a:t>
            </a:r>
            <a:r>
              <a:rPr sz="900" spc="-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a</a:t>
            </a:r>
            <a:r>
              <a:rPr sz="900" spc="-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string."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pc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Manipulate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array</a:t>
            </a:r>
            <a:endParaRPr sz="1100">
              <a:latin typeface="Arial"/>
              <a:cs typeface="Arial"/>
            </a:endParaRPr>
          </a:p>
          <a:p>
            <a:pPr marL="147955">
              <a:lnSpc>
                <a:spcPct val="100000"/>
              </a:lnSpc>
              <a:spcBef>
                <a:spcPts val="234"/>
              </a:spcBef>
            </a:pPr>
            <a:r>
              <a:rPr sz="900" spc="-35" dirty="0">
                <a:latin typeface="Lucida Sans Unicode"/>
                <a:cs typeface="Lucida Sans Unicode"/>
              </a:rPr>
              <a:t>∗</a:t>
            </a:r>
            <a:r>
              <a:rPr sz="900" spc="-35" dirty="0">
                <a:latin typeface="Arial"/>
                <a:cs typeface="Arial"/>
              </a:rPr>
              <a:t>(pc+10)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 </a:t>
            </a:r>
            <a:r>
              <a:rPr sz="900" spc="-20" dirty="0">
                <a:latin typeface="Courier New"/>
                <a:cs typeface="Courier New"/>
              </a:rPr>
              <a:t>’S’</a:t>
            </a:r>
            <a:r>
              <a:rPr sz="900" spc="-2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270"/>
              </a:spcBef>
            </a:pPr>
            <a:r>
              <a:rPr sz="900" spc="-10" dirty="0">
                <a:latin typeface="Arial"/>
                <a:cs typeface="Arial"/>
              </a:rPr>
              <a:t>puts(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4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254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prints</a:t>
            </a:r>
            <a:r>
              <a:rPr sz="900" spc="2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"This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2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String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."</a:t>
            </a:r>
            <a:r>
              <a:rPr sz="900" spc="3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String</a:t>
            </a:r>
            <a:r>
              <a:rPr spc="100" dirty="0"/>
              <a:t> </a:t>
            </a:r>
            <a:r>
              <a:rPr dirty="0"/>
              <a:t>utility</a:t>
            </a:r>
            <a:r>
              <a:rPr spc="10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627974"/>
            <a:ext cx="3687445" cy="22421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String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string.h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Copy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strcpy()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strncpy()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20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strcpy(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strto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strfrom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 copy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strfrom</a:t>
            </a:r>
            <a:r>
              <a:rPr sz="1100" i="1" spc="-35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strto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30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strncpy(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strto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strfrom,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n);</a:t>
            </a:r>
            <a:r>
              <a:rPr sz="900" spc="1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copy </a:t>
            </a:r>
            <a:r>
              <a:rPr sz="1100" i="1" spc="-20" dirty="0">
                <a:latin typeface="Courier New"/>
                <a:cs typeface="Courier New"/>
              </a:rPr>
              <a:t>n</a:t>
            </a:r>
            <a:r>
              <a:rPr sz="1100" i="1" spc="-35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chars from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strfrom</a:t>
            </a:r>
            <a:endParaRPr sz="1100">
              <a:latin typeface="Courier New"/>
              <a:cs typeface="Courier New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strto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Comparison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strcmp()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strncmp()</a:t>
            </a:r>
            <a:endParaRPr sz="1100">
              <a:latin typeface="Courier New"/>
              <a:cs typeface="Courier New"/>
            </a:endParaRPr>
          </a:p>
          <a:p>
            <a:pPr marL="144780" marR="270510" indent="6985">
              <a:lnSpc>
                <a:spcPct val="1026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strcmp(str1,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str2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Courier New"/>
                <a:cs typeface="Courier New"/>
              </a:rPr>
              <a:t>str1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Courier New"/>
                <a:cs typeface="Courier New"/>
              </a:rPr>
              <a:t>str2</a:t>
            </a:r>
            <a:r>
              <a:rPr sz="1100" dirty="0">
                <a:latin typeface="Arial"/>
                <a:cs typeface="Arial"/>
              </a:rPr>
              <a:t>;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Garamond"/>
                <a:cs typeface="Garamond"/>
              </a:rPr>
              <a:t>0</a:t>
            </a:r>
            <a:r>
              <a:rPr sz="1100" spc="10" dirty="0">
                <a:latin typeface="Garamond"/>
                <a:cs typeface="Garamond"/>
              </a:rPr>
              <a:t> </a:t>
            </a:r>
            <a:r>
              <a:rPr sz="1100" spc="-35" dirty="0">
                <a:latin typeface="Arial"/>
                <a:cs typeface="Arial"/>
              </a:rPr>
              <a:t>if </a:t>
            </a:r>
            <a:r>
              <a:rPr sz="1100" dirty="0">
                <a:latin typeface="Arial"/>
                <a:cs typeface="Arial"/>
              </a:rPr>
              <a:t>equal,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positive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str1</a:t>
            </a:r>
            <a:r>
              <a:rPr sz="1100" spc="-10" dirty="0">
                <a:latin typeface="Arial"/>
                <a:cs typeface="Arial"/>
              </a:rPr>
              <a:t>&gt;</a:t>
            </a:r>
            <a:r>
              <a:rPr sz="1100" i="1" spc="-10" dirty="0">
                <a:latin typeface="Courier New"/>
                <a:cs typeface="Courier New"/>
              </a:rPr>
              <a:t>str2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str1</a:t>
            </a:r>
            <a:r>
              <a:rPr sz="1100" spc="-10" dirty="0">
                <a:latin typeface="Arial"/>
                <a:cs typeface="Arial"/>
              </a:rPr>
              <a:t>&lt;</a:t>
            </a:r>
            <a:r>
              <a:rPr sz="1100" i="1" spc="-10" dirty="0">
                <a:latin typeface="Courier New"/>
                <a:cs typeface="Courier New"/>
              </a:rPr>
              <a:t>str2</a:t>
            </a:r>
            <a:endParaRPr sz="110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strncmp(str1,str2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n);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n</a:t>
            </a:r>
            <a:r>
              <a:rPr sz="1100" i="1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chars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str1</a:t>
            </a:r>
            <a:r>
              <a:rPr sz="1100" i="1" spc="-3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i="1" spc="-20" dirty="0">
                <a:latin typeface="Courier New"/>
                <a:cs typeface="Courier New"/>
              </a:rPr>
              <a:t>str2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String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length: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strlen()</a:t>
            </a:r>
            <a:endParaRPr sz="1100">
              <a:latin typeface="Courier New"/>
              <a:cs typeface="Courier New"/>
            </a:endParaRPr>
          </a:p>
          <a:p>
            <a:pPr marL="152400">
              <a:lnSpc>
                <a:spcPct val="100000"/>
              </a:lnSpc>
              <a:spcBef>
                <a:spcPts val="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3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strlen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length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5" dirty="0">
                <a:latin typeface="Courier New"/>
                <a:cs typeface="Courier New"/>
              </a:rPr>
              <a:t>str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90" dirty="0"/>
              <a:t> </a:t>
            </a:r>
            <a:r>
              <a:rPr dirty="0"/>
              <a:t>string</a:t>
            </a:r>
            <a:r>
              <a:rPr spc="90" dirty="0"/>
              <a:t> </a:t>
            </a:r>
            <a:r>
              <a:rPr dirty="0"/>
              <a:t>utility</a:t>
            </a:r>
            <a:r>
              <a:rPr spc="9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25270"/>
            <a:ext cx="3769360" cy="1816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9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Concatenation </a:t>
            </a:r>
            <a:r>
              <a:rPr sz="1100" dirty="0">
                <a:latin typeface="Arial"/>
                <a:cs typeface="Arial"/>
              </a:rPr>
              <a:t>functions: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strcat()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strncat()</a:t>
            </a:r>
            <a:endParaRPr sz="1100">
              <a:latin typeface="Courier New"/>
              <a:cs typeface="Courier New"/>
            </a:endParaRPr>
          </a:p>
          <a:p>
            <a:pPr marL="144780" marR="5080">
              <a:lnSpc>
                <a:spcPct val="1026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7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strcat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strto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strfrom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 add </a:t>
            </a:r>
            <a:r>
              <a:rPr sz="1100" i="1" spc="-20" dirty="0">
                <a:latin typeface="Courier New"/>
                <a:cs typeface="Courier New"/>
              </a:rPr>
              <a:t>strfrom</a:t>
            </a:r>
            <a:r>
              <a:rPr sz="1100" i="1" spc="-35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to end of </a:t>
            </a:r>
            <a:r>
              <a:rPr sz="1100" i="1" spc="-10" dirty="0">
                <a:latin typeface="Courier New"/>
                <a:cs typeface="Courier New"/>
              </a:rPr>
              <a:t>strto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30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strncat(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strfrom,</a:t>
            </a:r>
            <a:r>
              <a:rPr sz="900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n);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n</a:t>
            </a:r>
            <a:r>
              <a:rPr sz="1100" i="1" spc="-34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chars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strfrom</a:t>
            </a:r>
            <a:r>
              <a:rPr sz="1100" i="1" spc="-3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end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Courier New"/>
                <a:cs typeface="Courier New"/>
              </a:rPr>
              <a:t>strto</a:t>
            </a:r>
            <a:endParaRPr sz="1100">
              <a:latin typeface="Courier New"/>
              <a:cs typeface="Courier New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Search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strchr()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strrchr()</a:t>
            </a:r>
            <a:endParaRPr sz="1100">
              <a:latin typeface="Courier New"/>
              <a:cs typeface="Courier New"/>
            </a:endParaRPr>
          </a:p>
          <a:p>
            <a:pPr marL="144780" marR="240029">
              <a:lnSpc>
                <a:spcPct val="1026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4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strchr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c</a:t>
            </a:r>
            <a:r>
              <a:rPr sz="1100" i="1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Courier New"/>
                <a:cs typeface="Courier New"/>
              </a:rPr>
              <a:t>str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occurrence,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NULL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found</a:t>
            </a:r>
            <a:endParaRPr sz="1100">
              <a:latin typeface="Arial"/>
              <a:cs typeface="Arial"/>
            </a:endParaRPr>
          </a:p>
          <a:p>
            <a:pPr marL="144780" marR="188595">
              <a:lnSpc>
                <a:spcPct val="1026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9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strrchr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);</a:t>
            </a:r>
            <a:r>
              <a:rPr sz="900" spc="1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20" dirty="0">
                <a:latin typeface="Courier New"/>
                <a:cs typeface="Courier New"/>
              </a:rPr>
              <a:t>c</a:t>
            </a:r>
            <a:r>
              <a:rPr sz="1100" i="1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Courier New"/>
                <a:cs typeface="Courier New"/>
              </a:rPr>
              <a:t>str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last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occurrence,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NULL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found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Many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utility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exist.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-2044"/>
            <a:ext cx="4000120" cy="296873"/>
          </a:xfrm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60" dirty="0" err="1"/>
              <a:t>TashTech</a:t>
            </a:r>
            <a:r>
              <a:rPr spc="60" dirty="0"/>
              <a:t> </a:t>
            </a:r>
            <a:r>
              <a:rPr dirty="0"/>
              <a:t>Lecture</a:t>
            </a:r>
            <a:r>
              <a:rPr spc="60" dirty="0"/>
              <a:t> </a:t>
            </a:r>
            <a:r>
              <a:rPr lang="en-US" spc="60" dirty="0"/>
              <a:t>7</a:t>
            </a:r>
            <a:r>
              <a:rPr spc="65" dirty="0"/>
              <a:t> </a:t>
            </a:r>
            <a:r>
              <a:rPr dirty="0"/>
              <a:t>–</a:t>
            </a:r>
            <a:r>
              <a:rPr spc="60" dirty="0"/>
              <a:t> </a:t>
            </a:r>
            <a:r>
              <a:rPr lang="en-US" spc="60" dirty="0"/>
              <a:t>October 27, 2026</a:t>
            </a:r>
            <a:endParaRPr spc="-20" dirty="0"/>
          </a:p>
        </p:txBody>
      </p:sp>
      <p:grpSp>
        <p:nvGrpSpPr>
          <p:cNvPr id="3" name="object 3"/>
          <p:cNvGrpSpPr/>
          <p:nvPr/>
        </p:nvGrpSpPr>
        <p:grpSpPr>
          <a:xfrm>
            <a:off x="359994" y="503745"/>
            <a:ext cx="269875" cy="2580005"/>
            <a:chOff x="359994" y="503745"/>
            <a:chExt cx="269875" cy="25800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503745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787133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817" y="966901"/>
              <a:ext cx="61874" cy="61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1138974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1311046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9994" y="1586750"/>
              <a:ext cx="76809" cy="76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994" y="1870138"/>
              <a:ext cx="76809" cy="768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7817" y="2049894"/>
              <a:ext cx="61874" cy="618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9994" y="2325598"/>
              <a:ext cx="76809" cy="768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817" y="2505354"/>
              <a:ext cx="61874" cy="61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7817" y="2677439"/>
              <a:ext cx="61874" cy="618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817" y="2849511"/>
              <a:ext cx="61874" cy="61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7817" y="3021584"/>
              <a:ext cx="61874" cy="6187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4680" y="436561"/>
            <a:ext cx="2125345" cy="2701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87325" marR="5080" indent="-175260">
              <a:lnSpc>
                <a:spcPct val="102600"/>
              </a:lnSpc>
              <a:spcBef>
                <a:spcPts val="875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Pointers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Memory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Addresses Physical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Virtual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Memory Addressing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Indirection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with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Multiple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Outputs</a:t>
            </a:r>
            <a:endParaRPr sz="1100">
              <a:latin typeface="Arial"/>
              <a:cs typeface="Arial"/>
            </a:endParaRPr>
          </a:p>
          <a:p>
            <a:pPr marL="12700" marR="313055">
              <a:lnSpc>
                <a:spcPct val="1690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Arrays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Pointer</a:t>
            </a:r>
            <a:r>
              <a:rPr sz="1100" spc="-3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Arithmetic Strings</a:t>
            </a:r>
            <a:endParaRPr sz="110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Utility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  <a:p>
            <a:pPr marL="187325" marR="33020" indent="-175260" algn="just">
              <a:lnSpc>
                <a:spcPct val="102600"/>
              </a:lnSpc>
              <a:spcBef>
                <a:spcPts val="880"/>
              </a:spcBef>
            </a:pPr>
            <a:r>
              <a:rPr sz="1100" spc="-10" dirty="0">
                <a:latin typeface="Arial"/>
                <a:cs typeface="Arial"/>
              </a:rPr>
              <a:t>Searching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Algorithms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  <a:p>
            <a:pPr marL="187325" marR="1055370" algn="just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Sort </a:t>
            </a:r>
            <a:r>
              <a:rPr sz="1100" spc="-10" dirty="0">
                <a:latin typeface="Arial"/>
                <a:cs typeface="Arial"/>
              </a:rPr>
              <a:t>Faster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Sorting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Search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Searching</a:t>
            </a:r>
            <a:r>
              <a:rPr spc="100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spc="-10" dirty="0"/>
              <a:t>sorting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178621"/>
            <a:ext cx="306451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4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Basic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good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pointers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Just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examples;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course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Big-</a:t>
            </a:r>
            <a:r>
              <a:rPr sz="1100" dirty="0">
                <a:latin typeface="Arial"/>
                <a:cs typeface="Arial"/>
              </a:rPr>
              <a:t>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notation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Searching</a:t>
            </a:r>
            <a:r>
              <a:rPr spc="85" dirty="0"/>
              <a:t> </a:t>
            </a:r>
            <a:r>
              <a:rPr dirty="0"/>
              <a:t>an</a:t>
            </a:r>
            <a:r>
              <a:rPr spc="90" dirty="0"/>
              <a:t> </a:t>
            </a:r>
            <a:r>
              <a:rPr spc="-2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74026"/>
            <a:ext cx="3552190" cy="17957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33350" marR="1216025" indent="-133350" algn="ctr">
              <a:lnSpc>
                <a:spcPct val="100000"/>
              </a:lnSpc>
              <a:spcBef>
                <a:spcPts val="380"/>
              </a:spcBef>
              <a:buSzPct val="90909"/>
              <a:buFont typeface="Cambria"/>
              <a:buChar char="•"/>
              <a:tabLst>
                <a:tab pos="133350" algn="l"/>
              </a:tabLst>
            </a:pPr>
            <a:r>
              <a:rPr sz="1100" spc="-10" dirty="0">
                <a:latin typeface="Arial"/>
                <a:cs typeface="Arial"/>
              </a:rPr>
              <a:t>Suppose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int</a:t>
            </a:r>
            <a:r>
              <a:rPr sz="1100" spc="-20" dirty="0">
                <a:latin typeface="Arial"/>
                <a:cs typeface="Arial"/>
              </a:rPr>
              <a:t>’s</a:t>
            </a:r>
            <a:endParaRPr sz="1100">
              <a:latin typeface="Arial"/>
              <a:cs typeface="Arial"/>
            </a:endParaRPr>
          </a:p>
          <a:p>
            <a:pPr marR="1450340" algn="ctr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[100];</a:t>
            </a:r>
            <a:r>
              <a:rPr sz="900" spc="240" dirty="0"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3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array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search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33350" marR="1196340" indent="-133350" algn="ctr">
              <a:lnSpc>
                <a:spcPct val="100000"/>
              </a:lnSpc>
              <a:spcBef>
                <a:spcPts val="375"/>
              </a:spcBef>
              <a:buSzPct val="90909"/>
              <a:buFont typeface="Cambria"/>
              <a:buChar char="•"/>
              <a:tabLst>
                <a:tab pos="133350" algn="l"/>
              </a:tabLst>
            </a:pPr>
            <a:r>
              <a:rPr sz="1100" spc="-10" dirty="0">
                <a:latin typeface="Arial"/>
                <a:cs typeface="Arial"/>
              </a:rPr>
              <a:t>Let’s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function:</a:t>
            </a:r>
            <a:endParaRPr sz="1100">
              <a:latin typeface="Arial"/>
              <a:cs typeface="Arial"/>
            </a:endParaRPr>
          </a:p>
          <a:p>
            <a:pPr marR="1202690" algn="ctr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41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390" dirty="0">
                <a:latin typeface="Lucida Sans Unicode"/>
                <a:cs typeface="Lucida Sans Unicode"/>
              </a:rPr>
              <a:t> </a:t>
            </a:r>
            <a:r>
              <a:rPr sz="900" spc="60" dirty="0">
                <a:latin typeface="Arial"/>
                <a:cs typeface="Arial"/>
              </a:rPr>
              <a:t>parr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80" dirty="0"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380" dirty="0">
                <a:latin typeface="Lucida Sans Unicode"/>
                <a:cs typeface="Lucida Sans Unicode"/>
              </a:rPr>
              <a:t> </a:t>
            </a:r>
            <a:r>
              <a:rPr sz="900" spc="65" dirty="0">
                <a:latin typeface="Arial"/>
                <a:cs typeface="Arial"/>
              </a:rPr>
              <a:t>parrend</a:t>
            </a:r>
            <a:r>
              <a:rPr sz="900" spc="3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409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50" dirty="0">
                <a:latin typeface="Arial"/>
                <a:cs typeface="Arial"/>
              </a:rPr>
              <a:t>pa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50" dirty="0">
                <a:latin typeface="Arial"/>
                <a:cs typeface="Arial"/>
              </a:rPr>
              <a:t>pa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390" dirty="0">
                <a:latin typeface="Arial"/>
                <a:cs typeface="Arial"/>
              </a:rPr>
              <a:t> </a:t>
            </a:r>
            <a:r>
              <a:rPr sz="900" spc="60" dirty="0">
                <a:latin typeface="Arial"/>
                <a:cs typeface="Arial"/>
              </a:rPr>
              <a:t>parrend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50" dirty="0">
                <a:latin typeface="Arial"/>
                <a:cs typeface="Arial"/>
              </a:rPr>
              <a:t>pa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++)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-70" dirty="0">
                <a:latin typeface="Lucida Sans Unicode"/>
                <a:cs typeface="Lucida Sans Unicode"/>
              </a:rPr>
              <a:t> </a:t>
            </a:r>
            <a:r>
              <a:rPr sz="900" spc="50" dirty="0">
                <a:latin typeface="Arial"/>
                <a:cs typeface="Arial"/>
              </a:rPr>
              <a:t>pa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4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50" dirty="0">
                <a:latin typeface="Arial"/>
                <a:cs typeface="Arial"/>
              </a:rPr>
              <a:t>pa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20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3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NULL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</a:t>
            </a:r>
            <a:r>
              <a:rPr spc="55" dirty="0"/>
              <a:t> </a:t>
            </a:r>
            <a:r>
              <a:rPr dirty="0"/>
              <a:t>simple</a:t>
            </a:r>
            <a:r>
              <a:rPr spc="60" dirty="0"/>
              <a:t> </a:t>
            </a:r>
            <a:r>
              <a:rPr spc="-20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358" y="483387"/>
            <a:ext cx="3667760" cy="250952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09550" indent="-133350">
              <a:lnSpc>
                <a:spcPct val="100000"/>
              </a:lnSpc>
              <a:spcBef>
                <a:spcPts val="285"/>
              </a:spcBef>
              <a:buSzPct val="90909"/>
              <a:buFont typeface="Cambria"/>
              <a:buChar char="•"/>
              <a:tabLst>
                <a:tab pos="209550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insertion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sort: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spc="-10" dirty="0">
                <a:latin typeface="Bookman Old Style"/>
                <a:cs typeface="Bookman Old Style"/>
              </a:rPr>
              <a:t>O</a:t>
            </a:r>
            <a:r>
              <a:rPr sz="1100" spc="-10" dirty="0">
                <a:latin typeface="Garamond"/>
                <a:cs typeface="Garamond"/>
              </a:rPr>
              <a:t>(</a:t>
            </a:r>
            <a:r>
              <a:rPr sz="1100" i="1" spc="-10" dirty="0">
                <a:latin typeface="Bookman Old Style"/>
                <a:cs typeface="Bookman Old Style"/>
              </a:rPr>
              <a:t>n</a:t>
            </a:r>
            <a:r>
              <a:rPr sz="1200" spc="-15" baseline="27777" dirty="0">
                <a:latin typeface="Trebuchet MS"/>
                <a:cs typeface="Trebuchet MS"/>
              </a:rPr>
              <a:t>2</a:t>
            </a:r>
            <a:r>
              <a:rPr sz="1100" spc="-10" dirty="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4857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85775" algn="l"/>
              </a:tabLst>
            </a:pPr>
            <a:r>
              <a:rPr sz="1000" dirty="0">
                <a:latin typeface="Arial"/>
                <a:cs typeface="Arial"/>
              </a:rPr>
              <a:t>iterate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through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array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until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out-of-order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element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found</a:t>
            </a:r>
            <a:endParaRPr sz="1000">
              <a:latin typeface="Arial"/>
              <a:cs typeface="Arial"/>
            </a:endParaRPr>
          </a:p>
          <a:p>
            <a:pPr marL="4857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85775" algn="l"/>
              </a:tabLst>
            </a:pPr>
            <a:r>
              <a:rPr sz="1000" dirty="0">
                <a:latin typeface="Arial"/>
                <a:cs typeface="Arial"/>
              </a:rPr>
              <a:t>insert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out-of-order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element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correct</a:t>
            </a:r>
            <a:r>
              <a:rPr sz="1000" spc="-10" dirty="0">
                <a:latin typeface="Arial"/>
                <a:cs typeface="Arial"/>
              </a:rPr>
              <a:t> location</a:t>
            </a:r>
            <a:endParaRPr sz="1000">
              <a:latin typeface="Arial"/>
              <a:cs typeface="Arial"/>
            </a:endParaRPr>
          </a:p>
          <a:p>
            <a:pPr marL="4857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85775" algn="l"/>
              </a:tabLst>
            </a:pPr>
            <a:r>
              <a:rPr sz="1000" dirty="0">
                <a:latin typeface="Arial"/>
                <a:cs typeface="Arial"/>
              </a:rPr>
              <a:t>repeat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until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array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reached</a:t>
            </a:r>
            <a:endParaRPr sz="1000">
              <a:latin typeface="Arial"/>
              <a:cs typeface="Arial"/>
            </a:endParaRPr>
          </a:p>
          <a:p>
            <a:pPr marL="133350" marR="1031240" indent="-133350" algn="ctr">
              <a:lnSpc>
                <a:spcPct val="100000"/>
              </a:lnSpc>
              <a:spcBef>
                <a:spcPts val="355"/>
              </a:spcBef>
              <a:buSzPct val="90909"/>
              <a:buFont typeface="Cambria"/>
              <a:buChar char="•"/>
              <a:tabLst>
                <a:tab pos="133350" algn="l"/>
              </a:tabLst>
            </a:pPr>
            <a:r>
              <a:rPr sz="1100" dirty="0">
                <a:latin typeface="Arial"/>
                <a:cs typeface="Arial"/>
              </a:rPr>
              <a:t>Split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ease-of-</a:t>
            </a:r>
            <a:r>
              <a:rPr sz="1100" spc="-25" dirty="0">
                <a:latin typeface="Arial"/>
                <a:cs typeface="Arial"/>
              </a:rPr>
              <a:t>use</a:t>
            </a:r>
            <a:endParaRPr sz="1100">
              <a:latin typeface="Arial"/>
              <a:cs typeface="Arial"/>
            </a:endParaRPr>
          </a:p>
          <a:p>
            <a:pPr marR="986155" algn="ctr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array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7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3606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2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out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order</a:t>
            </a:r>
            <a:r>
              <a:rPr sz="900" spc="4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20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0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80" dirty="0">
                <a:latin typeface="Arial"/>
                <a:cs typeface="Arial"/>
              </a:rPr>
              <a:t>  </a:t>
            </a:r>
            <a:r>
              <a:rPr sz="900" spc="-6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3606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4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main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loop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554990" marR="1211580" indent="-194945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_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m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5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each</a:t>
            </a:r>
            <a:r>
              <a:rPr sz="900" spc="4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out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order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Shifting</a:t>
            </a:r>
            <a:r>
              <a:rPr spc="150" dirty="0"/>
              <a:t> </a:t>
            </a:r>
            <a:r>
              <a:rPr dirty="0"/>
              <a:t>out-of-order</a:t>
            </a:r>
            <a:r>
              <a:rPr spc="15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18844"/>
            <a:ext cx="3714115" cy="16052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Code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shifting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element</a:t>
            </a:r>
            <a:endParaRPr sz="1100">
              <a:latin typeface="Arial"/>
              <a:cs typeface="Arial"/>
            </a:endParaRPr>
          </a:p>
          <a:p>
            <a:pPr marL="368300" marR="1123315" indent="-208279">
              <a:lnSpc>
                <a:spcPct val="101499"/>
              </a:lnSpc>
              <a:spcBef>
                <a:spcPts val="55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3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move</a:t>
            </a:r>
            <a:r>
              <a:rPr sz="900" spc="3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previous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elements</a:t>
            </a:r>
            <a:r>
              <a:rPr sz="900" spc="3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down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5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reached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7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5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guard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5" dirty="0">
                <a:solidFill>
                  <a:srgbClr val="B50A0A"/>
                </a:solidFill>
                <a:latin typeface="Arial"/>
                <a:cs typeface="Arial"/>
              </a:rPr>
              <a:t>against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going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5" dirty="0">
                <a:solidFill>
                  <a:srgbClr val="B50A0A"/>
                </a:solidFill>
                <a:latin typeface="Arial"/>
                <a:cs typeface="Arial"/>
              </a:rPr>
              <a:t>outside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array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34975" marR="5080" indent="-140335">
              <a:lnSpc>
                <a:spcPct val="101499"/>
              </a:lnSpc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20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3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dirty="0">
                <a:latin typeface="Arial"/>
                <a:cs typeface="Arial"/>
              </a:rPr>
              <a:t>1]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&gt;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Lucida Sans Unicode"/>
                <a:cs typeface="Lucida Sans Unicode"/>
              </a:rPr>
              <a:t>−−</a:t>
            </a:r>
            <a:r>
              <a:rPr sz="900" spc="-25" dirty="0">
                <a:latin typeface="Arial"/>
                <a:cs typeface="Arial"/>
              </a:rPr>
              <a:t>)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spc="-200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3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move</a:t>
            </a:r>
            <a:r>
              <a:rPr sz="900" spc="3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3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down</a:t>
            </a:r>
            <a:r>
              <a:rPr sz="900" spc="40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Insertion</a:t>
            </a:r>
            <a:r>
              <a:rPr spc="170" dirty="0"/>
              <a:t> </a:t>
            </a:r>
            <a:r>
              <a:rPr spc="-20" dirty="0"/>
              <a:t>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726060"/>
            <a:ext cx="3354070" cy="19284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Main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insertion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loop</a:t>
            </a:r>
            <a:endParaRPr sz="11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57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3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19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out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55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order</a:t>
            </a:r>
            <a:r>
              <a:rPr sz="900" spc="4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found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37211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4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B50A0A"/>
                </a:solidFill>
                <a:latin typeface="Arial"/>
                <a:cs typeface="Arial"/>
              </a:rPr>
              <a:t>element</a:t>
            </a:r>
            <a:r>
              <a:rPr sz="900" spc="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4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continue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15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4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5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60" dirty="0">
                <a:latin typeface="Arial"/>
                <a:cs typeface="Arial"/>
              </a:rPr>
              <a:t>len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5275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2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spc="60" dirty="0">
                <a:latin typeface="Arial"/>
                <a:cs typeface="Arial"/>
              </a:rPr>
              <a:t>len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++)</a:t>
            </a:r>
            <a:endParaRPr sz="900">
              <a:latin typeface="Arial"/>
              <a:cs typeface="Arial"/>
            </a:endParaRPr>
          </a:p>
          <a:p>
            <a:pPr marL="569595" marR="1433830" indent="-129539">
              <a:lnSpc>
                <a:spcPct val="101499"/>
              </a:lnSpc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30" dirty="0">
                <a:latin typeface="Lucida Sans Unicode"/>
                <a:cs typeface="Lucida Sans Unicode"/>
              </a:rPr>
              <a:t>−</a:t>
            </a:r>
            <a:r>
              <a:rPr sz="900" spc="30" dirty="0">
                <a:latin typeface="Arial"/>
                <a:cs typeface="Arial"/>
              </a:rPr>
              <a:t>1])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44780" marR="121920" indent="-132715">
              <a:lnSpc>
                <a:spcPct val="102600"/>
              </a:lnSpc>
              <a:spcBef>
                <a:spcPts val="94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rewrite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arithmetic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instead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indexing?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Quicksort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6458" y="935264"/>
            <a:ext cx="3738879" cy="1568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0180" marR="571500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70180" algn="l"/>
              </a:tabLst>
            </a:pPr>
            <a:r>
              <a:rPr sz="1100" dirty="0">
                <a:latin typeface="Arial"/>
                <a:cs typeface="Arial"/>
              </a:rPr>
              <a:t>Many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faster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available </a:t>
            </a:r>
            <a:r>
              <a:rPr sz="1100" dirty="0">
                <a:latin typeface="Arial"/>
                <a:cs typeface="Arial"/>
              </a:rPr>
              <a:t>(shellsort,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mergesort, </a:t>
            </a:r>
            <a:r>
              <a:rPr sz="1100" dirty="0">
                <a:latin typeface="Arial"/>
                <a:cs typeface="Arial"/>
              </a:rPr>
              <a:t>quicksort,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71450" indent="-133350">
              <a:lnSpc>
                <a:spcPct val="10000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171450" algn="l"/>
              </a:tabLst>
            </a:pPr>
            <a:r>
              <a:rPr sz="1100" dirty="0">
                <a:latin typeface="Arial"/>
                <a:cs typeface="Arial"/>
              </a:rPr>
              <a:t>Quicksort:</a:t>
            </a:r>
            <a:r>
              <a:rPr sz="1100" spc="130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O</a:t>
            </a:r>
            <a:r>
              <a:rPr sz="1100" dirty="0">
                <a:latin typeface="Garamond"/>
                <a:cs typeface="Garamond"/>
              </a:rPr>
              <a:t>(</a:t>
            </a:r>
            <a:r>
              <a:rPr sz="1100" i="1" dirty="0">
                <a:latin typeface="Bookman Old Style"/>
                <a:cs typeface="Bookman Old Style"/>
              </a:rPr>
              <a:t>n</a:t>
            </a:r>
            <a:r>
              <a:rPr sz="110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aramond"/>
                <a:cs typeface="Garamond"/>
              </a:rPr>
              <a:t>log</a:t>
            </a:r>
            <a:r>
              <a:rPr sz="1100" spc="-45" dirty="0">
                <a:latin typeface="Garamond"/>
                <a:cs typeface="Garamond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Garamond"/>
                <a:cs typeface="Garamond"/>
              </a:rPr>
              <a:t>)</a:t>
            </a:r>
            <a:r>
              <a:rPr sz="1100" spc="80" dirty="0">
                <a:latin typeface="Garamond"/>
                <a:cs typeface="Garamond"/>
              </a:rPr>
              <a:t> </a:t>
            </a:r>
            <a:r>
              <a:rPr sz="1100" spc="-10" dirty="0">
                <a:latin typeface="Arial"/>
                <a:cs typeface="Arial"/>
              </a:rPr>
              <a:t>average;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O</a:t>
            </a:r>
            <a:r>
              <a:rPr sz="1100" dirty="0">
                <a:latin typeface="Garamond"/>
                <a:cs typeface="Garamond"/>
              </a:rPr>
              <a:t>(</a:t>
            </a:r>
            <a:r>
              <a:rPr sz="1100" i="1" dirty="0">
                <a:latin typeface="Bookman Old Style"/>
                <a:cs typeface="Bookman Old Style"/>
              </a:rPr>
              <a:t>n</a:t>
            </a:r>
            <a:r>
              <a:rPr sz="1200" baseline="27777" dirty="0">
                <a:latin typeface="Trebuchet MS"/>
                <a:cs typeface="Trebuchet MS"/>
              </a:rPr>
              <a:t>2</a:t>
            </a:r>
            <a:r>
              <a:rPr sz="1100" dirty="0">
                <a:latin typeface="Garamond"/>
                <a:cs typeface="Garamond"/>
              </a:rPr>
              <a:t>)</a:t>
            </a:r>
            <a:r>
              <a:rPr sz="1100" spc="80" dirty="0">
                <a:latin typeface="Garamond"/>
                <a:cs typeface="Garamond"/>
              </a:rPr>
              <a:t> </a:t>
            </a:r>
            <a:r>
              <a:rPr sz="1100" dirty="0">
                <a:latin typeface="Arial"/>
                <a:cs typeface="Arial"/>
              </a:rPr>
              <a:t>worst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case</a:t>
            </a:r>
            <a:endParaRPr sz="1100">
              <a:latin typeface="Arial"/>
              <a:cs typeface="Arial"/>
            </a:endParaRPr>
          </a:p>
          <a:p>
            <a:pPr marL="4476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47675" algn="l"/>
              </a:tabLst>
            </a:pPr>
            <a:r>
              <a:rPr sz="1000" dirty="0">
                <a:latin typeface="Arial"/>
                <a:cs typeface="Arial"/>
              </a:rPr>
              <a:t>choose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pivot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element</a:t>
            </a:r>
            <a:endParaRPr sz="1000">
              <a:latin typeface="Arial"/>
              <a:cs typeface="Arial"/>
            </a:endParaRPr>
          </a:p>
          <a:p>
            <a:pPr marL="447675" marR="30480" lvl="1" indent="-128270">
              <a:lnSpc>
                <a:spcPts val="1200"/>
              </a:lnSpc>
              <a:spcBef>
                <a:spcPts val="35"/>
              </a:spcBef>
              <a:buSzPct val="90000"/>
              <a:buFont typeface="Lucida Sans Unicode"/>
              <a:buChar char="•"/>
              <a:tabLst>
                <a:tab pos="447675" algn="l"/>
              </a:tabLst>
            </a:pPr>
            <a:r>
              <a:rPr sz="1000" dirty="0">
                <a:latin typeface="Arial"/>
                <a:cs typeface="Arial"/>
              </a:rPr>
              <a:t>move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elements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less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pivot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side,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elements </a:t>
            </a:r>
            <a:r>
              <a:rPr sz="1000" dirty="0">
                <a:latin typeface="Arial"/>
                <a:cs typeface="Arial"/>
              </a:rPr>
              <a:t>greater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pivot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other</a:t>
            </a:r>
            <a:endParaRPr sz="1000">
              <a:latin typeface="Arial"/>
              <a:cs typeface="Arial"/>
            </a:endParaRPr>
          </a:p>
          <a:p>
            <a:pPr marL="447675" lvl="1" indent="-128270">
              <a:lnSpc>
                <a:spcPts val="1150"/>
              </a:lnSpc>
              <a:buSzPct val="90000"/>
              <a:buFont typeface="Lucida Sans Unicode"/>
              <a:buChar char="•"/>
              <a:tabLst>
                <a:tab pos="447675" algn="l"/>
              </a:tabLst>
            </a:pPr>
            <a:r>
              <a:rPr sz="1000" dirty="0">
                <a:latin typeface="Arial"/>
                <a:cs typeface="Arial"/>
              </a:rPr>
              <a:t>sort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sides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individually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(recursive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algorithm)</a:t>
            </a:r>
            <a:endParaRPr sz="1000">
              <a:latin typeface="Arial"/>
              <a:cs typeface="Arial"/>
            </a:endParaRPr>
          </a:p>
          <a:p>
            <a:pPr marL="171450" indent="-133350">
              <a:lnSpc>
                <a:spcPct val="100000"/>
              </a:lnSpc>
              <a:spcBef>
                <a:spcPts val="355"/>
              </a:spcBef>
              <a:buSzPct val="90909"/>
              <a:buFont typeface="Cambria"/>
              <a:buChar char="•"/>
              <a:tabLst>
                <a:tab pos="171450" algn="l"/>
              </a:tabLst>
            </a:pP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qsort()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17018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ourier New"/>
                <a:cs typeface="Courier New"/>
              </a:rPr>
              <a:t>stdlib.h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Quicksort</a:t>
            </a:r>
            <a:r>
              <a:rPr spc="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47094"/>
            <a:ext cx="3711575" cy="26250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90195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"/>
                <a:cs typeface="Arial"/>
              </a:rPr>
              <a:t>Select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pivot;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sides:</a:t>
            </a:r>
            <a:endParaRPr sz="11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57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void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q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5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  <a:p>
            <a:pPr marL="1387475">
              <a:lnSpc>
                <a:spcPct val="100000"/>
              </a:lnSpc>
              <a:spcBef>
                <a:spcPts val="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9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mid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4259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5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&gt;=</a:t>
            </a:r>
            <a:r>
              <a:rPr sz="900" spc="4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7404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0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nothing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7355" marR="422909" indent="13970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4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midpoint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;</a:t>
            </a:r>
            <a:r>
              <a:rPr sz="900" spc="4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move</a:t>
            </a:r>
            <a:r>
              <a:rPr sz="900" spc="3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ide</a:t>
            </a:r>
            <a:r>
              <a:rPr sz="900" spc="13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swap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4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4323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mid</a:t>
            </a:r>
            <a:r>
              <a:rPr sz="900" spc="3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635000" marR="217804" indent="-193675">
              <a:lnSpc>
                <a:spcPct val="101400"/>
              </a:lnSpc>
              <a:spcBef>
                <a:spcPts val="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9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separate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ide</a:t>
            </a:r>
            <a:r>
              <a:rPr sz="900" spc="4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&lt;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+1</a:t>
            </a:r>
            <a:r>
              <a:rPr sz="900" spc="43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4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mid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and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ide</a:t>
            </a:r>
            <a:r>
              <a:rPr sz="900" spc="4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&gt;=</a:t>
            </a:r>
            <a:r>
              <a:rPr sz="900" spc="4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mid+1</a:t>
            </a:r>
            <a:r>
              <a:rPr sz="900" spc="4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8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39420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59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8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&lt;=</a:t>
            </a:r>
            <a:r>
              <a:rPr sz="900" spc="4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++)</a:t>
            </a:r>
            <a:endParaRPr sz="900">
              <a:latin typeface="Arial"/>
              <a:cs typeface="Arial"/>
            </a:endParaRPr>
          </a:p>
          <a:p>
            <a:pPr marL="58547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70104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swap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3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++mid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43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4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[Kernighan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Ritchie.</a:t>
            </a:r>
            <a:r>
              <a:rPr sz="900" spc="40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C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Programming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Language.</a:t>
            </a:r>
            <a:r>
              <a:rPr sz="900" spc="4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2nd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ed.</a:t>
            </a:r>
            <a:r>
              <a:rPr sz="900" spc="4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Prentice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2929445"/>
            <a:ext cx="6013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Hall,</a:t>
            </a:r>
            <a:r>
              <a:rPr sz="900" spc="-2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1988.]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Quicksort</a:t>
            </a:r>
            <a:r>
              <a:rPr spc="13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306" y="591800"/>
            <a:ext cx="4107179" cy="2327432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90195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"/>
                <a:cs typeface="Arial"/>
              </a:rPr>
              <a:t>Restore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pivot;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separately:</a:t>
            </a:r>
            <a:endParaRPr sz="1100" dirty="0">
              <a:latin typeface="Arial"/>
              <a:cs typeface="Arial"/>
            </a:endParaRPr>
          </a:p>
          <a:p>
            <a:pPr marL="427355" marR="1774825" indent="13970">
              <a:lnSpc>
                <a:spcPct val="101499"/>
              </a:lnSpc>
              <a:spcBef>
                <a:spcPts val="55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swap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75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+mid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 dirty="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two</a:t>
            </a:r>
            <a:r>
              <a:rPr sz="900" spc="4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sides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2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mid</a:t>
            </a:r>
            <a:r>
              <a:rPr sz="900" spc="3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&gt;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57785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q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2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4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mid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30" dirty="0">
                <a:latin typeface="Lucida Sans Unicode"/>
                <a:cs typeface="Lucida Sans Unicode"/>
              </a:rPr>
              <a:t>−</a:t>
            </a:r>
            <a:r>
              <a:rPr sz="900" spc="30" dirty="0">
                <a:latin typeface="Arial"/>
                <a:cs typeface="Arial"/>
              </a:rPr>
              <a:t>1);</a:t>
            </a:r>
            <a:endParaRPr sz="900" dirty="0">
              <a:latin typeface="Arial"/>
              <a:cs typeface="Arial"/>
            </a:endParaRPr>
          </a:p>
          <a:p>
            <a:pPr marL="448309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mid</a:t>
            </a:r>
            <a:r>
              <a:rPr sz="900" spc="3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4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57785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q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mid+1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 dirty="0">
              <a:latin typeface="Arial"/>
              <a:cs typeface="Arial"/>
            </a:endParaRPr>
          </a:p>
          <a:p>
            <a:pPr marL="3048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 dirty="0">
              <a:latin typeface="Arial"/>
              <a:cs typeface="Arial"/>
            </a:endParaRPr>
          </a:p>
          <a:p>
            <a:pPr marL="290195" indent="-133350">
              <a:lnSpc>
                <a:spcPct val="100000"/>
              </a:lnSpc>
              <a:spcBef>
                <a:spcPts val="97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"/>
                <a:cs typeface="Arial"/>
              </a:rPr>
              <a:t>Starting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recursion: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34"/>
              </a:spcBef>
            </a:pPr>
            <a:r>
              <a:rPr sz="900" dirty="0">
                <a:latin typeface="Arial"/>
                <a:cs typeface="Arial"/>
              </a:rPr>
              <a:t>quick_sort(0,</a:t>
            </a:r>
            <a:r>
              <a:rPr sz="900" spc="2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array_length(arr)</a:t>
            </a:r>
            <a:r>
              <a:rPr sz="900" spc="229" dirty="0">
                <a:latin typeface="Arial"/>
                <a:cs typeface="Arial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spc="-20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1);</a:t>
            </a:r>
            <a:endParaRPr sz="900" dirty="0">
              <a:latin typeface="Arial"/>
              <a:cs typeface="Arial"/>
            </a:endParaRPr>
          </a:p>
          <a:p>
            <a:pPr marL="12700" marR="400050">
              <a:lnSpc>
                <a:spcPct val="125400"/>
              </a:lnSpc>
              <a:spcBef>
                <a:spcPts val="595"/>
              </a:spcBef>
            </a:pP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[Kernighan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Ritchie.</a:t>
            </a:r>
            <a:r>
              <a:rPr sz="900" spc="40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C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Programming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Language.</a:t>
            </a:r>
            <a:r>
              <a:rPr sz="900" spc="4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2nd</a:t>
            </a:r>
            <a:r>
              <a:rPr sz="900" spc="-1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ed.</a:t>
            </a:r>
            <a:r>
              <a:rPr sz="900" spc="4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Prentice </a:t>
            </a:r>
            <a:r>
              <a:rPr sz="900" dirty="0">
                <a:solidFill>
                  <a:srgbClr val="636363"/>
                </a:solidFill>
                <a:latin typeface="Arial"/>
                <a:cs typeface="Arial"/>
              </a:rPr>
              <a:t>Hall,</a:t>
            </a:r>
            <a:r>
              <a:rPr sz="900" spc="-25" dirty="0">
                <a:solidFill>
                  <a:srgbClr val="636363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636363"/>
                </a:solidFill>
                <a:latin typeface="Arial"/>
                <a:cs typeface="Arial"/>
              </a:rPr>
              <a:t>1988.]</a:t>
            </a:r>
            <a:endParaRPr sz="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Discussion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spc="-10" dirty="0"/>
              <a:t>quicksort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63065"/>
            <a:ext cx="3617595" cy="17202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109855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stable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(equal-valued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elements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switched)</a:t>
            </a:r>
            <a:r>
              <a:rPr sz="1100" spc="-25" dirty="0">
                <a:latin typeface="Arial"/>
                <a:cs typeface="Arial"/>
              </a:rPr>
              <a:t> in </a:t>
            </a:r>
            <a:r>
              <a:rPr sz="1100" dirty="0">
                <a:latin typeface="Arial"/>
                <a:cs typeface="Arial"/>
              </a:rPr>
              <a:t>present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>
              <a:latin typeface="Arial"/>
              <a:cs typeface="Arial"/>
            </a:endParaRPr>
          </a:p>
          <a:p>
            <a:pPr marL="144780" marR="6223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in-</a:t>
            </a:r>
            <a:r>
              <a:rPr sz="1100" i="1" dirty="0">
                <a:latin typeface="Arial"/>
                <a:cs typeface="Arial"/>
              </a:rPr>
              <a:t>place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–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especially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desirable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low-</a:t>
            </a:r>
            <a:r>
              <a:rPr sz="1100" spc="-10" dirty="0">
                <a:latin typeface="Arial"/>
                <a:cs typeface="Arial"/>
              </a:rPr>
              <a:t>memory environments</a:t>
            </a:r>
            <a:endParaRPr sz="1100">
              <a:latin typeface="Arial"/>
              <a:cs typeface="Arial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Choice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pivot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influences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performance;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random pivot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4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Divide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conquer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algorithm;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easily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parallelizeable</a:t>
            </a:r>
            <a:endParaRPr sz="1100">
              <a:latin typeface="Arial"/>
              <a:cs typeface="Arial"/>
            </a:endParaRPr>
          </a:p>
          <a:p>
            <a:pPr marL="144780" marR="163195" indent="-132715">
              <a:lnSpc>
                <a:spcPct val="102600"/>
              </a:lnSpc>
              <a:spcBef>
                <a:spcPts val="29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Recursive;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cause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stack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overflow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Searching</a:t>
            </a:r>
            <a:r>
              <a:rPr spc="90" dirty="0"/>
              <a:t> </a:t>
            </a:r>
            <a:r>
              <a:rPr dirty="0"/>
              <a:t>a</a:t>
            </a:r>
            <a:r>
              <a:rPr spc="95" dirty="0"/>
              <a:t> </a:t>
            </a:r>
            <a:r>
              <a:rPr dirty="0"/>
              <a:t>sorted</a:t>
            </a:r>
            <a:r>
              <a:rPr spc="95" dirty="0"/>
              <a:t> </a:t>
            </a:r>
            <a:r>
              <a:rPr spc="-10" dirty="0"/>
              <a:t>array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10423"/>
            <a:ext cx="3644900" cy="1852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4780" marR="424180" indent="-132715">
              <a:lnSpc>
                <a:spcPct val="102600"/>
              </a:lnSpc>
              <a:spcBef>
                <a:spcPts val="5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Searching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arbitrary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visiting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half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elements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average</a:t>
            </a:r>
            <a:endParaRPr sz="1100">
              <a:latin typeface="Arial"/>
              <a:cs typeface="Arial"/>
            </a:endParaRPr>
          </a:p>
          <a:p>
            <a:pPr marL="144780" marR="618490" indent="-132715">
              <a:lnSpc>
                <a:spcPts val="1200"/>
              </a:lnSpc>
              <a:spcBef>
                <a:spcPts val="315"/>
              </a:spcBef>
              <a:buSzPct val="90909"/>
              <a:buFont typeface="Cambria"/>
              <a:buChar char="•"/>
              <a:tabLst>
                <a:tab pos="144780" algn="l"/>
              </a:tabLst>
            </a:pPr>
            <a:r>
              <a:rPr sz="1100" spc="-10" dirty="0">
                <a:latin typeface="Arial"/>
                <a:cs typeface="Arial"/>
              </a:rPr>
              <a:t>Suppose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sorted;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sorting information:</a:t>
            </a:r>
            <a:endParaRPr sz="1100">
              <a:latin typeface="Arial"/>
              <a:cs typeface="Arial"/>
            </a:endParaRPr>
          </a:p>
          <a:p>
            <a:pPr marL="422275" marR="5080" lvl="1" indent="-128270">
              <a:lnSpc>
                <a:spcPct val="100000"/>
              </a:lnSpc>
              <a:spcBef>
                <a:spcPts val="150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desired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greater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index,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only </a:t>
            </a:r>
            <a:r>
              <a:rPr sz="1000" dirty="0">
                <a:latin typeface="Arial"/>
                <a:cs typeface="Arial"/>
              </a:rPr>
              <a:t>need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search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after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index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each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comparison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split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two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pieces</a:t>
            </a:r>
            <a:endParaRPr sz="1000">
              <a:latin typeface="Arial"/>
              <a:cs typeface="Arial"/>
            </a:endParaRPr>
          </a:p>
          <a:p>
            <a:pPr marL="422275" marR="132715" lvl="1" indent="-128270">
              <a:lnSpc>
                <a:spcPts val="1200"/>
              </a:lnSpc>
              <a:spcBef>
                <a:spcPts val="40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solution: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compare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against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middle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current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piece;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then </a:t>
            </a:r>
            <a:r>
              <a:rPr sz="1000" dirty="0">
                <a:latin typeface="Arial"/>
                <a:cs typeface="Arial"/>
              </a:rPr>
              <a:t>new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piece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guaranteed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half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size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5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divide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conquer!</a:t>
            </a:r>
            <a:endParaRPr sz="10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50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week.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Binary</a:t>
            </a:r>
            <a:r>
              <a:rPr spc="10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596177"/>
            <a:ext cx="3350895" cy="21615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79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Binary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search: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O</a:t>
            </a:r>
            <a:r>
              <a:rPr sz="1100" dirty="0">
                <a:latin typeface="Garamond"/>
                <a:cs typeface="Garamond"/>
              </a:rPr>
              <a:t>(log</a:t>
            </a:r>
            <a:r>
              <a:rPr sz="1100" spc="-65" dirty="0">
                <a:latin typeface="Garamond"/>
                <a:cs typeface="Garamond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Garamond"/>
                <a:cs typeface="Garamond"/>
              </a:rPr>
              <a:t>)</a:t>
            </a:r>
            <a:r>
              <a:rPr sz="1100" spc="40" dirty="0">
                <a:latin typeface="Garamond"/>
                <a:cs typeface="Garamond"/>
              </a:rPr>
              <a:t> </a:t>
            </a:r>
            <a:r>
              <a:rPr sz="1100" spc="-10" dirty="0">
                <a:latin typeface="Arial"/>
                <a:cs typeface="Arial"/>
              </a:rPr>
              <a:t>average,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worst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case:</a:t>
            </a:r>
            <a:endParaRPr sz="11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60" dirty="0">
                <a:latin typeface="Lucida Sans Unicode"/>
                <a:cs typeface="Lucida Sans Unicode"/>
              </a:rPr>
              <a:t>∗</a:t>
            </a:r>
            <a:r>
              <a:rPr sz="900" spc="405" dirty="0">
                <a:latin typeface="Lucida Sans Unicode"/>
                <a:cs typeface="Lucida Sans Unicode"/>
              </a:rPr>
              <a:t> </a:t>
            </a:r>
            <a:r>
              <a:rPr sz="900" spc="80" dirty="0">
                <a:latin typeface="Arial"/>
                <a:cs typeface="Arial"/>
              </a:rPr>
              <a:t>binary_search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2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unsigned</a:t>
            </a:r>
            <a:r>
              <a:rPr sz="900" b="1" spc="45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3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5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M;</a:t>
            </a:r>
            <a:endParaRPr sz="900">
              <a:latin typeface="Arial"/>
              <a:cs typeface="Arial"/>
            </a:endParaRPr>
          </a:p>
          <a:p>
            <a:pPr marL="405130" marR="1980564" indent="-114300">
              <a:lnSpc>
                <a:spcPct val="101499"/>
              </a:lnSpc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4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2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R)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50" dirty="0">
                <a:latin typeface="Arial"/>
                <a:cs typeface="Arial"/>
              </a:rPr>
              <a:t>{</a:t>
            </a:r>
            <a:r>
              <a:rPr sz="900" dirty="0">
                <a:latin typeface="Arial"/>
                <a:cs typeface="Arial"/>
              </a:rPr>
              <a:t> M</a:t>
            </a:r>
            <a:r>
              <a:rPr sz="900" spc="1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4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L+R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spc="-18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/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4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==</a:t>
            </a:r>
            <a:r>
              <a:rPr sz="900" spc="4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[M]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6642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+M;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found</a:t>
            </a:r>
            <a:r>
              <a:rPr sz="900" spc="4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8625">
              <a:lnSpc>
                <a:spcPct val="100000"/>
              </a:lnSpc>
              <a:spcBef>
                <a:spcPts val="15"/>
              </a:spcBef>
            </a:pPr>
            <a:r>
              <a:rPr sz="900" b="1" spc="5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900" b="1" spc="15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</a:t>
            </a:r>
            <a:r>
              <a:rPr sz="900" spc="4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</a:t>
            </a:r>
            <a:r>
              <a:rPr sz="900" spc="4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[M]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4800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R</a:t>
            </a:r>
            <a:r>
              <a:rPr sz="900" spc="2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1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M;</a:t>
            </a:r>
            <a:r>
              <a:rPr sz="900" spc="15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10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8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19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8625">
              <a:lnSpc>
                <a:spcPct val="100000"/>
              </a:lnSpc>
              <a:spcBef>
                <a:spcPts val="15"/>
              </a:spcBef>
            </a:pP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55753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latin typeface="Arial"/>
                <a:cs typeface="Arial"/>
              </a:rPr>
              <a:t>L</a:t>
            </a:r>
            <a:r>
              <a:rPr sz="900" spc="3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2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M+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125" dirty="0">
                <a:solidFill>
                  <a:srgbClr val="B50A0A"/>
                </a:solidFill>
                <a:latin typeface="Lucida Sans Unicode"/>
                <a:cs typeface="Lucida Sans Unicode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48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second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h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3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NULL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4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not</a:t>
            </a:r>
            <a:r>
              <a:rPr sz="900" spc="459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found</a:t>
            </a:r>
            <a:r>
              <a:rPr sz="900" spc="4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31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Binary</a:t>
            </a:r>
            <a:r>
              <a:rPr spc="100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41296"/>
            <a:ext cx="3572510" cy="12680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46050" indent="-133350">
              <a:lnSpc>
                <a:spcPct val="100000"/>
              </a:lnSpc>
              <a:spcBef>
                <a:spcPts val="2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Worst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case: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logarithmic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time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spc="-10" dirty="0">
                <a:latin typeface="Arial"/>
                <a:cs typeface="Arial"/>
              </a:rPr>
              <a:t>Requires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random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sequential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like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hard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drive,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0" dirty="0">
                <a:latin typeface="Arial"/>
                <a:cs typeface="Arial"/>
              </a:rPr>
              <a:t> slow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seeking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back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sequential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memory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wasteful</a:t>
            </a:r>
            <a:endParaRPr sz="1000">
              <a:latin typeface="Arial"/>
              <a:cs typeface="Arial"/>
            </a:endParaRPr>
          </a:p>
          <a:p>
            <a:pPr marL="42227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422275" algn="l"/>
              </a:tabLst>
            </a:pPr>
            <a:r>
              <a:rPr sz="1000" dirty="0">
                <a:latin typeface="Arial"/>
                <a:cs typeface="Arial"/>
              </a:rPr>
              <a:t>better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search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10" dirty="0">
                <a:latin typeface="Arial"/>
                <a:cs typeface="Arial"/>
              </a:rPr>
              <a:t> cases</a:t>
            </a:r>
            <a:endParaRPr sz="10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55"/>
              </a:spcBef>
              <a:buSzPct val="90909"/>
              <a:buFont typeface="Cambria"/>
              <a:buChar char="•"/>
              <a:tabLst>
                <a:tab pos="146050" algn="l"/>
              </a:tabLst>
            </a:pPr>
            <a:r>
              <a:rPr sz="1100" dirty="0">
                <a:latin typeface="Arial"/>
                <a:cs typeface="Arial"/>
              </a:rPr>
              <a:t>Implemented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bsearch()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14478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Courier New"/>
                <a:cs typeface="Courier New"/>
              </a:rPr>
              <a:t>stdlib.h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6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45868"/>
            <a:ext cx="2226310" cy="14027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30" dirty="0">
                <a:latin typeface="Arial"/>
                <a:cs typeface="Arial"/>
              </a:rPr>
              <a:t>Topics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covered:</a:t>
            </a:r>
            <a:endParaRPr sz="1100">
              <a:latin typeface="Arial"/>
              <a:cs typeface="Arial"/>
            </a:endParaRPr>
          </a:p>
          <a:p>
            <a:pPr marL="290195" indent="-133350">
              <a:lnSpc>
                <a:spcPct val="100000"/>
              </a:lnSpc>
              <a:spcBef>
                <a:spcPts val="17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dirty="0">
                <a:latin typeface="Arial"/>
                <a:cs typeface="Arial"/>
              </a:rPr>
              <a:t>Pointers: addresses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memory</a:t>
            </a:r>
            <a:endParaRPr sz="1100">
              <a:latin typeface="Arial"/>
              <a:cs typeface="Arial"/>
            </a:endParaRPr>
          </a:p>
          <a:p>
            <a:pPr marL="56705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567055" algn="l"/>
              </a:tabLst>
            </a:pPr>
            <a:r>
              <a:rPr sz="1000" dirty="0">
                <a:latin typeface="Arial"/>
                <a:cs typeface="Arial"/>
              </a:rPr>
              <a:t>physical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virtual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memory</a:t>
            </a:r>
            <a:endParaRPr sz="1000">
              <a:latin typeface="Arial"/>
              <a:cs typeface="Arial"/>
            </a:endParaRPr>
          </a:p>
          <a:p>
            <a:pPr marL="567055" lvl="1" indent="-128270">
              <a:lnSpc>
                <a:spcPts val="1195"/>
              </a:lnSpc>
              <a:buSzPct val="90000"/>
              <a:buFont typeface="Lucida Sans Unicode"/>
              <a:buChar char="•"/>
              <a:tabLst>
                <a:tab pos="567055" algn="l"/>
              </a:tabLst>
            </a:pPr>
            <a:r>
              <a:rPr sz="1000" dirty="0">
                <a:latin typeface="Arial"/>
                <a:cs typeface="Arial"/>
              </a:rPr>
              <a:t>arrays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strings</a:t>
            </a:r>
            <a:endParaRPr sz="1000">
              <a:latin typeface="Arial"/>
              <a:cs typeface="Arial"/>
            </a:endParaRPr>
          </a:p>
          <a:p>
            <a:pPr marL="56705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567055" algn="l"/>
              </a:tabLst>
            </a:pPr>
            <a:r>
              <a:rPr sz="1000" dirty="0">
                <a:latin typeface="Arial"/>
                <a:cs typeface="Arial"/>
              </a:rPr>
              <a:t>pointer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arithmetic</a:t>
            </a:r>
            <a:endParaRPr sz="1000">
              <a:latin typeface="Arial"/>
              <a:cs typeface="Arial"/>
            </a:endParaRPr>
          </a:p>
          <a:p>
            <a:pPr marL="290195" indent="-133350">
              <a:lnSpc>
                <a:spcPct val="100000"/>
              </a:lnSpc>
              <a:spcBef>
                <a:spcPts val="195"/>
              </a:spcBef>
              <a:buSzPct val="90909"/>
              <a:buFont typeface="Cambria"/>
              <a:buChar char="•"/>
              <a:tabLst>
                <a:tab pos="290195" algn="l"/>
              </a:tabLst>
            </a:pPr>
            <a:r>
              <a:rPr sz="1100" spc="-10" dirty="0">
                <a:latin typeface="Arial"/>
                <a:cs typeface="Arial"/>
              </a:rPr>
              <a:t>Algorithms</a:t>
            </a:r>
            <a:endParaRPr sz="1100">
              <a:latin typeface="Arial"/>
              <a:cs typeface="Arial"/>
            </a:endParaRPr>
          </a:p>
          <a:p>
            <a:pPr marL="567055" lvl="1" indent="-128270">
              <a:lnSpc>
                <a:spcPts val="1200"/>
              </a:lnSpc>
              <a:spcBef>
                <a:spcPts val="175"/>
              </a:spcBef>
              <a:buSzPct val="90000"/>
              <a:buFont typeface="Lucida Sans Unicode"/>
              <a:buChar char="•"/>
              <a:tabLst>
                <a:tab pos="567055" algn="l"/>
              </a:tabLst>
            </a:pPr>
            <a:r>
              <a:rPr sz="1000" dirty="0">
                <a:latin typeface="Arial"/>
                <a:cs typeface="Arial"/>
              </a:rPr>
              <a:t>searching: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linear,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binary</a:t>
            </a:r>
            <a:endParaRPr sz="1000">
              <a:latin typeface="Arial"/>
              <a:cs typeface="Arial"/>
            </a:endParaRPr>
          </a:p>
          <a:p>
            <a:pPr marL="567055" lvl="1" indent="-128270">
              <a:lnSpc>
                <a:spcPts val="1200"/>
              </a:lnSpc>
              <a:buSzPct val="90000"/>
              <a:buFont typeface="Lucida Sans Unicode"/>
              <a:buChar char="•"/>
              <a:tabLst>
                <a:tab pos="567055" algn="l"/>
              </a:tabLst>
            </a:pPr>
            <a:r>
              <a:rPr sz="1000" dirty="0">
                <a:latin typeface="Arial"/>
                <a:cs typeface="Arial"/>
              </a:rPr>
              <a:t>sorting: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insertion,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quick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3848</Words>
  <Application>Microsoft Office PowerPoint</Application>
  <PresentationFormat>Custom</PresentationFormat>
  <Paragraphs>412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Bookman Old Style</vt:lpstr>
      <vt:lpstr>Cambria</vt:lpstr>
      <vt:lpstr>Courier New</vt:lpstr>
      <vt:lpstr>Garamond</vt:lpstr>
      <vt:lpstr>Lucida Sans Unicode</vt:lpstr>
      <vt:lpstr>Times New Roman</vt:lpstr>
      <vt:lpstr>Trebuchet MS</vt:lpstr>
      <vt:lpstr>Office Theme</vt:lpstr>
      <vt:lpstr>TashTech Lecture 7 – October 27, 2026</vt:lpstr>
      <vt:lpstr>Review: Unconditional jumps</vt:lpstr>
      <vt:lpstr>Review: I/O Functions</vt:lpstr>
      <vt:lpstr>Review: printf() and scanf()</vt:lpstr>
      <vt:lpstr>Review: Strings and character arrays</vt:lpstr>
      <vt:lpstr>TashTech Lecture 7 – October 27, 2026</vt:lpstr>
      <vt:lpstr>Pointers and addresses</vt:lpstr>
      <vt:lpstr>Physical and virtual memory</vt:lpstr>
      <vt:lpstr>Physical memory considerations</vt:lpstr>
      <vt:lpstr>Virtual memory</vt:lpstr>
      <vt:lpstr>Addressing variables</vt:lpstr>
      <vt:lpstr>Dereferencing pointers</vt:lpstr>
      <vt:lpstr>Casting pointers</vt:lpstr>
      <vt:lpstr>Functions with multiple outputs</vt:lpstr>
      <vt:lpstr>Accessing caller’s variables</vt:lpstr>
      <vt:lpstr>Variables passing out of scope</vt:lpstr>
      <vt:lpstr>Variables passing out of scope</vt:lpstr>
      <vt:lpstr>TashTech Lecture 7 – October 27, 2026</vt:lpstr>
      <vt:lpstr>Arrays and pointers</vt:lpstr>
      <vt:lpstr>The sizeof() operator</vt:lpstr>
      <vt:lpstr>Pointer arithmetic</vt:lpstr>
      <vt:lpstr>Pointer arithmetic</vt:lpstr>
      <vt:lpstr>TashTech Lecture 7 – October 27, 2026</vt:lpstr>
      <vt:lpstr>Strings as arrays</vt:lpstr>
      <vt:lpstr>String utility functions</vt:lpstr>
      <vt:lpstr>More string utility functions</vt:lpstr>
      <vt:lpstr>TashTech Lecture 7 – October 27, 2026</vt:lpstr>
      <vt:lpstr>Searching and sorting</vt:lpstr>
      <vt:lpstr>Searching an array</vt:lpstr>
      <vt:lpstr>A simple sort</vt:lpstr>
      <vt:lpstr>Shifting out-of-order elements</vt:lpstr>
      <vt:lpstr>Insertion sort</vt:lpstr>
      <vt:lpstr>Quicksort</vt:lpstr>
      <vt:lpstr>Quicksort implementation</vt:lpstr>
      <vt:lpstr>Quicksort implementation</vt:lpstr>
      <vt:lpstr>Discussion of quicksort</vt:lpstr>
      <vt:lpstr>Searching a sorted array</vt:lpstr>
      <vt:lpstr>Binary search</vt:lpstr>
      <vt:lpstr>Binary search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6.087 Practical Programming in C, Lecture 5</dc:title>
  <dc:creator>Daniel Weller</dc:creator>
  <cp:lastModifiedBy>Sean Kouma</cp:lastModifiedBy>
  <cp:revision>5</cp:revision>
  <dcterms:created xsi:type="dcterms:W3CDTF">2026-10-26T11:31:05Z</dcterms:created>
  <dcterms:modified xsi:type="dcterms:W3CDTF">2026-10-26T11:42:13Z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2010-03-07T00:00:00Z</vt:filetime>
  </property>
  <property fmtid="{D5CDD505-2E9C-101B-9397-08002B2CF9AE}" pid="4" name="Creator">
    <vt:lpwstr>LaTeX with beamer class version 3.07</vt:lpwstr>
  </property>
  <property fmtid="{D5CDD505-2E9C-101B-9397-08002B2CF9AE}" pid="5" name="LastSaved">
    <vt:filetime>2026-10-26T00:00:00Z</vt:filetime>
  </property>
  <property fmtid="{D5CDD505-2E9C-101B-9397-08002B2CF9AE}" pid="6" name="PTEX.Fullbanner">
    <vt:lpwstr>This is MiKTeX-pdfTeX 2.8.3563 (1.40.10)</vt:lpwstr>
  </property>
  <property fmtid="{D5CDD505-2E9C-101B-9397-08002B2CF9AE}" pid="7" name="Producer">
    <vt:lpwstr>3-Heights(TM) PDF Security Shell 4.8.25.2 (http://www.pdf-tools.com)</vt:lpwstr>
  </property>
</Properties>
</file>